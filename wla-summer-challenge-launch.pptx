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743200" y="-27432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686800" y="3657600"/>
            <a:ext cx="6400800" cy="6400800"/>
          </a:xfrm>
          <a:prstGeom prst="ellipse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08960" y="822960"/>
            <a:ext cx="5943600" cy="50292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✦  SOMETHING BIG IS HAPPENING INSIDE WLA  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solidFill>
                  <a:srgbClr val="0E2746"/>
                </a:solidFill>
                <a:latin typeface="Libre Baskerville"/>
              </a:rPr>
              <a:t>The Next Phase </a:t>
            </a:r>
            <a:r>
              <a:rPr sz="6400" b="0" i="1">
                <a:solidFill>
                  <a:srgbClr val="0E2746"/>
                </a:solidFill>
                <a:latin typeface="Libre Baskerville"/>
              </a:rPr>
              <a:t>of</a:t>
            </a:r>
          </a:p>
          <a:p>
            <a:pPr algn="ctr">
              <a:lnSpc>
                <a:spcPct val="110000"/>
              </a:lnSpc>
              <a:spcAft>
                <a:spcPts val="2400"/>
              </a:spcAft>
            </a:pPr>
            <a:r>
              <a:rPr sz="6400" b="0" i="1">
                <a:solidFill>
                  <a:srgbClr val="D97757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0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00">
                <a:solidFill>
                  <a:srgbClr val="5A6478"/>
                </a:solidFill>
                <a:latin typeface="Alegreya Sans"/>
              </a:rPr>
              <a:t>A live announcement with Anna Wallace  ·  Founder of WLA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 QUICK WORD BEFORE WE BEGIN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Today I want to share something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really exciting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with you.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Over the last few months, behind the scenes, we've been building something that I genuinely believe is going to change the future of WLA.</a:t>
            </a:r>
          </a:p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And honestly… I think this is going to change the game for so many women.</a:t>
            </a:r>
          </a:p>
          <a:p>
            <a:pPr algn="l">
              <a:lnSpc>
                <a:spcPct val="150000"/>
              </a:lnSpc>
            </a:pPr>
            <a:r>
              <a:rPr sz="1900" b="0" i="0">
                <a:solidFill>
                  <a:srgbClr val="333333"/>
                </a:solidFill>
                <a:latin typeface="Alegreya Sans"/>
              </a:rPr>
              <a:t>But before I reveal it… I want to talk about something important.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OVER THE LAST 11 YEARS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WLA has helped over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50,000 women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…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7957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 more confident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414451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404164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healthier habits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957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Improve their health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71144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60857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Put type 2 diabetes into remission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27837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79576" y="517550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finally feel back in control around food again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ONE THING BECAME VERY CLEAR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hardest part of weight loss is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rarely starting.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400"/>
              </a:spcAft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hardest part… is maintaining the results once life gets busy again.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Most women do not struggle to LOSE weight. They struggle to KEEP it off once accountability disappears, routines slowly fade, old habits creep back in and life takes over again.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754880" y="1280160"/>
            <a:ext cx="26517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9456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Libre Baskerville"/>
              </a:rPr>
              <a:t>“I’ll start again </a:t>
            </a:r>
            <a:r>
              <a:rPr sz="6400" b="1" i="1">
                <a:solidFill>
                  <a:srgbClr val="E5917A"/>
                </a:solidFill>
                <a:latin typeface="Libre Baskerville"/>
              </a:rPr>
              <a:t>Monday</a:t>
            </a:r>
            <a:r>
              <a:rPr sz="6400" b="0" i="1">
                <a:solidFill>
                  <a:srgbClr val="FFFFFF"/>
                </a:solidFill>
                <a:latin typeface="Libre Baskerville"/>
              </a:rPr>
              <a:t>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84632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F4EBDC"/>
                </a:solidFill>
                <a:latin typeface="Alegreya Sans"/>
              </a:rPr>
              <a:t>And THAT is the cycle we want to help women finally break for good.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WOMEN WHO KEEP THE WEIGHT 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Usually do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one thing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differently.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  <a:spcAft>
                <a:spcPts val="1600"/>
              </a:spcAft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They continue the lifestyle.</a:t>
            </a:r>
          </a:p>
          <a:p>
            <a:pPr algn="l">
              <a:lnSpc>
                <a:spcPct val="155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stay connected to the support, accountability, routines, coaching and habits that helped create their results in the first place.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THE LIFESTYLE LOOKS LIKE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They build a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lifestyle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 that supports their goals.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2628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2628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1888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3291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3291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22208" y="3291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Real support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2628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2628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1888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Flexibility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4434840"/>
            <a:ext cx="3566160" cy="1005840"/>
          </a:xfrm>
          <a:prstGeom prst="roundRect">
            <a:avLst>
              <a:gd name="adj" fmla="val 18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4434840"/>
            <a:ext cx="64008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22208" y="4434840"/>
            <a:ext cx="3273552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THE EVOLUTION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The resets and challenges were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never the finish 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  <a:spcAft>
                <a:spcPts val="1400"/>
              </a:spcAft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They were designed to create momentum, help women reset, reduce cravings, rebuild consistency and create results quickly. And they work incredibly well for that.</a:t>
            </a:r>
          </a:p>
          <a:p>
            <a:pPr algn="l">
              <a:lnSpc>
                <a:spcPct val="150000"/>
              </a:lnSpc>
            </a:pPr>
            <a:r>
              <a:rPr sz="2000" b="0" i="1">
                <a:solidFill>
                  <a:srgbClr val="0E2746"/>
                </a:solidFill>
                <a:latin typeface="Libre Baskerville"/>
              </a:rPr>
              <a:t>But the women who achieve the best long-term results are usually the women who continue the habits and routines long after the challenge ends.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212080" y="1371600"/>
            <a:ext cx="17373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FFFFFF"/>
                </a:solidFill>
                <a:latin typeface="Alegreya Sans"/>
              </a:rPr>
              <a:t>THE SHIFT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99669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lose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the weight…</a:t>
            </a:r>
          </a:p>
          <a:p>
            <a:pPr algn="ctr">
              <a:lnSpc>
                <a:spcPct val="115000"/>
              </a:lnSpc>
            </a:pPr>
            <a:r>
              <a:rPr sz="4600" b="1" i="0">
                <a:solidFill>
                  <a:srgbClr val="FFFFFF"/>
                </a:solidFill>
                <a:latin typeface="Libre Baskerville"/>
              </a:rPr>
              <a:t>But helping women </a:t>
            </a:r>
            <a:r>
              <a:rPr sz="4600" b="0" i="1">
                <a:solidFill>
                  <a:srgbClr val="E5917A"/>
                </a:solidFill>
                <a:latin typeface="Libre Baskerville"/>
              </a:rPr>
              <a:t>keep</a:t>
            </a:r>
            <a:r>
              <a:rPr sz="4600" b="1" i="0">
                <a:solidFill>
                  <a:srgbClr val="FFFFFF"/>
                </a:solidFill>
                <a:latin typeface="Libre Baskerville"/>
              </a:rPr>
              <a:t>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REMEMBER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920240"/>
            <a:ext cx="99669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0" i="1">
                <a:solidFill>
                  <a:srgbClr val="0E2746"/>
                </a:solidFill>
                <a:latin typeface="Libre Baskerville"/>
              </a:rPr>
              <a:t>“The women who keep the weight off</a:t>
            </a:r>
          </a:p>
          <a:p>
            <a:pPr algn="ctr">
              <a:lnSpc>
                <a:spcPct val="115000"/>
              </a:lnSpc>
            </a:pPr>
            <a:r>
              <a:rPr sz="4800" b="0" i="1">
                <a:solidFill>
                  <a:srgbClr val="0E2746"/>
                </a:solidFill>
                <a:latin typeface="Libre Baskerville"/>
              </a:rPr>
              <a:t>usually </a:t>
            </a:r>
            <a:r>
              <a:rPr sz="4800" b="1" i="1">
                <a:solidFill>
                  <a:srgbClr val="D97757"/>
                </a:solidFill>
                <a:latin typeface="Libre Baskerville"/>
              </a:rPr>
              <a:t>continue the lifestyle</a:t>
            </a:r>
            <a:r>
              <a:rPr sz="4800" b="0" i="1">
                <a:solidFill>
                  <a:srgbClr val="0E2746"/>
                </a:solidFill>
                <a:latin typeface="Libre Baskerville"/>
              </a:rPr>
              <a:t>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5120640"/>
            <a:ext cx="9418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 i="0" spc="200">
                <a:solidFill>
                  <a:srgbClr val="5A6478"/>
                </a:solidFill>
                <a:latin typeface="Alegreya Sans"/>
              </a:rPr>
              <a:t>— Anna Wallace, Founder of WLA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AND HONESTLY…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 live the </a:t>
            </a:r>
            <a:r>
              <a:rPr sz="5600" b="0" i="1">
                <a:solidFill>
                  <a:srgbClr val="D97757"/>
                </a:solidFill>
                <a:latin typeface="Libre Baskerville"/>
              </a:rPr>
              <a:t>WLA way</a:t>
            </a:r>
          </a:p>
          <a:p>
            <a:pPr algn="l">
              <a:lnSpc>
                <a:spcPct val="110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every single day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NOT PERFECTLY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But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consistently enough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to: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34975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91056" y="3383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Maintain my results</a:t>
            </a:r>
          </a:p>
        </p:txBody>
      </p:sp>
      <p:sp>
        <p:nvSpPr>
          <p:cNvPr id="7" name="Oval 6"/>
          <p:cNvSpPr/>
          <p:nvPr/>
        </p:nvSpPr>
        <p:spPr>
          <a:xfrm>
            <a:off x="1280160" y="406450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91056" y="395020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Feel good in myself</a:t>
            </a:r>
          </a:p>
        </p:txBody>
      </p:sp>
      <p:sp>
        <p:nvSpPr>
          <p:cNvPr id="9" name="Oval 8"/>
          <p:cNvSpPr/>
          <p:nvPr/>
        </p:nvSpPr>
        <p:spPr>
          <a:xfrm>
            <a:off x="1280160" y="463143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91056" y="451713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Stay in control around food</a:t>
            </a:r>
          </a:p>
        </p:txBody>
      </p:sp>
      <p:sp>
        <p:nvSpPr>
          <p:cNvPr id="11" name="Oval 10"/>
          <p:cNvSpPr/>
          <p:nvPr/>
        </p:nvSpPr>
        <p:spPr>
          <a:xfrm>
            <a:off x="1280160" y="5198364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91056" y="5084064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And build routines that fit real life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WHAT THAT LOOKS LIKE FOR 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5600" b="1" i="0">
                <a:solidFill>
                  <a:srgbClr val="0E2746"/>
                </a:solidFill>
                <a:latin typeface="Libre Baskerville"/>
              </a:rPr>
              <a:t>I still…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252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Plan my meals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118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Focus on simple nutrition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Enjoy indulgences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061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 my body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252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Prioritise routines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4005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use the exact same principles we teach inside wla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WLA WAS NEVER MEANT TO BE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Another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short-term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 was designed to help women build a lifestyle they can actually LIVE with long term.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WLA isn’t something I just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teach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FFFFFF"/>
                </a:solidFill>
                <a:latin typeface="Libre Baskerville"/>
              </a:rPr>
              <a:t>It’s something I </a:t>
            </a:r>
            <a:r>
              <a:rPr sz="5000" b="0" i="1">
                <a:solidFill>
                  <a:srgbClr val="E5917A"/>
                </a:solidFill>
                <a:latin typeface="Libre Baskerville"/>
              </a:rPr>
              <a:t>live</a:t>
            </a:r>
            <a:r>
              <a:rPr sz="50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And honestly… that is why I’m so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passionate</a:t>
            </a:r>
            <a:r>
              <a:rPr sz="3800" b="1" i="0">
                <a:solidFill>
                  <a:srgbClr val="0E2746"/>
                </a:solidFill>
                <a:latin typeface="Libre Baskerville"/>
              </a:rPr>
              <a:t> about this</a:t>
            </a:r>
          </a:p>
          <a:p>
            <a:pPr algn="ctr">
              <a:lnSpc>
                <a:spcPct val="120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next phase of WLA.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09728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WELCOME TO THE NEXT PHASE OF WLA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The Weight Loss</a:t>
            </a:r>
          </a:p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&amp; Lifestyle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1206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Lose the weight. Live the lifestyle.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THIS NEXT CHAPTER IS ABOUT MORE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About helping you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keep going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2346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38290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37033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Stay consistent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42341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2976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Build routines that last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0177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4892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0E2746"/>
                </a:solidFill>
                <a:latin typeface="Libre Baskerville"/>
              </a:rPr>
              <a:t>And finally stop starting over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AND THAT’S WHY WE’VE BUILT SOMETHING HUGE…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Designed to help you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continue the WLA lifestyle.</a:t>
            </a:r>
          </a:p>
        </p:txBody>
      </p:sp>
      <p:sp>
        <p:nvSpPr>
          <p:cNvPr id="5" name="Oval 4"/>
          <p:cNvSpPr/>
          <p:nvPr/>
        </p:nvSpPr>
        <p:spPr>
          <a:xfrm>
            <a:off x="1828800" y="35775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39696" y="34747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7" name="Oval 6"/>
          <p:cNvSpPr/>
          <p:nvPr/>
        </p:nvSpPr>
        <p:spPr>
          <a:xfrm>
            <a:off x="1828800" y="41262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39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focused</a:t>
            </a:r>
          </a:p>
        </p:txBody>
      </p:sp>
      <p:sp>
        <p:nvSpPr>
          <p:cNvPr id="9" name="Oval 8"/>
          <p:cNvSpPr/>
          <p:nvPr/>
        </p:nvSpPr>
        <p:spPr>
          <a:xfrm>
            <a:off x="1828800" y="467487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9696" y="45720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Continue the wla lifestyle</a:t>
            </a:r>
          </a:p>
        </p:txBody>
      </p:sp>
      <p:sp>
        <p:nvSpPr>
          <p:cNvPr id="11" name="Oval 10"/>
          <p:cNvSpPr/>
          <p:nvPr/>
        </p:nvSpPr>
        <p:spPr>
          <a:xfrm>
            <a:off x="1828800" y="522350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39696" y="512063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And maintain results long after the initial weight loss phase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09728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20">
                <a:solidFill>
                  <a:srgbClr val="FFFFFF"/>
                </a:solidFill>
                <a:latin typeface="Alegreya Sans"/>
              </a:rPr>
              <a:t>✨  INTRODUCING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000" b="1" i="0">
                <a:solidFill>
                  <a:srgbClr val="FFFFFF"/>
                </a:solidFill>
                <a:latin typeface="Libre Baskerville"/>
              </a:rPr>
              <a:t>The Brand New </a:t>
            </a:r>
          </a:p>
          <a:p>
            <a:pPr algn="ctr">
              <a:lnSpc>
                <a:spcPct val="105000"/>
              </a:lnSpc>
            </a:pPr>
            <a:r>
              <a:rPr sz="9000" b="1" i="1">
                <a:solidFill>
                  <a:srgbClr val="E5917A"/>
                </a:solidFill>
                <a:latin typeface="Libre Baskerville"/>
              </a:rPr>
              <a:t>WLA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F4EBDC"/>
                </a:solidFill>
                <a:latin typeface="Libre Baskerville"/>
              </a:rPr>
              <a:t>Support in your pocket. Every single day.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BUT FIRST…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not</a:t>
            </a:r>
            <a:r>
              <a:rPr sz="4400" b="1" i="0">
                <a:solidFill>
                  <a:srgbClr val="0E2746"/>
                </a:solidFill>
                <a:latin typeface="Libre Baskerville"/>
              </a:rPr>
              <a:t> another calorie-counting app.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It’s been built to help you: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252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Hold onto your results</a:t>
            </a:r>
          </a:p>
        </p:txBody>
      </p:sp>
      <p:sp>
        <p:nvSpPr>
          <p:cNvPr id="8" name="Oval 7"/>
          <p:cNvSpPr/>
          <p:nvPr/>
        </p:nvSpPr>
        <p:spPr>
          <a:xfrm>
            <a:off x="6400800" y="41148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11696" y="40233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to get consistent results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252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Stay accountable &amp; focused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0" y="46177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Continue the lifestyle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252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Maintain momentum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0" y="51206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11696" y="50292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stop falling off track every time life gets busy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INSIDE THE APP YOU GET ACCESS 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Everything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in one place.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Accountability &amp; progress tracking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2326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Meal planning &amp; shopping lists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Recipes &amp; quick meals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8633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7490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Coaching &amp; 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Lifestyle tracking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50342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3891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Community support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06240" y="1280160"/>
            <a:ext cx="3749039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4EBDC"/>
                </a:solidFill>
                <a:latin typeface="Alegreya Sans"/>
              </a:rPr>
              <a:t>🚀  AVAILABLE INSIDE PHASE 1 AT LAUNCH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Here’s what Founding Members get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immediately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572000"/>
            <a:ext cx="9418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From the moment you join, you unlock the very first version of the new WLA experience.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Daily Accountability + Progress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focused without feeling overwhelmed.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Habits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more “I’ve completely fallen off track.”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Weight Loss Dashboard + Goal Tracking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motivated and watch the momentum build.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Weight tracking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Visual progress graphs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Milestone tracking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Monthly check-ins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Progress dashboards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See how far you’ve come and keep momentum high.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Smart Weekly Meal Planner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Plan your week in minutes.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Drag meals into breakfast, lunch &amp; dinner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Know exactly what you’re eating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Know exactly what to buy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organised during busy 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Consistency becomes so much easier with a plan in place.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Automatic Shopping Lists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Your shopping list, written for you.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Generated from your meal planner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Less stress, less overthinking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staying on track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One tap. Sorted.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Meal Guides + Fresh Recipes Every Friday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Never feel stuck for ideas again.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Fresh recipes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Meal inspiration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Simple nutrition guidance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Quick meals &amp; no-cook options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Realistic ideas for busy lifestyles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New content added directly into the app every single week.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Extensive WLA Recipe Library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100s of delicious recipes built for real life.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Weight loss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Busy women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Family life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Results without restriction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No bland diet food. No miserable meal plans. No living on salads.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Lifestyle Tracking For Better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Because weight loss is about more than food alone.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Sleep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Stress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Movement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Water intake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Alcohol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Caffeine</a:t>
            </a:r>
          </a:p>
        </p:txBody>
      </p:sp>
      <p:sp>
        <p:nvSpPr>
          <p:cNvPr id="19" name="Oval 18"/>
          <p:cNvSpPr/>
          <p:nvPr/>
        </p:nvSpPr>
        <p:spPr>
          <a:xfrm>
            <a:off x="640080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1169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Mood</a:t>
            </a:r>
          </a:p>
        </p:txBody>
      </p:sp>
      <p:sp>
        <p:nvSpPr>
          <p:cNvPr id="21" name="Oval 20"/>
          <p:cNvSpPr/>
          <p:nvPr/>
        </p:nvSpPr>
        <p:spPr>
          <a:xfrm>
            <a:off x="6400800" y="50863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11696" y="49834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Identify the habits helping (or hurting) your results.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Habit Tracking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Build habits that actually LAST beyond motivation.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Routines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Consistency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Continuing the lifestyle long after the challenge 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Long-term results are built habit by habit.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Weekly Coaching Sessions With Anna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Coaching, accountability and momentum every week.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Coaching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46291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3856" y="45262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Guidance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Motivation every week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Always knowing what to focus on next.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WLA APP FEATURE  ·  10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0" i="0">
                <a:solidFill>
                  <a:srgbClr val="D97757"/>
                </a:solidFill>
                <a:latin typeface="Libre Baskerville"/>
              </a:rPr>
              <a:t>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Female-Only WLA Community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Stay connected with women on the same journey.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385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Share wins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Celebrate progress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accountable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0" y="41719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11696" y="4069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Stop trying to do this alone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0" i="1">
                <a:solidFill>
                  <a:srgbClr val="D97757"/>
                </a:solidFill>
                <a:latin typeface="Libre Baskerville"/>
              </a:rPr>
              <a:t>Like having support in your pocket every single day.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840480" y="1097280"/>
            <a:ext cx="4480560" cy="36576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4EBDC"/>
                </a:solidFill>
                <a:latin typeface="Alegreya Sans"/>
              </a:rPr>
              <a:t>✨  PLUS… THIS IS ONLY THE BEGINNING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Founding Members get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everything coming next</a:t>
            </a:r>
            <a:r>
              <a:rPr sz="4000" b="1" i="0">
                <a:solidFill>
                  <a:srgbClr val="0E2746"/>
                </a:solidFill>
                <a:latin typeface="Libre Baskerville"/>
              </a:rPr>
              <a:t>,</a:t>
            </a:r>
          </a:p>
          <a:p>
            <a:pPr algn="ctr">
              <a:lnSpc>
                <a:spcPct val="120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Future app updates and new features as WLA continues expanding, before our public Phase 2 launch in September.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297680" y="1280160"/>
            <a:ext cx="356616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🚀  COMING SOON · PHASE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774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200" b="1" i="0">
                <a:solidFill>
                  <a:srgbClr val="0E2746"/>
                </a:solidFill>
                <a:latin typeface="Libre Baskerville"/>
              </a:rPr>
              <a:t>What’s coming next is </a:t>
            </a:r>
            <a:r>
              <a:rPr sz="4200" b="0" i="1">
                <a:solidFill>
                  <a:srgbClr val="D97757"/>
                </a:solidFill>
                <a:latin typeface="Libre Baskerville"/>
              </a:rPr>
              <a:t>very</a:t>
            </a:r>
            <a:r>
              <a:rPr sz="4200" b="1" i="0">
                <a:solidFill>
                  <a:srgbClr val="0E2746"/>
                </a:solidFill>
                <a:latin typeface="Libre Baskerville"/>
              </a:rPr>
              <a:t> exciting.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COMING IN PHASE 2  ·  01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Personalised Protein + Fibre Targets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Make consistency easier than ever.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Reduce cravings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Stay fuller for longer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Simplify nutrition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53606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525779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Make consistency easier than ever 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COMING IN PHASE 2  ·  02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The Updated WLA Formula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The next evolution of the WLA approach.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Lose weight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Maintain results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Simplify nutrition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5360669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8176" y="5257799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Build a lifestyle that actually LASTS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COMING IN PHASE 2  ·  03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Meal Photo Nutrition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Snap a photo. Get guidance.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Quicker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Easier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More realistic for busy lives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 spc="200">
                <a:solidFill>
                  <a:srgbClr val="D97757"/>
                </a:solidFill>
                <a:latin typeface="Alegreya Sans"/>
              </a:rPr>
              <a:t>COMING IN PHASE 2  ·  04 /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0" i="0">
                <a:solidFill>
                  <a:srgbClr val="D97757"/>
                </a:solidFill>
                <a:latin typeface="Libre Baskerville"/>
              </a:rPr>
              <a:t>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37160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On-Demand Support Inside The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9748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1">
                <a:solidFill>
                  <a:srgbClr val="0E2746"/>
                </a:solidFill>
                <a:latin typeface="Libre Baskerville"/>
              </a:rPr>
              <a:t>Support exactly when you need it most.</a:t>
            </a:r>
          </a:p>
        </p:txBody>
      </p:sp>
      <p:sp>
        <p:nvSpPr>
          <p:cNvPr id="7" name="Oval 6"/>
          <p:cNvSpPr/>
          <p:nvPr/>
        </p:nvSpPr>
        <p:spPr>
          <a:xfrm>
            <a:off x="1097280" y="371475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08176" y="36118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Feeling off track</a:t>
            </a:r>
          </a:p>
        </p:txBody>
      </p:sp>
      <p:sp>
        <p:nvSpPr>
          <p:cNvPr id="9" name="Oval 8"/>
          <p:cNvSpPr/>
          <p:nvPr/>
        </p:nvSpPr>
        <p:spPr>
          <a:xfrm>
            <a:off x="1097280" y="426339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08176" y="416052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Struggling with cravings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81203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8176" y="47091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0E2746"/>
                </a:solidFill>
                <a:latin typeface="Libre Baskerville"/>
              </a:rPr>
              <a:t>Needing support during a difficult week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0" y="1280160"/>
            <a:ext cx="301752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80">
                <a:solidFill>
                  <a:srgbClr val="FFFFFF"/>
                </a:solidFill>
                <a:latin typeface="Alegreya Sans"/>
              </a:rPr>
              <a:t>THE NEXT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Not just helping women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lose weight</a:t>
            </a:r>
            <a:r>
              <a:rPr sz="4200" b="1" i="0">
                <a:solidFill>
                  <a:srgbClr val="FFFFFF"/>
                </a:solidFill>
                <a:latin typeface="Libre Baskerville"/>
              </a:rPr>
              <a:t>…</a:t>
            </a:r>
          </a:p>
          <a:p>
            <a:pPr algn="ctr">
              <a:lnSpc>
                <a:spcPct val="118000"/>
              </a:lnSpc>
            </a:pPr>
            <a:r>
              <a:rPr sz="4200" b="1" i="0">
                <a:solidFill>
                  <a:srgbClr val="FFFFFF"/>
                </a:solidFill>
                <a:latin typeface="Libre Baskerville"/>
              </a:rPr>
              <a:t>But helping them </a:t>
            </a:r>
            <a:r>
              <a:rPr sz="4200" b="0" i="1">
                <a:solidFill>
                  <a:srgbClr val="E5917A"/>
                </a:solidFill>
                <a:latin typeface="Libre Baskerville"/>
              </a:rPr>
              <a:t>keep it off too.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566160" y="914400"/>
            <a:ext cx="5029200" cy="4114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600" b="1" spc="260">
                <a:solidFill>
                  <a:srgbClr val="FFFFFF"/>
                </a:solidFill>
                <a:latin typeface="Alegreya Sans"/>
              </a:rPr>
              <a:t>🚨  FOUNDING MEMBERS ARE NOW OPENING  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9456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Only </a:t>
            </a:r>
            <a:r>
              <a:rPr sz="6000" b="0" i="1">
                <a:solidFill>
                  <a:srgbClr val="D97757"/>
                </a:solidFill>
                <a:latin typeface="Libre Baskerville"/>
              </a:rPr>
              <a:t>1,000 places</a:t>
            </a:r>
          </a:p>
          <a:p>
            <a:pPr algn="ctr">
              <a:lnSpc>
                <a:spcPct val="110000"/>
              </a:lnSpc>
            </a:pPr>
            <a:r>
              <a:rPr sz="6000" b="1" i="0">
                <a:solidFill>
                  <a:srgbClr val="0E2746"/>
                </a:solidFill>
                <a:latin typeface="Libre Baskerville"/>
              </a:rPr>
              <a:t>before public launch.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4864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0E2746"/>
                </a:solidFill>
                <a:latin typeface="Libre Baskerville"/>
              </a:rPr>
              <a:t>Because you’re already part of WLA, YOU get first access before anyone else.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0" i="1">
                <a:solidFill>
                  <a:srgbClr val="FFFFFF"/>
                </a:solidFill>
                <a:latin typeface="Libre Baskerville"/>
              </a:rPr>
              <a:t>Once these places are gone…</a:t>
            </a:r>
          </a:p>
          <a:p>
            <a:pPr algn="ctr">
              <a:lnSpc>
                <a:spcPct val="120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they are gone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forever</a:t>
            </a:r>
            <a:r>
              <a:rPr sz="5600" b="1" i="0">
                <a:solidFill>
                  <a:srgbClr val="FFFFFF"/>
                </a:solidFill>
                <a:latin typeface="Libre Baskerville"/>
              </a:rPr>
              <a:t>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ONCE PHASE 1 CLOSES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Founding Member access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disappears.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304038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82496" y="292608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Founding Member access disappears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363474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82496" y="352044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Pricing increases</a:t>
            </a:r>
          </a:p>
        </p:txBody>
      </p:sp>
      <p:sp>
        <p:nvSpPr>
          <p:cNvPr id="9" name="Oval 8"/>
          <p:cNvSpPr/>
          <p:nvPr/>
        </p:nvSpPr>
        <p:spPr>
          <a:xfrm>
            <a:off x="1371600" y="42291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82496" y="411480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0E2746"/>
                </a:solidFill>
                <a:latin typeface="Libre Baskerville"/>
              </a:rPr>
              <a:t>This exact offer will never be available again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 spc="220">
                <a:solidFill>
                  <a:srgbClr val="D97757"/>
                </a:solidFill>
                <a:latin typeface="Alegreya Sans"/>
              </a:rPr>
              <a:t>FOUNDING MEMBERS WILL RECEIVE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551383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4406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The LOWEST price WLA will ever be offered at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0" y="551383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60" y="544068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Early access before public launch</a:t>
            </a:r>
          </a:p>
        </p:txBody>
      </p:sp>
      <p:sp>
        <p:nvSpPr>
          <p:cNvPr id="16" name="Oval 15"/>
          <p:cNvSpPr/>
          <p:nvPr/>
        </p:nvSpPr>
        <p:spPr>
          <a:xfrm>
            <a:off x="822960" y="592531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5852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FREE access to the new WLA app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0" y="592531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585216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Future updates and new features</a:t>
            </a:r>
          </a:p>
        </p:txBody>
      </p:sp>
      <p:sp>
        <p:nvSpPr>
          <p:cNvPr id="20" name="Oval 19"/>
          <p:cNvSpPr/>
          <p:nvPr/>
        </p:nvSpPr>
        <p:spPr>
          <a:xfrm>
            <a:off x="822960" y="6336792"/>
            <a:ext cx="219456" cy="219456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626364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i="0">
                <a:solidFill>
                  <a:srgbClr val="0E2746"/>
                </a:solidFill>
                <a:latin typeface="Alegreya Sans"/>
              </a:rPr>
              <a:t>A place inside the future of WLA from the very beginning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SO HERE’S WHAT FOUNDING MEMBERS RECEIVE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 i="0">
                <a:solidFill>
                  <a:srgbClr val="0E2746"/>
                </a:solidFill>
                <a:latin typeface="Libre Baskerville"/>
              </a:rPr>
              <a:t>Everything you need to </a:t>
            </a:r>
            <a:r>
              <a:rPr sz="3800" b="0" i="1">
                <a:solidFill>
                  <a:srgbClr val="D97757"/>
                </a:solidFill>
                <a:latin typeface="Libre Baskerville"/>
              </a:rPr>
              <a:t>actually keep going.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926080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The 12 Week WLA Summer Challenge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16382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Designed for women 45+ to lose, feel and finally maintain.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584448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349300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FREE 12 month access to the new WLA 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8221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Coaching, planning, recipes, tracking — all in one place.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42816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5137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Access to ALL WLA Challenges for 12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Every reset, challenge and accountability event.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901184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0974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Weekly Coaching With Anna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1389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Support, guidance and accountability every single week.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5559552"/>
            <a:ext cx="292608" cy="292608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legreya Sa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546811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900" b="1" i="0">
                <a:solidFill>
                  <a:srgbClr val="0E2746"/>
                </a:solidFill>
                <a:latin typeface="Libre Baskerville"/>
              </a:rPr>
              <a:t>Female-Only Community Support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797296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333333"/>
                </a:solidFill>
                <a:latin typeface="Alegreya Sans"/>
              </a:rPr>
              <a:t>Daily accountability and women on the same journey.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731520"/>
            <a:ext cx="3931920" cy="365760"/>
          </a:xfrm>
          <a:prstGeom prst="roundRect">
            <a:avLst>
              <a:gd name="adj" fmla="val 50000"/>
            </a:avLst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300">
                <a:solidFill>
                  <a:srgbClr val="D97757"/>
                </a:solidFill>
                <a:latin typeface="Alegreya Sans"/>
              </a:rPr>
              <a:t>FOUNDING MEMBER PRICING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0" y="1463040"/>
            <a:ext cx="7589520" cy="4206240"/>
          </a:xfrm>
          <a:prstGeom prst="roundRect">
            <a:avLst>
              <a:gd name="adj" fmla="val 6000"/>
            </a:avLst>
          </a:prstGeom>
          <a:solidFill>
            <a:srgbClr val="FDFBF8"/>
          </a:solidFill>
          <a:ln>
            <a:solidFill>
              <a:srgbClr val="E9DF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28600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5A6478"/>
                </a:solidFill>
                <a:latin typeface="Alegreya Sans"/>
              </a:rPr>
              <a:t>ALL FOR ONLY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2377440"/>
            <a:ext cx="75895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6000" b="0" i="1">
                <a:solidFill>
                  <a:srgbClr val="D97757"/>
                </a:solidFill>
                <a:latin typeface="Libre Baskerville"/>
              </a:rPr>
              <a:t>£</a:t>
            </a:r>
            <a:r>
              <a:rPr sz="14000" b="1" i="0">
                <a:solidFill>
                  <a:srgbClr val="0E2746"/>
                </a:solidFill>
                <a:latin typeface="Libre Baskerville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45720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1" i="0" spc="200">
                <a:solidFill>
                  <a:srgbClr val="5A6478"/>
                </a:solidFill>
                <a:latin typeface="Alegreya Sans"/>
              </a:rPr>
              <a:t>one-time payment  ·  12 months of WLA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50292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0" i="1">
                <a:solidFill>
                  <a:srgbClr val="D97757"/>
                </a:solidFill>
                <a:latin typeface="Libre Baskerville"/>
              </a:rPr>
              <a:t>That’s less than £1.90 per week.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1">
                <a:solidFill>
                  <a:srgbClr val="0E2746"/>
                </a:solidFill>
                <a:latin typeface="Libre Baskerville"/>
              </a:rPr>
              <a:t>The LOWEST price WLA will ever be offered at.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D97757"/>
                </a:solidFill>
                <a:latin typeface="Alegreya Sans"/>
              </a:rPr>
              <a:t>REMEMBER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4400" b="1" i="0">
                <a:solidFill>
                  <a:srgbClr val="0E2746"/>
                </a:solidFill>
                <a:latin typeface="Libre Baskerville"/>
              </a:rPr>
              <a:t>This isn’t about starting </a:t>
            </a:r>
            <a:r>
              <a:rPr sz="4400" b="0" i="1">
                <a:solidFill>
                  <a:srgbClr val="D97757"/>
                </a:solidFill>
                <a:latin typeface="Libre Baskerville"/>
              </a:rPr>
              <a:t>another diet.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333333"/>
                </a:solidFill>
                <a:latin typeface="Alegreya Sans"/>
              </a:rPr>
              <a:t>It’s about continuing the habits, support and momentum you’ve already worked so hard to build.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937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900" b="0" i="1">
                <a:solidFill>
                  <a:srgbClr val="0E2746"/>
                </a:solidFill>
                <a:latin typeface="Libre Baskerville"/>
              </a:rPr>
              <a:t>The women who maintain their results long term are usually the women who continue living the WLA lifestyle.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 spc="220">
                <a:solidFill>
                  <a:srgbClr val="D97757"/>
                </a:solidFill>
                <a:latin typeface="Alegreya Sans"/>
              </a:rPr>
              <a:t>IMAGINE THIS BEING YOUR SUMMER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105156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 i="0">
                <a:solidFill>
                  <a:srgbClr val="0E2746"/>
                </a:solidFill>
                <a:latin typeface="Libre Baskerville"/>
              </a:rPr>
              <a:t>Reaching September still </a:t>
            </a:r>
            <a:r>
              <a:rPr sz="4000" b="0" i="1">
                <a:solidFill>
                  <a:srgbClr val="D97757"/>
                </a:solidFill>
                <a:latin typeface="Libre Baskerville"/>
              </a:rPr>
              <a:t>building momentum.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3385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Feeling lighter</a:t>
            </a:r>
          </a:p>
        </p:txBody>
      </p:sp>
      <p:sp>
        <p:nvSpPr>
          <p:cNvPr id="7" name="Oval 6"/>
          <p:cNvSpPr/>
          <p:nvPr/>
        </p:nvSpPr>
        <p:spPr>
          <a:xfrm>
            <a:off x="6400800" y="3200400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11696" y="3108960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More confident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Back in control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0" y="3767328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11696" y="3675888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Reducing cravings</a:t>
            </a:r>
          </a:p>
        </p:txBody>
      </p:sp>
      <p:sp>
        <p:nvSpPr>
          <p:cNvPr id="13" name="Oval 12"/>
          <p:cNvSpPr/>
          <p:nvPr/>
        </p:nvSpPr>
        <p:spPr>
          <a:xfrm>
            <a:off x="82296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Building routines that actually stick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0" y="4334256"/>
            <a:ext cx="118872" cy="118872"/>
          </a:xfrm>
          <a:prstGeom prst="ellips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11696" y="4242816"/>
            <a:ext cx="10058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0" i="0">
                <a:solidFill>
                  <a:srgbClr val="0E2746"/>
                </a:solidFill>
                <a:latin typeface="Libre Baskerville"/>
              </a:rPr>
              <a:t>And reaching September STILL building momentum instead of starting over again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800"/>
              </a:spcAft>
            </a:pPr>
            <a:r>
              <a:rPr sz="3600" b="1" i="0">
                <a:solidFill>
                  <a:srgbClr val="0E2746"/>
                </a:solidFill>
                <a:latin typeface="Libre Baskerville"/>
              </a:rPr>
              <a:t>Not because you were </a:t>
            </a:r>
            <a:r>
              <a:rPr sz="3600" b="0" i="1">
                <a:solidFill>
                  <a:srgbClr val="D97757"/>
                </a:solidFill>
                <a:latin typeface="Libre Baskerville"/>
              </a:rPr>
              <a:t>perfect</a:t>
            </a:r>
            <a:r>
              <a:rPr sz="3600" b="1" i="0">
                <a:solidFill>
                  <a:srgbClr val="0E2746"/>
                </a:solidFill>
                <a:latin typeface="Libre Baskerville"/>
              </a:rPr>
              <a:t>.</a:t>
            </a:r>
          </a:p>
          <a:p>
            <a:pPr algn="ctr">
              <a:lnSpc>
                <a:spcPct val="120000"/>
              </a:lnSpc>
            </a:pPr>
            <a:r>
              <a:rPr sz="2400" b="0" i="1">
                <a:solidFill>
                  <a:srgbClr val="0E2746"/>
                </a:solidFill>
                <a:latin typeface="Libre Baskerville"/>
              </a:rPr>
              <a:t>But because you finally had: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4378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4378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Support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0410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0410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Accountability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6442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16442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Structure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24747" y="4572000"/>
            <a:ext cx="2423160" cy="914400"/>
          </a:xfrm>
          <a:prstGeom prst="roundRect">
            <a:avLst>
              <a:gd name="adj" fmla="val 20000"/>
            </a:avLst>
          </a:prstGeom>
          <a:solidFill>
            <a:srgbClr val="FDFBF8"/>
          </a:solidFill>
          <a:ln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24747" y="4572000"/>
            <a:ext cx="2423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0E2746"/>
                </a:solidFill>
                <a:latin typeface="Libre Baskerville"/>
              </a:rPr>
              <a:t>The lifestyle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383280" y="914400"/>
            <a:ext cx="5394960" cy="411480"/>
          </a:xfrm>
          <a:prstGeom prst="roundRect">
            <a:avLst>
              <a:gd name="adj" fmla="val 50000"/>
            </a:avLst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40">
                <a:solidFill>
                  <a:srgbClr val="F4EBDC"/>
                </a:solidFill>
                <a:latin typeface="Alegreya Sans"/>
              </a:rPr>
              <a:t>✨  YOUR CHANCE TO BE PART OF THE NEXT CHAPTER  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000" b="1" i="0">
                <a:solidFill>
                  <a:srgbClr val="0E2746"/>
                </a:solidFill>
                <a:latin typeface="Libre Baskerville"/>
              </a:rPr>
              <a:t>From the </a:t>
            </a:r>
            <a:r>
              <a:rPr sz="5000" b="0" i="1">
                <a:solidFill>
                  <a:srgbClr val="D97757"/>
                </a:solidFill>
                <a:latin typeface="Libre Baskerville"/>
              </a:rPr>
              <a:t>very beginning</a:t>
            </a:r>
            <a:r>
              <a:rPr sz="5000" b="1" i="0">
                <a:solidFill>
                  <a:srgbClr val="0E2746"/>
                </a:solidFill>
                <a:latin typeface="Libre Baskerville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100" b="0" i="1">
                <a:solidFill>
                  <a:srgbClr val="0E2746"/>
                </a:solidFill>
                <a:latin typeface="Libre Baskerville"/>
              </a:rPr>
              <a:t>Not just losing weight. Building a lifestyle that helps you KEEP the results too.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2120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i="0">
                <a:solidFill>
                  <a:srgbClr val="333333"/>
                </a:solidFill>
                <a:latin typeface="Alegreya Sans"/>
              </a:rPr>
              <a:t>I truly believe this next phase of WLA is going to change everything for so many women.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5A6478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5A6478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7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1097280"/>
            <a:ext cx="3931920" cy="41148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64592" rIns="164592" tIns="36576" bIns="36576"/>
          <a:lstStyle/>
          <a:p>
            <a:pPr algn="ctr"/>
            <a:r>
              <a:rPr sz="1500" b="1" spc="260">
                <a:solidFill>
                  <a:srgbClr val="FFFFFF"/>
                </a:solidFill>
                <a:latin typeface="Alegreya Sans"/>
              </a:rPr>
              <a:t>FOUNDING MEMBERS · LIMITED 1,000 PLACES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286000"/>
            <a:ext cx="113385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And I cannot </a:t>
            </a:r>
            <a:r>
              <a:rPr sz="5600" b="1" i="1">
                <a:solidFill>
                  <a:srgbClr val="E5917A"/>
                </a:solidFill>
                <a:latin typeface="Libre Baskerville"/>
              </a:rPr>
              <a:t>wait</a:t>
            </a:r>
          </a:p>
          <a:p>
            <a:pPr algn="ctr">
              <a:lnSpc>
                <a:spcPct val="115000"/>
              </a:lnSpc>
            </a:pPr>
            <a:r>
              <a:rPr sz="5600" b="1" i="0">
                <a:solidFill>
                  <a:srgbClr val="FFFFFF"/>
                </a:solidFill>
                <a:latin typeface="Libre Baskerville"/>
              </a:rPr>
              <a:t>for you to be part of 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023360" y="5120640"/>
            <a:ext cx="4114800" cy="6858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0" y="5120640"/>
            <a:ext cx="41148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 spc="240">
                <a:solidFill>
                  <a:srgbClr val="FFFFFF"/>
                </a:solidFill>
                <a:latin typeface="Alegreya Sans"/>
              </a:rPr>
              <a:t>JOIN AS A FOUNDING MEMBER 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035040"/>
            <a:ext cx="11338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0" i="0" spc="150">
                <a:solidFill>
                  <a:srgbClr val="F4EBDC"/>
                </a:solidFill>
                <a:latin typeface="Alegreya Sans"/>
              </a:rPr>
              <a:t>sales.thewlacademy.com/wla-app-1yr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550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i="1">
                <a:solidFill>
                  <a:srgbClr val="FFFFFF"/>
                </a:solidFill>
                <a:latin typeface="Libre Baskerville"/>
              </a:rPr>
              <a:t>The Weight Loss Academy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6355080"/>
            <a:ext cx="4846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1200" b="1" i="0" spc="200">
                <a:solidFill>
                  <a:srgbClr val="FFFFFF"/>
                </a:solidFill>
                <a:latin typeface="Alegreya Sans"/>
              </a:rPr>
              <a:t>WLA SUMMER CHALLENGE  ·  FOUNDING MEMBERS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