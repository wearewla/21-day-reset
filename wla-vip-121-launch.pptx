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5143500" cx="9144000"/>
  <p:notesSz cx="6858000" cy="9144000"/>
  <p:embeddedFontLst>
    <p:embeddedFont>
      <p:font typeface="Alegreya Sans"/>
      <p:regular r:id="rId50"/>
      <p:bold r:id="rId51"/>
      <p:italic r:id="rId52"/>
      <p:boldItalic r:id="rId53"/>
    </p:embeddedFont>
    <p:embeddedFont>
      <p:font typeface="Poppins"/>
      <p:regular r:id="rId54"/>
      <p:bold r:id="rId55"/>
      <p:italic r:id="rId56"/>
      <p:boldItalic r:id="rId57"/>
    </p:embeddedFont>
    <p:embeddedFont>
      <p:font typeface="Libre Baskerville"/>
      <p:regular r:id="rId58"/>
      <p:bold r:id="rId59"/>
      <p:italic r:id="rId60"/>
      <p:boldItalic r:id="rId61"/>
    </p:embeddedFont>
    <p:embeddedFont>
      <p:font typeface="Helvetica Neue"/>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122F99-BC57-4017-97D7-AC3B9D3F25B4}">
  <a:tblStyle styleId="{91122F99-BC57-4017-97D7-AC3B9D3F25B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HelveticaNeue-regular.fntdata"/><Relationship Id="rId61" Type="http://schemas.openxmlformats.org/officeDocument/2006/relationships/font" Target="fonts/LibreBaskerville-boldItalic.fntdata"/><Relationship Id="rId20" Type="http://schemas.openxmlformats.org/officeDocument/2006/relationships/slide" Target="slides/slide14.xml"/><Relationship Id="rId64" Type="http://schemas.openxmlformats.org/officeDocument/2006/relationships/font" Target="fonts/HelveticaNeue-italic.fntdata"/><Relationship Id="rId63" Type="http://schemas.openxmlformats.org/officeDocument/2006/relationships/font" Target="fonts/HelveticaNeue-bold.fntdata"/><Relationship Id="rId22" Type="http://schemas.openxmlformats.org/officeDocument/2006/relationships/slide" Target="slides/slide16.xml"/><Relationship Id="rId21" Type="http://schemas.openxmlformats.org/officeDocument/2006/relationships/slide" Target="slides/slide15.xml"/><Relationship Id="rId65" Type="http://schemas.openxmlformats.org/officeDocument/2006/relationships/font" Target="fonts/HelveticaNeue-boldItalic.fnt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LibreBaskerville-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AlegreyaSans-bold.fntdata"/><Relationship Id="rId50" Type="http://schemas.openxmlformats.org/officeDocument/2006/relationships/font" Target="fonts/AlegreyaSans-regular.fntdata"/><Relationship Id="rId53" Type="http://schemas.openxmlformats.org/officeDocument/2006/relationships/font" Target="fonts/AlegreyaSans-boldItalic.fntdata"/><Relationship Id="rId52" Type="http://schemas.openxmlformats.org/officeDocument/2006/relationships/font" Target="fonts/AlegreyaSans-italic.fntdata"/><Relationship Id="rId11" Type="http://schemas.openxmlformats.org/officeDocument/2006/relationships/slide" Target="slides/slide5.xml"/><Relationship Id="rId55" Type="http://schemas.openxmlformats.org/officeDocument/2006/relationships/font" Target="fonts/Poppins-bold.fntdata"/><Relationship Id="rId10" Type="http://schemas.openxmlformats.org/officeDocument/2006/relationships/slide" Target="slides/slide4.xml"/><Relationship Id="rId54" Type="http://schemas.openxmlformats.org/officeDocument/2006/relationships/font" Target="fonts/Poppins-regular.fntdata"/><Relationship Id="rId13" Type="http://schemas.openxmlformats.org/officeDocument/2006/relationships/slide" Target="slides/slide7.xml"/><Relationship Id="rId57" Type="http://schemas.openxmlformats.org/officeDocument/2006/relationships/font" Target="fonts/Poppins-boldItalic.fntdata"/><Relationship Id="rId12" Type="http://schemas.openxmlformats.org/officeDocument/2006/relationships/slide" Target="slides/slide6.xml"/><Relationship Id="rId56" Type="http://schemas.openxmlformats.org/officeDocument/2006/relationships/font" Target="fonts/Poppins-italic.fntdata"/><Relationship Id="rId15" Type="http://schemas.openxmlformats.org/officeDocument/2006/relationships/slide" Target="slides/slide9.xml"/><Relationship Id="rId59" Type="http://schemas.openxmlformats.org/officeDocument/2006/relationships/font" Target="fonts/LibreBaskerville-bold.fntdata"/><Relationship Id="rId14" Type="http://schemas.openxmlformats.org/officeDocument/2006/relationships/slide" Target="slides/slide8.xml"/><Relationship Id="rId58" Type="http://schemas.openxmlformats.org/officeDocument/2006/relationships/font" Target="fonts/LibreBaskerville-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85f28ceb8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85f28ceb8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85f28ceb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85f28ceb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808360d6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808360d6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1750e496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41750e496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808360d69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808360d69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f565f2b75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f565f2b75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165683907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165683907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165683907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16568390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16568390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16568390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26394add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26394add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26394add1_0_10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d26394add1_0_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26394add1_0_57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d26394add1_0_5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26394add1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26394add1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26394add1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26394add1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416568390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416568390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26394add1_0_58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d26394add1_0_5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26394add1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26394add1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26394add1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26394add1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26394add1_0_60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d26394add1_0_6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26394add1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26394add1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26394add1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d26394add1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26394add1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26394add1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26394add1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26394add1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26394add1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d26394add1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26394add1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26394add1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26394add1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d26394add1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26394add1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26394add1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26394add1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d26394add1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26394add1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d26394add1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26394add1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d26394add1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26394add1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26394add1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26394add1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26394add1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d26394add1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d26394add1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26394add1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26394add1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26394add1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26394add1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26394add1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d26394add1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26394add1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d26394add1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26394add1_0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d26394add1_0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d26394add1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d26394add1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26394add1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d26394add1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d26394add1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d26394add1_0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26394add1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d26394add1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26394add1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d26394add1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9F7F4"/>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0"/>
            <a:ext cx="5058900" cy="5143500"/>
          </a:xfrm>
          <a:prstGeom prst="rect">
            <a:avLst/>
          </a:prstGeom>
          <a:solidFill>
            <a:srgbClr val="F9F7F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txBox="1"/>
          <p:nvPr/>
        </p:nvSpPr>
        <p:spPr>
          <a:xfrm>
            <a:off x="330750" y="1560650"/>
            <a:ext cx="4397400" cy="215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200">
                <a:solidFill>
                  <a:srgbClr val="003060"/>
                </a:solidFill>
                <a:latin typeface="Libre Baskerville"/>
                <a:ea typeface="Libre Baskerville"/>
                <a:cs typeface="Libre Baskerville"/>
                <a:sym typeface="Libre Baskerville"/>
              </a:rPr>
              <a:t>New VIP 1-2-1 </a:t>
            </a:r>
            <a:r>
              <a:rPr b="1" lang="en" sz="3200">
                <a:solidFill>
                  <a:srgbClr val="003060"/>
                </a:solidFill>
                <a:latin typeface="Libre Baskerville"/>
                <a:ea typeface="Libre Baskerville"/>
                <a:cs typeface="Libre Baskerville"/>
                <a:sym typeface="Libre Baskerville"/>
              </a:rPr>
              <a:t>PERSONAL</a:t>
            </a:r>
            <a:br>
              <a:rPr lang="en" sz="3200">
                <a:solidFill>
                  <a:srgbClr val="003060"/>
                </a:solidFill>
                <a:latin typeface="Libre Baskerville"/>
                <a:ea typeface="Libre Baskerville"/>
                <a:cs typeface="Libre Baskerville"/>
                <a:sym typeface="Libre Baskerville"/>
              </a:rPr>
            </a:br>
            <a:r>
              <a:rPr i="1" lang="en" sz="3200">
                <a:solidFill>
                  <a:srgbClr val="003060"/>
                </a:solidFill>
                <a:latin typeface="Libre Baskerville"/>
                <a:ea typeface="Libre Baskerville"/>
                <a:cs typeface="Libre Baskerville"/>
                <a:sym typeface="Libre Baskerville"/>
              </a:rPr>
              <a:t>Weight Loss</a:t>
            </a:r>
            <a:r>
              <a:rPr lang="en" sz="3200">
                <a:solidFill>
                  <a:srgbClr val="003060"/>
                </a:solidFill>
                <a:latin typeface="Libre Baskerville"/>
                <a:ea typeface="Libre Baskerville"/>
                <a:cs typeface="Libre Baskerville"/>
                <a:sym typeface="Libre Baskerville"/>
              </a:rPr>
              <a:t> </a:t>
            </a:r>
            <a:endParaRPr sz="320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None/>
            </a:pPr>
            <a:r>
              <a:rPr lang="en" sz="3200">
                <a:solidFill>
                  <a:srgbClr val="003060"/>
                </a:solidFill>
                <a:latin typeface="Libre Baskerville"/>
                <a:ea typeface="Libre Baskerville"/>
                <a:cs typeface="Libre Baskerville"/>
                <a:sym typeface="Libre Baskerville"/>
              </a:rPr>
              <a:t>Coaching Group</a:t>
            </a:r>
            <a:endParaRPr sz="3200">
              <a:solidFill>
                <a:srgbClr val="003060"/>
              </a:solidFill>
              <a:latin typeface="Libre Baskerville"/>
              <a:ea typeface="Libre Baskerville"/>
              <a:cs typeface="Libre Baskerville"/>
              <a:sym typeface="Libre Baskerville"/>
            </a:endParaRPr>
          </a:p>
        </p:txBody>
      </p:sp>
      <p:pic>
        <p:nvPicPr>
          <p:cNvPr id="56" name="Google Shape;56;p13" title="Anna Yellow Shirt Sofa.jpg"/>
          <p:cNvPicPr preferRelativeResize="0"/>
          <p:nvPr/>
        </p:nvPicPr>
        <p:blipFill>
          <a:blip r:embed="rId3">
            <a:alphaModFix/>
          </a:blip>
          <a:stretch>
            <a:fillRect/>
          </a:stretch>
        </p:blipFill>
        <p:spPr>
          <a:xfrm>
            <a:off x="5058902" y="-424233"/>
            <a:ext cx="4085102" cy="61246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4074350" y="1932738"/>
            <a:ext cx="4711200" cy="127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VIP is back by popular demand. </a:t>
            </a:r>
            <a:r>
              <a:rPr lang="en" sz="1800">
                <a:solidFill>
                  <a:srgbClr val="333333"/>
                </a:solidFill>
                <a:latin typeface="Alegreya Sans"/>
                <a:ea typeface="Alegreya Sans"/>
                <a:cs typeface="Alegreya Sans"/>
                <a:sym typeface="Alegreya Sans"/>
              </a:rPr>
              <a:t>This month </a:t>
            </a:r>
            <a:r>
              <a:rPr lang="en" sz="1800">
                <a:solidFill>
                  <a:srgbClr val="333333"/>
                </a:solidFill>
                <a:latin typeface="Alegreya Sans"/>
                <a:ea typeface="Alegreya Sans"/>
                <a:cs typeface="Alegreya Sans"/>
                <a:sym typeface="Alegreya Sans"/>
              </a:rPr>
              <a:t>we are looking for 30 ladies to coach. I'm looking to create as many success case studies for my 1-2-1 VIP  coaching program as possible</a:t>
            </a:r>
            <a:endParaRPr sz="1800">
              <a:solidFill>
                <a:srgbClr val="333333"/>
              </a:solidFill>
              <a:latin typeface="Alegreya Sans"/>
              <a:ea typeface="Alegreya Sans"/>
              <a:cs typeface="Alegreya Sans"/>
              <a:sym typeface="Alegreya Sans"/>
            </a:endParaRPr>
          </a:p>
        </p:txBody>
      </p:sp>
      <p:sp>
        <p:nvSpPr>
          <p:cNvPr id="62" name="Google Shape;62;p14"/>
          <p:cNvSpPr txBox="1"/>
          <p:nvPr/>
        </p:nvSpPr>
        <p:spPr>
          <a:xfrm>
            <a:off x="4231238" y="418650"/>
            <a:ext cx="43974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rgbClr val="003060"/>
                </a:solidFill>
                <a:latin typeface="Libre Baskerville"/>
                <a:ea typeface="Libre Baskerville"/>
                <a:cs typeface="Libre Baskerville"/>
                <a:sym typeface="Libre Baskerville"/>
              </a:rPr>
              <a:t>Brand </a:t>
            </a:r>
            <a:r>
              <a:rPr i="1" lang="en" sz="3600">
                <a:solidFill>
                  <a:srgbClr val="D97757"/>
                </a:solidFill>
                <a:latin typeface="Libre Baskerville"/>
                <a:ea typeface="Libre Baskerville"/>
                <a:cs typeface="Libre Baskerville"/>
                <a:sym typeface="Libre Baskerville"/>
              </a:rPr>
              <a:t>New </a:t>
            </a:r>
            <a:r>
              <a:rPr lang="en" sz="3600">
                <a:solidFill>
                  <a:srgbClr val="003060"/>
                </a:solidFill>
                <a:latin typeface="Libre Baskerville"/>
                <a:ea typeface="Libre Baskerville"/>
                <a:cs typeface="Libre Baskerville"/>
                <a:sym typeface="Libre Baskerville"/>
              </a:rPr>
              <a:t>Round</a:t>
            </a:r>
            <a:endParaRPr sz="3600">
              <a:solidFill>
                <a:srgbClr val="003060"/>
              </a:solidFill>
              <a:latin typeface="Libre Baskerville"/>
              <a:ea typeface="Libre Baskerville"/>
              <a:cs typeface="Libre Baskerville"/>
              <a:sym typeface="Libre Baskerville"/>
            </a:endParaRPr>
          </a:p>
        </p:txBody>
      </p:sp>
      <p:sp>
        <p:nvSpPr>
          <p:cNvPr id="63" name="Google Shape;63;p14"/>
          <p:cNvSpPr/>
          <p:nvPr/>
        </p:nvSpPr>
        <p:spPr>
          <a:xfrm>
            <a:off x="4701938" y="3275650"/>
            <a:ext cx="3456000" cy="774300"/>
          </a:xfrm>
          <a:prstGeom prst="rect">
            <a:avLst/>
          </a:prstGeom>
          <a:solidFill>
            <a:srgbClr val="003060"/>
          </a:solidFill>
          <a:ln cap="flat" cmpd="sng" w="9525">
            <a:solidFill>
              <a:srgbClr val="0030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txBox="1"/>
          <p:nvPr/>
        </p:nvSpPr>
        <p:spPr>
          <a:xfrm>
            <a:off x="5031338" y="3385750"/>
            <a:ext cx="2797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chemeClr val="lt1"/>
                </a:solidFill>
                <a:latin typeface="Libre Baskerville"/>
                <a:ea typeface="Libre Baskerville"/>
                <a:cs typeface="Libre Baskerville"/>
                <a:sym typeface="Libre Baskerville"/>
              </a:rPr>
              <a:t>**Risk Free**</a:t>
            </a:r>
            <a:endParaRPr b="1" sz="2400">
              <a:solidFill>
                <a:schemeClr val="lt1"/>
              </a:solidFill>
              <a:latin typeface="Libre Baskerville"/>
              <a:ea typeface="Libre Baskerville"/>
              <a:cs typeface="Libre Baskerville"/>
              <a:sym typeface="Libre Baskerville"/>
            </a:endParaRPr>
          </a:p>
        </p:txBody>
      </p:sp>
      <p:sp>
        <p:nvSpPr>
          <p:cNvPr id="65" name="Google Shape;65;p14"/>
          <p:cNvSpPr txBox="1"/>
          <p:nvPr/>
        </p:nvSpPr>
        <p:spPr>
          <a:xfrm>
            <a:off x="4869938" y="4241450"/>
            <a:ext cx="3120000" cy="60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800">
                <a:solidFill>
                  <a:srgbClr val="333333"/>
                </a:solidFill>
                <a:latin typeface="Libre Baskerville"/>
                <a:ea typeface="Libre Baskerville"/>
                <a:cs typeface="Libre Baskerville"/>
                <a:sym typeface="Libre Baskerville"/>
              </a:rPr>
              <a:t>Guaranteed</a:t>
            </a:r>
            <a:r>
              <a:rPr lang="en" sz="1800">
                <a:solidFill>
                  <a:srgbClr val="333333"/>
                </a:solidFill>
                <a:latin typeface="Libre Baskerville"/>
                <a:ea typeface="Libre Baskerville"/>
                <a:cs typeface="Libre Baskerville"/>
                <a:sym typeface="Libre Baskerville"/>
              </a:rPr>
              <a:t> Results</a:t>
            </a:r>
            <a:endParaRPr sz="1800">
              <a:solidFill>
                <a:srgbClr val="333333"/>
              </a:solidFill>
              <a:latin typeface="Libre Baskerville"/>
              <a:ea typeface="Libre Baskerville"/>
              <a:cs typeface="Libre Baskerville"/>
              <a:sym typeface="Libre Baskerville"/>
            </a:endParaRPr>
          </a:p>
        </p:txBody>
      </p:sp>
      <p:pic>
        <p:nvPicPr>
          <p:cNvPr id="66" name="Google Shape;66;p14" title="571CD971-02A4-45D0-9BD2-C1FB3192F5DF.jpg"/>
          <p:cNvPicPr preferRelativeResize="0"/>
          <p:nvPr/>
        </p:nvPicPr>
        <p:blipFill>
          <a:blip r:embed="rId3">
            <a:alphaModFix/>
          </a:blip>
          <a:stretch>
            <a:fillRect/>
          </a:stretch>
        </p:blipFill>
        <p:spPr>
          <a:xfrm>
            <a:off x="233300" y="152400"/>
            <a:ext cx="2721770" cy="48387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nvSpPr>
        <p:spPr>
          <a:xfrm>
            <a:off x="460650" y="1184400"/>
            <a:ext cx="8222700" cy="277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003060"/>
                </a:solidFill>
                <a:latin typeface="Libre Baskerville"/>
                <a:ea typeface="Libre Baskerville"/>
                <a:cs typeface="Libre Baskerville"/>
                <a:sym typeface="Libre Baskerville"/>
              </a:rPr>
              <a:t>VIP has been closed for over a year, but the question I’ve been asked most since is</a:t>
            </a:r>
            <a:endParaRPr sz="240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None/>
            </a:pPr>
            <a:r>
              <a:t/>
            </a:r>
            <a:endParaRPr sz="240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None/>
            </a:pPr>
            <a:r>
              <a:rPr i="1" lang="en" sz="2400">
                <a:solidFill>
                  <a:srgbClr val="003060"/>
                </a:solidFill>
                <a:latin typeface="Libre Baskerville"/>
                <a:ea typeface="Libre Baskerville"/>
                <a:cs typeface="Libre Baskerville"/>
                <a:sym typeface="Libre Baskerville"/>
              </a:rPr>
              <a:t>When is it coming back?</a:t>
            </a:r>
            <a:endParaRPr i="1" sz="240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None/>
            </a:pPr>
            <a:r>
              <a:t/>
            </a:r>
            <a:endParaRPr sz="240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None/>
            </a:pPr>
            <a:r>
              <a:rPr lang="en" sz="2400">
                <a:solidFill>
                  <a:srgbClr val="003060"/>
                </a:solidFill>
                <a:latin typeface="Libre Baskerville"/>
                <a:ea typeface="Libre Baskerville"/>
                <a:cs typeface="Libre Baskerville"/>
                <a:sym typeface="Libre Baskerville"/>
              </a:rPr>
              <a:t>So we are bringing it back and opening a brand new round of </a:t>
            </a:r>
            <a:r>
              <a:rPr b="1" lang="en" sz="2400">
                <a:solidFill>
                  <a:srgbClr val="003060"/>
                </a:solidFill>
                <a:latin typeface="Libre Baskerville"/>
                <a:ea typeface="Libre Baskerville"/>
                <a:cs typeface="Libre Baskerville"/>
                <a:sym typeface="Libre Baskerville"/>
              </a:rPr>
              <a:t>VIP 1-2-1 coaching</a:t>
            </a:r>
            <a:endParaRPr b="1" sz="24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p:nvPr/>
        </p:nvSpPr>
        <p:spPr>
          <a:xfrm>
            <a:off x="0" y="0"/>
            <a:ext cx="9144000" cy="5143500"/>
          </a:xfrm>
          <a:prstGeom prst="rect">
            <a:avLst/>
          </a:prstGeom>
          <a:solidFill>
            <a:srgbClr val="F9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6"/>
          <p:cNvSpPr txBox="1"/>
          <p:nvPr/>
        </p:nvSpPr>
        <p:spPr>
          <a:xfrm>
            <a:off x="334575" y="296175"/>
            <a:ext cx="8114700" cy="409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003060"/>
                </a:solidFill>
                <a:latin typeface="Libre Baskerville"/>
                <a:ea typeface="Libre Baskerville"/>
                <a:cs typeface="Libre Baskerville"/>
                <a:sym typeface="Libre Baskerville"/>
              </a:rPr>
              <a:t>VIP will allow you to:</a:t>
            </a:r>
            <a:endParaRPr sz="2400">
              <a:solidFill>
                <a:srgbClr val="003060"/>
              </a:solidFill>
              <a:latin typeface="Libre Baskerville"/>
              <a:ea typeface="Libre Baskerville"/>
              <a:cs typeface="Libre Baskerville"/>
              <a:sym typeface="Libre Baskerville"/>
            </a:endParaRPr>
          </a:p>
          <a:p>
            <a:pPr indent="0" lvl="0" marL="0" rtl="0" algn="l">
              <a:spcBef>
                <a:spcPts val="0"/>
              </a:spcBef>
              <a:spcAft>
                <a:spcPts val="0"/>
              </a:spcAft>
              <a:buNone/>
            </a:pPr>
            <a:r>
              <a:t/>
            </a:r>
            <a:endParaRPr sz="2400">
              <a:solidFill>
                <a:srgbClr val="003060"/>
              </a:solidFill>
              <a:latin typeface="Libre Baskerville"/>
              <a:ea typeface="Libre Baskerville"/>
              <a:cs typeface="Libre Baskerville"/>
              <a:sym typeface="Libre Baskerville"/>
            </a:endParaRPr>
          </a:p>
          <a:p>
            <a:pPr indent="-381000" lvl="0" marL="457200" rtl="0" algn="l">
              <a:spcBef>
                <a:spcPts val="0"/>
              </a:spcBef>
              <a:spcAft>
                <a:spcPts val="0"/>
              </a:spcAft>
              <a:buClr>
                <a:srgbClr val="003060"/>
              </a:buClr>
              <a:buSzPts val="2400"/>
              <a:buFont typeface="Libre Baskerville"/>
              <a:buChar char="-"/>
            </a:pPr>
            <a:r>
              <a:rPr i="1" lang="en" sz="2400">
                <a:solidFill>
                  <a:srgbClr val="003060"/>
                </a:solidFill>
                <a:latin typeface="Libre Baskerville"/>
                <a:ea typeface="Libre Baskerville"/>
                <a:cs typeface="Libre Baskerville"/>
                <a:sym typeface="Libre Baskerville"/>
              </a:rPr>
              <a:t>Lose up to 1 - 3 stone</a:t>
            </a:r>
            <a:endParaRPr i="1" sz="2400">
              <a:solidFill>
                <a:srgbClr val="003060"/>
              </a:solidFill>
              <a:latin typeface="Libre Baskerville"/>
              <a:ea typeface="Libre Baskerville"/>
              <a:cs typeface="Libre Baskerville"/>
              <a:sym typeface="Libre Baskerville"/>
            </a:endParaRPr>
          </a:p>
          <a:p>
            <a:pPr indent="-381000" lvl="0" marL="457200" rtl="0" algn="l">
              <a:spcBef>
                <a:spcPts val="0"/>
              </a:spcBef>
              <a:spcAft>
                <a:spcPts val="0"/>
              </a:spcAft>
              <a:buClr>
                <a:srgbClr val="003060"/>
              </a:buClr>
              <a:buSzPts val="2400"/>
              <a:buFont typeface="Libre Baskerville"/>
              <a:buChar char="-"/>
            </a:pPr>
            <a:r>
              <a:rPr i="1" lang="en" sz="2400">
                <a:solidFill>
                  <a:srgbClr val="003060"/>
                </a:solidFill>
                <a:latin typeface="Libre Baskerville"/>
                <a:ea typeface="Libre Baskerville"/>
                <a:cs typeface="Libre Baskerville"/>
                <a:sym typeface="Libre Baskerville"/>
              </a:rPr>
              <a:t>Build your confidence</a:t>
            </a:r>
            <a:endParaRPr i="1" sz="2400">
              <a:solidFill>
                <a:srgbClr val="003060"/>
              </a:solidFill>
              <a:latin typeface="Libre Baskerville"/>
              <a:ea typeface="Libre Baskerville"/>
              <a:cs typeface="Libre Baskerville"/>
              <a:sym typeface="Libre Baskerville"/>
            </a:endParaRPr>
          </a:p>
          <a:p>
            <a:pPr indent="-381000" lvl="0" marL="457200" rtl="0" algn="l">
              <a:spcBef>
                <a:spcPts val="0"/>
              </a:spcBef>
              <a:spcAft>
                <a:spcPts val="0"/>
              </a:spcAft>
              <a:buClr>
                <a:srgbClr val="003060"/>
              </a:buClr>
              <a:buSzPts val="2400"/>
              <a:buFont typeface="Libre Baskerville"/>
              <a:buChar char="-"/>
            </a:pPr>
            <a:r>
              <a:rPr i="1" lang="en" sz="2400">
                <a:solidFill>
                  <a:srgbClr val="003060"/>
                </a:solidFill>
                <a:latin typeface="Libre Baskerville"/>
                <a:ea typeface="Libre Baskerville"/>
                <a:cs typeface="Libre Baskerville"/>
                <a:sym typeface="Libre Baskerville"/>
              </a:rPr>
              <a:t>Slay your sugar cravings</a:t>
            </a:r>
            <a:endParaRPr i="1" sz="2400">
              <a:solidFill>
                <a:srgbClr val="003060"/>
              </a:solidFill>
              <a:latin typeface="Libre Baskerville"/>
              <a:ea typeface="Libre Baskerville"/>
              <a:cs typeface="Libre Baskerville"/>
              <a:sym typeface="Libre Baskerville"/>
            </a:endParaRPr>
          </a:p>
          <a:p>
            <a:pPr indent="-381000" lvl="0" marL="457200" rtl="0" algn="l">
              <a:spcBef>
                <a:spcPts val="0"/>
              </a:spcBef>
              <a:spcAft>
                <a:spcPts val="0"/>
              </a:spcAft>
              <a:buClr>
                <a:srgbClr val="003060"/>
              </a:buClr>
              <a:buSzPts val="2400"/>
              <a:buFont typeface="Libre Baskerville"/>
              <a:buChar char="-"/>
            </a:pPr>
            <a:r>
              <a:rPr i="1" lang="en" sz="2400">
                <a:solidFill>
                  <a:srgbClr val="003060"/>
                </a:solidFill>
                <a:latin typeface="Libre Baskerville"/>
                <a:ea typeface="Libre Baskerville"/>
                <a:cs typeface="Libre Baskerville"/>
                <a:sym typeface="Libre Baskerville"/>
              </a:rPr>
              <a:t>Skyrocket your energy</a:t>
            </a:r>
            <a:endParaRPr i="1" sz="2400">
              <a:solidFill>
                <a:srgbClr val="003060"/>
              </a:solidFill>
              <a:latin typeface="Libre Baskerville"/>
              <a:ea typeface="Libre Baskerville"/>
              <a:cs typeface="Libre Baskerville"/>
              <a:sym typeface="Libre Baskerville"/>
            </a:endParaRPr>
          </a:p>
          <a:p>
            <a:pPr indent="0" lvl="0" marL="457200" rtl="0" algn="l">
              <a:spcBef>
                <a:spcPts val="0"/>
              </a:spcBef>
              <a:spcAft>
                <a:spcPts val="0"/>
              </a:spcAft>
              <a:buNone/>
            </a:pPr>
            <a:r>
              <a:t/>
            </a:r>
            <a:endParaRPr i="1" sz="2400">
              <a:solidFill>
                <a:srgbClr val="003060"/>
              </a:solidFill>
              <a:latin typeface="Libre Baskerville"/>
              <a:ea typeface="Libre Baskerville"/>
              <a:cs typeface="Libre Baskerville"/>
              <a:sym typeface="Libre Baskerville"/>
            </a:endParaRPr>
          </a:p>
          <a:p>
            <a:pPr indent="0" lvl="0" marL="0" rtl="0" algn="l">
              <a:spcBef>
                <a:spcPts val="0"/>
              </a:spcBef>
              <a:spcAft>
                <a:spcPts val="0"/>
              </a:spcAft>
              <a:buNone/>
            </a:pPr>
            <a:r>
              <a:rPr lang="en" sz="2400">
                <a:solidFill>
                  <a:srgbClr val="003060"/>
                </a:solidFill>
                <a:latin typeface="Libre Baskerville"/>
                <a:ea typeface="Libre Baskerville"/>
                <a:cs typeface="Libre Baskerville"/>
                <a:sym typeface="Libre Baskerville"/>
              </a:rPr>
              <a:t>Just in time for summer </a:t>
            </a:r>
            <a:endParaRPr sz="2400">
              <a:solidFill>
                <a:srgbClr val="003060"/>
              </a:solidFill>
              <a:latin typeface="Libre Baskerville"/>
              <a:ea typeface="Libre Baskerville"/>
              <a:cs typeface="Libre Baskerville"/>
              <a:sym typeface="Libre Baskerville"/>
            </a:endParaRPr>
          </a:p>
          <a:p>
            <a:pPr indent="0" lvl="0" marL="457200" rtl="0" algn="l">
              <a:spcBef>
                <a:spcPts val="0"/>
              </a:spcBef>
              <a:spcAft>
                <a:spcPts val="0"/>
              </a:spcAft>
              <a:buNone/>
            </a:pPr>
            <a:r>
              <a:t/>
            </a:r>
            <a:endParaRPr i="1" sz="2400">
              <a:solidFill>
                <a:srgbClr val="003060"/>
              </a:solidFill>
              <a:latin typeface="Libre Baskerville"/>
              <a:ea typeface="Libre Baskerville"/>
              <a:cs typeface="Libre Baskerville"/>
              <a:sym typeface="Libre Baskerville"/>
            </a:endParaRPr>
          </a:p>
          <a:p>
            <a:pPr indent="0" lvl="0" marL="0" rtl="0" algn="l">
              <a:spcBef>
                <a:spcPts val="0"/>
              </a:spcBef>
              <a:spcAft>
                <a:spcPts val="0"/>
              </a:spcAft>
              <a:buNone/>
            </a:pPr>
            <a:r>
              <a:rPr lang="en" sz="2400">
                <a:solidFill>
                  <a:srgbClr val="003060"/>
                </a:solidFill>
                <a:latin typeface="Libre Baskerville"/>
                <a:ea typeface="Libre Baskerville"/>
                <a:cs typeface="Libre Baskerville"/>
                <a:sym typeface="Libre Baskerville"/>
              </a:rPr>
              <a:t>Without </a:t>
            </a:r>
            <a:endParaRPr sz="2400">
              <a:solidFill>
                <a:srgbClr val="003060"/>
              </a:solidFill>
              <a:latin typeface="Libre Baskerville"/>
              <a:ea typeface="Libre Baskerville"/>
              <a:cs typeface="Libre Baskerville"/>
              <a:sym typeface="Libre Baskerville"/>
            </a:endParaRPr>
          </a:p>
          <a:p>
            <a:pPr indent="0" lvl="0" marL="0" rtl="0" algn="l">
              <a:spcBef>
                <a:spcPts val="0"/>
              </a:spcBef>
              <a:spcAft>
                <a:spcPts val="0"/>
              </a:spcAft>
              <a:buNone/>
            </a:pPr>
            <a:r>
              <a:rPr lang="en" sz="2400">
                <a:solidFill>
                  <a:srgbClr val="003060"/>
                </a:solidFill>
                <a:latin typeface="Libre Baskerville"/>
                <a:ea typeface="Libre Baskerville"/>
                <a:cs typeface="Libre Baskerville"/>
                <a:sym typeface="Libre Baskerville"/>
              </a:rPr>
              <a:t>extreme diets or </a:t>
            </a:r>
            <a:endParaRPr sz="2400">
              <a:solidFill>
                <a:srgbClr val="003060"/>
              </a:solidFill>
              <a:latin typeface="Libre Baskerville"/>
              <a:ea typeface="Libre Baskerville"/>
              <a:cs typeface="Libre Baskerville"/>
              <a:sym typeface="Libre Baskerville"/>
            </a:endParaRPr>
          </a:p>
          <a:p>
            <a:pPr indent="0" lvl="0" marL="0" rtl="0" algn="l">
              <a:spcBef>
                <a:spcPts val="0"/>
              </a:spcBef>
              <a:spcAft>
                <a:spcPts val="0"/>
              </a:spcAft>
              <a:buNone/>
            </a:pPr>
            <a:r>
              <a:rPr lang="en" sz="2400">
                <a:solidFill>
                  <a:srgbClr val="003060"/>
                </a:solidFill>
                <a:latin typeface="Libre Baskerville"/>
                <a:ea typeface="Libre Baskerville"/>
                <a:cs typeface="Libre Baskerville"/>
                <a:sym typeface="Libre Baskerville"/>
              </a:rPr>
              <a:t>exhausting workouts.</a:t>
            </a:r>
            <a:endParaRPr sz="2400">
              <a:solidFill>
                <a:srgbClr val="003060"/>
              </a:solidFill>
              <a:latin typeface="Libre Baskerville"/>
              <a:ea typeface="Libre Baskerville"/>
              <a:cs typeface="Libre Baskerville"/>
              <a:sym typeface="Libre Baskerville"/>
            </a:endParaRPr>
          </a:p>
        </p:txBody>
      </p:sp>
      <p:pic>
        <p:nvPicPr>
          <p:cNvPr id="78" name="Google Shape;78;p16" title="Copy of 2O3A4795.jpg"/>
          <p:cNvPicPr preferRelativeResize="0"/>
          <p:nvPr/>
        </p:nvPicPr>
        <p:blipFill>
          <a:blip r:embed="rId3">
            <a:alphaModFix/>
          </a:blip>
          <a:stretch>
            <a:fillRect/>
          </a:stretch>
        </p:blipFill>
        <p:spPr>
          <a:xfrm>
            <a:off x="4651725" y="1056100"/>
            <a:ext cx="4223974" cy="2817358"/>
          </a:xfrm>
          <a:prstGeom prst="rect">
            <a:avLst/>
          </a:prstGeom>
          <a:solidFill>
            <a:schemeClr val="lt1"/>
          </a:solid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nvSpPr>
        <p:spPr>
          <a:xfrm>
            <a:off x="144150" y="1425900"/>
            <a:ext cx="5139900" cy="267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333333"/>
                </a:solidFill>
                <a:latin typeface="Alegreya Sans"/>
                <a:ea typeface="Alegreya Sans"/>
                <a:cs typeface="Alegreya Sans"/>
                <a:sym typeface="Alegreya Sans"/>
              </a:rPr>
              <a:t>We’ll guide you through the exact same simple, easy-to-follow nutrition formula I used to lose over 2 stone and keep it off…</a:t>
            </a:r>
            <a:endParaRPr sz="2000">
              <a:solidFill>
                <a:srgbClr val="333333"/>
              </a:solidFill>
              <a:latin typeface="Alegreya Sans"/>
              <a:ea typeface="Alegreya Sans"/>
              <a:cs typeface="Alegreya Sans"/>
              <a:sym typeface="Alegreya Sans"/>
            </a:endParaRPr>
          </a:p>
          <a:p>
            <a:pPr indent="0" lvl="0" marL="0" rtl="0" algn="ctr">
              <a:spcBef>
                <a:spcPts val="0"/>
              </a:spcBef>
              <a:spcAft>
                <a:spcPts val="0"/>
              </a:spcAft>
              <a:buNone/>
            </a:pPr>
            <a:r>
              <a:t/>
            </a:r>
            <a:endParaRPr sz="2000">
              <a:solidFill>
                <a:srgbClr val="333333"/>
              </a:solidFill>
              <a:latin typeface="Alegreya Sans"/>
              <a:ea typeface="Alegreya Sans"/>
              <a:cs typeface="Alegreya Sans"/>
              <a:sym typeface="Alegreya Sans"/>
            </a:endParaRPr>
          </a:p>
          <a:p>
            <a:pPr indent="0" lvl="0" marL="0" rtl="0" algn="ctr">
              <a:spcBef>
                <a:spcPts val="0"/>
              </a:spcBef>
              <a:spcAft>
                <a:spcPts val="0"/>
              </a:spcAft>
              <a:buNone/>
            </a:pPr>
            <a:r>
              <a:rPr lang="en" sz="2000">
                <a:solidFill>
                  <a:srgbClr val="333333"/>
                </a:solidFill>
                <a:latin typeface="Alegreya Sans"/>
                <a:ea typeface="Alegreya Sans"/>
                <a:cs typeface="Alegreya Sans"/>
                <a:sym typeface="Alegreya Sans"/>
              </a:rPr>
              <a:t>And in my experience as a degree-qualified Registered Associate Nutritionist, with over 11 years’ experience and having supported 50,000+ clients, nothing transforms results quite like 1-2-1 coaching</a:t>
            </a:r>
            <a:endParaRPr sz="2000">
              <a:solidFill>
                <a:srgbClr val="333333"/>
              </a:solidFill>
              <a:latin typeface="Alegreya Sans"/>
              <a:ea typeface="Alegreya Sans"/>
              <a:cs typeface="Alegreya Sans"/>
              <a:sym typeface="Alegreya Sans"/>
            </a:endParaRPr>
          </a:p>
          <a:p>
            <a:pPr indent="0" lvl="0" marL="0" rtl="0" algn="ctr">
              <a:spcBef>
                <a:spcPts val="0"/>
              </a:spcBef>
              <a:spcAft>
                <a:spcPts val="0"/>
              </a:spcAft>
              <a:buClr>
                <a:schemeClr val="dk1"/>
              </a:buClr>
              <a:buSzPts val="1100"/>
              <a:buFont typeface="Arial"/>
              <a:buNone/>
            </a:pPr>
            <a:r>
              <a:t/>
            </a:r>
            <a:endParaRPr sz="2000">
              <a:solidFill>
                <a:srgbClr val="333333"/>
              </a:solidFill>
              <a:latin typeface="Alegreya Sans"/>
              <a:ea typeface="Alegreya Sans"/>
              <a:cs typeface="Alegreya Sans"/>
              <a:sym typeface="Alegreya Sans"/>
            </a:endParaRPr>
          </a:p>
        </p:txBody>
      </p:sp>
      <p:pic>
        <p:nvPicPr>
          <p:cNvPr id="84" name="Google Shape;84;p17" title="anna before and after.png"/>
          <p:cNvPicPr preferRelativeResize="0"/>
          <p:nvPr/>
        </p:nvPicPr>
        <p:blipFill>
          <a:blip r:embed="rId3">
            <a:alphaModFix/>
          </a:blip>
          <a:stretch>
            <a:fillRect/>
          </a:stretch>
        </p:blipFill>
        <p:spPr>
          <a:xfrm>
            <a:off x="5428200" y="689000"/>
            <a:ext cx="3715850" cy="3715850"/>
          </a:xfrm>
          <a:prstGeom prst="rect">
            <a:avLst/>
          </a:prstGeom>
          <a:noFill/>
          <a:ln>
            <a:noFill/>
          </a:ln>
        </p:spPr>
      </p:pic>
      <p:sp>
        <p:nvSpPr>
          <p:cNvPr id="85" name="Google Shape;85;p17"/>
          <p:cNvSpPr txBox="1"/>
          <p:nvPr/>
        </p:nvSpPr>
        <p:spPr>
          <a:xfrm>
            <a:off x="144138" y="309825"/>
            <a:ext cx="51399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rgbClr val="003060"/>
                </a:solidFill>
                <a:latin typeface="Libre Baskerville"/>
                <a:ea typeface="Libre Baskerville"/>
                <a:cs typeface="Libre Baskerville"/>
                <a:sym typeface="Libre Baskerville"/>
              </a:rPr>
              <a:t>VIP 1-2-1 </a:t>
            </a:r>
            <a:r>
              <a:rPr i="1" lang="en" sz="3600">
                <a:solidFill>
                  <a:srgbClr val="D97757"/>
                </a:solidFill>
                <a:latin typeface="Libre Baskerville"/>
                <a:ea typeface="Libre Baskerville"/>
                <a:cs typeface="Libre Baskerville"/>
                <a:sym typeface="Libre Baskerville"/>
              </a:rPr>
              <a:t>Coaching</a:t>
            </a:r>
            <a:endParaRPr i="1" sz="36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nvSpPr>
        <p:spPr>
          <a:xfrm>
            <a:off x="468125" y="2194500"/>
            <a:ext cx="8275800" cy="2613300"/>
          </a:xfrm>
          <a:prstGeom prst="rect">
            <a:avLst/>
          </a:prstGeom>
          <a:noFill/>
          <a:ln>
            <a:noFill/>
          </a:ln>
        </p:spPr>
        <p:txBody>
          <a:bodyPr anchorCtr="0" anchor="t" bIns="91425" lIns="91425" spcFirstLastPara="1" rIns="91425" wrap="square" tIns="91425">
            <a:noAutofit/>
          </a:bodyPr>
          <a:lstStyle/>
          <a:p>
            <a:pPr indent="0" lvl="0" marL="0" rtl="0" algn="ctr">
              <a:spcBef>
                <a:spcPts val="1200"/>
              </a:spcBef>
              <a:spcAft>
                <a:spcPts val="1200"/>
              </a:spcAft>
              <a:buClr>
                <a:schemeClr val="dk1"/>
              </a:buClr>
              <a:buSzPts val="1100"/>
              <a:buFont typeface="Arial"/>
              <a:buNone/>
            </a:pPr>
            <a:r>
              <a:rPr lang="en" sz="1800">
                <a:solidFill>
                  <a:srgbClr val="333333"/>
                </a:solidFill>
                <a:latin typeface="Alegreya Sans"/>
                <a:ea typeface="Alegreya Sans"/>
                <a:cs typeface="Alegreya Sans"/>
                <a:sym typeface="Alegreya Sans"/>
              </a:rPr>
              <a:t>Sick of not knowing what works for you, frustrated with your lack of results? We build a simple nutrition strategy tailored to you, your lifestyle, goals, time that you have, routine and preferences. No guesswork. No extremes. No starting again every Monday. Just a clear structure that’s easy to follow, reduces cravings, and gets your body responding quickly so you start seeing results sooner.</a:t>
            </a:r>
            <a:endParaRPr sz="1800">
              <a:solidFill>
                <a:srgbClr val="333333"/>
              </a:solidFill>
              <a:latin typeface="Alegreya Sans"/>
              <a:ea typeface="Alegreya Sans"/>
              <a:cs typeface="Alegreya Sans"/>
              <a:sym typeface="Alegreya Sans"/>
            </a:endParaRPr>
          </a:p>
        </p:txBody>
      </p:sp>
      <p:sp>
        <p:nvSpPr>
          <p:cNvPr id="91" name="Google Shape;91;p18"/>
          <p:cNvSpPr txBox="1"/>
          <p:nvPr/>
        </p:nvSpPr>
        <p:spPr>
          <a:xfrm>
            <a:off x="468125" y="660000"/>
            <a:ext cx="82758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3600">
                <a:solidFill>
                  <a:srgbClr val="D97757"/>
                </a:solidFill>
                <a:latin typeface="Libre Baskerville"/>
                <a:ea typeface="Libre Baskerville"/>
                <a:cs typeface="Libre Baskerville"/>
                <a:sym typeface="Libre Baskerville"/>
              </a:rPr>
              <a:t>Step 1: </a:t>
            </a:r>
            <a:r>
              <a:rPr lang="en" sz="3600">
                <a:solidFill>
                  <a:srgbClr val="003060"/>
                </a:solidFill>
                <a:latin typeface="Libre Baskerville"/>
                <a:ea typeface="Libre Baskerville"/>
                <a:cs typeface="Libre Baskerville"/>
                <a:sym typeface="Libre Baskerville"/>
              </a:rPr>
              <a:t>Personalised Nutrition Strategy For Maximum Results</a:t>
            </a:r>
            <a:endParaRPr sz="3600">
              <a:solidFill>
                <a:srgbClr val="003060"/>
              </a:solidFill>
              <a:latin typeface="Libre Baskerville"/>
              <a:ea typeface="Libre Baskerville"/>
              <a:cs typeface="Libre Baskerville"/>
              <a:sym typeface="Libre Baskerville"/>
            </a:endParaRPr>
          </a:p>
        </p:txBody>
      </p:sp>
      <p:sp>
        <p:nvSpPr>
          <p:cNvPr id="92" name="Accent Rule"/>
          <p:cNvSpPr/>
          <p:nvPr/>
        </p:nvSpPr>
        <p:spPr>
          <a:xfrm>
            <a:off x="3874505" y="2007864"/>
            <a:ext cx="1463040" cy="45720"/>
          </a:xfrm>
          <a:prstGeom prst="rect">
            <a:avLst/>
          </a:prstGeom>
          <a:solidFill>
            <a:srgbClr val="D97757"/>
          </a:solidFill>
          <a:ln>
            <a:noFill/>
          </a:ln>
        </p:spPr>
        <p:txBody>
          <a:bodyPr/>
          <a:lstStyle/>
          <a:p>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nvSpPr>
        <p:spPr>
          <a:xfrm>
            <a:off x="439225" y="1997600"/>
            <a:ext cx="8322300" cy="2856300"/>
          </a:xfrm>
          <a:prstGeom prst="rect">
            <a:avLst/>
          </a:prstGeom>
          <a:noFill/>
          <a:ln>
            <a:noFill/>
          </a:ln>
        </p:spPr>
        <p:txBody>
          <a:bodyPr anchorCtr="0" anchor="t" bIns="91425" lIns="91425" spcFirstLastPara="1" rIns="91425" wrap="square" tIns="91425">
            <a:noAutofit/>
          </a:bodyPr>
          <a:lstStyle/>
          <a:p>
            <a:pPr indent="0" lvl="0" marL="0" rtl="0" algn="ctr">
              <a:spcBef>
                <a:spcPts val="1200"/>
              </a:spcBef>
              <a:spcAft>
                <a:spcPts val="0"/>
              </a:spcAft>
              <a:buNone/>
            </a:pPr>
            <a:r>
              <a:rPr lang="en" sz="1800">
                <a:solidFill>
                  <a:srgbClr val="333333"/>
                </a:solidFill>
                <a:latin typeface="Alegreya Sans"/>
                <a:ea typeface="Alegreya Sans"/>
                <a:cs typeface="Alegreya Sans"/>
                <a:sym typeface="Alegreya Sans"/>
              </a:rPr>
              <a:t>This is the part most women are missing. When you’re doing it alone, it’s easy to make excuses, lose focus and give up. When you’re accountable to someone else, you show up, follow through and take your goals more seriously. It’s not about knowing what to do… it’s about doing it consistently. </a:t>
            </a:r>
            <a:endParaRPr sz="1800">
              <a:solidFill>
                <a:srgbClr val="333333"/>
              </a:solidFill>
              <a:latin typeface="Alegreya Sans"/>
              <a:ea typeface="Alegreya Sans"/>
              <a:cs typeface="Alegreya Sans"/>
              <a:sym typeface="Alegreya Sans"/>
            </a:endParaRPr>
          </a:p>
          <a:p>
            <a:pPr indent="0" lvl="0" marL="0" rtl="0" algn="ctr">
              <a:spcBef>
                <a:spcPts val="1200"/>
              </a:spcBef>
              <a:spcAft>
                <a:spcPts val="0"/>
              </a:spcAft>
              <a:buNone/>
            </a:pPr>
            <a:r>
              <a:rPr lang="en" sz="1800">
                <a:solidFill>
                  <a:srgbClr val="333333"/>
                </a:solidFill>
                <a:latin typeface="Alegreya Sans"/>
                <a:ea typeface="Alegreya Sans"/>
                <a:cs typeface="Alegreya Sans"/>
                <a:sym typeface="Alegreya Sans"/>
              </a:rPr>
              <a:t>With regular check-ins, coaching sessions and daily support, you stay on track, even on the days you don’t feel like it. And that’s what turns good intentions into real results.</a:t>
            </a:r>
            <a:endParaRPr sz="1800">
              <a:solidFill>
                <a:srgbClr val="333333"/>
              </a:solidFill>
              <a:latin typeface="Alegreya Sans"/>
              <a:ea typeface="Alegreya Sans"/>
              <a:cs typeface="Alegreya Sans"/>
              <a:sym typeface="Alegreya Sans"/>
            </a:endParaRPr>
          </a:p>
          <a:p>
            <a:pPr indent="0" lvl="0" marL="0" rtl="0" algn="ctr">
              <a:spcBef>
                <a:spcPts val="1200"/>
              </a:spcBef>
              <a:spcAft>
                <a:spcPts val="1200"/>
              </a:spcAft>
              <a:buNone/>
            </a:pPr>
            <a:r>
              <a:t/>
            </a:r>
            <a:endParaRPr sz="1800">
              <a:solidFill>
                <a:srgbClr val="333333"/>
              </a:solidFill>
              <a:latin typeface="Alegreya Sans"/>
              <a:ea typeface="Alegreya Sans"/>
              <a:cs typeface="Alegreya Sans"/>
              <a:sym typeface="Alegreya Sans"/>
            </a:endParaRPr>
          </a:p>
        </p:txBody>
      </p:sp>
      <p:sp>
        <p:nvSpPr>
          <p:cNvPr id="97" name="Google Shape;97;p19"/>
          <p:cNvSpPr txBox="1"/>
          <p:nvPr/>
        </p:nvSpPr>
        <p:spPr>
          <a:xfrm>
            <a:off x="462900" y="602225"/>
            <a:ext cx="82182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3600">
                <a:solidFill>
                  <a:srgbClr val="D97757"/>
                </a:solidFill>
                <a:latin typeface="Libre Baskerville"/>
                <a:ea typeface="Libre Baskerville"/>
                <a:cs typeface="Libre Baskerville"/>
                <a:sym typeface="Libre Baskerville"/>
              </a:rPr>
              <a:t>Step 2</a:t>
            </a:r>
            <a:r>
              <a:rPr i="1" lang="en" sz="3600">
                <a:solidFill>
                  <a:srgbClr val="D97757"/>
                </a:solidFill>
                <a:latin typeface="Libre Baskerville"/>
                <a:ea typeface="Libre Baskerville"/>
                <a:cs typeface="Libre Baskerville"/>
                <a:sym typeface="Libre Baskerville"/>
              </a:rPr>
              <a:t>: </a:t>
            </a:r>
            <a:r>
              <a:rPr lang="en" sz="3600">
                <a:solidFill>
                  <a:srgbClr val="003060"/>
                </a:solidFill>
                <a:latin typeface="Libre Baskerville"/>
                <a:ea typeface="Libre Baskerville"/>
                <a:cs typeface="Libre Baskerville"/>
                <a:sym typeface="Libre Baskerville"/>
              </a:rPr>
              <a:t>High Accountability, Support + Personal Check in’s </a:t>
            </a:r>
            <a:endParaRPr sz="3600">
              <a:solidFill>
                <a:srgbClr val="003060"/>
              </a:solidFill>
              <a:latin typeface="Libre Baskerville"/>
              <a:ea typeface="Libre Baskerville"/>
              <a:cs typeface="Libre Baskerville"/>
              <a:sym typeface="Libre Baskerville"/>
            </a:endParaRPr>
          </a:p>
        </p:txBody>
      </p:sp>
      <p:sp>
        <p:nvSpPr>
          <p:cNvPr id="98" name="Accent Rule"/>
          <p:cNvSpPr/>
          <p:nvPr/>
        </p:nvSpPr>
        <p:spPr>
          <a:xfrm>
            <a:off x="3840480" y="1950089"/>
            <a:ext cx="1463040" cy="45720"/>
          </a:xfrm>
          <a:prstGeom prst="rect">
            <a:avLst/>
          </a:prstGeom>
          <a:solidFill>
            <a:srgbClr val="D97757"/>
          </a:solidFill>
          <a:ln>
            <a:noFill/>
          </a:ln>
        </p:spPr>
        <p:txBody>
          <a:bodyPr/>
          <a:lstStyle/>
          <a:p>
            <a:endParaRPr lang="en"/>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nvSpPr>
        <p:spPr>
          <a:xfrm>
            <a:off x="399475" y="1778375"/>
            <a:ext cx="8345100" cy="2613300"/>
          </a:xfrm>
          <a:prstGeom prst="rect">
            <a:avLst/>
          </a:prstGeom>
          <a:noFill/>
          <a:ln>
            <a:noFill/>
          </a:ln>
        </p:spPr>
        <p:txBody>
          <a:bodyPr anchorCtr="0" anchor="t" bIns="91425" lIns="91425" spcFirstLastPara="1" rIns="91425" wrap="square" tIns="91425">
            <a:noAutofit/>
          </a:bodyPr>
          <a:lstStyle/>
          <a:p>
            <a:pPr indent="0" lvl="0" marL="0" rtl="0" algn="ctr">
              <a:spcBef>
                <a:spcPts val="1200"/>
              </a:spcBef>
              <a:spcAft>
                <a:spcPts val="0"/>
              </a:spcAft>
              <a:buNone/>
            </a:pPr>
            <a:r>
              <a:rPr lang="en" sz="1800">
                <a:solidFill>
                  <a:srgbClr val="333333"/>
                </a:solidFill>
                <a:latin typeface="Alegreya Sans"/>
                <a:ea typeface="Alegreya Sans"/>
                <a:cs typeface="Alegreya Sans"/>
                <a:sym typeface="Alegreya Sans"/>
              </a:rPr>
              <a:t>You’ll submit your results each month so we can track your progress clearly and keep you moving forward. This adds another powerful layer of accountability, so you don’t drift or stall.</a:t>
            </a:r>
            <a:endParaRPr sz="1800">
              <a:solidFill>
                <a:srgbClr val="333333"/>
              </a:solidFill>
              <a:latin typeface="Alegreya Sans"/>
              <a:ea typeface="Alegreya Sans"/>
              <a:cs typeface="Alegreya Sans"/>
              <a:sym typeface="Alegreya Sans"/>
            </a:endParaRPr>
          </a:p>
          <a:p>
            <a:pPr indent="0" lvl="0" marL="0" rtl="0" algn="ctr">
              <a:spcBef>
                <a:spcPts val="1200"/>
              </a:spcBef>
              <a:spcAft>
                <a:spcPts val="0"/>
              </a:spcAft>
              <a:buNone/>
            </a:pPr>
            <a:r>
              <a:t/>
            </a:r>
            <a:endParaRPr sz="1800">
              <a:solidFill>
                <a:srgbClr val="333333"/>
              </a:solidFill>
              <a:latin typeface="Alegreya Sans"/>
              <a:ea typeface="Alegreya Sans"/>
              <a:cs typeface="Alegreya Sans"/>
              <a:sym typeface="Alegreya Sans"/>
            </a:endParaRPr>
          </a:p>
          <a:p>
            <a:pPr indent="0" lvl="0" marL="0" rtl="0" algn="ctr">
              <a:spcBef>
                <a:spcPts val="1200"/>
              </a:spcBef>
              <a:spcAft>
                <a:spcPts val="1200"/>
              </a:spcAft>
              <a:buNone/>
            </a:pPr>
            <a:r>
              <a:rPr lang="en" sz="1800">
                <a:solidFill>
                  <a:srgbClr val="333333"/>
                </a:solidFill>
                <a:latin typeface="Alegreya Sans"/>
                <a:ea typeface="Alegreya Sans"/>
                <a:cs typeface="Alegreya Sans"/>
                <a:sym typeface="Alegreya Sans"/>
              </a:rPr>
              <a:t>We review everything and make the right adjustments along the way, ensuring you stay on track and your results keep progressing</a:t>
            </a:r>
            <a:endParaRPr sz="1800">
              <a:solidFill>
                <a:srgbClr val="333333"/>
              </a:solidFill>
              <a:latin typeface="Alegreya Sans"/>
              <a:ea typeface="Alegreya Sans"/>
              <a:cs typeface="Alegreya Sans"/>
              <a:sym typeface="Alegreya Sans"/>
            </a:endParaRPr>
          </a:p>
        </p:txBody>
      </p:sp>
      <p:sp>
        <p:nvSpPr>
          <p:cNvPr id="103" name="Google Shape;103;p20"/>
          <p:cNvSpPr txBox="1"/>
          <p:nvPr/>
        </p:nvSpPr>
        <p:spPr>
          <a:xfrm>
            <a:off x="399475" y="625325"/>
            <a:ext cx="8345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3600">
                <a:solidFill>
                  <a:srgbClr val="D97757"/>
                </a:solidFill>
                <a:latin typeface="Libre Baskerville"/>
                <a:ea typeface="Libre Baskerville"/>
                <a:cs typeface="Libre Baskerville"/>
                <a:sym typeface="Libre Baskerville"/>
              </a:rPr>
              <a:t>Step 3</a:t>
            </a:r>
            <a:r>
              <a:rPr i="1" lang="en" sz="3600">
                <a:solidFill>
                  <a:srgbClr val="D97757"/>
                </a:solidFill>
                <a:latin typeface="Libre Baskerville"/>
                <a:ea typeface="Libre Baskerville"/>
                <a:cs typeface="Libre Baskerville"/>
                <a:sym typeface="Libre Baskerville"/>
              </a:rPr>
              <a:t>: </a:t>
            </a:r>
            <a:r>
              <a:rPr lang="en" sz="3600">
                <a:solidFill>
                  <a:srgbClr val="003060"/>
                </a:solidFill>
                <a:latin typeface="Libre Baskerville"/>
                <a:ea typeface="Libre Baskerville"/>
                <a:cs typeface="Libre Baskerville"/>
                <a:sym typeface="Libre Baskerville"/>
              </a:rPr>
              <a:t>Results Tracking </a:t>
            </a:r>
            <a:endParaRPr sz="3600">
              <a:solidFill>
                <a:srgbClr val="003060"/>
              </a:solidFill>
              <a:latin typeface="Libre Baskerville"/>
              <a:ea typeface="Libre Baskerville"/>
              <a:cs typeface="Libre Baskerville"/>
              <a:sym typeface="Libre Baskerville"/>
            </a:endParaRPr>
          </a:p>
        </p:txBody>
      </p:sp>
      <p:sp>
        <p:nvSpPr>
          <p:cNvPr id="104" name="Accent Rule"/>
          <p:cNvSpPr/>
          <p:nvPr/>
        </p:nvSpPr>
        <p:spPr>
          <a:xfrm>
            <a:off x="3840505" y="1419089"/>
            <a:ext cx="1463040" cy="45720"/>
          </a:xfrm>
          <a:prstGeom prst="rect">
            <a:avLst/>
          </a:prstGeom>
          <a:solidFill>
            <a:srgbClr val="D97757"/>
          </a:solidFill>
          <a:ln>
            <a:noFill/>
          </a:ln>
        </p:spPr>
        <p:txBody>
          <a:bodyPr/>
          <a:lstStyle/>
          <a:p>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nvSpPr>
        <p:spPr>
          <a:xfrm>
            <a:off x="295350" y="681825"/>
            <a:ext cx="8553300" cy="341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3000">
                <a:solidFill>
                  <a:srgbClr val="003060"/>
                </a:solidFill>
                <a:latin typeface="Libre Baskerville"/>
                <a:ea typeface="Libre Baskerville"/>
                <a:cs typeface="Libre Baskerville"/>
                <a:sym typeface="Libre Baskerville"/>
              </a:rPr>
              <a:t>These 3 steps are what makes 1-2-1 coaching and VIP different to group coaching and digital tools. </a:t>
            </a:r>
            <a:br>
              <a:rPr lang="en" sz="3000">
                <a:solidFill>
                  <a:srgbClr val="003060"/>
                </a:solidFill>
                <a:latin typeface="Libre Baskerville"/>
                <a:ea typeface="Libre Baskerville"/>
                <a:cs typeface="Libre Baskerville"/>
                <a:sym typeface="Libre Baskerville"/>
              </a:rPr>
            </a:br>
            <a:endParaRPr sz="300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Clr>
                <a:schemeClr val="dk1"/>
              </a:buClr>
              <a:buSzPts val="1100"/>
              <a:buFont typeface="Arial"/>
              <a:buNone/>
            </a:pPr>
            <a:r>
              <a:rPr lang="en" sz="3000">
                <a:solidFill>
                  <a:srgbClr val="003060"/>
                </a:solidFill>
                <a:latin typeface="Libre Baskerville"/>
                <a:ea typeface="Libre Baskerville"/>
                <a:cs typeface="Libre Baskerville"/>
                <a:sym typeface="Libre Baskerville"/>
              </a:rPr>
              <a:t>When you combine personalised </a:t>
            </a:r>
            <a:r>
              <a:rPr lang="en" sz="3000">
                <a:solidFill>
                  <a:srgbClr val="003060"/>
                </a:solidFill>
                <a:latin typeface="Libre Baskerville"/>
                <a:ea typeface="Libre Baskerville"/>
                <a:cs typeface="Libre Baskerville"/>
                <a:sym typeface="Libre Baskerville"/>
              </a:rPr>
              <a:t>strategy</a:t>
            </a:r>
            <a:r>
              <a:rPr lang="en" sz="3000">
                <a:solidFill>
                  <a:srgbClr val="003060"/>
                </a:solidFill>
                <a:latin typeface="Libre Baskerville"/>
                <a:ea typeface="Libre Baskerville"/>
                <a:cs typeface="Libre Baskerville"/>
                <a:sym typeface="Libre Baskerville"/>
              </a:rPr>
              <a:t>, high accountability and results tracking its a game changer for results</a:t>
            </a:r>
            <a:endParaRPr sz="30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nvSpPr>
        <p:spPr>
          <a:xfrm>
            <a:off x="295350" y="681825"/>
            <a:ext cx="8553300" cy="3879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3000">
                <a:solidFill>
                  <a:srgbClr val="003060"/>
                </a:solidFill>
                <a:latin typeface="Libre Baskerville"/>
                <a:ea typeface="Libre Baskerville"/>
                <a:cs typeface="Libre Baskerville"/>
                <a:sym typeface="Libre Baskerville"/>
              </a:rPr>
              <a:t>I have had clients that love our WLA ethos but they need more than group coaching. Group </a:t>
            </a:r>
            <a:r>
              <a:rPr lang="en" sz="3000">
                <a:solidFill>
                  <a:srgbClr val="003060"/>
                </a:solidFill>
                <a:latin typeface="Libre Baskerville"/>
                <a:ea typeface="Libre Baskerville"/>
                <a:cs typeface="Libre Baskerville"/>
                <a:sym typeface="Libre Baskerville"/>
              </a:rPr>
              <a:t>coaching</a:t>
            </a:r>
            <a:r>
              <a:rPr lang="en" sz="3000">
                <a:solidFill>
                  <a:srgbClr val="003060"/>
                </a:solidFill>
                <a:latin typeface="Libre Baskerville"/>
                <a:ea typeface="Libre Baskerville"/>
                <a:cs typeface="Libre Baskerville"/>
                <a:sym typeface="Libre Baskerville"/>
              </a:rPr>
              <a:t> works for many but there’s a select few people that need that 1-2-1 support, they don’t engage in groups. </a:t>
            </a:r>
            <a:br>
              <a:rPr lang="en" sz="3000">
                <a:solidFill>
                  <a:srgbClr val="003060"/>
                </a:solidFill>
                <a:latin typeface="Libre Baskerville"/>
                <a:ea typeface="Libre Baskerville"/>
                <a:cs typeface="Libre Baskerville"/>
                <a:sym typeface="Libre Baskerville"/>
              </a:rPr>
            </a:br>
            <a:br>
              <a:rPr lang="en" sz="3000">
                <a:solidFill>
                  <a:srgbClr val="003060"/>
                </a:solidFill>
                <a:latin typeface="Libre Baskerville"/>
                <a:ea typeface="Libre Baskerville"/>
                <a:cs typeface="Libre Baskerville"/>
                <a:sym typeface="Libre Baskerville"/>
              </a:rPr>
            </a:br>
            <a:r>
              <a:rPr lang="en" sz="3000">
                <a:solidFill>
                  <a:srgbClr val="003060"/>
                </a:solidFill>
                <a:latin typeface="Libre Baskerville"/>
                <a:ea typeface="Libre Baskerville"/>
                <a:cs typeface="Libre Baskerville"/>
                <a:sym typeface="Libre Baskerville"/>
              </a:rPr>
              <a:t>For many clients VIP was the game changer!</a:t>
            </a:r>
            <a:endParaRPr sz="30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p:nvPr/>
        </p:nvSpPr>
        <p:spPr>
          <a:xfrm>
            <a:off x="686700" y="682650"/>
            <a:ext cx="7770600" cy="3778200"/>
          </a:xfrm>
          <a:prstGeom prst="rect">
            <a:avLst/>
          </a:prstGeom>
          <a:no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2800"/>
              <a:buFont typeface="Helvetica Neue"/>
              <a:buNone/>
            </a:pPr>
            <a:r>
              <a:rPr lang="en" sz="2300">
                <a:solidFill>
                  <a:srgbClr val="003060"/>
                </a:solidFill>
                <a:latin typeface="Libre Baskerville"/>
                <a:ea typeface="Libre Baskerville"/>
                <a:cs typeface="Libre Baskerville"/>
                <a:sym typeface="Libre Baskerville"/>
              </a:rPr>
              <a:t>🔬 Human 1–2–1 coaching outperforms digital-only or self-guided approaches</a:t>
            </a:r>
            <a:endParaRPr sz="2300">
              <a:solidFill>
                <a:srgbClr val="003060"/>
              </a:solidFill>
              <a:latin typeface="Libre Baskerville"/>
              <a:ea typeface="Libre Baskerville"/>
              <a:cs typeface="Libre Baskerville"/>
              <a:sym typeface="Libre Baskerville"/>
            </a:endParaRPr>
          </a:p>
          <a:p>
            <a:pPr indent="0" lvl="0" marL="0" marR="0" rtl="0" algn="ctr">
              <a:lnSpc>
                <a:spcPct val="100000"/>
              </a:lnSpc>
              <a:spcBef>
                <a:spcPts val="0"/>
              </a:spcBef>
              <a:spcAft>
                <a:spcPts val="0"/>
              </a:spcAft>
              <a:buClr>
                <a:srgbClr val="000000"/>
              </a:buClr>
              <a:buSzPts val="2800"/>
              <a:buFont typeface="Helvetica Neue"/>
              <a:buNone/>
            </a:pPr>
            <a:r>
              <a:t/>
            </a:r>
            <a:endParaRPr sz="2300">
              <a:solidFill>
                <a:srgbClr val="003060"/>
              </a:solidFill>
              <a:latin typeface="Libre Baskerville"/>
              <a:ea typeface="Libre Baskerville"/>
              <a:cs typeface="Libre Baskerville"/>
              <a:sym typeface="Libre Baskerville"/>
            </a:endParaRPr>
          </a:p>
          <a:p>
            <a:pPr indent="0" lvl="0" marL="0" marR="0" rtl="0" algn="ctr">
              <a:lnSpc>
                <a:spcPct val="100000"/>
              </a:lnSpc>
              <a:spcBef>
                <a:spcPts val="0"/>
              </a:spcBef>
              <a:spcAft>
                <a:spcPts val="0"/>
              </a:spcAft>
              <a:buClr>
                <a:srgbClr val="000000"/>
              </a:buClr>
              <a:buSzPts val="2800"/>
              <a:buFont typeface="Helvetica Neue"/>
              <a:buNone/>
            </a:pPr>
            <a:r>
              <a:rPr lang="en" sz="2300">
                <a:solidFill>
                  <a:srgbClr val="003060"/>
                </a:solidFill>
                <a:latin typeface="Libre Baskerville"/>
                <a:ea typeface="Libre Baskerville"/>
                <a:cs typeface="Libre Baskerville"/>
                <a:sym typeface="Libre Baskerville"/>
              </a:rPr>
              <a:t>A study from Stanford University found:</a:t>
            </a:r>
            <a:endParaRPr sz="2300">
              <a:solidFill>
                <a:srgbClr val="003060"/>
              </a:solidFill>
              <a:latin typeface="Libre Baskerville"/>
              <a:ea typeface="Libre Baskerville"/>
              <a:cs typeface="Libre Baskerville"/>
              <a:sym typeface="Libre Baskerville"/>
            </a:endParaRPr>
          </a:p>
          <a:p>
            <a:pPr indent="0" lvl="0" marL="0" marR="0" rtl="0" algn="ctr">
              <a:lnSpc>
                <a:spcPct val="100000"/>
              </a:lnSpc>
              <a:spcBef>
                <a:spcPts val="0"/>
              </a:spcBef>
              <a:spcAft>
                <a:spcPts val="0"/>
              </a:spcAft>
              <a:buClr>
                <a:srgbClr val="000000"/>
              </a:buClr>
              <a:buSzPts val="2800"/>
              <a:buFont typeface="Helvetica Neue"/>
              <a:buNone/>
            </a:pPr>
            <a:r>
              <a:t/>
            </a:r>
            <a:endParaRPr sz="2300">
              <a:solidFill>
                <a:srgbClr val="003060"/>
              </a:solidFill>
              <a:latin typeface="Libre Baskerville"/>
              <a:ea typeface="Libre Baskerville"/>
              <a:cs typeface="Libre Baskerville"/>
              <a:sym typeface="Libre Baskerville"/>
            </a:endParaRPr>
          </a:p>
          <a:p>
            <a:pPr indent="0" lvl="0" marL="0" marR="0" rtl="0" algn="ctr">
              <a:lnSpc>
                <a:spcPct val="100000"/>
              </a:lnSpc>
              <a:spcBef>
                <a:spcPts val="0"/>
              </a:spcBef>
              <a:spcAft>
                <a:spcPts val="0"/>
              </a:spcAft>
              <a:buClr>
                <a:srgbClr val="000000"/>
              </a:buClr>
              <a:buSzPts val="2800"/>
              <a:buFont typeface="Helvetica Neue"/>
              <a:buNone/>
            </a:pPr>
            <a:r>
              <a:rPr b="1" lang="en" sz="2300">
                <a:solidFill>
                  <a:srgbClr val="003060"/>
                </a:solidFill>
                <a:latin typeface="Libre Baskerville"/>
                <a:ea typeface="Libre Baskerville"/>
                <a:cs typeface="Libre Baskerville"/>
                <a:sym typeface="Libre Baskerville"/>
              </a:rPr>
              <a:t>People with access to human coaches (1–2–1 support) lost significantly more weight than those using digital tools alone</a:t>
            </a:r>
            <a:endParaRPr b="1" sz="2300">
              <a:solidFill>
                <a:srgbClr val="003060"/>
              </a:solidFill>
              <a:latin typeface="Libre Baskerville"/>
              <a:ea typeface="Libre Baskerville"/>
              <a:cs typeface="Libre Baskerville"/>
              <a:sym typeface="Libre Baskerville"/>
            </a:endParaRPr>
          </a:p>
          <a:p>
            <a:pPr indent="0" lvl="0" marL="0" marR="0" rtl="0" algn="ctr">
              <a:lnSpc>
                <a:spcPct val="100000"/>
              </a:lnSpc>
              <a:spcBef>
                <a:spcPts val="0"/>
              </a:spcBef>
              <a:spcAft>
                <a:spcPts val="0"/>
              </a:spcAft>
              <a:buClr>
                <a:srgbClr val="000000"/>
              </a:buClr>
              <a:buSzPts val="2800"/>
              <a:buFont typeface="Helvetica Neue"/>
              <a:buNone/>
            </a:pPr>
            <a:r>
              <a:t/>
            </a:r>
            <a:endParaRPr sz="2300">
              <a:solidFill>
                <a:srgbClr val="003060"/>
              </a:solidFill>
              <a:latin typeface="Libre Baskerville"/>
              <a:ea typeface="Libre Baskerville"/>
              <a:cs typeface="Libre Baskerville"/>
              <a:sym typeface="Libre Baskerville"/>
            </a:endParaRPr>
          </a:p>
          <a:p>
            <a:pPr indent="0" lvl="0" marL="0" marR="0" rtl="0" algn="ctr">
              <a:lnSpc>
                <a:spcPct val="100000"/>
              </a:lnSpc>
              <a:spcBef>
                <a:spcPts val="0"/>
              </a:spcBef>
              <a:spcAft>
                <a:spcPts val="0"/>
              </a:spcAft>
              <a:buClr>
                <a:srgbClr val="000000"/>
              </a:buClr>
              <a:buSzPts val="2800"/>
              <a:buFont typeface="Helvetica Neue"/>
              <a:buNone/>
            </a:pPr>
            <a:r>
              <a:rPr lang="en" sz="2300">
                <a:solidFill>
                  <a:srgbClr val="003060"/>
                </a:solidFill>
                <a:latin typeface="Libre Baskerville"/>
                <a:ea typeface="Libre Baskerville"/>
                <a:cs typeface="Libre Baskerville"/>
                <a:sym typeface="Libre Baskerville"/>
              </a:rPr>
              <a:t>👉 Even when the information is the same. Key takeaway: It’s not the plan, it’s the support, accountability and feedback. </a:t>
            </a:r>
            <a:endParaRPr sz="23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p:nvPr/>
        </p:nvSpPr>
        <p:spPr>
          <a:xfrm>
            <a:off x="778050" y="2860000"/>
            <a:ext cx="7587900" cy="1091400"/>
          </a:xfrm>
          <a:prstGeom prst="rect">
            <a:avLst/>
          </a:prstGeom>
          <a:noFill/>
          <a:ln>
            <a:noFill/>
          </a:ln>
        </p:spPr>
        <p:txBody>
          <a:bodyPr anchorCtr="0" anchor="ctr" bIns="19050" lIns="19050" spcFirstLastPara="1" rIns="19050" wrap="square" tIns="19050">
            <a:noAutofit/>
          </a:bodyPr>
          <a:lstStyle/>
          <a:p>
            <a:pPr indent="0" lvl="0" marL="0" marR="0" rtl="0" algn="ctr">
              <a:lnSpc>
                <a:spcPct val="150000"/>
              </a:lnSpc>
              <a:spcBef>
                <a:spcPts val="0"/>
              </a:spcBef>
              <a:spcAft>
                <a:spcPts val="0"/>
              </a:spcAft>
              <a:buClr>
                <a:srgbClr val="000000"/>
              </a:buClr>
              <a:buSzPts val="2400"/>
              <a:buFont typeface="Helvetica Neue"/>
              <a:buNone/>
            </a:pPr>
            <a:r>
              <a:rPr lang="en" sz="2000">
                <a:solidFill>
                  <a:srgbClr val="003060"/>
                </a:solidFill>
                <a:latin typeface="Libre Baskerville"/>
                <a:ea typeface="Libre Baskerville"/>
                <a:cs typeface="Libre Baskerville"/>
                <a:sym typeface="Libre Baskerville"/>
              </a:rPr>
              <a:t>The next intake is open, we </a:t>
            </a:r>
            <a:r>
              <a:rPr b="1" lang="en" sz="2000">
                <a:solidFill>
                  <a:srgbClr val="003060"/>
                </a:solidFill>
                <a:latin typeface="Libre Baskerville"/>
                <a:ea typeface="Libre Baskerville"/>
                <a:cs typeface="Libre Baskerville"/>
                <a:sym typeface="Libre Baskerville"/>
              </a:rPr>
              <a:t>kick off soon</a:t>
            </a:r>
            <a:r>
              <a:rPr lang="en" sz="2000">
                <a:solidFill>
                  <a:srgbClr val="003060"/>
                </a:solidFill>
                <a:latin typeface="Libre Baskerville"/>
                <a:ea typeface="Libre Baskerville"/>
                <a:cs typeface="Libre Baskerville"/>
                <a:sym typeface="Libre Baskerville"/>
              </a:rPr>
              <a:t> </a:t>
            </a:r>
            <a:endParaRPr sz="2000">
              <a:solidFill>
                <a:srgbClr val="003060"/>
              </a:solidFill>
              <a:latin typeface="Libre Baskerville"/>
              <a:ea typeface="Libre Baskerville"/>
              <a:cs typeface="Libre Baskerville"/>
              <a:sym typeface="Libre Baskerville"/>
            </a:endParaRPr>
          </a:p>
          <a:p>
            <a:pPr indent="0" lvl="0" marL="0" marR="0" rtl="0" algn="ctr">
              <a:lnSpc>
                <a:spcPct val="150000"/>
              </a:lnSpc>
              <a:spcBef>
                <a:spcPts val="0"/>
              </a:spcBef>
              <a:spcAft>
                <a:spcPts val="0"/>
              </a:spcAft>
              <a:buClr>
                <a:srgbClr val="000000"/>
              </a:buClr>
              <a:buSzPts val="2400"/>
              <a:buFont typeface="Helvetica Neue"/>
              <a:buNone/>
            </a:pPr>
            <a:r>
              <a:rPr lang="en" sz="2000">
                <a:solidFill>
                  <a:srgbClr val="003060"/>
                </a:solidFill>
                <a:latin typeface="Libre Baskerville"/>
                <a:ea typeface="Libre Baskerville"/>
                <a:cs typeface="Libre Baskerville"/>
                <a:sym typeface="Libre Baskerville"/>
              </a:rPr>
              <a:t>Only have </a:t>
            </a:r>
            <a:r>
              <a:rPr b="1" i="1" lang="en" sz="2000">
                <a:solidFill>
                  <a:srgbClr val="003060"/>
                </a:solidFill>
                <a:latin typeface="Libre Baskerville"/>
                <a:ea typeface="Libre Baskerville"/>
                <a:cs typeface="Libre Baskerville"/>
                <a:sym typeface="Libre Baskerville"/>
              </a:rPr>
              <a:t>30 spots available </a:t>
            </a:r>
            <a:endParaRPr b="1" i="1" sz="2000">
              <a:solidFill>
                <a:srgbClr val="003060"/>
              </a:solidFill>
              <a:latin typeface="Libre Baskerville"/>
              <a:ea typeface="Libre Baskerville"/>
              <a:cs typeface="Libre Baskerville"/>
              <a:sym typeface="Libre Baskerville"/>
            </a:endParaRPr>
          </a:p>
          <a:p>
            <a:pPr indent="0" lvl="0" marL="0" marR="0" rtl="0" algn="ctr">
              <a:lnSpc>
                <a:spcPct val="150000"/>
              </a:lnSpc>
              <a:spcBef>
                <a:spcPts val="0"/>
              </a:spcBef>
              <a:spcAft>
                <a:spcPts val="0"/>
              </a:spcAft>
              <a:buClr>
                <a:srgbClr val="000000"/>
              </a:buClr>
              <a:buSzPts val="2400"/>
              <a:buFont typeface="Helvetica Neue"/>
              <a:buNone/>
            </a:pPr>
            <a:r>
              <a:rPr i="1" lang="en" sz="2000">
                <a:solidFill>
                  <a:srgbClr val="003060"/>
                </a:solidFill>
                <a:latin typeface="Libre Baskerville"/>
                <a:ea typeface="Libre Baskerville"/>
                <a:cs typeface="Libre Baskerville"/>
                <a:sym typeface="Libre Baskerville"/>
              </a:rPr>
              <a:t>(10 are already gone)</a:t>
            </a:r>
            <a:endParaRPr i="1" sz="2000">
              <a:solidFill>
                <a:srgbClr val="003060"/>
              </a:solidFill>
              <a:latin typeface="Libre Baskerville"/>
              <a:ea typeface="Libre Baskerville"/>
              <a:cs typeface="Libre Baskerville"/>
              <a:sym typeface="Libre Baskerville"/>
            </a:endParaRPr>
          </a:p>
        </p:txBody>
      </p:sp>
      <p:sp>
        <p:nvSpPr>
          <p:cNvPr id="124" name="Google Shape;124;p24"/>
          <p:cNvSpPr/>
          <p:nvPr/>
        </p:nvSpPr>
        <p:spPr>
          <a:xfrm>
            <a:off x="415800" y="876651"/>
            <a:ext cx="8312400" cy="1091400"/>
          </a:xfrm>
          <a:prstGeom prst="rect">
            <a:avLst/>
          </a:prstGeom>
          <a:noFill/>
          <a:ln>
            <a:noFill/>
          </a:ln>
        </p:spPr>
        <p:txBody>
          <a:bodyPr anchorCtr="0" anchor="ctr" bIns="19050" lIns="19050" spcFirstLastPara="1" rIns="19050" wrap="square" tIns="19050">
            <a:noAutofit/>
          </a:bodyPr>
          <a:lstStyle/>
          <a:p>
            <a:pPr indent="0" lvl="0" marL="0" marR="0" rtl="0" algn="ctr">
              <a:lnSpc>
                <a:spcPct val="150000"/>
              </a:lnSpc>
              <a:spcBef>
                <a:spcPts val="0"/>
              </a:spcBef>
              <a:spcAft>
                <a:spcPts val="0"/>
              </a:spcAft>
              <a:buClr>
                <a:srgbClr val="000000"/>
              </a:buClr>
              <a:buSzPts val="2400"/>
              <a:buFont typeface="Helvetica Neue"/>
              <a:buNone/>
            </a:pPr>
            <a:r>
              <a:rPr lang="en" sz="3000">
                <a:solidFill>
                  <a:srgbClr val="003060"/>
                </a:solidFill>
                <a:latin typeface="Libre Baskerville"/>
                <a:ea typeface="Libre Baskerville"/>
                <a:cs typeface="Libre Baskerville"/>
                <a:sym typeface="Libre Baskerville"/>
              </a:rPr>
              <a:t>The WLA VIP </a:t>
            </a:r>
            <a:endParaRPr sz="3000">
              <a:solidFill>
                <a:srgbClr val="003060"/>
              </a:solidFill>
              <a:latin typeface="Libre Baskerville"/>
              <a:ea typeface="Libre Baskerville"/>
              <a:cs typeface="Libre Baskerville"/>
              <a:sym typeface="Libre Baskerville"/>
            </a:endParaRPr>
          </a:p>
          <a:p>
            <a:pPr indent="0" lvl="0" marL="0" marR="0" rtl="0" algn="ctr">
              <a:lnSpc>
                <a:spcPct val="150000"/>
              </a:lnSpc>
              <a:spcBef>
                <a:spcPts val="0"/>
              </a:spcBef>
              <a:spcAft>
                <a:spcPts val="0"/>
              </a:spcAft>
              <a:buClr>
                <a:srgbClr val="000000"/>
              </a:buClr>
              <a:buSzPts val="2400"/>
              <a:buFont typeface="Helvetica Neue"/>
              <a:buNone/>
            </a:pPr>
            <a:r>
              <a:rPr i="1" lang="en" sz="3000">
                <a:solidFill>
                  <a:srgbClr val="D97757"/>
                </a:solidFill>
                <a:highlight>
                  <a:schemeClr val="lt1"/>
                </a:highlight>
                <a:latin typeface="Libre Baskerville"/>
                <a:ea typeface="Libre Baskerville"/>
                <a:cs typeface="Libre Baskerville"/>
                <a:sym typeface="Libre Baskerville"/>
              </a:rPr>
              <a:t>Personal Coaching Transformation</a:t>
            </a:r>
            <a:endParaRPr i="1" sz="3000">
              <a:solidFill>
                <a:srgbClr val="003060"/>
              </a:solidFill>
              <a:highlight>
                <a:schemeClr val="lt1"/>
              </a:highlight>
              <a:latin typeface="Libre Baskerville"/>
              <a:ea typeface="Libre Baskerville"/>
              <a:cs typeface="Libre Baskerville"/>
              <a:sym typeface="Libre Baskervill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idx="1" type="body"/>
          </p:nvPr>
        </p:nvSpPr>
        <p:spPr>
          <a:xfrm>
            <a:off x="311700" y="955875"/>
            <a:ext cx="8520600" cy="30159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500">
                <a:solidFill>
                  <a:srgbClr val="003060"/>
                </a:solidFill>
                <a:latin typeface="Libre Baskerville"/>
                <a:ea typeface="Libre Baskerville"/>
                <a:cs typeface="Libre Baskerville"/>
                <a:sym typeface="Libre Baskerville"/>
              </a:rPr>
              <a:t>Lose That Stubborn Last Stone or Lose Up To 3 Stone, Transform Your Body, Relationship With Food, Burn Fat Consistently With a Personalised Nutrition Approach, High Accountability and Daily Support So You Finally Reach Your Goals in 3 or 6 Months With The WLA VIP 1-2-1 Coaching </a:t>
            </a:r>
            <a:endParaRPr sz="25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idx="1" type="body"/>
          </p:nvPr>
        </p:nvSpPr>
        <p:spPr>
          <a:xfrm>
            <a:off x="311700" y="470425"/>
            <a:ext cx="8520600" cy="4256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500">
                <a:solidFill>
                  <a:srgbClr val="003060"/>
                </a:solidFill>
                <a:latin typeface="Libre Baskerville"/>
                <a:ea typeface="Libre Baskerville"/>
                <a:cs typeface="Libre Baskerville"/>
                <a:sym typeface="Libre Baskerville"/>
              </a:rPr>
              <a:t>When I look at why people FAIL at weight loss it’s usually down to lack of accountability, not having time, needing personalisation etc. So VIP is a programme where we bring this all together, we take the WLA ethos and we take it to the next level with accountability that makes you take action every day and support so you know exactly what to do. You need to be self sufficient in group coaching and many are not!</a:t>
            </a:r>
            <a:endParaRPr sz="25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nvSpPr>
        <p:spPr>
          <a:xfrm>
            <a:off x="406700" y="196075"/>
            <a:ext cx="87372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rgbClr val="003060"/>
                </a:solidFill>
                <a:latin typeface="Libre Baskerville"/>
                <a:ea typeface="Libre Baskerville"/>
                <a:cs typeface="Libre Baskerville"/>
                <a:sym typeface="Libre Baskerville"/>
              </a:rPr>
              <a:t>Why Most Women </a:t>
            </a:r>
            <a:r>
              <a:rPr i="1" lang="en" sz="2500">
                <a:solidFill>
                  <a:srgbClr val="D97757"/>
                </a:solidFill>
                <a:latin typeface="Libre Baskerville"/>
                <a:ea typeface="Libre Baskerville"/>
                <a:cs typeface="Libre Baskerville"/>
                <a:sym typeface="Libre Baskerville"/>
              </a:rPr>
              <a:t>Stay Stuck</a:t>
            </a:r>
            <a:endParaRPr b="1" i="1" sz="2500">
              <a:solidFill>
                <a:srgbClr val="003060"/>
              </a:solidFill>
              <a:latin typeface="Libre Baskerville"/>
              <a:ea typeface="Libre Baskerville"/>
              <a:cs typeface="Libre Baskerville"/>
              <a:sym typeface="Libre Baskerville"/>
            </a:endParaRPr>
          </a:p>
        </p:txBody>
      </p:sp>
      <p:sp>
        <p:nvSpPr>
          <p:cNvPr id="140" name="Google Shape;140;p27"/>
          <p:cNvSpPr txBox="1"/>
          <p:nvPr/>
        </p:nvSpPr>
        <p:spPr>
          <a:xfrm>
            <a:off x="531825" y="857875"/>
            <a:ext cx="7886100" cy="38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Most women already know what to do.</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But they’re stuck in the cycle of starting… stopping… and never fully following through.</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They’ll have a good week… then life gets busy, motivation drops… and they’re back to square one.</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Not because they don’t care but because they’re trying to do it alone. </a:t>
            </a:r>
            <a:br>
              <a:rPr lang="en" sz="1800">
                <a:solidFill>
                  <a:srgbClr val="333333"/>
                </a:solidFill>
                <a:latin typeface="Alegreya Sans"/>
                <a:ea typeface="Alegreya Sans"/>
                <a:cs typeface="Alegreya Sans"/>
                <a:sym typeface="Alegreya Sans"/>
              </a:rPr>
            </a:br>
            <a:br>
              <a:rPr lang="en" sz="1800">
                <a:solidFill>
                  <a:srgbClr val="333333"/>
                </a:solidFill>
                <a:latin typeface="Alegreya Sans"/>
                <a:ea typeface="Alegreya Sans"/>
                <a:cs typeface="Alegreya Sans"/>
                <a:sym typeface="Alegreya Sans"/>
              </a:rPr>
            </a:br>
            <a:r>
              <a:rPr lang="en" sz="1800">
                <a:solidFill>
                  <a:srgbClr val="333333"/>
                </a:solidFill>
                <a:latin typeface="Alegreya Sans"/>
                <a:ea typeface="Alegreya Sans"/>
                <a:cs typeface="Alegreya Sans"/>
                <a:sym typeface="Alegreya Sans"/>
              </a:rPr>
              <a:t>And this is exactly why VIP works…</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Because we don’t just give you a plan, we give you the support, structure and accountability to actually follow through</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p:txBody>
      </p:sp>
      <p:sp>
        <p:nvSpPr>
          <p:cNvPr id="141" name="Accent Rule"/>
          <p:cNvSpPr/>
          <p:nvPr/>
        </p:nvSpPr>
        <p:spPr>
          <a:xfrm>
            <a:off x="498140" y="820339"/>
            <a:ext cx="1463040" cy="45720"/>
          </a:xfrm>
          <a:prstGeom prst="rect">
            <a:avLst/>
          </a:prstGeom>
          <a:solidFill>
            <a:srgbClr val="D97757"/>
          </a:solidFill>
          <a:ln>
            <a:noFill/>
          </a:ln>
        </p:spPr>
        <p:txBody>
          <a:bodyPr/>
          <a:lstStyle/>
          <a:p>
            <a:endParaRPr lang="en"/>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nvSpPr>
        <p:spPr>
          <a:xfrm>
            <a:off x="388550" y="1063500"/>
            <a:ext cx="8068200" cy="40329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rgbClr val="333333"/>
              </a:buClr>
              <a:buSzPts val="2000"/>
              <a:buFont typeface="Alegreya Sans"/>
              <a:buChar char="●"/>
            </a:pPr>
            <a:r>
              <a:rPr lang="en" sz="2000">
                <a:solidFill>
                  <a:srgbClr val="333333"/>
                </a:solidFill>
                <a:latin typeface="Alegreya Sans"/>
                <a:ea typeface="Alegreya Sans"/>
                <a:cs typeface="Alegreya Sans"/>
                <a:sym typeface="Alegreya Sans"/>
              </a:rPr>
              <a:t>Putting on your favourite clothes and loving how you look in them again</a:t>
            </a:r>
            <a:endParaRPr sz="2000">
              <a:solidFill>
                <a:srgbClr val="333333"/>
              </a:solidFill>
              <a:latin typeface="Alegreya Sans"/>
              <a:ea typeface="Alegreya Sans"/>
              <a:cs typeface="Alegreya Sans"/>
              <a:sym typeface="Alegreya Sans"/>
            </a:endParaRPr>
          </a:p>
          <a:p>
            <a:pPr indent="-355600" lvl="0" marL="457200" rtl="0" algn="l">
              <a:lnSpc>
                <a:spcPct val="115000"/>
              </a:lnSpc>
              <a:spcBef>
                <a:spcPts val="0"/>
              </a:spcBef>
              <a:spcAft>
                <a:spcPts val="0"/>
              </a:spcAft>
              <a:buClr>
                <a:srgbClr val="333333"/>
              </a:buClr>
              <a:buSzPts val="2000"/>
              <a:buFont typeface="Alegreya Sans"/>
              <a:buChar char="●"/>
            </a:pPr>
            <a:r>
              <a:rPr lang="en" sz="2000">
                <a:solidFill>
                  <a:srgbClr val="333333"/>
                </a:solidFill>
                <a:latin typeface="Alegreya Sans"/>
                <a:ea typeface="Alegreya Sans"/>
                <a:cs typeface="Alegreya Sans"/>
                <a:sym typeface="Alegreya Sans"/>
              </a:rPr>
              <a:t>Feeling lighter, energised and comfortable in your body from the moment you wake up</a:t>
            </a:r>
            <a:endParaRPr sz="2000">
              <a:solidFill>
                <a:srgbClr val="333333"/>
              </a:solidFill>
              <a:latin typeface="Alegreya Sans"/>
              <a:ea typeface="Alegreya Sans"/>
              <a:cs typeface="Alegreya Sans"/>
              <a:sym typeface="Alegreya Sans"/>
            </a:endParaRPr>
          </a:p>
          <a:p>
            <a:pPr indent="-355600" lvl="0" marL="457200" rtl="0" algn="l">
              <a:lnSpc>
                <a:spcPct val="115000"/>
              </a:lnSpc>
              <a:spcBef>
                <a:spcPts val="0"/>
              </a:spcBef>
              <a:spcAft>
                <a:spcPts val="0"/>
              </a:spcAft>
              <a:buClr>
                <a:srgbClr val="333333"/>
              </a:buClr>
              <a:buSzPts val="2000"/>
              <a:buFont typeface="Alegreya Sans"/>
              <a:buChar char="●"/>
            </a:pPr>
            <a:r>
              <a:rPr lang="en" sz="2000">
                <a:solidFill>
                  <a:srgbClr val="333333"/>
                </a:solidFill>
                <a:latin typeface="Alegreya Sans"/>
                <a:ea typeface="Alegreya Sans"/>
                <a:cs typeface="Alegreya Sans"/>
                <a:sym typeface="Alegreya Sans"/>
              </a:rPr>
              <a:t>No longer battling constant cravings or evening snacking that undo your progress</a:t>
            </a:r>
            <a:endParaRPr sz="2000">
              <a:solidFill>
                <a:srgbClr val="333333"/>
              </a:solidFill>
              <a:latin typeface="Alegreya Sans"/>
              <a:ea typeface="Alegreya Sans"/>
              <a:cs typeface="Alegreya Sans"/>
              <a:sym typeface="Alegreya Sans"/>
            </a:endParaRPr>
          </a:p>
          <a:p>
            <a:pPr indent="-355600" lvl="0" marL="457200" rtl="0" algn="l">
              <a:lnSpc>
                <a:spcPct val="115000"/>
              </a:lnSpc>
              <a:spcBef>
                <a:spcPts val="0"/>
              </a:spcBef>
              <a:spcAft>
                <a:spcPts val="0"/>
              </a:spcAft>
              <a:buClr>
                <a:srgbClr val="333333"/>
              </a:buClr>
              <a:buSzPts val="2000"/>
              <a:buFont typeface="Alegreya Sans"/>
              <a:buChar char="●"/>
            </a:pPr>
            <a:r>
              <a:rPr lang="en" sz="2000">
                <a:solidFill>
                  <a:srgbClr val="333333"/>
                </a:solidFill>
                <a:latin typeface="Alegreya Sans"/>
                <a:ea typeface="Alegreya Sans"/>
                <a:cs typeface="Alegreya Sans"/>
                <a:sym typeface="Alegreya Sans"/>
              </a:rPr>
              <a:t>Looking in the mirror and finally feeling proud of the woman looking back at you</a:t>
            </a:r>
            <a:endParaRPr sz="2000">
              <a:solidFill>
                <a:srgbClr val="333333"/>
              </a:solidFill>
              <a:latin typeface="Alegreya Sans"/>
              <a:ea typeface="Alegreya Sans"/>
              <a:cs typeface="Alegreya Sans"/>
              <a:sym typeface="Alegreya Sans"/>
            </a:endParaRPr>
          </a:p>
          <a:p>
            <a:pPr indent="-355600" lvl="0" marL="457200" rtl="0" algn="l">
              <a:lnSpc>
                <a:spcPct val="115000"/>
              </a:lnSpc>
              <a:spcBef>
                <a:spcPts val="0"/>
              </a:spcBef>
              <a:spcAft>
                <a:spcPts val="0"/>
              </a:spcAft>
              <a:buClr>
                <a:srgbClr val="333333"/>
              </a:buClr>
              <a:buSzPts val="2000"/>
              <a:buFont typeface="Alegreya Sans"/>
              <a:buChar char="●"/>
            </a:pPr>
            <a:r>
              <a:rPr lang="en" sz="2000">
                <a:solidFill>
                  <a:srgbClr val="333333"/>
                </a:solidFill>
                <a:latin typeface="Alegreya Sans"/>
                <a:ea typeface="Alegreya Sans"/>
                <a:cs typeface="Alegreya Sans"/>
                <a:sym typeface="Alegreya Sans"/>
              </a:rPr>
              <a:t>Enjoying holidays, BBQs and summer events without worrying about your weight</a:t>
            </a:r>
            <a:endParaRPr sz="2000">
              <a:solidFill>
                <a:srgbClr val="333333"/>
              </a:solidFill>
              <a:latin typeface="Alegreya Sans"/>
              <a:ea typeface="Alegreya Sans"/>
              <a:cs typeface="Alegreya Sans"/>
              <a:sym typeface="Alegreya Sans"/>
            </a:endParaRPr>
          </a:p>
          <a:p>
            <a:pPr indent="-355600" lvl="0" marL="457200" rtl="0" algn="l">
              <a:lnSpc>
                <a:spcPct val="115000"/>
              </a:lnSpc>
              <a:spcBef>
                <a:spcPts val="0"/>
              </a:spcBef>
              <a:spcAft>
                <a:spcPts val="0"/>
              </a:spcAft>
              <a:buClr>
                <a:srgbClr val="333333"/>
              </a:buClr>
              <a:buSzPts val="2000"/>
              <a:buFont typeface="Alegreya Sans"/>
              <a:buChar char="●"/>
            </a:pPr>
            <a:r>
              <a:rPr lang="en" sz="2000">
                <a:solidFill>
                  <a:srgbClr val="333333"/>
                </a:solidFill>
                <a:latin typeface="Alegreya Sans"/>
                <a:ea typeface="Alegreya Sans"/>
                <a:cs typeface="Alegreya Sans"/>
                <a:sym typeface="Alegreya Sans"/>
              </a:rPr>
              <a:t>Knowing exactly how to eat in a way that helps you lose weight and keep it off for good</a:t>
            </a:r>
            <a:endParaRPr sz="2000">
              <a:solidFill>
                <a:srgbClr val="333333"/>
              </a:solidFill>
              <a:latin typeface="Alegreya Sans"/>
              <a:ea typeface="Alegreya Sans"/>
              <a:cs typeface="Alegreya Sans"/>
              <a:sym typeface="Alegreya Sans"/>
            </a:endParaRPr>
          </a:p>
        </p:txBody>
      </p:sp>
      <p:sp>
        <p:nvSpPr>
          <p:cNvPr id="146" name="Google Shape;146;p28"/>
          <p:cNvSpPr txBox="1"/>
          <p:nvPr>
            <p:ph type="title"/>
          </p:nvPr>
        </p:nvSpPr>
        <p:spPr>
          <a:xfrm>
            <a:off x="311725" y="287800"/>
            <a:ext cx="6688500" cy="52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500">
                <a:solidFill>
                  <a:srgbClr val="003060"/>
                </a:solidFill>
                <a:latin typeface="Libre Baskerville"/>
                <a:ea typeface="Libre Baskerville"/>
                <a:cs typeface="Libre Baskerville"/>
                <a:sym typeface="Libre Baskerville"/>
              </a:rPr>
              <a:t>Imagine If This Was You </a:t>
            </a:r>
            <a:r>
              <a:rPr i="1" lang="en" sz="2500">
                <a:solidFill>
                  <a:srgbClr val="D97757"/>
                </a:solidFill>
                <a:latin typeface="Libre Baskerville"/>
                <a:ea typeface="Libre Baskerville"/>
                <a:cs typeface="Libre Baskerville"/>
                <a:sym typeface="Libre Baskerville"/>
              </a:rPr>
              <a:t>By Summer…</a:t>
            </a:r>
            <a:endParaRPr i="1" sz="2500">
              <a:solidFill>
                <a:srgbClr val="003060"/>
              </a:solidFill>
              <a:latin typeface="Libre Baskerville"/>
              <a:ea typeface="Libre Baskerville"/>
              <a:cs typeface="Libre Baskerville"/>
              <a:sym typeface="Libre Baskerville"/>
            </a:endParaRPr>
          </a:p>
          <a:p>
            <a:pPr indent="0" lvl="0" marL="0" rtl="0" algn="l">
              <a:spcBef>
                <a:spcPts val="0"/>
              </a:spcBef>
              <a:spcAft>
                <a:spcPts val="0"/>
              </a:spcAft>
              <a:buNone/>
            </a:pPr>
            <a:r>
              <a:t/>
            </a:r>
            <a:endParaRPr/>
          </a:p>
        </p:txBody>
      </p:sp>
      <p:sp>
        <p:nvSpPr>
          <p:cNvPr id="147" name="Accent Rule"/>
          <p:cNvSpPr/>
          <p:nvPr/>
        </p:nvSpPr>
        <p:spPr>
          <a:xfrm>
            <a:off x="403165" y="869164"/>
            <a:ext cx="1463040" cy="45720"/>
          </a:xfrm>
          <a:prstGeom prst="rect">
            <a:avLst/>
          </a:prstGeom>
          <a:solidFill>
            <a:srgbClr val="D97757"/>
          </a:solidFill>
          <a:ln>
            <a:noFill/>
          </a:ln>
        </p:spPr>
        <p:txBody>
          <a:bodyPr/>
          <a:lstStyle/>
          <a:p>
            <a:endParaRPr lang="en"/>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graphicFrame>
        <p:nvGraphicFramePr>
          <p:cNvPr id="151" name="Google Shape;151;p29"/>
          <p:cNvGraphicFramePr/>
          <p:nvPr/>
        </p:nvGraphicFramePr>
        <p:xfrm>
          <a:off x="369150" y="1075588"/>
          <a:ext cx="3000000" cy="3000000"/>
        </p:xfrm>
        <a:graphic>
          <a:graphicData uri="http://schemas.openxmlformats.org/drawingml/2006/table">
            <a:tbl>
              <a:tblPr>
                <a:noFill/>
                <a:tableStyleId>{91122F99-BC57-4017-97D7-AC3B9D3F25B4}</a:tableStyleId>
              </a:tblPr>
              <a:tblGrid>
                <a:gridCol w="1572300"/>
                <a:gridCol w="6833400"/>
              </a:tblGrid>
              <a:tr h="631750">
                <a:tc>
                  <a:txBody>
                    <a:bodyPr/>
                    <a:lstStyle/>
                    <a:p>
                      <a:pPr indent="0" lvl="0" marL="0" rtl="0" algn="l">
                        <a:spcBef>
                          <a:spcPts val="0"/>
                        </a:spcBef>
                        <a:spcAft>
                          <a:spcPts val="0"/>
                        </a:spcAft>
                        <a:buNone/>
                      </a:pPr>
                      <a:r>
                        <a:rPr b="1" lang="en">
                          <a:solidFill>
                            <a:schemeClr val="dk2"/>
                          </a:solidFill>
                          <a:latin typeface="Poppins"/>
                          <a:ea typeface="Poppins"/>
                          <a:cs typeface="Poppins"/>
                          <a:sym typeface="Poppins"/>
                        </a:rPr>
                        <a:t>Time</a:t>
                      </a:r>
                      <a:endParaRPr b="1">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c>
                  <a:txBody>
                    <a:bodyPr/>
                    <a:lstStyle/>
                    <a:p>
                      <a:pPr indent="0" lvl="0" marL="0" rtl="0" algn="l">
                        <a:spcBef>
                          <a:spcPts val="0"/>
                        </a:spcBef>
                        <a:spcAft>
                          <a:spcPts val="0"/>
                        </a:spcAft>
                        <a:buNone/>
                      </a:pPr>
                      <a:r>
                        <a:rPr lang="en">
                          <a:solidFill>
                            <a:schemeClr val="dk2"/>
                          </a:solidFill>
                          <a:latin typeface="Poppins"/>
                          <a:ea typeface="Poppins"/>
                          <a:cs typeface="Poppins"/>
                          <a:sym typeface="Poppins"/>
                        </a:rPr>
                        <a:t>No time to figure out your nutrition? Want us to provide you with a personalised nutrition strategy so you get results easily?</a:t>
                      </a:r>
                      <a:endParaRPr>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r>
              <a:tr h="381000">
                <a:tc>
                  <a:txBody>
                    <a:bodyPr/>
                    <a:lstStyle/>
                    <a:p>
                      <a:pPr indent="0" lvl="0" marL="0" rtl="0" algn="l">
                        <a:spcBef>
                          <a:spcPts val="0"/>
                        </a:spcBef>
                        <a:spcAft>
                          <a:spcPts val="0"/>
                        </a:spcAft>
                        <a:buNone/>
                      </a:pPr>
                      <a:r>
                        <a:rPr b="1" lang="en">
                          <a:solidFill>
                            <a:schemeClr val="dk2"/>
                          </a:solidFill>
                          <a:latin typeface="Poppins"/>
                          <a:ea typeface="Poppins"/>
                          <a:cs typeface="Poppins"/>
                          <a:sym typeface="Poppins"/>
                        </a:rPr>
                        <a:t>Lack of results</a:t>
                      </a:r>
                      <a:endParaRPr b="1">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c>
                  <a:txBody>
                    <a:bodyPr/>
                    <a:lstStyle/>
                    <a:p>
                      <a:pPr indent="0" lvl="0" marL="0" rtl="0" algn="l">
                        <a:spcBef>
                          <a:spcPts val="0"/>
                        </a:spcBef>
                        <a:spcAft>
                          <a:spcPts val="0"/>
                        </a:spcAft>
                        <a:buNone/>
                      </a:pPr>
                      <a:r>
                        <a:rPr lang="en">
                          <a:solidFill>
                            <a:schemeClr val="dk2"/>
                          </a:solidFill>
                          <a:latin typeface="Poppins"/>
                          <a:ea typeface="Poppins"/>
                          <a:cs typeface="Poppins"/>
                          <a:sym typeface="Poppins"/>
                        </a:rPr>
                        <a:t>Sick of not seeing results and want to see results like Jill every month?</a:t>
                      </a:r>
                      <a:endParaRPr>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r>
              <a:tr h="381000">
                <a:tc>
                  <a:txBody>
                    <a:bodyPr/>
                    <a:lstStyle/>
                    <a:p>
                      <a:pPr indent="0" lvl="0" marL="0" rtl="0" algn="l">
                        <a:spcBef>
                          <a:spcPts val="0"/>
                        </a:spcBef>
                        <a:spcAft>
                          <a:spcPts val="0"/>
                        </a:spcAft>
                        <a:buNone/>
                      </a:pPr>
                      <a:r>
                        <a:rPr b="1" lang="en">
                          <a:solidFill>
                            <a:schemeClr val="dk2"/>
                          </a:solidFill>
                          <a:latin typeface="Poppins"/>
                          <a:ea typeface="Poppins"/>
                          <a:cs typeface="Poppins"/>
                          <a:sym typeface="Poppins"/>
                        </a:rPr>
                        <a:t>Consistency</a:t>
                      </a:r>
                      <a:endParaRPr b="1">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c>
                  <a:txBody>
                    <a:bodyPr/>
                    <a:lstStyle/>
                    <a:p>
                      <a:pPr indent="0" lvl="0" marL="0" rtl="0" algn="l">
                        <a:spcBef>
                          <a:spcPts val="0"/>
                        </a:spcBef>
                        <a:spcAft>
                          <a:spcPts val="0"/>
                        </a:spcAft>
                        <a:buNone/>
                      </a:pPr>
                      <a:r>
                        <a:rPr lang="en">
                          <a:solidFill>
                            <a:schemeClr val="dk2"/>
                          </a:solidFill>
                          <a:latin typeface="Poppins"/>
                          <a:ea typeface="Poppins"/>
                          <a:cs typeface="Poppins"/>
                          <a:sym typeface="Poppins"/>
                        </a:rPr>
                        <a:t>Need a coach so that you actually stay consistent and take action, rather than quitting every few weeks?</a:t>
                      </a:r>
                      <a:endParaRPr>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r>
              <a:tr h="381000">
                <a:tc>
                  <a:txBody>
                    <a:bodyPr/>
                    <a:lstStyle/>
                    <a:p>
                      <a:pPr indent="0" lvl="0" marL="0" rtl="0" algn="l">
                        <a:spcBef>
                          <a:spcPts val="0"/>
                        </a:spcBef>
                        <a:spcAft>
                          <a:spcPts val="0"/>
                        </a:spcAft>
                        <a:buNone/>
                      </a:pPr>
                      <a:r>
                        <a:rPr b="1" lang="en">
                          <a:solidFill>
                            <a:schemeClr val="dk2"/>
                          </a:solidFill>
                          <a:latin typeface="Poppins"/>
                          <a:ea typeface="Poppins"/>
                          <a:cs typeface="Poppins"/>
                          <a:sym typeface="Poppins"/>
                        </a:rPr>
                        <a:t>Energy</a:t>
                      </a:r>
                      <a:endParaRPr b="1">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c>
                  <a:txBody>
                    <a:bodyPr/>
                    <a:lstStyle/>
                    <a:p>
                      <a:pPr indent="0" lvl="0" marL="0" rtl="0" algn="l">
                        <a:spcBef>
                          <a:spcPts val="0"/>
                        </a:spcBef>
                        <a:spcAft>
                          <a:spcPts val="0"/>
                        </a:spcAft>
                        <a:buNone/>
                      </a:pPr>
                      <a:r>
                        <a:rPr lang="en">
                          <a:solidFill>
                            <a:schemeClr val="dk2"/>
                          </a:solidFill>
                          <a:latin typeface="Poppins"/>
                          <a:ea typeface="Poppins"/>
                          <a:cs typeface="Poppins"/>
                          <a:sym typeface="Poppins"/>
                        </a:rPr>
                        <a:t>Need a nutrition setup that gives you energy? Time to stop depending on sugar and caffeine that keep you in the sugar cycle </a:t>
                      </a:r>
                      <a:endParaRPr>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r>
              <a:tr h="381000">
                <a:tc>
                  <a:txBody>
                    <a:bodyPr/>
                    <a:lstStyle/>
                    <a:p>
                      <a:pPr indent="0" lvl="0" marL="0" rtl="0" algn="l">
                        <a:spcBef>
                          <a:spcPts val="0"/>
                        </a:spcBef>
                        <a:spcAft>
                          <a:spcPts val="0"/>
                        </a:spcAft>
                        <a:buNone/>
                      </a:pPr>
                      <a:r>
                        <a:rPr b="1" lang="en">
                          <a:solidFill>
                            <a:schemeClr val="dk2"/>
                          </a:solidFill>
                          <a:latin typeface="Poppins"/>
                          <a:ea typeface="Poppins"/>
                          <a:cs typeface="Poppins"/>
                          <a:sym typeface="Poppins"/>
                        </a:rPr>
                        <a:t>Snacking</a:t>
                      </a:r>
                      <a:endParaRPr b="1">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c>
                  <a:txBody>
                    <a:bodyPr/>
                    <a:lstStyle/>
                    <a:p>
                      <a:pPr indent="0" lvl="0" marL="0" rtl="0" algn="l">
                        <a:spcBef>
                          <a:spcPts val="0"/>
                        </a:spcBef>
                        <a:spcAft>
                          <a:spcPts val="0"/>
                        </a:spcAft>
                        <a:buNone/>
                      </a:pPr>
                      <a:r>
                        <a:rPr lang="en">
                          <a:solidFill>
                            <a:schemeClr val="dk2"/>
                          </a:solidFill>
                          <a:latin typeface="Poppins"/>
                          <a:ea typeface="Poppins"/>
                          <a:cs typeface="Poppins"/>
                          <a:sym typeface="Poppins"/>
                        </a:rPr>
                        <a:t>Require support and accountability so you stop the evening snacking that’s just habit? </a:t>
                      </a:r>
                      <a:endParaRPr>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r>
              <a:tr h="381000">
                <a:tc>
                  <a:txBody>
                    <a:bodyPr/>
                    <a:lstStyle/>
                    <a:p>
                      <a:pPr indent="0" lvl="0" marL="0" rtl="0" algn="l">
                        <a:spcBef>
                          <a:spcPts val="0"/>
                        </a:spcBef>
                        <a:spcAft>
                          <a:spcPts val="0"/>
                        </a:spcAft>
                        <a:buNone/>
                      </a:pPr>
                      <a:r>
                        <a:rPr b="1" lang="en">
                          <a:solidFill>
                            <a:schemeClr val="dk2"/>
                          </a:solidFill>
                          <a:latin typeface="Poppins"/>
                          <a:ea typeface="Poppins"/>
                          <a:cs typeface="Poppins"/>
                          <a:sym typeface="Poppins"/>
                        </a:rPr>
                        <a:t>Weekends</a:t>
                      </a:r>
                      <a:endParaRPr b="1">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c>
                  <a:txBody>
                    <a:bodyPr/>
                    <a:lstStyle/>
                    <a:p>
                      <a:pPr indent="0" lvl="0" marL="0" rtl="0" algn="l">
                        <a:spcBef>
                          <a:spcPts val="0"/>
                        </a:spcBef>
                        <a:spcAft>
                          <a:spcPts val="0"/>
                        </a:spcAft>
                        <a:buNone/>
                      </a:pPr>
                      <a:r>
                        <a:rPr lang="en">
                          <a:solidFill>
                            <a:schemeClr val="dk2"/>
                          </a:solidFill>
                          <a:latin typeface="Poppins"/>
                          <a:ea typeface="Poppins"/>
                          <a:cs typeface="Poppins"/>
                          <a:sym typeface="Poppins"/>
                        </a:rPr>
                        <a:t>Get weekend handholding so you don’t ruin all your weekly hard work</a:t>
                      </a:r>
                      <a:endParaRPr>
                        <a:solidFill>
                          <a:schemeClr val="dk2"/>
                        </a:solidFill>
                        <a:latin typeface="Poppins"/>
                        <a:ea typeface="Poppins"/>
                        <a:cs typeface="Poppins"/>
                        <a:sym typeface="Poppins"/>
                      </a:endParaRPr>
                    </a:p>
                  </a:txBody>
                  <a:tcPr marT="91425" marB="91425" marR="91425" marL="91425" anchor="ctr">
                    <a:lnL cap="flat" cmpd="sng" w="9525">
                      <a:solidFill>
                        <a:srgbClr val="D97757"/>
                      </a:solidFill>
                      <a:prstDash val="solid"/>
                      <a:round/>
                      <a:headEnd len="sm" w="sm" type="none"/>
                      <a:tailEnd len="sm" w="sm" type="none"/>
                    </a:lnL>
                    <a:lnR cap="flat" cmpd="sng" w="9525">
                      <a:solidFill>
                        <a:srgbClr val="D97757"/>
                      </a:solidFill>
                      <a:prstDash val="solid"/>
                      <a:round/>
                      <a:headEnd len="sm" w="sm" type="none"/>
                      <a:tailEnd len="sm" w="sm" type="none"/>
                    </a:lnR>
                    <a:lnT cap="flat" cmpd="sng" w="9525">
                      <a:solidFill>
                        <a:srgbClr val="D97757"/>
                      </a:solidFill>
                      <a:prstDash val="solid"/>
                      <a:round/>
                      <a:headEnd len="sm" w="sm" type="none"/>
                      <a:tailEnd len="sm" w="sm" type="none"/>
                    </a:lnT>
                    <a:lnB cap="flat" cmpd="sng" w="9525">
                      <a:solidFill>
                        <a:srgbClr val="D97757"/>
                      </a:solidFill>
                      <a:prstDash val="solid"/>
                      <a:round/>
                      <a:headEnd len="sm" w="sm" type="none"/>
                      <a:tailEnd len="sm" w="sm" type="none"/>
                    </a:lnB>
                    <a:solidFill>
                      <a:srgbClr val="F1F5F7"/>
                    </a:solidFill>
                  </a:tcPr>
                </a:tc>
              </a:tr>
            </a:tbl>
          </a:graphicData>
        </a:graphic>
      </p:graphicFrame>
      <p:sp>
        <p:nvSpPr>
          <p:cNvPr id="152" name="Google Shape;152;p29"/>
          <p:cNvSpPr txBox="1"/>
          <p:nvPr>
            <p:ph type="title"/>
          </p:nvPr>
        </p:nvSpPr>
        <p:spPr>
          <a:xfrm>
            <a:off x="311700" y="445025"/>
            <a:ext cx="5162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500">
                <a:solidFill>
                  <a:srgbClr val="003060"/>
                </a:solidFill>
                <a:latin typeface="Libre Baskerville"/>
                <a:ea typeface="Libre Baskerville"/>
                <a:cs typeface="Libre Baskerville"/>
                <a:sym typeface="Libre Baskerville"/>
              </a:rPr>
              <a:t>Are You </a:t>
            </a:r>
            <a:r>
              <a:rPr i="1" lang="en" sz="2500">
                <a:solidFill>
                  <a:srgbClr val="D97757"/>
                </a:solidFill>
                <a:latin typeface="Libre Baskerville"/>
                <a:ea typeface="Libre Baskerville"/>
                <a:cs typeface="Libre Baskerville"/>
                <a:sym typeface="Libre Baskerville"/>
              </a:rPr>
              <a:t>Struggling With…?</a:t>
            </a:r>
            <a:endParaRPr i="1" sz="2500">
              <a:solidFill>
                <a:srgbClr val="003060"/>
              </a:solidFill>
              <a:latin typeface="Libre Baskerville"/>
              <a:ea typeface="Libre Baskerville"/>
              <a:cs typeface="Libre Baskerville"/>
              <a:sym typeface="Libre Baskerville"/>
            </a:endParaRPr>
          </a:p>
          <a:p>
            <a:pPr indent="0" lvl="0" marL="0" rtl="0" algn="l">
              <a:spcBef>
                <a:spcPts val="0"/>
              </a:spcBef>
              <a:spcAft>
                <a:spcPts val="0"/>
              </a:spcAft>
              <a:buNone/>
            </a:pPr>
            <a:r>
              <a:t/>
            </a:r>
            <a:endParaRPr/>
          </a:p>
        </p:txBody>
      </p:sp>
      <p:sp>
        <p:nvSpPr>
          <p:cNvPr id="153" name="Accent Rule"/>
          <p:cNvSpPr/>
          <p:nvPr/>
        </p:nvSpPr>
        <p:spPr>
          <a:xfrm>
            <a:off x="403140" y="1072589"/>
            <a:ext cx="1463040" cy="45720"/>
          </a:xfrm>
          <a:prstGeom prst="rect">
            <a:avLst/>
          </a:prstGeom>
          <a:solidFill>
            <a:srgbClr val="D97757"/>
          </a:solidFill>
          <a:ln>
            <a:noFill/>
          </a:ln>
        </p:spPr>
        <p:txBody>
          <a:bodyPr/>
          <a:lstStyle/>
          <a:p>
            <a:endParaRPr lang="en"/>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0"/>
          <p:cNvSpPr txBox="1"/>
          <p:nvPr/>
        </p:nvSpPr>
        <p:spPr>
          <a:xfrm>
            <a:off x="295350" y="315700"/>
            <a:ext cx="8553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003060"/>
                </a:solidFill>
                <a:latin typeface="Libre Baskerville"/>
                <a:ea typeface="Libre Baskerville"/>
                <a:cs typeface="Libre Baskerville"/>
                <a:sym typeface="Libre Baskerville"/>
              </a:rPr>
              <a:t>Jill </a:t>
            </a:r>
            <a:r>
              <a:rPr b="1" i="1" lang="en" sz="3000">
                <a:solidFill>
                  <a:srgbClr val="003060"/>
                </a:solidFill>
                <a:latin typeface="Libre Baskerville"/>
                <a:ea typeface="Libre Baskerville"/>
                <a:cs typeface="Libre Baskerville"/>
                <a:sym typeface="Libre Baskerville"/>
              </a:rPr>
              <a:t>Lost 4 Stone</a:t>
            </a:r>
            <a:r>
              <a:rPr b="1" lang="en" sz="3000">
                <a:solidFill>
                  <a:srgbClr val="003060"/>
                </a:solidFill>
                <a:latin typeface="Libre Baskerville"/>
                <a:ea typeface="Libre Baskerville"/>
                <a:cs typeface="Libre Baskerville"/>
                <a:sym typeface="Libre Baskerville"/>
              </a:rPr>
              <a:t> in 6 months</a:t>
            </a:r>
            <a:r>
              <a:rPr lang="en" sz="3000">
                <a:solidFill>
                  <a:srgbClr val="003060"/>
                </a:solidFill>
                <a:latin typeface="Libre Baskerville"/>
                <a:ea typeface="Libre Baskerville"/>
                <a:cs typeface="Libre Baskerville"/>
                <a:sym typeface="Libre Baskerville"/>
              </a:rPr>
              <a:t> in VIP</a:t>
            </a:r>
            <a:endParaRPr sz="3000">
              <a:solidFill>
                <a:srgbClr val="003060"/>
              </a:solidFill>
              <a:latin typeface="Libre Baskerville"/>
              <a:ea typeface="Libre Baskerville"/>
              <a:cs typeface="Libre Baskerville"/>
              <a:sym typeface="Libre Baskerville"/>
            </a:endParaRPr>
          </a:p>
        </p:txBody>
      </p:sp>
      <p:pic>
        <p:nvPicPr>
          <p:cNvPr id="158" name="Google Shape;158;p30" title="Jill 1 (1).jpg"/>
          <p:cNvPicPr preferRelativeResize="0"/>
          <p:nvPr/>
        </p:nvPicPr>
        <p:blipFill>
          <a:blip r:embed="rId3">
            <a:alphaModFix/>
          </a:blip>
          <a:stretch>
            <a:fillRect/>
          </a:stretch>
        </p:blipFill>
        <p:spPr>
          <a:xfrm>
            <a:off x="879075" y="1123950"/>
            <a:ext cx="3554750" cy="3554750"/>
          </a:xfrm>
          <a:prstGeom prst="rect">
            <a:avLst/>
          </a:prstGeom>
          <a:solidFill>
            <a:schemeClr val="lt1"/>
          </a:solidFill>
          <a:ln>
            <a:noFill/>
          </a:ln>
        </p:spPr>
      </p:pic>
      <p:pic>
        <p:nvPicPr>
          <p:cNvPr id="159" name="Google Shape;159;p30" title="Jill photo 1.jpg"/>
          <p:cNvPicPr preferRelativeResize="0"/>
          <p:nvPr/>
        </p:nvPicPr>
        <p:blipFill>
          <a:blip r:embed="rId4">
            <a:alphaModFix/>
          </a:blip>
          <a:stretch>
            <a:fillRect/>
          </a:stretch>
        </p:blipFill>
        <p:spPr>
          <a:xfrm>
            <a:off x="4698075" y="1151450"/>
            <a:ext cx="3729262" cy="3499750"/>
          </a:xfrm>
          <a:prstGeom prst="rect">
            <a:avLst/>
          </a:prstGeom>
          <a:solidFill>
            <a:schemeClr val="lt1"/>
          </a:solid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31"/>
          <p:cNvPicPr preferRelativeResize="0"/>
          <p:nvPr/>
        </p:nvPicPr>
        <p:blipFill rotWithShape="1">
          <a:blip r:embed="rId3">
            <a:alphaModFix/>
          </a:blip>
          <a:srcRect b="0" l="0" r="11871" t="0"/>
          <a:stretch/>
        </p:blipFill>
        <p:spPr>
          <a:xfrm>
            <a:off x="4959800" y="726200"/>
            <a:ext cx="3253025" cy="3691100"/>
          </a:xfrm>
          <a:prstGeom prst="rect">
            <a:avLst/>
          </a:prstGeom>
          <a:noFill/>
          <a:ln>
            <a:noFill/>
          </a:ln>
        </p:spPr>
      </p:pic>
      <p:sp>
        <p:nvSpPr>
          <p:cNvPr id="165" name="Google Shape;165;p31"/>
          <p:cNvSpPr txBox="1"/>
          <p:nvPr/>
        </p:nvSpPr>
        <p:spPr>
          <a:xfrm>
            <a:off x="299050" y="1837650"/>
            <a:ext cx="3983100" cy="146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400">
                <a:solidFill>
                  <a:srgbClr val="003060"/>
                </a:solidFill>
                <a:latin typeface="Libre Baskerville"/>
                <a:ea typeface="Libre Baskerville"/>
                <a:cs typeface="Libre Baskerville"/>
                <a:sym typeface="Libre Baskerville"/>
              </a:rPr>
              <a:t>Carly Lost </a:t>
            </a:r>
            <a:r>
              <a:rPr b="1" lang="en" sz="2400">
                <a:solidFill>
                  <a:srgbClr val="003060"/>
                </a:solidFill>
                <a:latin typeface="Libre Baskerville"/>
                <a:ea typeface="Libre Baskerville"/>
                <a:cs typeface="Libre Baskerville"/>
                <a:sym typeface="Libre Baskerville"/>
              </a:rPr>
              <a:t>One Stone</a:t>
            </a:r>
            <a:r>
              <a:rPr lang="en" sz="2400">
                <a:solidFill>
                  <a:srgbClr val="003060"/>
                </a:solidFill>
                <a:latin typeface="Libre Baskerville"/>
                <a:ea typeface="Libre Baskerville"/>
                <a:cs typeface="Libre Baskerville"/>
                <a:sym typeface="Libre Baskerville"/>
              </a:rPr>
              <a:t> In Her First Month of VIP Coaching</a:t>
            </a:r>
            <a:endParaRPr sz="24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32"/>
          <p:cNvPicPr preferRelativeResize="0"/>
          <p:nvPr/>
        </p:nvPicPr>
        <p:blipFill>
          <a:blip r:embed="rId3">
            <a:alphaModFix/>
          </a:blip>
          <a:stretch>
            <a:fillRect/>
          </a:stretch>
        </p:blipFill>
        <p:spPr>
          <a:xfrm>
            <a:off x="474175" y="936375"/>
            <a:ext cx="3370874" cy="3370874"/>
          </a:xfrm>
          <a:prstGeom prst="rect">
            <a:avLst/>
          </a:prstGeom>
          <a:noFill/>
          <a:ln>
            <a:noFill/>
          </a:ln>
        </p:spPr>
      </p:pic>
      <p:sp>
        <p:nvSpPr>
          <p:cNvPr id="171" name="Google Shape;171;p32"/>
          <p:cNvSpPr txBox="1"/>
          <p:nvPr/>
        </p:nvSpPr>
        <p:spPr>
          <a:xfrm>
            <a:off x="3185200" y="1856075"/>
            <a:ext cx="377400" cy="1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72" name="Google Shape;172;p32"/>
          <p:cNvSpPr txBox="1"/>
          <p:nvPr/>
        </p:nvSpPr>
        <p:spPr>
          <a:xfrm>
            <a:off x="4500225" y="1790650"/>
            <a:ext cx="38118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003060"/>
                </a:solidFill>
                <a:latin typeface="Libre Baskerville"/>
                <a:ea typeface="Libre Baskerville"/>
                <a:cs typeface="Libre Baskerville"/>
                <a:sym typeface="Libre Baskerville"/>
              </a:rPr>
              <a:t>Moira</a:t>
            </a:r>
            <a:r>
              <a:rPr lang="en" sz="2400">
                <a:solidFill>
                  <a:srgbClr val="003060"/>
                </a:solidFill>
                <a:latin typeface="Libre Baskerville"/>
                <a:ea typeface="Libre Baskerville"/>
                <a:cs typeface="Libre Baskerville"/>
                <a:sym typeface="Libre Baskerville"/>
              </a:rPr>
              <a:t> Achieves a Stunning Drop from </a:t>
            </a:r>
            <a:r>
              <a:rPr b="1" lang="en" sz="2400">
                <a:solidFill>
                  <a:srgbClr val="003060"/>
                </a:solidFill>
                <a:latin typeface="Libre Baskerville"/>
                <a:ea typeface="Libre Baskerville"/>
                <a:cs typeface="Libre Baskerville"/>
                <a:sym typeface="Libre Baskerville"/>
              </a:rPr>
              <a:t>Size 14 to 10 </a:t>
            </a:r>
            <a:r>
              <a:rPr lang="en" sz="2400">
                <a:solidFill>
                  <a:srgbClr val="003060"/>
                </a:solidFill>
                <a:latin typeface="Libre Baskerville"/>
                <a:ea typeface="Libre Baskerville"/>
                <a:cs typeface="Libre Baskerville"/>
                <a:sym typeface="Libre Baskerville"/>
              </a:rPr>
              <a:t>in Just 5 Months!</a:t>
            </a:r>
            <a:endParaRPr sz="24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33"/>
          <p:cNvPicPr preferRelativeResize="0"/>
          <p:nvPr/>
        </p:nvPicPr>
        <p:blipFill rotWithShape="1">
          <a:blip r:embed="rId3">
            <a:alphaModFix/>
          </a:blip>
          <a:srcRect b="0" l="5248" r="4572" t="0"/>
          <a:stretch/>
        </p:blipFill>
        <p:spPr>
          <a:xfrm>
            <a:off x="641012" y="661634"/>
            <a:ext cx="3314922" cy="3577570"/>
          </a:xfrm>
          <a:prstGeom prst="rect">
            <a:avLst/>
          </a:prstGeom>
          <a:noFill/>
          <a:ln>
            <a:noFill/>
          </a:ln>
        </p:spPr>
      </p:pic>
      <p:sp>
        <p:nvSpPr>
          <p:cNvPr id="178" name="Google Shape;178;p33"/>
          <p:cNvSpPr txBox="1"/>
          <p:nvPr/>
        </p:nvSpPr>
        <p:spPr>
          <a:xfrm>
            <a:off x="4742625" y="1657488"/>
            <a:ext cx="3555000" cy="140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400">
                <a:solidFill>
                  <a:srgbClr val="003060"/>
                </a:solidFill>
                <a:latin typeface="Libre Baskerville"/>
                <a:ea typeface="Libre Baskerville"/>
                <a:cs typeface="Libre Baskerville"/>
                <a:sym typeface="Libre Baskerville"/>
              </a:rPr>
              <a:t>Denise Got To Her Happy Place, </a:t>
            </a:r>
            <a:r>
              <a:rPr b="1" lang="en" sz="2400">
                <a:solidFill>
                  <a:srgbClr val="003060"/>
                </a:solidFill>
                <a:latin typeface="Libre Baskerville"/>
                <a:ea typeface="Libre Baskerville"/>
                <a:cs typeface="Libre Baskerville"/>
                <a:sym typeface="Libre Baskerville"/>
              </a:rPr>
              <a:t>Losing a Stone in the VIP</a:t>
            </a:r>
            <a:endParaRPr sz="24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nvSpPr>
        <p:spPr>
          <a:xfrm>
            <a:off x="4768475" y="179487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rgbClr val="434343"/>
              </a:solidFill>
            </a:endParaRPr>
          </a:p>
        </p:txBody>
      </p:sp>
      <p:pic>
        <p:nvPicPr>
          <p:cNvPr id="184" name="Google Shape;184;p34"/>
          <p:cNvPicPr preferRelativeResize="0"/>
          <p:nvPr/>
        </p:nvPicPr>
        <p:blipFill>
          <a:blip r:embed="rId3">
            <a:alphaModFix/>
          </a:blip>
          <a:stretch>
            <a:fillRect/>
          </a:stretch>
        </p:blipFill>
        <p:spPr>
          <a:xfrm>
            <a:off x="616425" y="693175"/>
            <a:ext cx="3563924" cy="3563924"/>
          </a:xfrm>
          <a:prstGeom prst="rect">
            <a:avLst/>
          </a:prstGeom>
          <a:noFill/>
          <a:ln>
            <a:noFill/>
          </a:ln>
        </p:spPr>
      </p:pic>
      <p:sp>
        <p:nvSpPr>
          <p:cNvPr id="185" name="Google Shape;185;p34"/>
          <p:cNvSpPr txBox="1"/>
          <p:nvPr>
            <p:ph idx="4294967295" type="title"/>
          </p:nvPr>
        </p:nvSpPr>
        <p:spPr>
          <a:xfrm>
            <a:off x="4524150" y="2070100"/>
            <a:ext cx="4143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3060"/>
                </a:solidFill>
                <a:latin typeface="Libre Baskerville"/>
                <a:ea typeface="Libre Baskerville"/>
                <a:cs typeface="Libre Baskerville"/>
                <a:sym typeface="Libre Baskerville"/>
              </a:rPr>
              <a:t>Sally Lost A Stone</a:t>
            </a:r>
            <a:r>
              <a:rPr i="1" lang="en">
                <a:solidFill>
                  <a:srgbClr val="003060"/>
                </a:solidFill>
                <a:latin typeface="Libre Baskerville"/>
                <a:ea typeface="Libre Baskerville"/>
                <a:cs typeface="Libre Baskerville"/>
                <a:sym typeface="Libre Baskerville"/>
              </a:rPr>
              <a:t> </a:t>
            </a:r>
            <a:r>
              <a:rPr lang="en">
                <a:solidFill>
                  <a:srgbClr val="003060"/>
                </a:solidFill>
                <a:latin typeface="Libre Baskerville"/>
                <a:ea typeface="Libre Baskerville"/>
                <a:cs typeface="Libre Baskerville"/>
                <a:sym typeface="Libre Baskerville"/>
              </a:rPr>
              <a:t>In 2 Months In VIP</a:t>
            </a:r>
            <a:endParaRPr>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nvSpPr>
        <p:spPr>
          <a:xfrm>
            <a:off x="4768475" y="179487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solidFill>
                <a:srgbClr val="434343"/>
              </a:solidFill>
            </a:endParaRPr>
          </a:p>
        </p:txBody>
      </p:sp>
      <p:sp>
        <p:nvSpPr>
          <p:cNvPr id="191" name="Google Shape;191;p35"/>
          <p:cNvSpPr txBox="1"/>
          <p:nvPr>
            <p:ph idx="4294967295" type="title"/>
          </p:nvPr>
        </p:nvSpPr>
        <p:spPr>
          <a:xfrm>
            <a:off x="4572000" y="1785575"/>
            <a:ext cx="4418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3060"/>
                </a:solidFill>
                <a:latin typeface="Libre Baskerville"/>
                <a:ea typeface="Libre Baskerville"/>
                <a:cs typeface="Libre Baskerville"/>
                <a:sym typeface="Libre Baskerville"/>
              </a:rPr>
              <a:t>Sam Completely Transformed </a:t>
            </a:r>
            <a:r>
              <a:rPr lang="en">
                <a:solidFill>
                  <a:srgbClr val="003060"/>
                </a:solidFill>
                <a:latin typeface="Libre Baskerville"/>
                <a:ea typeface="Libre Baskerville"/>
                <a:cs typeface="Libre Baskerville"/>
                <a:sym typeface="Libre Baskerville"/>
              </a:rPr>
              <a:t>in VIP</a:t>
            </a:r>
            <a:endParaRPr>
              <a:solidFill>
                <a:srgbClr val="003060"/>
              </a:solidFill>
              <a:latin typeface="Libre Baskerville"/>
              <a:ea typeface="Libre Baskerville"/>
              <a:cs typeface="Libre Baskerville"/>
              <a:sym typeface="Libre Baskerville"/>
            </a:endParaRPr>
          </a:p>
        </p:txBody>
      </p:sp>
      <p:pic>
        <p:nvPicPr>
          <p:cNvPr id="192" name="Google Shape;192;p35" title="Samantha Fisher before and after (1).png"/>
          <p:cNvPicPr preferRelativeResize="0"/>
          <p:nvPr/>
        </p:nvPicPr>
        <p:blipFill>
          <a:blip r:embed="rId3">
            <a:alphaModFix/>
          </a:blip>
          <a:stretch>
            <a:fillRect/>
          </a:stretch>
        </p:blipFill>
        <p:spPr>
          <a:xfrm>
            <a:off x="343800" y="661263"/>
            <a:ext cx="3820975" cy="3820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nvSpPr>
        <p:spPr>
          <a:xfrm>
            <a:off x="0" y="196075"/>
            <a:ext cx="9144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003060"/>
                </a:solidFill>
                <a:latin typeface="Libre Baskerville"/>
                <a:ea typeface="Libre Baskerville"/>
                <a:cs typeface="Libre Baskerville"/>
                <a:sym typeface="Libre Baskerville"/>
              </a:rPr>
              <a:t>What’s Included </a:t>
            </a:r>
            <a:endParaRPr b="1" sz="3000">
              <a:solidFill>
                <a:srgbClr val="003060"/>
              </a:solidFill>
              <a:latin typeface="Libre Baskerville"/>
              <a:ea typeface="Libre Baskerville"/>
              <a:cs typeface="Libre Baskerville"/>
              <a:sym typeface="Libre Baskerville"/>
            </a:endParaRPr>
          </a:p>
        </p:txBody>
      </p:sp>
      <p:sp>
        <p:nvSpPr>
          <p:cNvPr id="198" name="Google Shape;198;p36"/>
          <p:cNvSpPr txBox="1"/>
          <p:nvPr/>
        </p:nvSpPr>
        <p:spPr>
          <a:xfrm>
            <a:off x="531825" y="977500"/>
            <a:ext cx="7886100" cy="38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a:t>
            </a:r>
            <a:r>
              <a:rPr b="1" lang="en" sz="1800">
                <a:solidFill>
                  <a:srgbClr val="333333"/>
                </a:solidFill>
                <a:latin typeface="Alegreya Sans"/>
                <a:ea typeface="Alegreya Sans"/>
                <a:cs typeface="Alegreya Sans"/>
                <a:sym typeface="Alegreya Sans"/>
              </a:rPr>
              <a:t> Monthly 1-2-1 Coaching Sessions: </a:t>
            </a:r>
            <a:r>
              <a:rPr lang="en" sz="1800">
                <a:solidFill>
                  <a:srgbClr val="333333"/>
                </a:solidFill>
                <a:latin typeface="Alegreya Sans"/>
                <a:ea typeface="Alegreya Sans"/>
                <a:cs typeface="Alegreya Sans"/>
                <a:sym typeface="Alegreya Sans"/>
              </a:rPr>
              <a:t>a dedicated session each month to review your progress, solve challenges, and refine your strategy so you continue moving towards your weight loss goal.</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br>
              <a:rPr lang="en" sz="1800">
                <a:solidFill>
                  <a:srgbClr val="333333"/>
                </a:solidFill>
                <a:latin typeface="Alegreya Sans"/>
                <a:ea typeface="Alegreya Sans"/>
                <a:cs typeface="Alegreya Sans"/>
                <a:sym typeface="Alegreya Sans"/>
              </a:rPr>
            </a:br>
            <a:r>
              <a:rPr lang="en" sz="1800">
                <a:solidFill>
                  <a:srgbClr val="333333"/>
                </a:solidFill>
                <a:latin typeface="Alegreya Sans"/>
                <a:ea typeface="Alegreya Sans"/>
                <a:cs typeface="Alegreya Sans"/>
                <a:sym typeface="Alegreya Sans"/>
              </a:rPr>
              <a:t>🌟</a:t>
            </a:r>
            <a:r>
              <a:rPr b="1" lang="en" sz="1800">
                <a:solidFill>
                  <a:srgbClr val="333333"/>
                </a:solidFill>
                <a:latin typeface="Alegreya Sans"/>
                <a:ea typeface="Alegreya Sans"/>
                <a:cs typeface="Alegreya Sans"/>
                <a:sym typeface="Alegreya Sans"/>
              </a:rPr>
              <a:t> Daily support via WhatsApp / Messenger: </a:t>
            </a:r>
            <a:r>
              <a:rPr lang="en" sz="1800">
                <a:solidFill>
                  <a:srgbClr val="333333"/>
                </a:solidFill>
                <a:latin typeface="Alegreya Sans"/>
                <a:ea typeface="Alegreya Sans"/>
                <a:cs typeface="Alegreya Sans"/>
                <a:sym typeface="Alegreya Sans"/>
              </a:rPr>
              <a:t>stay consistent with daily access to your coach for guidance, encouragement and support so you don’t lose motivation or fall back into old habits.</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 </a:t>
            </a:r>
            <a:r>
              <a:rPr b="1" lang="en" sz="1800">
                <a:solidFill>
                  <a:srgbClr val="333333"/>
                </a:solidFill>
                <a:latin typeface="Alegreya Sans"/>
                <a:ea typeface="Alegreya Sans"/>
                <a:cs typeface="Alegreya Sans"/>
                <a:sym typeface="Alegreya Sans"/>
              </a:rPr>
              <a:t>Weekly Food Diary Review: </a:t>
            </a:r>
            <a:r>
              <a:rPr lang="en" sz="1800">
                <a:solidFill>
                  <a:srgbClr val="333333"/>
                </a:solidFill>
                <a:latin typeface="Alegreya Sans"/>
                <a:ea typeface="Alegreya Sans"/>
                <a:cs typeface="Alegreya Sans"/>
                <a:sym typeface="Alegreya Sans"/>
              </a:rPr>
              <a:t>Your coach reviews your nutrition each week to identify what’s working, where progress can improve, and how to keep your results moving forward.</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a:t>
            </a:r>
            <a:r>
              <a:rPr b="1" lang="en" sz="1800">
                <a:solidFill>
                  <a:srgbClr val="333333"/>
                </a:solidFill>
                <a:latin typeface="Alegreya Sans"/>
                <a:ea typeface="Alegreya Sans"/>
                <a:cs typeface="Alegreya Sans"/>
                <a:sym typeface="Alegreya Sans"/>
              </a:rPr>
              <a:t> Weekly Nutrition Strategy: </a:t>
            </a:r>
            <a:r>
              <a:rPr lang="en" sz="1800">
                <a:solidFill>
                  <a:srgbClr val="333333"/>
                </a:solidFill>
                <a:latin typeface="Alegreya Sans"/>
                <a:ea typeface="Alegreya Sans"/>
                <a:cs typeface="Alegreya Sans"/>
                <a:sym typeface="Alegreya Sans"/>
              </a:rPr>
              <a:t>Your plan evolves with you. We adjust your nutrition approach based on your progress, lifestyle and goals to keep results sustainable.</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p:txBody>
      </p:sp>
      <p:sp>
        <p:nvSpPr>
          <p:cNvPr id="199" name="Accent Rule"/>
          <p:cNvSpPr/>
          <p:nvPr/>
        </p:nvSpPr>
        <p:spPr>
          <a:xfrm>
            <a:off x="3840480" y="897439"/>
            <a:ext cx="1463040" cy="45720"/>
          </a:xfrm>
          <a:prstGeom prst="rect">
            <a:avLst/>
          </a:prstGeom>
          <a:solidFill>
            <a:srgbClr val="D97757"/>
          </a:solidFill>
          <a:ln>
            <a:noFill/>
          </a:ln>
        </p:spPr>
        <p:txBody>
          <a:bodyPr/>
          <a:lstStyle/>
          <a:p>
            <a:endParaRPr lang="en"/>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7"/>
          <p:cNvSpPr txBox="1"/>
          <p:nvPr/>
        </p:nvSpPr>
        <p:spPr>
          <a:xfrm>
            <a:off x="0" y="196075"/>
            <a:ext cx="9144000" cy="112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3000">
                <a:solidFill>
                  <a:srgbClr val="003060"/>
                </a:solidFill>
                <a:latin typeface="Libre Baskerville"/>
                <a:ea typeface="Libre Baskerville"/>
                <a:cs typeface="Libre Baskerville"/>
                <a:sym typeface="Libre Baskerville"/>
              </a:rPr>
              <a:t>What’s Included </a:t>
            </a:r>
            <a:endParaRPr b="1" sz="300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None/>
            </a:pPr>
            <a:r>
              <a:t/>
            </a:r>
            <a:endParaRPr sz="3100">
              <a:solidFill>
                <a:srgbClr val="003060"/>
              </a:solidFill>
              <a:latin typeface="Libre Baskerville"/>
              <a:ea typeface="Libre Baskerville"/>
              <a:cs typeface="Libre Baskerville"/>
              <a:sym typeface="Libre Baskerville"/>
            </a:endParaRPr>
          </a:p>
        </p:txBody>
      </p:sp>
      <p:sp>
        <p:nvSpPr>
          <p:cNvPr id="204" name="Google Shape;204;p37"/>
          <p:cNvSpPr txBox="1"/>
          <p:nvPr/>
        </p:nvSpPr>
        <p:spPr>
          <a:xfrm>
            <a:off x="531825" y="977500"/>
            <a:ext cx="7886100" cy="38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a:t>
            </a:r>
            <a:r>
              <a:rPr b="1" lang="en" sz="1800">
                <a:solidFill>
                  <a:srgbClr val="333333"/>
                </a:solidFill>
                <a:latin typeface="Alegreya Sans"/>
                <a:ea typeface="Alegreya Sans"/>
                <a:cs typeface="Alegreya Sans"/>
                <a:sym typeface="Alegreya Sans"/>
              </a:rPr>
              <a:t> </a:t>
            </a:r>
            <a:r>
              <a:rPr b="1" lang="en" sz="1800">
                <a:solidFill>
                  <a:srgbClr val="333333"/>
                </a:solidFill>
                <a:latin typeface="Alegreya Sans"/>
                <a:ea typeface="Alegreya Sans"/>
                <a:cs typeface="Alegreya Sans"/>
                <a:sym typeface="Alegreya Sans"/>
              </a:rPr>
              <a:t>Laser-Focused Weekly Action Steps: </a:t>
            </a:r>
            <a:r>
              <a:rPr lang="en" sz="1800">
                <a:solidFill>
                  <a:srgbClr val="333333"/>
                </a:solidFill>
                <a:latin typeface="Alegreya Sans"/>
                <a:ea typeface="Alegreya Sans"/>
                <a:cs typeface="Alegreya Sans"/>
                <a:sym typeface="Alegreya Sans"/>
              </a:rPr>
              <a:t>Clear, simple priorities each week so you always know exactly what to focus on instead of feeling overwhelmed.</a:t>
            </a:r>
            <a:endParaRPr b="1"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br>
              <a:rPr lang="en" sz="1800">
                <a:solidFill>
                  <a:srgbClr val="333333"/>
                </a:solidFill>
                <a:latin typeface="Alegreya Sans"/>
                <a:ea typeface="Alegreya Sans"/>
                <a:cs typeface="Alegreya Sans"/>
                <a:sym typeface="Alegreya Sans"/>
              </a:rPr>
            </a:br>
            <a:r>
              <a:rPr lang="en" sz="1800">
                <a:solidFill>
                  <a:srgbClr val="333333"/>
                </a:solidFill>
                <a:latin typeface="Alegreya Sans"/>
                <a:ea typeface="Alegreya Sans"/>
                <a:cs typeface="Alegreya Sans"/>
                <a:sym typeface="Alegreya Sans"/>
              </a:rPr>
              <a:t>🌟 </a:t>
            </a:r>
            <a:r>
              <a:rPr b="1" lang="en" sz="1800">
                <a:solidFill>
                  <a:srgbClr val="333333"/>
                </a:solidFill>
                <a:latin typeface="Alegreya Sans"/>
                <a:ea typeface="Alegreya Sans"/>
                <a:cs typeface="Alegreya Sans"/>
                <a:sym typeface="Alegreya Sans"/>
              </a:rPr>
              <a:t>Monthly Progress Tracker: </a:t>
            </a:r>
            <a:r>
              <a:rPr lang="en" sz="1800">
                <a:solidFill>
                  <a:srgbClr val="333333"/>
                </a:solidFill>
                <a:latin typeface="Alegreya Sans"/>
                <a:ea typeface="Alegreya Sans"/>
                <a:cs typeface="Alegreya Sans"/>
                <a:sym typeface="Alegreya Sans"/>
              </a:rPr>
              <a:t> A structured monthly check-in you complete to track your progress, habits and challenges. This keeps you accountable and allows your coach to review and guide your progress each month.</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 </a:t>
            </a:r>
            <a:r>
              <a:rPr b="1" lang="en" sz="1800">
                <a:solidFill>
                  <a:srgbClr val="333333"/>
                </a:solidFill>
                <a:latin typeface="Alegreya Sans"/>
                <a:ea typeface="Alegreya Sans"/>
                <a:cs typeface="Alegreya Sans"/>
                <a:sym typeface="Alegreya Sans"/>
              </a:rPr>
              <a:t>Monthly Progress Review: </a:t>
            </a:r>
            <a:r>
              <a:rPr lang="en" sz="1800">
                <a:solidFill>
                  <a:srgbClr val="333333"/>
                </a:solidFill>
                <a:latin typeface="Alegreya Sans"/>
                <a:ea typeface="Alegreya Sans"/>
                <a:cs typeface="Alegreya Sans"/>
                <a:sym typeface="Alegreya Sans"/>
              </a:rPr>
              <a:t>Your coach reviews your progress data with you to celebrate wins, troubleshoot challenges and optimise your strategy.</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rPr lang="en" sz="1800">
                <a:solidFill>
                  <a:srgbClr val="333333"/>
                </a:solidFill>
                <a:latin typeface="Alegreya Sans"/>
                <a:ea typeface="Alegreya Sans"/>
                <a:cs typeface="Alegreya Sans"/>
                <a:sym typeface="Alegreya Sans"/>
              </a:rPr>
              <a:t>🌟</a:t>
            </a:r>
            <a:r>
              <a:rPr b="1" lang="en" sz="1800">
                <a:solidFill>
                  <a:srgbClr val="333333"/>
                </a:solidFill>
                <a:latin typeface="Alegreya Sans"/>
                <a:ea typeface="Alegreya Sans"/>
                <a:cs typeface="Alegreya Sans"/>
                <a:sym typeface="Alegreya Sans"/>
              </a:rPr>
              <a:t> </a:t>
            </a:r>
            <a:r>
              <a:rPr b="1" lang="en" sz="1800">
                <a:solidFill>
                  <a:srgbClr val="333333"/>
                </a:solidFill>
                <a:latin typeface="Alegreya Sans"/>
                <a:ea typeface="Alegreya Sans"/>
                <a:cs typeface="Alegreya Sans"/>
                <a:sym typeface="Alegreya Sans"/>
              </a:rPr>
              <a:t>Access to Shift &amp; Sustain Members Area: </a:t>
            </a:r>
            <a:r>
              <a:rPr lang="en" sz="1800">
                <a:solidFill>
                  <a:srgbClr val="333333"/>
                </a:solidFill>
                <a:latin typeface="Alegreya Sans"/>
                <a:ea typeface="Alegreya Sans"/>
                <a:cs typeface="Alegreya Sans"/>
                <a:sym typeface="Alegreya Sans"/>
              </a:rPr>
              <a:t>Full access to the WLA coaching framework including meal guides, recipes, resources and behavioural strategies designed to help you lose weight and keep it off long-term.</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a:p>
            <a:pPr indent="0" lvl="0" marL="0" rtl="0" algn="l">
              <a:spcBef>
                <a:spcPts val="0"/>
              </a:spcBef>
              <a:spcAft>
                <a:spcPts val="0"/>
              </a:spcAft>
              <a:buClr>
                <a:schemeClr val="dk1"/>
              </a:buClr>
              <a:buSzPts val="1100"/>
              <a:buFont typeface="Arial"/>
              <a:buNone/>
            </a:pPr>
            <a:r>
              <a:t/>
            </a:r>
            <a:endParaRPr sz="1800">
              <a:solidFill>
                <a:srgbClr val="333333"/>
              </a:solidFill>
              <a:latin typeface="Alegreya Sans"/>
              <a:ea typeface="Alegreya Sans"/>
              <a:cs typeface="Alegreya Sans"/>
              <a:sym typeface="Alegrey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8" title="Vicky Simpson - almost a stone loss jpeg.jpg"/>
          <p:cNvPicPr preferRelativeResize="0"/>
          <p:nvPr/>
        </p:nvPicPr>
        <p:blipFill>
          <a:blip r:embed="rId3">
            <a:alphaModFix/>
          </a:blip>
          <a:stretch>
            <a:fillRect/>
          </a:stretch>
        </p:blipFill>
        <p:spPr>
          <a:xfrm>
            <a:off x="1413313" y="152400"/>
            <a:ext cx="6317366" cy="4838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03060"/>
                </a:solidFill>
                <a:latin typeface="Libre Baskerville"/>
                <a:ea typeface="Libre Baskerville"/>
                <a:cs typeface="Libre Baskerville"/>
                <a:sym typeface="Libre Baskerville"/>
              </a:rPr>
              <a:t>Investment vs </a:t>
            </a:r>
            <a:r>
              <a:rPr i="1" lang="en" sz="2500">
                <a:solidFill>
                  <a:srgbClr val="D97757"/>
                </a:solidFill>
                <a:latin typeface="Libre Baskerville"/>
                <a:ea typeface="Libre Baskerville"/>
                <a:cs typeface="Libre Baskerville"/>
                <a:sym typeface="Libre Baskerville"/>
              </a:rPr>
              <a:t>Reality</a:t>
            </a:r>
            <a:endParaRPr i="1" sz="2500">
              <a:solidFill>
                <a:srgbClr val="003060"/>
              </a:solidFill>
              <a:latin typeface="Libre Baskerville"/>
              <a:ea typeface="Libre Baskerville"/>
              <a:cs typeface="Libre Baskerville"/>
              <a:sym typeface="Libre Baskerville"/>
            </a:endParaRPr>
          </a:p>
        </p:txBody>
      </p:sp>
      <p:sp>
        <p:nvSpPr>
          <p:cNvPr id="215" name="Google Shape;215;p39"/>
          <p:cNvSpPr txBox="1"/>
          <p:nvPr>
            <p:ph idx="1" type="body"/>
          </p:nvPr>
        </p:nvSpPr>
        <p:spPr>
          <a:xfrm>
            <a:off x="311700" y="1213350"/>
            <a:ext cx="8520600" cy="382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 Most degree qualified Registered Associate Nutritionists charge anywhere from £300 - £700 for consultations and ongoing monthly support with them and their team</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For one to one coaching this level of support would typically cost £2,000–£5,000+. Take a look around Harley Street in London.</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Especially with daily support, weekly reviews and personalised strategy.</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But for this round, we’ve made it far more accessible</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t/>
            </a:r>
            <a:endParaRPr sz="2000">
              <a:solidFill>
                <a:srgbClr val="333333"/>
              </a:solidFill>
              <a:latin typeface="Alegreya Sans"/>
              <a:ea typeface="Alegreya Sans"/>
              <a:cs typeface="Alegreya Sans"/>
              <a:sym typeface="Alegreya Sans"/>
            </a:endParaRPr>
          </a:p>
          <a:p>
            <a:pPr indent="0" lvl="0" marL="0" rtl="0" algn="l">
              <a:spcBef>
                <a:spcPts val="1600"/>
              </a:spcBef>
              <a:spcAft>
                <a:spcPts val="1600"/>
              </a:spcAft>
              <a:buNone/>
            </a:pPr>
            <a:r>
              <a:t/>
            </a:r>
            <a:endParaRPr sz="2000">
              <a:solidFill>
                <a:srgbClr val="333333"/>
              </a:solidFill>
            </a:endParaRPr>
          </a:p>
        </p:txBody>
      </p:sp>
      <p:sp>
        <p:nvSpPr>
          <p:cNvPr id="216" name="Accent Rule"/>
          <p:cNvSpPr/>
          <p:nvPr/>
        </p:nvSpPr>
        <p:spPr>
          <a:xfrm>
            <a:off x="403140" y="1072589"/>
            <a:ext cx="1463040" cy="45720"/>
          </a:xfrm>
          <a:prstGeom prst="rect">
            <a:avLst/>
          </a:prstGeom>
          <a:solidFill>
            <a:srgbClr val="D97757"/>
          </a:solidFill>
          <a:ln>
            <a:noFill/>
          </a:ln>
        </p:spPr>
        <p:txBody>
          <a:bodyPr/>
          <a:lstStyle/>
          <a:p>
            <a:endParaRPr lang="en"/>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03060"/>
                </a:solidFill>
                <a:latin typeface="Libre Baskerville"/>
                <a:ea typeface="Libre Baskerville"/>
                <a:cs typeface="Libre Baskerville"/>
                <a:sym typeface="Libre Baskerville"/>
              </a:rPr>
              <a:t>Don’t Miss This </a:t>
            </a:r>
            <a:r>
              <a:rPr i="1" lang="en" sz="2500">
                <a:solidFill>
                  <a:srgbClr val="D97757"/>
                </a:solidFill>
                <a:latin typeface="Libre Baskerville"/>
                <a:ea typeface="Libre Baskerville"/>
                <a:cs typeface="Libre Baskerville"/>
                <a:sym typeface="Libre Baskerville"/>
              </a:rPr>
              <a:t>VIP Coaching Round </a:t>
            </a:r>
            <a:endParaRPr i="1" sz="2500">
              <a:solidFill>
                <a:srgbClr val="003060"/>
              </a:solidFill>
              <a:latin typeface="Libre Baskerville"/>
              <a:ea typeface="Libre Baskerville"/>
              <a:cs typeface="Libre Baskerville"/>
              <a:sym typeface="Libre Baskerville"/>
            </a:endParaRPr>
          </a:p>
        </p:txBody>
      </p:sp>
      <p:sp>
        <p:nvSpPr>
          <p:cNvPr id="221" name="Google Shape;221;p40"/>
          <p:cNvSpPr txBox="1"/>
          <p:nvPr>
            <p:ph idx="1" type="body"/>
          </p:nvPr>
        </p:nvSpPr>
        <p:spPr>
          <a:xfrm>
            <a:off x="311700" y="1213350"/>
            <a:ext cx="8520600" cy="382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 Limited to just 30 clients (10 places already gone — high interest, limited capacity)</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None/>
            </a:pPr>
            <a:r>
              <a:rPr lang="en" sz="2000">
                <a:solidFill>
                  <a:srgbClr val="333333"/>
                </a:solidFill>
                <a:latin typeface="Alegreya Sans"/>
                <a:ea typeface="Alegreya Sans"/>
                <a:cs typeface="Alegreya Sans"/>
                <a:sym typeface="Alegreya Sans"/>
              </a:rPr>
              <a:t>🔓 Previous VIP rounds have sold out well before the start date. </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None/>
            </a:pPr>
            <a:r>
              <a:rPr lang="en" sz="2000">
                <a:solidFill>
                  <a:srgbClr val="333333"/>
                </a:solidFill>
                <a:latin typeface="Alegreya Sans"/>
                <a:ea typeface="Alegreya Sans"/>
                <a:cs typeface="Alegreya Sans"/>
                <a:sym typeface="Alegreya Sans"/>
              </a:rPr>
              <a:t>👥 Over 150 women have already requested this info.</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None/>
            </a:pPr>
            <a:r>
              <a:rPr b="1" lang="en" sz="2000">
                <a:solidFill>
                  <a:srgbClr val="333333"/>
                </a:solidFill>
                <a:latin typeface="Alegreya Sans"/>
                <a:ea typeface="Alegreya Sans"/>
                <a:cs typeface="Alegreya Sans"/>
                <a:sym typeface="Alegreya Sans"/>
              </a:rPr>
              <a:t>🚨 Spaces are limited and filling fast</a:t>
            </a:r>
            <a:endParaRPr b="1" sz="2000">
              <a:solidFill>
                <a:srgbClr val="333333"/>
              </a:solidFill>
              <a:latin typeface="Alegreya Sans"/>
              <a:ea typeface="Alegreya Sans"/>
              <a:cs typeface="Alegreya Sans"/>
              <a:sym typeface="Alegreya Sans"/>
            </a:endParaRPr>
          </a:p>
          <a:p>
            <a:pPr indent="0" lvl="0" marL="0" rtl="0" algn="l">
              <a:spcBef>
                <a:spcPts val="1600"/>
              </a:spcBef>
              <a:spcAft>
                <a:spcPts val="0"/>
              </a:spcAft>
              <a:buNone/>
            </a:pPr>
            <a:r>
              <a:rPr b="1" lang="en" sz="2000">
                <a:solidFill>
                  <a:srgbClr val="333333"/>
                </a:solidFill>
                <a:latin typeface="Alegreya Sans"/>
                <a:ea typeface="Alegreya Sans"/>
                <a:cs typeface="Alegreya Sans"/>
                <a:sym typeface="Alegreya Sans"/>
              </a:rPr>
              <a:t>👉 Once the 30 spots are gone, they’re gone</a:t>
            </a:r>
            <a:endParaRPr b="1" sz="2000">
              <a:solidFill>
                <a:srgbClr val="333333"/>
              </a:solidFill>
              <a:latin typeface="Alegreya Sans"/>
              <a:ea typeface="Alegreya Sans"/>
              <a:cs typeface="Alegreya Sans"/>
              <a:sym typeface="Alegreya Sans"/>
            </a:endParaRPr>
          </a:p>
          <a:p>
            <a:pPr indent="0" lvl="0" marL="0" rtl="0" algn="l">
              <a:spcBef>
                <a:spcPts val="1600"/>
              </a:spcBef>
              <a:spcAft>
                <a:spcPts val="0"/>
              </a:spcAft>
              <a:buNone/>
            </a:pPr>
            <a:r>
              <a:rPr lang="en" sz="2000">
                <a:solidFill>
                  <a:srgbClr val="333333"/>
                </a:solidFill>
                <a:latin typeface="Alegreya Sans"/>
                <a:ea typeface="Alegreya Sans"/>
                <a:cs typeface="Alegreya Sans"/>
                <a:sym typeface="Alegreya Sans"/>
              </a:rPr>
              <a:t>👉 Secure your spot before they fill </a:t>
            </a:r>
            <a:endParaRPr sz="2000">
              <a:solidFill>
                <a:srgbClr val="333333"/>
              </a:solidFill>
              <a:latin typeface="Alegreya Sans"/>
              <a:ea typeface="Alegreya Sans"/>
              <a:cs typeface="Alegreya Sans"/>
              <a:sym typeface="Alegreya Sans"/>
            </a:endParaRPr>
          </a:p>
          <a:p>
            <a:pPr indent="0" lvl="0" marL="0" rtl="0" algn="l">
              <a:spcBef>
                <a:spcPts val="1600"/>
              </a:spcBef>
              <a:spcAft>
                <a:spcPts val="1600"/>
              </a:spcAft>
              <a:buNone/>
            </a:pPr>
            <a:r>
              <a:t/>
            </a:r>
            <a:endParaRPr sz="2000">
              <a:solidFill>
                <a:srgbClr val="333333"/>
              </a:solidFill>
            </a:endParaRPr>
          </a:p>
        </p:txBody>
      </p:sp>
      <p:sp>
        <p:nvSpPr>
          <p:cNvPr id="222" name="Accent Rule"/>
          <p:cNvSpPr/>
          <p:nvPr/>
        </p:nvSpPr>
        <p:spPr>
          <a:xfrm>
            <a:off x="403140" y="1072589"/>
            <a:ext cx="1463040" cy="45720"/>
          </a:xfrm>
          <a:prstGeom prst="rect">
            <a:avLst/>
          </a:prstGeom>
          <a:solidFill>
            <a:srgbClr val="D97757"/>
          </a:solidFill>
          <a:ln>
            <a:noFill/>
          </a:ln>
        </p:spPr>
        <p:txBody>
          <a:bodyPr/>
          <a:lstStyle/>
          <a:p>
            <a:endParaRPr lang="en"/>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1"/>
          <p:cNvSpPr txBox="1"/>
          <p:nvPr>
            <p:ph type="title"/>
          </p:nvPr>
        </p:nvSpPr>
        <p:spPr>
          <a:xfrm>
            <a:off x="311700" y="1971750"/>
            <a:ext cx="8520600" cy="248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940">
                <a:solidFill>
                  <a:srgbClr val="003060"/>
                </a:solidFill>
                <a:latin typeface="Libre Baskerville"/>
                <a:ea typeface="Libre Baskerville"/>
                <a:cs typeface="Libre Baskerville"/>
                <a:sym typeface="Libre Baskerville"/>
              </a:rPr>
              <a:t>VIP 3 Months 1-2-1 Coaching</a:t>
            </a:r>
            <a:r>
              <a:rPr lang="en" sz="2940">
                <a:solidFill>
                  <a:srgbClr val="003060"/>
                </a:solidFill>
                <a:latin typeface="Libre Baskerville"/>
                <a:ea typeface="Libre Baskerville"/>
                <a:cs typeface="Libre Baskerville"/>
                <a:sym typeface="Libre Baskerville"/>
              </a:rPr>
              <a:t> </a:t>
            </a:r>
            <a:br>
              <a:rPr lang="en" sz="2940">
                <a:solidFill>
                  <a:srgbClr val="003060"/>
                </a:solidFill>
                <a:latin typeface="Libre Baskerville"/>
                <a:ea typeface="Libre Baskerville"/>
                <a:cs typeface="Libre Baskerville"/>
                <a:sym typeface="Libre Baskerville"/>
              </a:rPr>
            </a:br>
            <a:br>
              <a:rPr lang="en" sz="2940">
                <a:solidFill>
                  <a:srgbClr val="003060"/>
                </a:solidFill>
                <a:latin typeface="Libre Baskerville"/>
                <a:ea typeface="Libre Baskerville"/>
                <a:cs typeface="Libre Baskerville"/>
                <a:sym typeface="Libre Baskerville"/>
              </a:rPr>
            </a:br>
            <a:r>
              <a:rPr lang="en" sz="2940">
                <a:solidFill>
                  <a:srgbClr val="003060"/>
                </a:solidFill>
                <a:latin typeface="Libre Baskerville"/>
                <a:ea typeface="Libre Baskerville"/>
                <a:cs typeface="Libre Baskerville"/>
                <a:sym typeface="Libre Baskerville"/>
              </a:rPr>
              <a:t>⭐️ </a:t>
            </a:r>
            <a:r>
              <a:rPr lang="en" sz="2940">
                <a:solidFill>
                  <a:srgbClr val="003060"/>
                </a:solidFill>
                <a:latin typeface="Libre Baskerville"/>
                <a:ea typeface="Libre Baskerville"/>
                <a:cs typeface="Libre Baskerville"/>
                <a:sym typeface="Libre Baskerville"/>
              </a:rPr>
              <a:t>Only </a:t>
            </a:r>
            <a:r>
              <a:rPr b="1" lang="en" sz="2940">
                <a:solidFill>
                  <a:srgbClr val="D97757"/>
                </a:solidFill>
                <a:latin typeface="Libre Baskerville"/>
                <a:ea typeface="Libre Baskerville"/>
                <a:cs typeface="Libre Baskerville"/>
                <a:sym typeface="Libre Baskerville"/>
              </a:rPr>
              <a:t>£</a:t>
            </a:r>
            <a:r>
              <a:rPr b="1" lang="en" sz="2940">
                <a:solidFill>
                  <a:srgbClr val="D97757"/>
                </a:solidFill>
                <a:latin typeface="Libre Baskerville"/>
                <a:ea typeface="Libre Baskerville"/>
                <a:cs typeface="Libre Baskerville"/>
                <a:sym typeface="Libre Baskerville"/>
              </a:rPr>
              <a:t>5</a:t>
            </a:r>
            <a:r>
              <a:rPr b="1" lang="en" sz="2940">
                <a:solidFill>
                  <a:srgbClr val="D97757"/>
                </a:solidFill>
                <a:latin typeface="Libre Baskerville"/>
                <a:ea typeface="Libre Baskerville"/>
                <a:cs typeface="Libre Baskerville"/>
                <a:sym typeface="Libre Baskerville"/>
              </a:rPr>
              <a:t>97 </a:t>
            </a:r>
            <a:r>
              <a:rPr b="1" lang="en" sz="2940">
                <a:solidFill>
                  <a:srgbClr val="003060"/>
                </a:solidFill>
                <a:latin typeface="Libre Baskerville"/>
                <a:ea typeface="Libre Baskerville"/>
                <a:cs typeface="Libre Baskerville"/>
                <a:sym typeface="Libre Baskerville"/>
              </a:rPr>
              <a:t>⭐️ </a:t>
            </a:r>
            <a:br>
              <a:rPr b="1" lang="en" sz="2940">
                <a:solidFill>
                  <a:srgbClr val="003060"/>
                </a:solidFill>
                <a:latin typeface="Libre Baskerville"/>
                <a:ea typeface="Libre Baskerville"/>
                <a:cs typeface="Libre Baskerville"/>
                <a:sym typeface="Libre Baskerville"/>
              </a:rPr>
            </a:br>
            <a:endParaRPr b="1" sz="29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br>
              <a:rPr b="1" lang="en" sz="2940">
                <a:solidFill>
                  <a:srgbClr val="003060"/>
                </a:solidFill>
                <a:latin typeface="Libre Baskerville"/>
                <a:ea typeface="Libre Baskerville"/>
                <a:cs typeface="Libre Baskerville"/>
                <a:sym typeface="Libre Baskerville"/>
              </a:rPr>
            </a:br>
            <a:br>
              <a:rPr b="1" lang="en" sz="2940">
                <a:solidFill>
                  <a:srgbClr val="003060"/>
                </a:solidFill>
                <a:latin typeface="Libre Baskerville"/>
                <a:ea typeface="Libre Baskerville"/>
                <a:cs typeface="Libre Baskerville"/>
                <a:sym typeface="Libre Baskerville"/>
              </a:rPr>
            </a:br>
            <a:r>
              <a:rPr lang="en" sz="2940">
                <a:solidFill>
                  <a:srgbClr val="003060"/>
                </a:solidFill>
                <a:latin typeface="Libre Baskerville"/>
                <a:ea typeface="Libre Baskerville"/>
                <a:cs typeface="Libre Baskerville"/>
                <a:sym typeface="Libre Baskerville"/>
              </a:rPr>
              <a:t>Monthly payment plans start at £199 with PayPal, Klarna and Clearpay</a:t>
            </a:r>
            <a:br>
              <a:rPr b="1" lang="en" sz="2940">
                <a:solidFill>
                  <a:srgbClr val="003060"/>
                </a:solidFill>
                <a:latin typeface="Libre Baskerville"/>
                <a:ea typeface="Libre Baskerville"/>
                <a:cs typeface="Libre Baskerville"/>
                <a:sym typeface="Libre Baskerville"/>
              </a:rPr>
            </a:br>
            <a:endParaRPr sz="2940">
              <a:solidFill>
                <a:srgbClr val="003060"/>
              </a:solidFill>
              <a:latin typeface="Libre Baskerville"/>
              <a:ea typeface="Libre Baskerville"/>
              <a:cs typeface="Libre Baskerville"/>
              <a:sym typeface="Libre Baskerville"/>
            </a:endParaRPr>
          </a:p>
          <a:p>
            <a:pPr indent="0" lvl="0" marL="0" rtl="0" algn="l">
              <a:spcBef>
                <a:spcPts val="0"/>
              </a:spcBef>
              <a:spcAft>
                <a:spcPts val="0"/>
              </a:spcAft>
              <a:buSzPts val="990"/>
              <a:buNone/>
            </a:pPr>
            <a:r>
              <a:t/>
            </a:r>
            <a:endParaRPr sz="29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sz="294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2"/>
          <p:cNvSpPr txBox="1"/>
          <p:nvPr>
            <p:ph type="title"/>
          </p:nvPr>
        </p:nvSpPr>
        <p:spPr>
          <a:xfrm>
            <a:off x="311700" y="1686800"/>
            <a:ext cx="8520600" cy="248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640">
                <a:solidFill>
                  <a:srgbClr val="003060"/>
                </a:solidFill>
                <a:latin typeface="Libre Baskerville"/>
                <a:ea typeface="Libre Baskerville"/>
                <a:cs typeface="Libre Baskerville"/>
                <a:sym typeface="Libre Baskerville"/>
              </a:rPr>
              <a:t>Optional </a:t>
            </a:r>
            <a:r>
              <a:rPr lang="en" sz="2640">
                <a:solidFill>
                  <a:srgbClr val="003060"/>
                </a:solidFill>
                <a:latin typeface="Libre Baskerville"/>
                <a:ea typeface="Libre Baskerville"/>
                <a:cs typeface="Libre Baskerville"/>
                <a:sym typeface="Libre Baskerville"/>
              </a:rPr>
              <a:t>Upgrade</a:t>
            </a:r>
            <a:br>
              <a:rPr lang="en" sz="2640">
                <a:solidFill>
                  <a:srgbClr val="003060"/>
                </a:solidFill>
                <a:latin typeface="Libre Baskerville"/>
                <a:ea typeface="Libre Baskerville"/>
                <a:cs typeface="Libre Baskerville"/>
                <a:sym typeface="Libre Baskerville"/>
              </a:rPr>
            </a:br>
            <a:br>
              <a:rPr lang="en" sz="2640">
                <a:solidFill>
                  <a:srgbClr val="003060"/>
                </a:solidFill>
                <a:latin typeface="Libre Baskerville"/>
                <a:ea typeface="Libre Baskerville"/>
                <a:cs typeface="Libre Baskerville"/>
                <a:sym typeface="Libre Baskerville"/>
              </a:rPr>
            </a:br>
            <a:r>
              <a:rPr b="1" lang="en" sz="2640">
                <a:solidFill>
                  <a:srgbClr val="003060"/>
                </a:solidFill>
                <a:latin typeface="Libre Baskerville"/>
                <a:ea typeface="Libre Baskerville"/>
                <a:cs typeface="Libre Baskerville"/>
                <a:sym typeface="Libre Baskerville"/>
              </a:rPr>
              <a:t>Need longer support? </a:t>
            </a:r>
            <a:br>
              <a:rPr b="1" lang="en" sz="2640">
                <a:solidFill>
                  <a:srgbClr val="003060"/>
                </a:solidFill>
                <a:latin typeface="Libre Baskerville"/>
                <a:ea typeface="Libre Baskerville"/>
                <a:cs typeface="Libre Baskerville"/>
                <a:sym typeface="Libre Baskerville"/>
              </a:rPr>
            </a:br>
            <a:endParaRPr b="1"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rPr b="1" lang="en" sz="2640">
                <a:solidFill>
                  <a:srgbClr val="003060"/>
                </a:solidFill>
                <a:latin typeface="Libre Baskerville"/>
                <a:ea typeface="Libre Baskerville"/>
                <a:cs typeface="Libre Baskerville"/>
                <a:sym typeface="Libre Baskerville"/>
              </a:rPr>
              <a:t>Upgrade to 6 months of coaching for the best long-term results. </a:t>
            </a:r>
            <a:br>
              <a:rPr b="1" lang="en" sz="2640">
                <a:solidFill>
                  <a:srgbClr val="003060"/>
                </a:solidFill>
                <a:latin typeface="Libre Baskerville"/>
                <a:ea typeface="Libre Baskerville"/>
                <a:cs typeface="Libre Baskerville"/>
                <a:sym typeface="Libre Baskerville"/>
              </a:rPr>
            </a:br>
            <a:br>
              <a:rPr b="1" lang="en" sz="2640">
                <a:solidFill>
                  <a:srgbClr val="003060"/>
                </a:solidFill>
                <a:latin typeface="Libre Baskerville"/>
                <a:ea typeface="Libre Baskerville"/>
                <a:cs typeface="Libre Baskerville"/>
                <a:sym typeface="Libre Baskerville"/>
              </a:rPr>
            </a:br>
            <a:r>
              <a:rPr b="1" lang="en" sz="2640">
                <a:solidFill>
                  <a:srgbClr val="D97757"/>
                </a:solidFill>
                <a:latin typeface="Libre Baskerville"/>
                <a:ea typeface="Libre Baskerville"/>
                <a:cs typeface="Libre Baskerville"/>
                <a:sym typeface="Libre Baskerville"/>
              </a:rPr>
              <a:t>⭐️ 6 Months VIP - £1197 ⭐️ </a:t>
            </a:r>
            <a:endParaRPr i="1"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i="1"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sz="264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type="title"/>
          </p:nvPr>
        </p:nvSpPr>
        <p:spPr>
          <a:xfrm>
            <a:off x="311700" y="1686800"/>
            <a:ext cx="8520600" cy="248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640">
                <a:solidFill>
                  <a:srgbClr val="003060"/>
                </a:solidFill>
                <a:latin typeface="Libre Baskerville"/>
                <a:ea typeface="Libre Baskerville"/>
                <a:cs typeface="Libre Baskerville"/>
                <a:sym typeface="Libre Baskerville"/>
              </a:rPr>
              <a:t>Most of the testimonials I have showed are from women in VIP that have gone for the </a:t>
            </a:r>
            <a:r>
              <a:rPr b="1" lang="en" sz="2640">
                <a:solidFill>
                  <a:srgbClr val="003060"/>
                </a:solidFill>
                <a:latin typeface="Libre Baskerville"/>
                <a:ea typeface="Libre Baskerville"/>
                <a:cs typeface="Libre Baskerville"/>
                <a:sym typeface="Libre Baskerville"/>
              </a:rPr>
              <a:t>6-month option</a:t>
            </a:r>
            <a:r>
              <a:rPr lang="en" sz="2640">
                <a:solidFill>
                  <a:srgbClr val="003060"/>
                </a:solidFill>
                <a:latin typeface="Libre Baskerville"/>
                <a:ea typeface="Libre Baskerville"/>
                <a:cs typeface="Libre Baskerville"/>
                <a:sym typeface="Libre Baskerville"/>
              </a:rPr>
              <a:t> because it gives them the time and support to not just lose the weight… but actually keep it off.</a:t>
            </a:r>
            <a:br>
              <a:rPr lang="en" sz="2640">
                <a:solidFill>
                  <a:srgbClr val="003060"/>
                </a:solidFill>
                <a:latin typeface="Libre Baskerville"/>
                <a:ea typeface="Libre Baskerville"/>
                <a:cs typeface="Libre Baskerville"/>
                <a:sym typeface="Libre Baskerville"/>
              </a:rPr>
            </a:br>
            <a:br>
              <a:rPr lang="en" sz="2640">
                <a:solidFill>
                  <a:srgbClr val="003060"/>
                </a:solidFill>
                <a:latin typeface="Libre Baskerville"/>
                <a:ea typeface="Libre Baskerville"/>
                <a:cs typeface="Libre Baskerville"/>
                <a:sym typeface="Libre Baskerville"/>
              </a:rPr>
            </a:br>
            <a:r>
              <a:rPr lang="en" sz="2640">
                <a:solidFill>
                  <a:srgbClr val="003060"/>
                </a:solidFill>
                <a:latin typeface="Libre Baskerville"/>
                <a:ea typeface="Libre Baskerville"/>
                <a:cs typeface="Libre Baskerville"/>
                <a:sym typeface="Libre Baskerville"/>
              </a:rPr>
              <a:t>Your choice!</a:t>
            </a:r>
            <a:endParaRPr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i="1"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sz="264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4"/>
          <p:cNvSpPr txBox="1"/>
          <p:nvPr>
            <p:ph type="title"/>
          </p:nvPr>
        </p:nvSpPr>
        <p:spPr>
          <a:xfrm>
            <a:off x="311700" y="1686800"/>
            <a:ext cx="8520600" cy="248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640">
                <a:solidFill>
                  <a:srgbClr val="003060"/>
                </a:solidFill>
                <a:latin typeface="Libre Baskerville"/>
                <a:ea typeface="Libre Baskerville"/>
                <a:cs typeface="Libre Baskerville"/>
                <a:sym typeface="Libre Baskerville"/>
              </a:rPr>
              <a:t>At this point, you have two options…</a:t>
            </a:r>
            <a:endParaRPr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rPr lang="en" sz="2640">
                <a:solidFill>
                  <a:srgbClr val="003060"/>
                </a:solidFill>
                <a:latin typeface="Libre Baskerville"/>
                <a:ea typeface="Libre Baskerville"/>
                <a:cs typeface="Libre Baskerville"/>
                <a:sym typeface="Libre Baskerville"/>
              </a:rPr>
              <a:t>You can keep trying to do this on your own and still be in the same place in 3–6 months</a:t>
            </a:r>
            <a:endParaRPr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rPr lang="en" sz="2640">
                <a:solidFill>
                  <a:srgbClr val="003060"/>
                </a:solidFill>
                <a:latin typeface="Libre Baskerville"/>
                <a:ea typeface="Libre Baskerville"/>
                <a:cs typeface="Libre Baskerville"/>
                <a:sym typeface="Libre Baskerville"/>
              </a:rPr>
              <a:t>Or…</a:t>
            </a:r>
            <a:endParaRPr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rPr lang="en" sz="2640">
                <a:solidFill>
                  <a:srgbClr val="003060"/>
                </a:solidFill>
                <a:latin typeface="Libre Baskerville"/>
                <a:ea typeface="Libre Baskerville"/>
                <a:cs typeface="Libre Baskerville"/>
                <a:sym typeface="Libre Baskerville"/>
              </a:rPr>
              <a:t>You can get the support, accountability and structure you need to finally follow through and get results</a:t>
            </a:r>
            <a:endParaRPr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i="1"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sz="264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5"/>
          <p:cNvSpPr txBox="1"/>
          <p:nvPr/>
        </p:nvSpPr>
        <p:spPr>
          <a:xfrm>
            <a:off x="3973950" y="366350"/>
            <a:ext cx="4911900" cy="149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003060"/>
                </a:solidFill>
                <a:latin typeface="Libre Baskerville"/>
                <a:ea typeface="Libre Baskerville"/>
                <a:cs typeface="Libre Baskerville"/>
                <a:sym typeface="Libre Baskerville"/>
              </a:rPr>
              <a:t>IF YOU’RE IN, JUST REPLY TO MY MESSAGE AND SAY </a:t>
            </a:r>
            <a:endParaRPr b="1" sz="240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None/>
            </a:pPr>
            <a:r>
              <a:rPr b="1" lang="en" sz="2400">
                <a:solidFill>
                  <a:schemeClr val="lt1"/>
                </a:solidFill>
                <a:highlight>
                  <a:srgbClr val="003060"/>
                </a:highlight>
                <a:latin typeface="Libre Baskerville"/>
                <a:ea typeface="Libre Baskerville"/>
                <a:cs typeface="Libre Baskerville"/>
                <a:sym typeface="Libre Baskerville"/>
              </a:rPr>
              <a:t>“IM READY FOR VIP”</a:t>
            </a:r>
            <a:endParaRPr b="1" sz="2400">
              <a:solidFill>
                <a:schemeClr val="lt1"/>
              </a:solidFill>
              <a:highlight>
                <a:srgbClr val="003060"/>
              </a:highlight>
              <a:latin typeface="Libre Baskerville"/>
              <a:ea typeface="Libre Baskerville"/>
              <a:cs typeface="Libre Baskerville"/>
              <a:sym typeface="Libre Baskerville"/>
            </a:endParaRPr>
          </a:p>
        </p:txBody>
      </p:sp>
      <p:sp>
        <p:nvSpPr>
          <p:cNvPr id="247" name="Google Shape;247;p45"/>
          <p:cNvSpPr txBox="1"/>
          <p:nvPr/>
        </p:nvSpPr>
        <p:spPr>
          <a:xfrm>
            <a:off x="4152150" y="1918100"/>
            <a:ext cx="4555500" cy="1673400"/>
          </a:xfrm>
          <a:prstGeom prst="rect">
            <a:avLst/>
          </a:prstGeom>
          <a:noFill/>
          <a:ln>
            <a:noFill/>
          </a:ln>
        </p:spPr>
        <p:txBody>
          <a:bodyPr anchorCtr="0" anchor="t" bIns="91425" lIns="91425" spcFirstLastPara="1" rIns="91425" wrap="square" tIns="91425">
            <a:noAutofit/>
          </a:bodyPr>
          <a:lstStyle/>
          <a:p>
            <a:pPr indent="0" lvl="0" marL="0" rtl="0" algn="ctr">
              <a:lnSpc>
                <a:spcPct val="95000"/>
              </a:lnSpc>
              <a:spcBef>
                <a:spcPts val="0"/>
              </a:spcBef>
              <a:spcAft>
                <a:spcPts val="0"/>
              </a:spcAft>
              <a:buNone/>
            </a:pPr>
            <a:r>
              <a:rPr lang="en" sz="1800">
                <a:solidFill>
                  <a:srgbClr val="333333"/>
                </a:solidFill>
                <a:latin typeface="Helvetica Neue"/>
                <a:ea typeface="Helvetica Neue"/>
                <a:cs typeface="Helvetica Neue"/>
                <a:sym typeface="Helvetica Neue"/>
              </a:rPr>
              <a:t>I will let you know if there’s spaces left. Spaces are limited, so don’t wait — once they’re gone, they’re gone.</a:t>
            </a:r>
            <a:br>
              <a:rPr lang="en" sz="1800">
                <a:solidFill>
                  <a:srgbClr val="333333"/>
                </a:solidFill>
                <a:latin typeface="Helvetica Neue"/>
                <a:ea typeface="Helvetica Neue"/>
                <a:cs typeface="Helvetica Neue"/>
                <a:sym typeface="Helvetica Neue"/>
              </a:rPr>
            </a:br>
            <a:br>
              <a:rPr lang="en" sz="1800">
                <a:solidFill>
                  <a:srgbClr val="333333"/>
                </a:solidFill>
                <a:latin typeface="Helvetica Neue"/>
                <a:ea typeface="Helvetica Neue"/>
                <a:cs typeface="Helvetica Neue"/>
                <a:sym typeface="Helvetica Neue"/>
              </a:rPr>
            </a:br>
            <a:r>
              <a:rPr b="1" lang="en" sz="1800">
                <a:solidFill>
                  <a:srgbClr val="333333"/>
                </a:solidFill>
                <a:latin typeface="Helvetica Neue"/>
                <a:ea typeface="Helvetica Neue"/>
                <a:cs typeface="Helvetica Neue"/>
                <a:sym typeface="Helvetica Neue"/>
              </a:rPr>
              <a:t>Email me: annasnutrition@gmail.com</a:t>
            </a:r>
            <a:endParaRPr b="1" sz="1800">
              <a:solidFill>
                <a:srgbClr val="333333"/>
              </a:solidFill>
              <a:latin typeface="Helvetica Neue"/>
              <a:ea typeface="Helvetica Neue"/>
              <a:cs typeface="Helvetica Neue"/>
              <a:sym typeface="Helvetica Neue"/>
            </a:endParaRPr>
          </a:p>
          <a:p>
            <a:pPr indent="0" lvl="0" marL="0" rtl="0" algn="ctr">
              <a:lnSpc>
                <a:spcPct val="95000"/>
              </a:lnSpc>
              <a:spcBef>
                <a:spcPts val="0"/>
              </a:spcBef>
              <a:spcAft>
                <a:spcPts val="0"/>
              </a:spcAft>
              <a:buNone/>
            </a:pPr>
            <a:r>
              <a:t/>
            </a:r>
            <a:endParaRPr sz="1800">
              <a:solidFill>
                <a:srgbClr val="333333"/>
              </a:solidFill>
              <a:latin typeface="Helvetica Neue"/>
              <a:ea typeface="Helvetica Neue"/>
              <a:cs typeface="Helvetica Neue"/>
              <a:sym typeface="Helvetica Neue"/>
            </a:endParaRPr>
          </a:p>
          <a:p>
            <a:pPr indent="0" lvl="0" marL="0" rtl="0" algn="ctr">
              <a:lnSpc>
                <a:spcPct val="95000"/>
              </a:lnSpc>
              <a:spcBef>
                <a:spcPts val="0"/>
              </a:spcBef>
              <a:spcAft>
                <a:spcPts val="0"/>
              </a:spcAft>
              <a:buNone/>
            </a:pPr>
            <a:r>
              <a:t/>
            </a:r>
            <a:endParaRPr sz="1800">
              <a:solidFill>
                <a:srgbClr val="333333"/>
              </a:solidFill>
              <a:latin typeface="Helvetica Neue"/>
              <a:ea typeface="Helvetica Neue"/>
              <a:cs typeface="Helvetica Neue"/>
              <a:sym typeface="Helvetica Neue"/>
            </a:endParaRPr>
          </a:p>
          <a:p>
            <a:pPr indent="0" lvl="0" marL="0" rtl="0" algn="ctr">
              <a:lnSpc>
                <a:spcPct val="95000"/>
              </a:lnSpc>
              <a:spcBef>
                <a:spcPts val="0"/>
              </a:spcBef>
              <a:spcAft>
                <a:spcPts val="0"/>
              </a:spcAft>
              <a:buNone/>
            </a:pPr>
            <a:r>
              <a:t/>
            </a:r>
            <a:endParaRPr sz="1800">
              <a:solidFill>
                <a:srgbClr val="333333"/>
              </a:solidFill>
              <a:latin typeface="Helvetica Neue"/>
              <a:ea typeface="Helvetica Neue"/>
              <a:cs typeface="Helvetica Neue"/>
              <a:sym typeface="Helvetica Neue"/>
            </a:endParaRPr>
          </a:p>
          <a:p>
            <a:pPr indent="0" lvl="0" marL="0" rtl="0" algn="ctr">
              <a:lnSpc>
                <a:spcPct val="95000"/>
              </a:lnSpc>
              <a:spcBef>
                <a:spcPts val="0"/>
              </a:spcBef>
              <a:spcAft>
                <a:spcPts val="0"/>
              </a:spcAft>
              <a:buNone/>
            </a:pPr>
            <a:r>
              <a:rPr b="1" lang="en" sz="1500">
                <a:solidFill>
                  <a:srgbClr val="333333"/>
                </a:solidFill>
                <a:latin typeface="Helvetica Neue"/>
                <a:ea typeface="Helvetica Neue"/>
                <a:cs typeface="Helvetica Neue"/>
                <a:sym typeface="Helvetica Neue"/>
              </a:rPr>
              <a:t>Anna Wallace </a:t>
            </a:r>
            <a:r>
              <a:rPr lang="en" sz="1500">
                <a:solidFill>
                  <a:srgbClr val="333333"/>
                </a:solidFill>
                <a:latin typeface="Helvetica Neue"/>
                <a:ea typeface="Helvetica Neue"/>
                <a:cs typeface="Helvetica Neue"/>
                <a:sym typeface="Helvetica Neue"/>
              </a:rPr>
              <a:t>- Founder of The Weight Loss Academy, Registered Associate Nutritionist</a:t>
            </a:r>
            <a:endParaRPr sz="1500">
              <a:solidFill>
                <a:srgbClr val="333333"/>
              </a:solidFill>
              <a:latin typeface="Helvetica Neue"/>
              <a:ea typeface="Helvetica Neue"/>
              <a:cs typeface="Helvetica Neue"/>
              <a:sym typeface="Helvetica Neue"/>
            </a:endParaRPr>
          </a:p>
        </p:txBody>
      </p:sp>
      <p:pic>
        <p:nvPicPr>
          <p:cNvPr id="248" name="Google Shape;248;p45" title="IMG_0670.jpg"/>
          <p:cNvPicPr preferRelativeResize="0"/>
          <p:nvPr/>
        </p:nvPicPr>
        <p:blipFill>
          <a:blip r:embed="rId3">
            <a:alphaModFix/>
          </a:blip>
          <a:stretch>
            <a:fillRect/>
          </a:stretch>
        </p:blipFill>
        <p:spPr>
          <a:xfrm>
            <a:off x="283124" y="180538"/>
            <a:ext cx="3586798" cy="4782423"/>
          </a:xfrm>
          <a:prstGeom prst="rect">
            <a:avLst/>
          </a:prstGeom>
          <a:solidFill>
            <a:schemeClr val="lt1"/>
          </a:solid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46" title="Katy Parker - 2.5 stone lighter - text .jpeg"/>
          <p:cNvPicPr preferRelativeResize="0"/>
          <p:nvPr/>
        </p:nvPicPr>
        <p:blipFill>
          <a:blip r:embed="rId3">
            <a:alphaModFix/>
          </a:blip>
          <a:stretch>
            <a:fillRect/>
          </a:stretch>
        </p:blipFill>
        <p:spPr>
          <a:xfrm>
            <a:off x="152400" y="683413"/>
            <a:ext cx="8839202" cy="377666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47" title="Gillian Tredwell- Text.jpeg"/>
          <p:cNvPicPr preferRelativeResize="0"/>
          <p:nvPr/>
        </p:nvPicPr>
        <p:blipFill>
          <a:blip r:embed="rId3">
            <a:alphaModFix/>
          </a:blip>
          <a:stretch>
            <a:fillRect/>
          </a:stretch>
        </p:blipFill>
        <p:spPr>
          <a:xfrm>
            <a:off x="1593213" y="152400"/>
            <a:ext cx="5957576" cy="48387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500">
                <a:solidFill>
                  <a:srgbClr val="D97757"/>
                </a:solidFill>
                <a:latin typeface="Libre Baskerville"/>
                <a:ea typeface="Libre Baskerville"/>
                <a:cs typeface="Libre Baskerville"/>
                <a:sym typeface="Libre Baskerville"/>
              </a:rPr>
              <a:t>Who</a:t>
            </a:r>
            <a:r>
              <a:rPr lang="en" sz="2500">
                <a:solidFill>
                  <a:srgbClr val="003060"/>
                </a:solidFill>
                <a:latin typeface="Libre Baskerville"/>
                <a:ea typeface="Libre Baskerville"/>
                <a:cs typeface="Libre Baskerville"/>
                <a:sym typeface="Libre Baskerville"/>
              </a:rPr>
              <a:t> is VIP For?</a:t>
            </a:r>
            <a:endParaRPr sz="2500">
              <a:solidFill>
                <a:srgbClr val="003060"/>
              </a:solidFill>
              <a:latin typeface="Libre Baskerville"/>
              <a:ea typeface="Libre Baskerville"/>
              <a:cs typeface="Libre Baskerville"/>
              <a:sym typeface="Libre Baskerville"/>
            </a:endParaRPr>
          </a:p>
        </p:txBody>
      </p:sp>
      <p:sp>
        <p:nvSpPr>
          <p:cNvPr id="264" name="Google Shape;264;p48"/>
          <p:cNvSpPr txBox="1"/>
          <p:nvPr>
            <p:ph idx="1" type="body"/>
          </p:nvPr>
        </p:nvSpPr>
        <p:spPr>
          <a:xfrm>
            <a:off x="311700" y="1152475"/>
            <a:ext cx="8520600" cy="365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Know they need support and accountability to stay consistent with their weight loss.</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Are tired of trying to figure everything out alone and want a clear, personalised strategy.</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rPr>
              <a:t>Know if they are accountable to someone else, they will take action as now they makes excuses. </a:t>
            </a:r>
            <a:endParaRPr sz="2000">
              <a:solidFill>
                <a:srgbClr val="333333"/>
              </a:solidFill>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Want a coach to help them stay on track when motivation drops or life gets busy.</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Are ready to take action and finally follow through on their goals.</a:t>
            </a:r>
            <a:endParaRPr sz="2000">
              <a:solidFill>
                <a:srgbClr val="333333"/>
              </a:solidFill>
              <a:latin typeface="Alegreya Sans"/>
              <a:ea typeface="Alegreya Sans"/>
              <a:cs typeface="Alegreya Sans"/>
              <a:sym typeface="Alegreya Sans"/>
            </a:endParaRPr>
          </a:p>
          <a:p>
            <a:pPr indent="0" lvl="0" marL="0" rtl="0" algn="l">
              <a:spcBef>
                <a:spcPts val="1600"/>
              </a:spcBef>
              <a:spcAft>
                <a:spcPts val="1600"/>
              </a:spcAft>
              <a:buClr>
                <a:schemeClr val="dk1"/>
              </a:buClr>
              <a:buSzPts val="1100"/>
              <a:buFont typeface="Arial"/>
              <a:buNone/>
            </a:pPr>
            <a:r>
              <a:rPr lang="en" sz="2000">
                <a:solidFill>
                  <a:srgbClr val="333333"/>
                </a:solidFill>
                <a:latin typeface="Alegreya Sans"/>
                <a:ea typeface="Alegreya Sans"/>
                <a:cs typeface="Alegreya Sans"/>
                <a:sym typeface="Alegreya Sans"/>
              </a:rPr>
              <a:t>Want to lose up to 3 stone in a sustainable way and keep the weight off.</a:t>
            </a:r>
            <a:endParaRPr sz="2000">
              <a:solidFill>
                <a:srgbClr val="333333"/>
              </a:solidFill>
              <a:latin typeface="Alegreya Sans"/>
              <a:ea typeface="Alegreya Sans"/>
              <a:cs typeface="Alegreya Sans"/>
              <a:sym typeface="Alegreya Sans"/>
            </a:endParaRPr>
          </a:p>
        </p:txBody>
      </p:sp>
      <p:sp>
        <p:nvSpPr>
          <p:cNvPr id="265" name="Accent Rule"/>
          <p:cNvSpPr/>
          <p:nvPr/>
        </p:nvSpPr>
        <p:spPr>
          <a:xfrm>
            <a:off x="403140" y="1072589"/>
            <a:ext cx="1463040" cy="45720"/>
          </a:xfrm>
          <a:prstGeom prst="rect">
            <a:avLst/>
          </a:prstGeom>
          <a:solidFill>
            <a:srgbClr val="D97757"/>
          </a:solidFill>
          <a:ln>
            <a:noFill/>
          </a:ln>
        </p:spPr>
        <p:txBody>
          <a:bodyPr/>
          <a:lstStyle/>
          <a:p>
            <a:endParaRPr lang="en"/>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500">
                <a:solidFill>
                  <a:srgbClr val="D97757"/>
                </a:solidFill>
                <a:latin typeface="Libre Baskerville"/>
                <a:ea typeface="Libre Baskerville"/>
                <a:cs typeface="Libre Baskerville"/>
                <a:sym typeface="Libre Baskerville"/>
              </a:rPr>
              <a:t>Who </a:t>
            </a:r>
            <a:r>
              <a:rPr lang="en" sz="2500">
                <a:solidFill>
                  <a:srgbClr val="003060"/>
                </a:solidFill>
                <a:latin typeface="Libre Baskerville"/>
                <a:ea typeface="Libre Baskerville"/>
                <a:cs typeface="Libre Baskerville"/>
                <a:sym typeface="Libre Baskerville"/>
              </a:rPr>
              <a:t>is VIP Not For?</a:t>
            </a:r>
            <a:endParaRPr sz="2500">
              <a:solidFill>
                <a:srgbClr val="003060"/>
              </a:solidFill>
              <a:latin typeface="Libre Baskerville"/>
              <a:ea typeface="Libre Baskerville"/>
              <a:cs typeface="Libre Baskerville"/>
              <a:sym typeface="Libre Baskerville"/>
            </a:endParaRPr>
          </a:p>
        </p:txBody>
      </p:sp>
      <p:sp>
        <p:nvSpPr>
          <p:cNvPr id="270" name="Google Shape;270;p49"/>
          <p:cNvSpPr txBox="1"/>
          <p:nvPr>
            <p:ph idx="1" type="body"/>
          </p:nvPr>
        </p:nvSpPr>
        <p:spPr>
          <a:xfrm>
            <a:off x="311700" y="1152475"/>
            <a:ext cx="8520600" cy="365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Are looking for a quick fix or crash diet.</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Aren’t ready to take action or follow through with the plan.</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Want results without making changes to their habits.</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Prefer to do everything on their own without guidance or accountability.</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Are not open to learning a sustainable approach to nutrition.</a:t>
            </a:r>
            <a:endParaRPr sz="2000">
              <a:solidFill>
                <a:srgbClr val="333333"/>
              </a:solidFill>
              <a:latin typeface="Alegreya Sans"/>
              <a:ea typeface="Alegreya Sans"/>
              <a:cs typeface="Alegreya Sans"/>
              <a:sym typeface="Alegreya Sans"/>
            </a:endParaRPr>
          </a:p>
          <a:p>
            <a:pPr indent="0" lvl="0" marL="0" rtl="0" algn="l">
              <a:spcBef>
                <a:spcPts val="1600"/>
              </a:spcBef>
              <a:spcAft>
                <a:spcPts val="0"/>
              </a:spcAft>
              <a:buClr>
                <a:schemeClr val="dk1"/>
              </a:buClr>
              <a:buSzPts val="1100"/>
              <a:buFont typeface="Arial"/>
              <a:buNone/>
            </a:pPr>
            <a:r>
              <a:rPr lang="en" sz="2000">
                <a:solidFill>
                  <a:srgbClr val="333333"/>
                </a:solidFill>
                <a:latin typeface="Alegreya Sans"/>
                <a:ea typeface="Alegreya Sans"/>
                <a:cs typeface="Alegreya Sans"/>
                <a:sym typeface="Alegreya Sans"/>
              </a:rPr>
              <a:t>Not ready to </a:t>
            </a:r>
            <a:r>
              <a:rPr lang="en" sz="2000">
                <a:solidFill>
                  <a:srgbClr val="333333"/>
                </a:solidFill>
                <a:latin typeface="Alegreya Sans"/>
                <a:ea typeface="Alegreya Sans"/>
                <a:cs typeface="Alegreya Sans"/>
                <a:sym typeface="Alegreya Sans"/>
              </a:rPr>
              <a:t>commit</a:t>
            </a:r>
            <a:endParaRPr sz="2000">
              <a:solidFill>
                <a:srgbClr val="333333"/>
              </a:solidFill>
              <a:latin typeface="Alegreya Sans"/>
              <a:ea typeface="Alegreya Sans"/>
              <a:cs typeface="Alegreya Sans"/>
              <a:sym typeface="Alegreya Sans"/>
            </a:endParaRPr>
          </a:p>
          <a:p>
            <a:pPr indent="0" lvl="0" marL="0" rtl="0" algn="l">
              <a:spcBef>
                <a:spcPts val="1600"/>
              </a:spcBef>
              <a:spcAft>
                <a:spcPts val="1600"/>
              </a:spcAft>
              <a:buClr>
                <a:schemeClr val="dk1"/>
              </a:buClr>
              <a:buSzPts val="1100"/>
              <a:buFont typeface="Arial"/>
              <a:buNone/>
            </a:pPr>
            <a:r>
              <a:t/>
            </a:r>
            <a:endParaRPr sz="2000">
              <a:solidFill>
                <a:srgbClr val="333333"/>
              </a:solidFill>
              <a:latin typeface="Alegreya Sans"/>
              <a:ea typeface="Alegreya Sans"/>
              <a:cs typeface="Alegreya Sans"/>
              <a:sym typeface="Alegreya Sans"/>
            </a:endParaRPr>
          </a:p>
        </p:txBody>
      </p:sp>
      <p:sp>
        <p:nvSpPr>
          <p:cNvPr id="271" name="Accent Rule"/>
          <p:cNvSpPr/>
          <p:nvPr/>
        </p:nvSpPr>
        <p:spPr>
          <a:xfrm>
            <a:off x="403140" y="1072589"/>
            <a:ext cx="1463040" cy="45720"/>
          </a:xfrm>
          <a:prstGeom prst="rect">
            <a:avLst/>
          </a:prstGeom>
          <a:solidFill>
            <a:srgbClr val="D97757"/>
          </a:solidFill>
          <a:ln>
            <a:noFill/>
          </a:ln>
        </p:spPr>
        <p:txBody>
          <a:bodyPr/>
          <a:lstStyle/>
          <a:p>
            <a:endParaRPr lang="en"/>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50" title="Jill Tyerman - text .jpeg"/>
          <p:cNvPicPr preferRelativeResize="0"/>
          <p:nvPr/>
        </p:nvPicPr>
        <p:blipFill>
          <a:blip r:embed="rId3">
            <a:alphaModFix/>
          </a:blip>
          <a:stretch>
            <a:fillRect/>
          </a:stretch>
        </p:blipFill>
        <p:spPr>
          <a:xfrm>
            <a:off x="397513" y="152400"/>
            <a:ext cx="8348982" cy="48386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51" title="Back to size 10 text (2).png"/>
          <p:cNvPicPr preferRelativeResize="0"/>
          <p:nvPr/>
        </p:nvPicPr>
        <p:blipFill>
          <a:blip r:embed="rId3">
            <a:alphaModFix/>
          </a:blip>
          <a:stretch>
            <a:fillRect/>
          </a:stretch>
        </p:blipFill>
        <p:spPr>
          <a:xfrm>
            <a:off x="152400" y="1004463"/>
            <a:ext cx="8839201" cy="313456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52" title="Belinda Garlick - text .jpeg"/>
          <p:cNvPicPr preferRelativeResize="0"/>
          <p:nvPr/>
        </p:nvPicPr>
        <p:blipFill>
          <a:blip r:embed="rId3">
            <a:alphaModFix/>
          </a:blip>
          <a:stretch>
            <a:fillRect/>
          </a:stretch>
        </p:blipFill>
        <p:spPr>
          <a:xfrm>
            <a:off x="1601588" y="152400"/>
            <a:ext cx="5940814" cy="48386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3"/>
          <p:cNvSpPr txBox="1"/>
          <p:nvPr>
            <p:ph type="title"/>
          </p:nvPr>
        </p:nvSpPr>
        <p:spPr>
          <a:xfrm>
            <a:off x="311700" y="1971750"/>
            <a:ext cx="8520600" cy="248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940">
                <a:solidFill>
                  <a:srgbClr val="003060"/>
                </a:solidFill>
                <a:latin typeface="Libre Baskerville"/>
                <a:ea typeface="Libre Baskerville"/>
                <a:cs typeface="Libre Baskerville"/>
                <a:sym typeface="Libre Baskerville"/>
              </a:rPr>
              <a:t>VIP 3 Months 1-2-1 Coaching </a:t>
            </a:r>
            <a:br>
              <a:rPr lang="en" sz="2940">
                <a:solidFill>
                  <a:srgbClr val="003060"/>
                </a:solidFill>
                <a:latin typeface="Libre Baskerville"/>
                <a:ea typeface="Libre Baskerville"/>
                <a:cs typeface="Libre Baskerville"/>
                <a:sym typeface="Libre Baskerville"/>
              </a:rPr>
            </a:br>
            <a:br>
              <a:rPr lang="en" sz="2940">
                <a:solidFill>
                  <a:srgbClr val="003060"/>
                </a:solidFill>
                <a:latin typeface="Libre Baskerville"/>
                <a:ea typeface="Libre Baskerville"/>
                <a:cs typeface="Libre Baskerville"/>
                <a:sym typeface="Libre Baskerville"/>
              </a:rPr>
            </a:br>
            <a:r>
              <a:rPr lang="en" sz="2940">
                <a:solidFill>
                  <a:srgbClr val="003060"/>
                </a:solidFill>
                <a:latin typeface="Libre Baskerville"/>
                <a:ea typeface="Libre Baskerville"/>
                <a:cs typeface="Libre Baskerville"/>
                <a:sym typeface="Libre Baskerville"/>
              </a:rPr>
              <a:t>⭐️ Special launch price </a:t>
            </a:r>
            <a:r>
              <a:rPr b="1" lang="en" sz="2940">
                <a:solidFill>
                  <a:srgbClr val="D97757"/>
                </a:solidFill>
                <a:latin typeface="Libre Baskerville"/>
                <a:ea typeface="Libre Baskerville"/>
                <a:cs typeface="Libre Baskerville"/>
                <a:sym typeface="Libre Baskerville"/>
              </a:rPr>
              <a:t>£597 ⭐️ </a:t>
            </a:r>
            <a:br>
              <a:rPr b="1" lang="en" sz="2940">
                <a:solidFill>
                  <a:srgbClr val="003060"/>
                </a:solidFill>
                <a:latin typeface="Libre Baskerville"/>
                <a:ea typeface="Libre Baskerville"/>
                <a:cs typeface="Libre Baskerville"/>
                <a:sym typeface="Libre Baskerville"/>
              </a:rPr>
            </a:br>
            <a:endParaRPr b="1" sz="29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rPr b="1" lang="en" sz="2940">
                <a:solidFill>
                  <a:srgbClr val="003060"/>
                </a:solidFill>
                <a:latin typeface="Libre Baskerville"/>
                <a:ea typeface="Libre Baskerville"/>
                <a:cs typeface="Libre Baskerville"/>
                <a:sym typeface="Libre Baskerville"/>
              </a:rPr>
              <a:t>(available until [SIGN-UP DEADLINE]) </a:t>
            </a:r>
            <a:br>
              <a:rPr b="1" lang="en" sz="2940">
                <a:solidFill>
                  <a:srgbClr val="003060"/>
                </a:solidFill>
                <a:latin typeface="Libre Baskerville"/>
                <a:ea typeface="Libre Baskerville"/>
                <a:cs typeface="Libre Baskerville"/>
                <a:sym typeface="Libre Baskerville"/>
              </a:rPr>
            </a:br>
            <a:br>
              <a:rPr b="1" lang="en" sz="2940">
                <a:solidFill>
                  <a:srgbClr val="003060"/>
                </a:solidFill>
                <a:latin typeface="Libre Baskerville"/>
                <a:ea typeface="Libre Baskerville"/>
                <a:cs typeface="Libre Baskerville"/>
                <a:sym typeface="Libre Baskerville"/>
              </a:rPr>
            </a:br>
            <a:r>
              <a:rPr b="1" lang="en" sz="2940">
                <a:solidFill>
                  <a:srgbClr val="003060"/>
                </a:solidFill>
                <a:latin typeface="Libre Baskerville"/>
                <a:ea typeface="Libre Baskerville"/>
                <a:cs typeface="Libre Baskerville"/>
                <a:sym typeface="Libre Baskerville"/>
              </a:rPr>
              <a:t>We start [START DATE]</a:t>
            </a:r>
            <a:br>
              <a:rPr b="1" lang="en" sz="2940">
                <a:solidFill>
                  <a:srgbClr val="003060"/>
                </a:solidFill>
                <a:latin typeface="Libre Baskerville"/>
                <a:ea typeface="Libre Baskerville"/>
                <a:cs typeface="Libre Baskerville"/>
                <a:sym typeface="Libre Baskerville"/>
              </a:rPr>
            </a:br>
            <a:br>
              <a:rPr b="1" lang="en" sz="2940">
                <a:solidFill>
                  <a:srgbClr val="003060"/>
                </a:solidFill>
                <a:latin typeface="Libre Baskerville"/>
                <a:ea typeface="Libre Baskerville"/>
                <a:cs typeface="Libre Baskerville"/>
                <a:sym typeface="Libre Baskerville"/>
              </a:rPr>
            </a:br>
            <a:r>
              <a:rPr lang="en" sz="2940">
                <a:solidFill>
                  <a:srgbClr val="003060"/>
                </a:solidFill>
                <a:latin typeface="Libre Baskerville"/>
                <a:ea typeface="Libre Baskerville"/>
                <a:cs typeface="Libre Baskerville"/>
                <a:sym typeface="Libre Baskerville"/>
              </a:rPr>
              <a:t>Monthly payment plans start at £199 with PayPal, Klarna and Clearpay</a:t>
            </a:r>
            <a:br>
              <a:rPr b="1" lang="en" sz="2940">
                <a:solidFill>
                  <a:srgbClr val="003060"/>
                </a:solidFill>
                <a:latin typeface="Libre Baskerville"/>
                <a:ea typeface="Libre Baskerville"/>
                <a:cs typeface="Libre Baskerville"/>
                <a:sym typeface="Libre Baskerville"/>
              </a:rPr>
            </a:br>
            <a:endParaRPr sz="2940">
              <a:solidFill>
                <a:srgbClr val="003060"/>
              </a:solidFill>
              <a:latin typeface="Libre Baskerville"/>
              <a:ea typeface="Libre Baskerville"/>
              <a:cs typeface="Libre Baskerville"/>
              <a:sym typeface="Libre Baskerville"/>
            </a:endParaRPr>
          </a:p>
          <a:p>
            <a:pPr indent="0" lvl="0" marL="0" rtl="0" algn="l">
              <a:spcBef>
                <a:spcPts val="0"/>
              </a:spcBef>
              <a:spcAft>
                <a:spcPts val="0"/>
              </a:spcAft>
              <a:buSzPts val="990"/>
              <a:buNone/>
            </a:pPr>
            <a:r>
              <a:t/>
            </a:r>
            <a:endParaRPr sz="29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sz="294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4"/>
          <p:cNvSpPr txBox="1"/>
          <p:nvPr>
            <p:ph type="title"/>
          </p:nvPr>
        </p:nvSpPr>
        <p:spPr>
          <a:xfrm>
            <a:off x="311700" y="1686800"/>
            <a:ext cx="8520600" cy="248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640">
                <a:solidFill>
                  <a:srgbClr val="003060"/>
                </a:solidFill>
                <a:latin typeface="Libre Baskerville"/>
                <a:ea typeface="Libre Baskerville"/>
                <a:cs typeface="Libre Baskerville"/>
                <a:sym typeface="Libre Baskerville"/>
              </a:rPr>
              <a:t>Optional Upgrade</a:t>
            </a:r>
            <a:br>
              <a:rPr lang="en" sz="2640">
                <a:solidFill>
                  <a:srgbClr val="003060"/>
                </a:solidFill>
                <a:latin typeface="Libre Baskerville"/>
                <a:ea typeface="Libre Baskerville"/>
                <a:cs typeface="Libre Baskerville"/>
                <a:sym typeface="Libre Baskerville"/>
              </a:rPr>
            </a:br>
            <a:br>
              <a:rPr lang="en" sz="2640">
                <a:solidFill>
                  <a:srgbClr val="003060"/>
                </a:solidFill>
                <a:latin typeface="Libre Baskerville"/>
                <a:ea typeface="Libre Baskerville"/>
                <a:cs typeface="Libre Baskerville"/>
                <a:sym typeface="Libre Baskerville"/>
              </a:rPr>
            </a:br>
            <a:r>
              <a:rPr b="1" lang="en" sz="2640">
                <a:solidFill>
                  <a:srgbClr val="003060"/>
                </a:solidFill>
                <a:latin typeface="Libre Baskerville"/>
                <a:ea typeface="Libre Baskerville"/>
                <a:cs typeface="Libre Baskerville"/>
                <a:sym typeface="Libre Baskerville"/>
              </a:rPr>
              <a:t>Need longer support? </a:t>
            </a:r>
            <a:br>
              <a:rPr b="1" lang="en" sz="2640">
                <a:solidFill>
                  <a:srgbClr val="003060"/>
                </a:solidFill>
                <a:latin typeface="Libre Baskerville"/>
                <a:ea typeface="Libre Baskerville"/>
                <a:cs typeface="Libre Baskerville"/>
                <a:sym typeface="Libre Baskerville"/>
              </a:rPr>
            </a:br>
            <a:endParaRPr b="1"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rPr b="1" lang="en" sz="2640">
                <a:solidFill>
                  <a:srgbClr val="003060"/>
                </a:solidFill>
                <a:latin typeface="Libre Baskerville"/>
                <a:ea typeface="Libre Baskerville"/>
                <a:cs typeface="Libre Baskerville"/>
                <a:sym typeface="Libre Baskerville"/>
              </a:rPr>
              <a:t>Upgrade to 6 months of coaching for the best long-term results. </a:t>
            </a:r>
            <a:br>
              <a:rPr b="1" lang="en" sz="2640">
                <a:solidFill>
                  <a:srgbClr val="003060"/>
                </a:solidFill>
                <a:latin typeface="Libre Baskerville"/>
                <a:ea typeface="Libre Baskerville"/>
                <a:cs typeface="Libre Baskerville"/>
                <a:sym typeface="Libre Baskerville"/>
              </a:rPr>
            </a:br>
            <a:br>
              <a:rPr b="1" lang="en" sz="2640">
                <a:solidFill>
                  <a:srgbClr val="003060"/>
                </a:solidFill>
                <a:latin typeface="Libre Baskerville"/>
                <a:ea typeface="Libre Baskerville"/>
                <a:cs typeface="Libre Baskerville"/>
                <a:sym typeface="Libre Baskerville"/>
              </a:rPr>
            </a:br>
            <a:r>
              <a:rPr b="1" lang="en" sz="2640">
                <a:solidFill>
                  <a:srgbClr val="D97757"/>
                </a:solidFill>
                <a:latin typeface="Libre Baskerville"/>
                <a:ea typeface="Libre Baskerville"/>
                <a:cs typeface="Libre Baskerville"/>
                <a:sym typeface="Libre Baskerville"/>
              </a:rPr>
              <a:t>⭐️ 6 Months VIP - £1197 ⭐️ </a:t>
            </a:r>
            <a:br>
              <a:rPr b="1" lang="en" sz="2640">
                <a:solidFill>
                  <a:srgbClr val="003060"/>
                </a:solidFill>
                <a:latin typeface="Libre Baskerville"/>
                <a:ea typeface="Libre Baskerville"/>
                <a:cs typeface="Libre Baskerville"/>
                <a:sym typeface="Libre Baskerville"/>
              </a:rPr>
            </a:br>
            <a:br>
              <a:rPr b="1" lang="en" sz="2640">
                <a:solidFill>
                  <a:srgbClr val="003060"/>
                </a:solidFill>
                <a:latin typeface="Libre Baskerville"/>
                <a:ea typeface="Libre Baskerville"/>
                <a:cs typeface="Libre Baskerville"/>
                <a:sym typeface="Libre Baskerville"/>
              </a:rPr>
            </a:br>
            <a:r>
              <a:rPr i="1" lang="en" sz="2640">
                <a:solidFill>
                  <a:srgbClr val="003060"/>
                </a:solidFill>
                <a:latin typeface="Libre Baskerville"/>
                <a:ea typeface="Libre Baskerville"/>
                <a:cs typeface="Libre Baskerville"/>
                <a:sym typeface="Libre Baskerville"/>
              </a:rPr>
              <a:t>Sign-up closes [SIGN-UP DEADLINE]</a:t>
            </a:r>
            <a:endParaRPr i="1"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i="1" sz="264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SzPts val="990"/>
              <a:buNone/>
            </a:pPr>
            <a:r>
              <a:t/>
            </a:r>
            <a:endParaRPr sz="264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5"/>
          <p:cNvSpPr txBox="1"/>
          <p:nvPr/>
        </p:nvSpPr>
        <p:spPr>
          <a:xfrm>
            <a:off x="3973950" y="366350"/>
            <a:ext cx="4911900" cy="149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003060"/>
                </a:solidFill>
                <a:latin typeface="Libre Baskerville"/>
                <a:ea typeface="Libre Baskerville"/>
                <a:cs typeface="Libre Baskerville"/>
                <a:sym typeface="Libre Baskerville"/>
              </a:rPr>
              <a:t>IF YOU’RE IN, JUST REPLY TO MY MESSAGE AND SAY </a:t>
            </a:r>
            <a:endParaRPr b="1" sz="2400">
              <a:solidFill>
                <a:srgbClr val="003060"/>
              </a:solidFill>
              <a:latin typeface="Libre Baskerville"/>
              <a:ea typeface="Libre Baskerville"/>
              <a:cs typeface="Libre Baskerville"/>
              <a:sym typeface="Libre Baskerville"/>
            </a:endParaRPr>
          </a:p>
          <a:p>
            <a:pPr indent="0" lvl="0" marL="0" rtl="0" algn="ctr">
              <a:spcBef>
                <a:spcPts val="0"/>
              </a:spcBef>
              <a:spcAft>
                <a:spcPts val="0"/>
              </a:spcAft>
              <a:buNone/>
            </a:pPr>
            <a:r>
              <a:rPr b="1" lang="en" sz="2400">
                <a:solidFill>
                  <a:schemeClr val="lt1"/>
                </a:solidFill>
                <a:highlight>
                  <a:srgbClr val="003060"/>
                </a:highlight>
                <a:latin typeface="Libre Baskerville"/>
                <a:ea typeface="Libre Baskerville"/>
                <a:cs typeface="Libre Baskerville"/>
                <a:sym typeface="Libre Baskerville"/>
              </a:rPr>
              <a:t>“IM READY FOR VIP”</a:t>
            </a:r>
            <a:endParaRPr b="1" sz="2400">
              <a:solidFill>
                <a:schemeClr val="lt1"/>
              </a:solidFill>
              <a:highlight>
                <a:srgbClr val="003060"/>
              </a:highlight>
              <a:latin typeface="Libre Baskerville"/>
              <a:ea typeface="Libre Baskerville"/>
              <a:cs typeface="Libre Baskerville"/>
              <a:sym typeface="Libre Baskerville"/>
            </a:endParaRPr>
          </a:p>
        </p:txBody>
      </p:sp>
      <p:sp>
        <p:nvSpPr>
          <p:cNvPr id="301" name="Google Shape;301;p55"/>
          <p:cNvSpPr txBox="1"/>
          <p:nvPr/>
        </p:nvSpPr>
        <p:spPr>
          <a:xfrm>
            <a:off x="4152150" y="1918100"/>
            <a:ext cx="4555500" cy="1673400"/>
          </a:xfrm>
          <a:prstGeom prst="rect">
            <a:avLst/>
          </a:prstGeom>
          <a:noFill/>
          <a:ln>
            <a:noFill/>
          </a:ln>
        </p:spPr>
        <p:txBody>
          <a:bodyPr anchorCtr="0" anchor="t" bIns="91425" lIns="91425" spcFirstLastPara="1" rIns="91425" wrap="square" tIns="91425">
            <a:noAutofit/>
          </a:bodyPr>
          <a:lstStyle/>
          <a:p>
            <a:pPr indent="0" lvl="0" marL="0" rtl="0" algn="ctr">
              <a:lnSpc>
                <a:spcPct val="95000"/>
              </a:lnSpc>
              <a:spcBef>
                <a:spcPts val="0"/>
              </a:spcBef>
              <a:spcAft>
                <a:spcPts val="0"/>
              </a:spcAft>
              <a:buNone/>
            </a:pPr>
            <a:r>
              <a:rPr lang="en" sz="1800">
                <a:solidFill>
                  <a:srgbClr val="333333"/>
                </a:solidFill>
                <a:latin typeface="Helvetica Neue"/>
                <a:ea typeface="Helvetica Neue"/>
                <a:cs typeface="Helvetica Neue"/>
                <a:sym typeface="Helvetica Neue"/>
              </a:rPr>
              <a:t>I will let you know if there’s spaces left. Spaces are limited — secure yours before [SIGN-UP DEADLINE].</a:t>
            </a:r>
            <a:br>
              <a:rPr lang="en" sz="1800">
                <a:solidFill>
                  <a:srgbClr val="333333"/>
                </a:solidFill>
                <a:latin typeface="Helvetica Neue"/>
                <a:ea typeface="Helvetica Neue"/>
                <a:cs typeface="Helvetica Neue"/>
                <a:sym typeface="Helvetica Neue"/>
              </a:rPr>
            </a:br>
            <a:br>
              <a:rPr lang="en" sz="1800">
                <a:solidFill>
                  <a:srgbClr val="333333"/>
                </a:solidFill>
                <a:latin typeface="Helvetica Neue"/>
                <a:ea typeface="Helvetica Neue"/>
                <a:cs typeface="Helvetica Neue"/>
                <a:sym typeface="Helvetica Neue"/>
              </a:rPr>
            </a:br>
            <a:r>
              <a:rPr b="1" lang="en" sz="1800">
                <a:solidFill>
                  <a:srgbClr val="333333"/>
                </a:solidFill>
                <a:latin typeface="Helvetica Neue"/>
                <a:ea typeface="Helvetica Neue"/>
                <a:cs typeface="Helvetica Neue"/>
                <a:sym typeface="Helvetica Neue"/>
              </a:rPr>
              <a:t>Email me: annasnutrition@gmail.com</a:t>
            </a:r>
            <a:endParaRPr b="1" sz="1800">
              <a:solidFill>
                <a:srgbClr val="333333"/>
              </a:solidFill>
              <a:latin typeface="Helvetica Neue"/>
              <a:ea typeface="Helvetica Neue"/>
              <a:cs typeface="Helvetica Neue"/>
              <a:sym typeface="Helvetica Neue"/>
            </a:endParaRPr>
          </a:p>
          <a:p>
            <a:pPr indent="0" lvl="0" marL="0" rtl="0" algn="ctr">
              <a:lnSpc>
                <a:spcPct val="95000"/>
              </a:lnSpc>
              <a:spcBef>
                <a:spcPts val="0"/>
              </a:spcBef>
              <a:spcAft>
                <a:spcPts val="0"/>
              </a:spcAft>
              <a:buNone/>
            </a:pPr>
            <a:r>
              <a:t/>
            </a:r>
            <a:endParaRPr sz="1800">
              <a:solidFill>
                <a:srgbClr val="333333"/>
              </a:solidFill>
              <a:latin typeface="Helvetica Neue"/>
              <a:ea typeface="Helvetica Neue"/>
              <a:cs typeface="Helvetica Neue"/>
              <a:sym typeface="Helvetica Neue"/>
            </a:endParaRPr>
          </a:p>
          <a:p>
            <a:pPr indent="0" lvl="0" marL="0" rtl="0" algn="ctr">
              <a:lnSpc>
                <a:spcPct val="95000"/>
              </a:lnSpc>
              <a:spcBef>
                <a:spcPts val="0"/>
              </a:spcBef>
              <a:spcAft>
                <a:spcPts val="0"/>
              </a:spcAft>
              <a:buNone/>
            </a:pPr>
            <a:r>
              <a:t/>
            </a:r>
            <a:endParaRPr sz="1800">
              <a:solidFill>
                <a:srgbClr val="333333"/>
              </a:solidFill>
              <a:latin typeface="Helvetica Neue"/>
              <a:ea typeface="Helvetica Neue"/>
              <a:cs typeface="Helvetica Neue"/>
              <a:sym typeface="Helvetica Neue"/>
            </a:endParaRPr>
          </a:p>
          <a:p>
            <a:pPr indent="0" lvl="0" marL="0" rtl="0" algn="ctr">
              <a:lnSpc>
                <a:spcPct val="95000"/>
              </a:lnSpc>
              <a:spcBef>
                <a:spcPts val="0"/>
              </a:spcBef>
              <a:spcAft>
                <a:spcPts val="0"/>
              </a:spcAft>
              <a:buNone/>
            </a:pPr>
            <a:r>
              <a:t/>
            </a:r>
            <a:endParaRPr sz="1800">
              <a:solidFill>
                <a:srgbClr val="333333"/>
              </a:solidFill>
              <a:latin typeface="Helvetica Neue"/>
              <a:ea typeface="Helvetica Neue"/>
              <a:cs typeface="Helvetica Neue"/>
              <a:sym typeface="Helvetica Neue"/>
            </a:endParaRPr>
          </a:p>
          <a:p>
            <a:pPr indent="0" lvl="0" marL="0" rtl="0" algn="ctr">
              <a:lnSpc>
                <a:spcPct val="95000"/>
              </a:lnSpc>
              <a:spcBef>
                <a:spcPts val="0"/>
              </a:spcBef>
              <a:spcAft>
                <a:spcPts val="0"/>
              </a:spcAft>
              <a:buNone/>
            </a:pPr>
            <a:r>
              <a:rPr b="1" lang="en" sz="1500">
                <a:solidFill>
                  <a:srgbClr val="333333"/>
                </a:solidFill>
                <a:latin typeface="Helvetica Neue"/>
                <a:ea typeface="Helvetica Neue"/>
                <a:cs typeface="Helvetica Neue"/>
                <a:sym typeface="Helvetica Neue"/>
              </a:rPr>
              <a:t>Anna Wallace </a:t>
            </a:r>
            <a:r>
              <a:rPr lang="en" sz="1500">
                <a:solidFill>
                  <a:srgbClr val="333333"/>
                </a:solidFill>
                <a:latin typeface="Helvetica Neue"/>
                <a:ea typeface="Helvetica Neue"/>
                <a:cs typeface="Helvetica Neue"/>
                <a:sym typeface="Helvetica Neue"/>
              </a:rPr>
              <a:t>- Founder of The Weight Loss Academy, Registered Associate Nutritionist</a:t>
            </a:r>
            <a:endParaRPr sz="1500">
              <a:solidFill>
                <a:srgbClr val="333333"/>
              </a:solidFill>
              <a:latin typeface="Helvetica Neue"/>
              <a:ea typeface="Helvetica Neue"/>
              <a:cs typeface="Helvetica Neue"/>
              <a:sym typeface="Helvetica Neue"/>
            </a:endParaRPr>
          </a:p>
        </p:txBody>
      </p:sp>
      <p:pic>
        <p:nvPicPr>
          <p:cNvPr id="302" name="Google Shape;302;p55" title="IMG_0670.jpg"/>
          <p:cNvPicPr preferRelativeResize="0"/>
          <p:nvPr/>
        </p:nvPicPr>
        <p:blipFill>
          <a:blip r:embed="rId3">
            <a:alphaModFix/>
          </a:blip>
          <a:stretch>
            <a:fillRect/>
          </a:stretch>
        </p:blipFill>
        <p:spPr>
          <a:xfrm>
            <a:off x="283124" y="180538"/>
            <a:ext cx="3586798" cy="4782423"/>
          </a:xfrm>
          <a:prstGeom prst="rect">
            <a:avLst/>
          </a:prstGeom>
          <a:solidFill>
            <a:schemeClr val="lt1"/>
          </a:solid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