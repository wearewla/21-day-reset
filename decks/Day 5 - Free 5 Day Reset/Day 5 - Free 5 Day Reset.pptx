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4" r:id="rId6"/>
    <p:sldMasterId id="2147483675"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34" r:id="rId87"/>
    <p:sldId id="327" r:id="rId80"/>
    <p:sldId id="328" r:id="rId81"/>
    <p:sldId id="329" r:id="rId82"/>
    <p:sldId id="330" r:id="rId83"/>
    <p:sldId id="331" r:id="rId84"/>
    <p:sldId id="332" r:id="rId85"/>
    <p:sldId id="333" r:id="rId86"/>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2" name="Anna Wallace"/>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B7BCF0C-A375-452B-9E6C-FE977FFECA84}">
  <a:tblStyle styleId="{4B7BCF0C-A375-452B-9E6C-FE977FFECA8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745EEC0E-3737-49C0-8D55-B03DF21A2109}" styleName="Table_1">
    <a:wholeTbl>
      <a:tcTxStyle>
        <a:font>
          <a:latin typeface="Arial"/>
          <a:ea typeface="Arial"/>
          <a:cs typeface="Arial"/>
        </a:font>
        <a:srgbClr val="000000"/>
      </a:tcTxStyle>
      <a:tcStyle>
        <a:tcBdr>
          <a:left>
            <a:ln cap="flat" cmpd="sng" w="12700">
              <a:solidFill>
                <a:srgbClr val="000000"/>
              </a:solidFill>
              <a:prstDash val="solid"/>
              <a:round/>
              <a:headEnd len="sm" w="sm" type="none"/>
              <a:tailEnd len="sm" w="sm" type="none"/>
            </a:ln>
          </a:left>
          <a:right>
            <a:ln cap="flat" cmpd="sng" w="12700">
              <a:solidFill>
                <a:srgbClr val="000000"/>
              </a:solidFill>
              <a:prstDash val="solid"/>
              <a:round/>
              <a:headEnd len="sm" w="sm" type="none"/>
              <a:tailEnd len="sm" w="sm" type="none"/>
            </a:ln>
          </a:right>
          <a:top>
            <a:ln cap="flat" cmpd="sng" w="12700">
              <a:solidFill>
                <a:srgbClr val="000000"/>
              </a:solidFill>
              <a:prstDash val="solid"/>
              <a:round/>
              <a:headEnd len="sm" w="sm" type="none"/>
              <a:tailEnd len="sm" w="sm" type="none"/>
            </a:ln>
          </a:top>
          <a:bottom>
            <a:ln cap="flat" cmpd="sng" w="12700">
              <a:solidFill>
                <a:srgbClr val="000000"/>
              </a:solidFill>
              <a:prstDash val="solid"/>
              <a:round/>
              <a:headEnd len="sm" w="sm" type="none"/>
              <a:tailEnd len="sm" w="sm" type="none"/>
            </a:ln>
          </a:bottom>
          <a:insideH>
            <a:ln cap="flat" cmpd="sng" w="12700">
              <a:solidFill>
                <a:srgbClr val="000000"/>
              </a:solidFill>
              <a:prstDash val="solid"/>
              <a:round/>
              <a:headEnd len="sm" w="sm" type="none"/>
              <a:tailEnd len="sm" w="sm" type="none"/>
            </a:ln>
          </a:insideH>
          <a:insideV>
            <a:ln cap="flat" cmpd="sng" w="12700">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commentAuthors" Target="commentAuthors.xml"/><Relationship Id="rId6" Type="http://schemas.openxmlformats.org/officeDocument/2006/relationships/slideMaster" Target="slideMasters/slideMaster1.xml"/><Relationship Id="rId7" Type="http://schemas.openxmlformats.org/officeDocument/2006/relationships/slideMaster" Target="slideMasters/slideMaster2.xml"/><Relationship Id="rId8" Type="http://schemas.openxmlformats.org/officeDocument/2006/relationships/notesMaster" Target="notesMasters/notesMaster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7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6-04T14:29:43.617">
    <p:pos x="256" y="154"/>
    <p:text>no time for this in reset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06-04T16:08:36.189">
    <p:pos x="288" y="228"/>
    <p:text>a lot of text here, so not sure if he needs to go across two?</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e85230e1f2_2_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g3e85230e1f2_2_7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85230e1f2_2_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g3e85230e1f2_2_8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85230e1f2_2_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g3e85230e1f2_2_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85230e1f2_2_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g3e85230e1f2_2_9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856f66ec9_0_4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e856f66ec9_0_4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g3e856f66ec9_0_4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3e856f66ec9_0_4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e85230e1f2_2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g3e85230e1f2_2_14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e856f66ec9_0_29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e856f66ec9_0_2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3e856f66ec9_0_3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4" name="Google Shape;184;g3e856f66ec9_0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e856f66ec9_0_3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0" name="Google Shape;190;g3e856f66ec9_0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856f66ec9_0_3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6" name="Google Shape;196;g3e856f66ec9_0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e856f66ec9_0_3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3" name="Google Shape;203;g3e856f66ec9_0_3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g3e856f66ec9_0_3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1" name="Google Shape;211;g3e856f66ec9_0_3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e856f66ec9_0_3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e856f66ec9_0_3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e856f66ec9_0_4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e856f66ec9_0_4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e856f66ec9_0_4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e856f66ec9_0_4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e856f66ec9_0_3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0" name="Google Shape;240;g3e856f66ec9_0_3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e856f66ec9_0_3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8" name="Google Shape;248;g3e856f66ec9_0_3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e856f66ec9_0_3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5" name="Google Shape;255;g3e856f66ec9_0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e856f66ec9_0_388:notes"/>
          <p:cNvSpPr txBox="1"/>
          <p:nvPr>
            <p:ph idx="1" type="body"/>
          </p:nvPr>
        </p:nvSpPr>
        <p:spPr>
          <a:xfrm>
            <a:off x="914400" y="4343400"/>
            <a:ext cx="50292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g3e856f66ec9_0_38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6" name="Shape 266"/>
        <p:cNvGrpSpPr/>
        <p:nvPr/>
      </p:nvGrpSpPr>
      <p:grpSpPr>
        <a:xfrm>
          <a:off x="0" y="0"/>
          <a:ext cx="0" cy="0"/>
          <a:chOff x="0" y="0"/>
          <a:chExt cx="0" cy="0"/>
        </a:xfrm>
      </p:grpSpPr>
      <p:sp>
        <p:nvSpPr>
          <p:cNvPr id="267" name="Google Shape;267;g3e85230e1f2_2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g3e85230e1f2_2_15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g3e85230e1f2_2_1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g3e85230e1f2_2_15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g3e856f66ec9_0_4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1" name="Google Shape;281;g3e856f66ec9_0_4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e856f66ec9_0_12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7" name="Google Shape;287;g3e856f66ec9_0_1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g3e856f66ec9_0_5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3" name="Google Shape;293;g3e856f66ec9_0_5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g3e856f66ec9_0_5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9" name="Google Shape;299;g3e856f66ec9_0_5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g3e856f66ec9_0_5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5" name="Google Shape;305;g3e856f66ec9_0_5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g3e856f66ec9_0_5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1" name="Google Shape;311;g3e856f66ec9_0_5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g3e856f66ec9_0_5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7" name="Google Shape;317;g3e856f66ec9_0_5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e856f66ec9_0_55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3" name="Google Shape;323;g3e856f66ec9_0_55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e856f66ec9_0_1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3e856f66ec9_0_1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e856f66ec9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e856f66ec9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e856f66ec9_0_1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e856f66ec9_0_1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3e856f66ec9_0_1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3e856f66ec9_0_1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e856f66ec9_0_1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e856f66ec9_0_1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e856f66ec9_0_1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e856f66ec9_0_1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e856f66ec9_0_5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e856f66ec9_0_5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3e856f66ec9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3e856f66ec9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7" name="Shape 377"/>
        <p:cNvGrpSpPr/>
        <p:nvPr/>
      </p:nvGrpSpPr>
      <p:grpSpPr>
        <a:xfrm>
          <a:off x="0" y="0"/>
          <a:ext cx="0" cy="0"/>
          <a:chOff x="0" y="0"/>
          <a:chExt cx="0" cy="0"/>
        </a:xfrm>
      </p:grpSpPr>
      <p:sp>
        <p:nvSpPr>
          <p:cNvPr id="378" name="Google Shape;378;g3e856f66ec9_0_48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9" name="Google Shape;379;g3e856f66ec9_0_48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g3e856f66ec9_0_4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5" name="Google Shape;385;g3e856f66ec9_0_4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e856f66ec9_0_49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1" name="Google Shape;391;g3e856f66ec9_0_4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5" name="Shape 395"/>
        <p:cNvGrpSpPr/>
        <p:nvPr/>
      </p:nvGrpSpPr>
      <p:grpSpPr>
        <a:xfrm>
          <a:off x="0" y="0"/>
          <a:ext cx="0" cy="0"/>
          <a:chOff x="0" y="0"/>
          <a:chExt cx="0" cy="0"/>
        </a:xfrm>
      </p:grpSpPr>
      <p:sp>
        <p:nvSpPr>
          <p:cNvPr id="396" name="Google Shape;396;g3e85230e1f2_2_1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97" name="Google Shape;397;g3e85230e1f2_2_17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0" name="Shape 400"/>
        <p:cNvGrpSpPr/>
        <p:nvPr/>
      </p:nvGrpSpPr>
      <p:grpSpPr>
        <a:xfrm>
          <a:off x="0" y="0"/>
          <a:ext cx="0" cy="0"/>
          <a:chOff x="0" y="0"/>
          <a:chExt cx="0" cy="0"/>
        </a:xfrm>
      </p:grpSpPr>
      <p:sp>
        <p:nvSpPr>
          <p:cNvPr id="401" name="Google Shape;401;g3e856f66ec9_0_5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2" name="Google Shape;402;g3e856f66ec9_0_59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e856f66ec9_0_58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7" name="Google Shape;407;g3e856f66ec9_0_58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e85230e1f2_2_1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3" name="Google Shape;413;g3e85230e1f2_2_19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e85fcbded8_1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3e85fcbded8_13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6" name="Shape 426"/>
        <p:cNvGrpSpPr/>
        <p:nvPr/>
      </p:nvGrpSpPr>
      <p:grpSpPr>
        <a:xfrm>
          <a:off x="0" y="0"/>
          <a:ext cx="0" cy="0"/>
          <a:chOff x="0" y="0"/>
          <a:chExt cx="0" cy="0"/>
        </a:xfrm>
      </p:grpSpPr>
      <p:sp>
        <p:nvSpPr>
          <p:cNvPr id="427" name="Google Shape;427;g3e85fcbded8_6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3e85fcbded8_6_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3e85230e1f2_2_23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6" name="Google Shape;436;g3e85230e1f2_2_23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3e856f66ec9_0_6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3" name="Google Shape;443;g3e856f66ec9_0_61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8" name="Shape 448"/>
        <p:cNvGrpSpPr/>
        <p:nvPr/>
      </p:nvGrpSpPr>
      <p:grpSpPr>
        <a:xfrm>
          <a:off x="0" y="0"/>
          <a:ext cx="0" cy="0"/>
          <a:chOff x="0" y="0"/>
          <a:chExt cx="0" cy="0"/>
        </a:xfrm>
      </p:grpSpPr>
      <p:sp>
        <p:nvSpPr>
          <p:cNvPr id="449" name="Google Shape;449;g3e856f66ec9_0_6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g3e856f66ec9_0_60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3e856f66ec9_0_6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g3e856f66ec9_0_61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g3e856f66ec9_0_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2" name="Google Shape;462;g3e856f66ec9_0_648:notes"/>
          <p:cNvSpPr/>
          <p:nvPr>
            <p:ph idx="2" type="sldImg"/>
          </p:nvPr>
        </p:nvSpPr>
        <p:spPr>
          <a:xfrm>
            <a:off x="1143164"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3e856f66ec9_0_6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3" name="Google Shape;483;g3e856f66ec9_0_62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g3e85230e1f2_2_2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g3e85230e1f2_2_20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1" name="Shape 491"/>
        <p:cNvGrpSpPr/>
        <p:nvPr/>
      </p:nvGrpSpPr>
      <p:grpSpPr>
        <a:xfrm>
          <a:off x="0" y="0"/>
          <a:ext cx="0" cy="0"/>
          <a:chOff x="0" y="0"/>
          <a:chExt cx="0" cy="0"/>
        </a:xfrm>
      </p:grpSpPr>
      <p:sp>
        <p:nvSpPr>
          <p:cNvPr id="492" name="Google Shape;492;g3e856f66ec9_0_6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3" name="Google Shape;493;g3e856f66ec9_0_62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6" name="Shape 496"/>
        <p:cNvGrpSpPr/>
        <p:nvPr/>
      </p:nvGrpSpPr>
      <p:grpSpPr>
        <a:xfrm>
          <a:off x="0" y="0"/>
          <a:ext cx="0" cy="0"/>
          <a:chOff x="0" y="0"/>
          <a:chExt cx="0" cy="0"/>
        </a:xfrm>
      </p:grpSpPr>
      <p:sp>
        <p:nvSpPr>
          <p:cNvPr id="497" name="Google Shape;497;g3e85230e1f2_2_2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8" name="Google Shape;498;g3e85230e1f2_2_2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3e85fcbded8_15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g3e85fcbded8_15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3e85fcbded8_15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g3e85fcbded8_15_19: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7" name="Shape 537"/>
        <p:cNvGrpSpPr/>
        <p:nvPr/>
      </p:nvGrpSpPr>
      <p:grpSpPr>
        <a:xfrm>
          <a:off x="0" y="0"/>
          <a:ext cx="0" cy="0"/>
          <a:chOff x="0" y="0"/>
          <a:chExt cx="0" cy="0"/>
        </a:xfrm>
      </p:grpSpPr>
      <p:sp>
        <p:nvSpPr>
          <p:cNvPr id="538" name="Google Shape;538;g3e85230e1f2_2_3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9" name="Google Shape;539;g3e85230e1f2_2_30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5" name="Shape 545"/>
        <p:cNvGrpSpPr/>
        <p:nvPr/>
      </p:nvGrpSpPr>
      <p:grpSpPr>
        <a:xfrm>
          <a:off x="0" y="0"/>
          <a:ext cx="0" cy="0"/>
          <a:chOff x="0" y="0"/>
          <a:chExt cx="0" cy="0"/>
        </a:xfrm>
      </p:grpSpPr>
      <p:sp>
        <p:nvSpPr>
          <p:cNvPr id="546" name="Google Shape;546;g3e85fcbded8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47" name="Google Shape;547;g3e85fcbded8_0_2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3" name="Shape 553"/>
        <p:cNvGrpSpPr/>
        <p:nvPr/>
      </p:nvGrpSpPr>
      <p:grpSpPr>
        <a:xfrm>
          <a:off x="0" y="0"/>
          <a:ext cx="0" cy="0"/>
          <a:chOff x="0" y="0"/>
          <a:chExt cx="0" cy="0"/>
        </a:xfrm>
      </p:grpSpPr>
      <p:sp>
        <p:nvSpPr>
          <p:cNvPr id="554" name="Google Shape;554;g3e85fcbded8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g3e85fcbded8_0_3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1" name="Shape 561"/>
        <p:cNvGrpSpPr/>
        <p:nvPr/>
      </p:nvGrpSpPr>
      <p:grpSpPr>
        <a:xfrm>
          <a:off x="0" y="0"/>
          <a:ext cx="0" cy="0"/>
          <a:chOff x="0" y="0"/>
          <a:chExt cx="0" cy="0"/>
        </a:xfrm>
      </p:grpSpPr>
      <p:sp>
        <p:nvSpPr>
          <p:cNvPr id="562" name="Google Shape;562;g3e85fcbded8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g3e85fcbded8_0_41: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g3e85230e1f2_2_3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g3e85230e1f2_2_30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2" name="Shape 582"/>
        <p:cNvGrpSpPr/>
        <p:nvPr/>
      </p:nvGrpSpPr>
      <p:grpSpPr>
        <a:xfrm>
          <a:off x="0" y="0"/>
          <a:ext cx="0" cy="0"/>
          <a:chOff x="0" y="0"/>
          <a:chExt cx="0" cy="0"/>
        </a:xfrm>
      </p:grpSpPr>
      <p:sp>
        <p:nvSpPr>
          <p:cNvPr id="583" name="Google Shape;583;g3e85230e1f2_2_3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e85230e1f2_2_3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g3e85230e1f2_2_3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g3e85230e1f2_2_3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3e85fcbded8_0_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98" name="Google Shape;598;g3e85fcbded8_0_58: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e85fcbded8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g3e85fcbded8_0_66: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g3e85fcbded8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g3e85fcbded8_0_7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g3e85fcbded8_0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19" name="Google Shape;619;g3e85fcbded8_0_8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e85230e1f2_2_3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27" name="Google Shape;627;g3e85230e1f2_2_3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0" name="Shape 630"/>
        <p:cNvGrpSpPr/>
        <p:nvPr/>
      </p:nvGrpSpPr>
      <p:grpSpPr>
        <a:xfrm>
          <a:off x="0" y="0"/>
          <a:ext cx="0" cy="0"/>
          <a:chOff x="0" y="0"/>
          <a:chExt cx="0" cy="0"/>
        </a:xfrm>
      </p:grpSpPr>
      <p:sp>
        <p:nvSpPr>
          <p:cNvPr id="631" name="Google Shape;631;g3e85230e1f2_2_3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g3e85230e1f2_2_3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5" name="Shape 635"/>
        <p:cNvGrpSpPr/>
        <p:nvPr/>
      </p:nvGrpSpPr>
      <p:grpSpPr>
        <a:xfrm>
          <a:off x="0" y="0"/>
          <a:ext cx="0" cy="0"/>
          <a:chOff x="0" y="0"/>
          <a:chExt cx="0" cy="0"/>
        </a:xfrm>
      </p:grpSpPr>
      <p:sp>
        <p:nvSpPr>
          <p:cNvPr id="636" name="Google Shape;636;g3e85230e1f2_2_3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37" name="Google Shape;637;g3e85230e1f2_2_3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0" name="Shape 640"/>
        <p:cNvGrpSpPr/>
        <p:nvPr/>
      </p:nvGrpSpPr>
      <p:grpSpPr>
        <a:xfrm>
          <a:off x="0" y="0"/>
          <a:ext cx="0" cy="0"/>
          <a:chOff x="0" y="0"/>
          <a:chExt cx="0" cy="0"/>
        </a:xfrm>
      </p:grpSpPr>
      <p:sp>
        <p:nvSpPr>
          <p:cNvPr id="641" name="Google Shape;641;g3e85fcbded8_1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g3e85fcbded8_10_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g3e85fcbded8_1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55" name="Google Shape;655;g3e85fcbded8_10_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e85fcbded8_1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66" name="Google Shape;666;g3e85fcbded8_10_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7" name="Shape 677"/>
        <p:cNvGrpSpPr/>
        <p:nvPr/>
      </p:nvGrpSpPr>
      <p:grpSpPr>
        <a:xfrm>
          <a:off x="0" y="0"/>
          <a:ext cx="0" cy="0"/>
          <a:chOff x="0" y="0"/>
          <a:chExt cx="0" cy="0"/>
        </a:xfrm>
      </p:grpSpPr>
      <p:sp>
        <p:nvSpPr>
          <p:cNvPr id="678" name="Google Shape;678;g3e85230e1f2_2_3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9" name="Google Shape;679;g3e85230e1f2_2_35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2" name="Shape 682"/>
        <p:cNvGrpSpPr/>
        <p:nvPr/>
      </p:nvGrpSpPr>
      <p:grpSpPr>
        <a:xfrm>
          <a:off x="0" y="0"/>
          <a:ext cx="0" cy="0"/>
          <a:chOff x="0" y="0"/>
          <a:chExt cx="0" cy="0"/>
        </a:xfrm>
      </p:grpSpPr>
      <p:sp>
        <p:nvSpPr>
          <p:cNvPr id="683" name="Google Shape;683;g3e85230e1f2_2_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g3e85230e1f2_2_36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8" name="Shape 688"/>
        <p:cNvGrpSpPr/>
        <p:nvPr/>
      </p:nvGrpSpPr>
      <p:grpSpPr>
        <a:xfrm>
          <a:off x="0" y="0"/>
          <a:ext cx="0" cy="0"/>
          <a:chOff x="0" y="0"/>
          <a:chExt cx="0" cy="0"/>
        </a:xfrm>
      </p:grpSpPr>
      <p:sp>
        <p:nvSpPr>
          <p:cNvPr id="689" name="Google Shape;689;g3e85230e1f2_2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90" name="Google Shape;690;g3e85230e1f2_2_36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0" name="Shape 60"/>
        <p:cNvGrpSpPr/>
        <p:nvPr/>
      </p:nvGrpSpPr>
      <p:grpSpPr>
        <a:xfrm>
          <a:off x="0" y="0"/>
          <a:ext cx="0" cy="0"/>
          <a:chOff x="0" y="0"/>
          <a:chExt cx="0" cy="0"/>
        </a:xfrm>
      </p:grpSpPr>
      <p:sp>
        <p:nvSpPr>
          <p:cNvPr id="61" name="Google Shape;61;p15"/>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2" name="Google Shape;62;p15"/>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63" name="Google Shape;63;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6" name="Shape 66"/>
        <p:cNvGrpSpPr/>
        <p:nvPr/>
      </p:nvGrpSpPr>
      <p:grpSpPr>
        <a:xfrm>
          <a:off x="0" y="0"/>
          <a:ext cx="0" cy="0"/>
          <a:chOff x="0" y="0"/>
          <a:chExt cx="0" cy="0"/>
        </a:xfrm>
      </p:grpSpPr>
      <p:sp>
        <p:nvSpPr>
          <p:cNvPr id="67" name="Google Shape;67;p1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16"/>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69" name="Google Shape;69;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72" name="Shape 72"/>
        <p:cNvGrpSpPr/>
        <p:nvPr/>
      </p:nvGrpSpPr>
      <p:grpSpPr>
        <a:xfrm>
          <a:off x="0" y="0"/>
          <a:ext cx="0" cy="0"/>
          <a:chOff x="0" y="0"/>
          <a:chExt cx="0" cy="0"/>
        </a:xfrm>
      </p:grpSpPr>
      <p:sp>
        <p:nvSpPr>
          <p:cNvPr id="73" name="Google Shape;73;p17"/>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75" name="Google Shape;75;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78" name="Shape 78"/>
        <p:cNvGrpSpPr/>
        <p:nvPr/>
      </p:nvGrpSpPr>
      <p:grpSpPr>
        <a:xfrm>
          <a:off x="0" y="0"/>
          <a:ext cx="0" cy="0"/>
          <a:chOff x="0" y="0"/>
          <a:chExt cx="0" cy="0"/>
        </a:xfrm>
      </p:grpSpPr>
      <p:sp>
        <p:nvSpPr>
          <p:cNvPr id="79" name="Google Shape;79;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1" name="Google Shape;81;p18"/>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82" name="Google Shape;82;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4" name="Google Shape;84;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85" name="Shape 85"/>
        <p:cNvGrpSpPr/>
        <p:nvPr/>
      </p:nvGrpSpPr>
      <p:grpSpPr>
        <a:xfrm>
          <a:off x="0" y="0"/>
          <a:ext cx="0" cy="0"/>
          <a:chOff x="0" y="0"/>
          <a:chExt cx="0" cy="0"/>
        </a:xfrm>
      </p:grpSpPr>
      <p:sp>
        <p:nvSpPr>
          <p:cNvPr id="86" name="Google Shape;86;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88" name="Google Shape;88;p19"/>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89" name="Google Shape;89;p19"/>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90" name="Google Shape;90;p19"/>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91" name="Google Shape;9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2" name="Google Shape;9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3" name="Google Shape;9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94" name="Shape 94"/>
        <p:cNvGrpSpPr/>
        <p:nvPr/>
      </p:nvGrpSpPr>
      <p:grpSpPr>
        <a:xfrm>
          <a:off x="0" y="0"/>
          <a:ext cx="0" cy="0"/>
          <a:chOff x="0" y="0"/>
          <a:chExt cx="0" cy="0"/>
        </a:xfrm>
      </p:grpSpPr>
      <p:sp>
        <p:nvSpPr>
          <p:cNvPr id="95" name="Google Shape;95;p2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6" name="Google Shape;96;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7" name="Google Shape;97;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8" name="Google Shape;98;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99" name="Shape 99"/>
        <p:cNvGrpSpPr/>
        <p:nvPr/>
      </p:nvGrpSpPr>
      <p:grpSpPr>
        <a:xfrm>
          <a:off x="0" y="0"/>
          <a:ext cx="0" cy="0"/>
          <a:chOff x="0" y="0"/>
          <a:chExt cx="0" cy="0"/>
        </a:xfrm>
      </p:grpSpPr>
      <p:sp>
        <p:nvSpPr>
          <p:cNvPr id="100" name="Google Shape;100;p21"/>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1" name="Google Shape;101;p21"/>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102" name="Google Shape;102;p21"/>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03" name="Google Shape;103;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4" name="Google Shape;104;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06" name="Shape 106"/>
        <p:cNvGrpSpPr/>
        <p:nvPr/>
      </p:nvGrpSpPr>
      <p:grpSpPr>
        <a:xfrm>
          <a:off x="0" y="0"/>
          <a:ext cx="0" cy="0"/>
          <a:chOff x="0" y="0"/>
          <a:chExt cx="0" cy="0"/>
        </a:xfrm>
      </p:grpSpPr>
      <p:sp>
        <p:nvSpPr>
          <p:cNvPr id="107" name="Google Shape;107;p22"/>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8" name="Google Shape;108;p22"/>
          <p:cNvSpPr/>
          <p:nvPr>
            <p:ph idx="2" type="pic"/>
          </p:nvPr>
        </p:nvSpPr>
        <p:spPr>
          <a:xfrm>
            <a:off x="1792288" y="612775"/>
            <a:ext cx="5486400" cy="4114800"/>
          </a:xfrm>
          <a:prstGeom prst="rect">
            <a:avLst/>
          </a:prstGeom>
          <a:noFill/>
          <a:ln>
            <a:noFill/>
          </a:ln>
        </p:spPr>
      </p:sp>
      <p:sp>
        <p:nvSpPr>
          <p:cNvPr id="109" name="Google Shape;109;p22"/>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110" name="Google Shape;110;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1" name="Google Shape;111;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13" name="Shape 113"/>
        <p:cNvGrpSpPr/>
        <p:nvPr/>
      </p:nvGrpSpPr>
      <p:grpSpPr>
        <a:xfrm>
          <a:off x="0" y="0"/>
          <a:ext cx="0" cy="0"/>
          <a:chOff x="0" y="0"/>
          <a:chExt cx="0" cy="0"/>
        </a:xfrm>
      </p:grpSpPr>
      <p:sp>
        <p:nvSpPr>
          <p:cNvPr id="114" name="Google Shape;114;p2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5" name="Google Shape;115;p23"/>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16" name="Google Shape;116;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7" name="Google Shape;117;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8" name="Google Shape;118;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9" name="Shape 119"/>
        <p:cNvGrpSpPr/>
        <p:nvPr/>
      </p:nvGrpSpPr>
      <p:grpSpPr>
        <a:xfrm>
          <a:off x="0" y="0"/>
          <a:ext cx="0" cy="0"/>
          <a:chOff x="0" y="0"/>
          <a:chExt cx="0" cy="0"/>
        </a:xfrm>
      </p:grpSpPr>
      <p:sp>
        <p:nvSpPr>
          <p:cNvPr id="120" name="Google Shape;120;p24"/>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1" name="Google Shape;121;p24"/>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22" name="Google Shape;122;p2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3" name="Google Shape;123;p2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4" name="Google Shape;124;p2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1">
  <p:cSld name="SECTION_HEADER_1">
    <p:spTree>
      <p:nvGrpSpPr>
        <p:cNvPr id="125" name="Shape 125"/>
        <p:cNvGrpSpPr/>
        <p:nvPr/>
      </p:nvGrpSpPr>
      <p:grpSpPr>
        <a:xfrm>
          <a:off x="0" y="0"/>
          <a:ext cx="0" cy="0"/>
          <a:chOff x="0" y="0"/>
          <a:chExt cx="0" cy="0"/>
        </a:xfrm>
      </p:grpSpPr>
      <p:sp>
        <p:nvSpPr>
          <p:cNvPr id="126" name="Google Shape;126;p25"/>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27" name="Google Shape;127;p25"/>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8" name="Shape 128"/>
        <p:cNvGrpSpPr/>
        <p:nvPr/>
      </p:nvGrpSpPr>
      <p:grpSpPr>
        <a:xfrm>
          <a:off x="0" y="0"/>
          <a:ext cx="0" cy="0"/>
          <a:chOff x="0" y="0"/>
          <a:chExt cx="0" cy="0"/>
        </a:xfrm>
      </p:grpSpPr>
      <p:sp>
        <p:nvSpPr>
          <p:cNvPr id="129" name="Google Shape;129;p26"/>
          <p:cNvSpPr txBox="1"/>
          <p:nvPr>
            <p:ph type="title"/>
          </p:nvPr>
        </p:nvSpPr>
        <p:spPr>
          <a:xfrm>
            <a:off x="311700" y="445025"/>
            <a:ext cx="8520600" cy="572700"/>
          </a:xfrm>
          <a:prstGeom prst="rect">
            <a:avLst/>
          </a:prstGeom>
        </p:spPr>
        <p:txBody>
          <a:bodyPr anchorCtr="0" anchor="ctr" bIns="45700" lIns="91425" spcFirstLastPara="1" rIns="91425" wrap="square" tIns="45700">
            <a:normAutofit/>
          </a:bodyPr>
          <a:lstStyle>
            <a:lvl1pPr lvl="0">
              <a:spcBef>
                <a:spcPts val="0"/>
              </a:spcBef>
              <a:spcAft>
                <a:spcPts val="0"/>
              </a:spcAft>
              <a:buSzPts val="4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6"/>
          <p:cNvSpPr txBox="1"/>
          <p:nvPr>
            <p:ph idx="1" type="body"/>
          </p:nvPr>
        </p:nvSpPr>
        <p:spPr>
          <a:xfrm>
            <a:off x="311700" y="1152475"/>
            <a:ext cx="8520600" cy="3416400"/>
          </a:xfrm>
          <a:prstGeom prst="rect">
            <a:avLst/>
          </a:prstGeom>
        </p:spPr>
        <p:txBody>
          <a:bodyPr anchorCtr="0" anchor="t" bIns="45700" lIns="91425" spcFirstLastPara="1" rIns="91425" wrap="square" tIns="45700">
            <a:normAutofit/>
          </a:bodyPr>
          <a:lstStyle>
            <a:lvl1pPr indent="-431800" lvl="0" marL="457200">
              <a:spcBef>
                <a:spcPts val="640"/>
              </a:spcBef>
              <a:spcAft>
                <a:spcPts val="0"/>
              </a:spcAft>
              <a:buSzPts val="3200"/>
              <a:buChar char="•"/>
              <a:defRPr/>
            </a:lvl1pPr>
            <a:lvl2pPr indent="-406400" lvl="1" marL="914400">
              <a:spcBef>
                <a:spcPts val="560"/>
              </a:spcBef>
              <a:spcAft>
                <a:spcPts val="0"/>
              </a:spcAft>
              <a:buSzPts val="2800"/>
              <a:buChar char="–"/>
              <a:defRPr/>
            </a:lvl2pPr>
            <a:lvl3pPr indent="-381000" lvl="2" marL="1371600">
              <a:spcBef>
                <a:spcPts val="480"/>
              </a:spcBef>
              <a:spcAft>
                <a:spcPts val="0"/>
              </a:spcAft>
              <a:buSzPts val="2400"/>
              <a:buChar char="•"/>
              <a:defRPr/>
            </a:lvl3pPr>
            <a:lvl4pPr indent="-355600" lvl="3" marL="1828800">
              <a:spcBef>
                <a:spcPts val="400"/>
              </a:spcBef>
              <a:spcAft>
                <a:spcPts val="0"/>
              </a:spcAft>
              <a:buSzPts val="2000"/>
              <a:buChar char="–"/>
              <a:defRPr/>
            </a:lvl4pPr>
            <a:lvl5pPr indent="-355600" lvl="4" marL="2286000">
              <a:spcBef>
                <a:spcPts val="400"/>
              </a:spcBef>
              <a:spcAft>
                <a:spcPts val="0"/>
              </a:spcAft>
              <a:buSzPts val="2000"/>
              <a:buChar char="»"/>
              <a:defRPr/>
            </a:lvl5pPr>
            <a:lvl6pPr indent="-355600" lvl="5" marL="2743200">
              <a:spcBef>
                <a:spcPts val="400"/>
              </a:spcBef>
              <a:spcAft>
                <a:spcPts val="0"/>
              </a:spcAft>
              <a:buSzPts val="2000"/>
              <a:buChar char="•"/>
              <a:defRPr/>
            </a:lvl6pPr>
            <a:lvl7pPr indent="-355600" lvl="6" marL="3200400">
              <a:spcBef>
                <a:spcPts val="400"/>
              </a:spcBef>
              <a:spcAft>
                <a:spcPts val="0"/>
              </a:spcAft>
              <a:buSzPts val="2000"/>
              <a:buChar char="•"/>
              <a:defRPr/>
            </a:lvl7pPr>
            <a:lvl8pPr indent="-355600" lvl="7" marL="3657600">
              <a:spcBef>
                <a:spcPts val="400"/>
              </a:spcBef>
              <a:spcAft>
                <a:spcPts val="0"/>
              </a:spcAft>
              <a:buSzPts val="2000"/>
              <a:buChar char="•"/>
              <a:defRPr/>
            </a:lvl8pPr>
            <a:lvl9pPr indent="-355600" lvl="8" marL="4114800">
              <a:spcBef>
                <a:spcPts val="400"/>
              </a:spcBef>
              <a:spcAft>
                <a:spcPts val="0"/>
              </a:spcAft>
              <a:buSzPts val="2000"/>
              <a:buChar char="•"/>
              <a:defRPr/>
            </a:lvl9pPr>
          </a:lstStyle>
          <a:p/>
        </p:txBody>
      </p:sp>
      <p:sp>
        <p:nvSpPr>
          <p:cNvPr id="131" name="Google Shape;131;p26"/>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2">
  <p:cSld name="SECTION_HEADER_2">
    <p:spTree>
      <p:nvGrpSpPr>
        <p:cNvPr id="132" name="Shape 132"/>
        <p:cNvGrpSpPr/>
        <p:nvPr/>
      </p:nvGrpSpPr>
      <p:grpSpPr>
        <a:xfrm>
          <a:off x="0" y="0"/>
          <a:ext cx="0" cy="0"/>
          <a:chOff x="0" y="0"/>
          <a:chExt cx="0" cy="0"/>
        </a:xfrm>
      </p:grpSpPr>
      <p:sp>
        <p:nvSpPr>
          <p:cNvPr id="133" name="Google Shape;133;p27"/>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4" name="Google Shape;134;p27"/>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_HEADER_3">
  <p:cSld name="SECTION_HEADER_3">
    <p:spTree>
      <p:nvGrpSpPr>
        <p:cNvPr id="135" name="Shape 135"/>
        <p:cNvGrpSpPr/>
        <p:nvPr/>
      </p:nvGrpSpPr>
      <p:grpSpPr>
        <a:xfrm>
          <a:off x="0" y="0"/>
          <a:ext cx="0" cy="0"/>
          <a:chOff x="0" y="0"/>
          <a:chExt cx="0" cy="0"/>
        </a:xfrm>
      </p:grpSpPr>
      <p:sp>
        <p:nvSpPr>
          <p:cNvPr id="136" name="Google Shape;136;p28"/>
          <p:cNvSpPr txBox="1"/>
          <p:nvPr>
            <p:ph type="title"/>
          </p:nvPr>
        </p:nvSpPr>
        <p:spPr>
          <a:xfrm>
            <a:off x="311700" y="2150850"/>
            <a:ext cx="8520600" cy="841800"/>
          </a:xfrm>
          <a:prstGeom prst="rect">
            <a:avLst/>
          </a:prstGeom>
        </p:spPr>
        <p:txBody>
          <a:bodyPr anchorCtr="0" anchor="ctr" bIns="45700" lIns="91425" spcFirstLastPara="1" rIns="91425" wrap="square" tIns="4570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37" name="Google Shape;137;p28"/>
          <p:cNvSpPr txBox="1"/>
          <p:nvPr>
            <p:ph idx="12" type="sldNum"/>
          </p:nvPr>
        </p:nvSpPr>
        <p:spPr>
          <a:xfrm>
            <a:off x="8472458" y="4663217"/>
            <a:ext cx="548700" cy="393600"/>
          </a:xfrm>
          <a:prstGeom prst="rect">
            <a:avLst/>
          </a:prstGeom>
        </p:spPr>
        <p:txBody>
          <a:bodyPr anchorCtr="0" anchor="ctr" bIns="45700" lIns="91425" spcFirstLastPara="1" rIns="91425" wrap="square" tIns="4570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2" name="Google Shape;52;p1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53" name="Google Shape;53;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4" name="Google Shape;54;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1.xml"/><Relationship Id="rId3" Type="http://schemas.openxmlformats.org/officeDocument/2006/relationships/comments" Target="../comments/comment1.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8.xml"/><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2.jpg"/><Relationship Id="rId4"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3.xml"/><Relationship Id="rId3"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 Id="rId3"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 Id="rId3"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 Id="rId3" Type="http://schemas.openxmlformats.org/officeDocument/2006/relationships/image" Target="../media/image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 Id="rId3" Type="http://schemas.openxmlformats.org/officeDocument/2006/relationships/image" Target="../media/image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9.xml"/><Relationship Id="rId3" Type="http://schemas.openxmlformats.org/officeDocument/2006/relationships/image" Target="../media/image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 Id="rId3" Type="http://schemas.openxmlformats.org/officeDocument/2006/relationships/image" Target="../media/image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2.xml"/><Relationship Id="rId3"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3.xml"/><Relationship Id="rId3"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4.xml"/><Relationship Id="rId3"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 Id="rId3" Type="http://schemas.openxmlformats.org/officeDocument/2006/relationships/image" Target="../media/image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6.xml"/><Relationship Id="rId3" Type="http://schemas.openxmlformats.org/officeDocument/2006/relationships/image" Target="../media/image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 Id="rId3"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8.xml"/><Relationship Id="rId3"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39.xml"/><Relationship Id="rId3"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0.xml"/><Relationship Id="rId3" Type="http://schemas.openxmlformats.org/officeDocument/2006/relationships/image" Target="../media/image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41.xml"/><Relationship Id="rId3" Type="http://schemas.openxmlformats.org/officeDocument/2006/relationships/image" Target="../media/image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11.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16.png"/><Relationship Id="rId4" Type="http://schemas.openxmlformats.org/officeDocument/2006/relationships/image" Target="../media/image21.png"/><Relationship Id="rId5" Type="http://schemas.openxmlformats.org/officeDocument/2006/relationships/image" Target="../media/image2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22.png"/><Relationship Id="rId4" Type="http://schemas.openxmlformats.org/officeDocument/2006/relationships/image" Target="../media/image18.png"/><Relationship Id="rId5" Type="http://schemas.openxmlformats.org/officeDocument/2006/relationships/image" Target="../media/image1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14.png"/><Relationship Id="rId4" Type="http://schemas.openxmlformats.org/officeDocument/2006/relationships/image" Target="../media/image25.png"/><Relationship Id="rId5" Type="http://schemas.openxmlformats.org/officeDocument/2006/relationships/image" Target="../media/image2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34.png"/><Relationship Id="rId4" Type="http://schemas.openxmlformats.org/officeDocument/2006/relationships/image" Target="../media/image28.png"/><Relationship Id="rId5" Type="http://schemas.openxmlformats.org/officeDocument/2006/relationships/image" Target="../media/image31.png"/><Relationship Id="rId6" Type="http://schemas.openxmlformats.org/officeDocument/2006/relationships/image" Target="../media/image30.png"/><Relationship Id="rId7" Type="http://schemas.openxmlformats.org/officeDocument/2006/relationships/image" Target="../media/image29.png"/><Relationship Id="rId8" Type="http://schemas.openxmlformats.org/officeDocument/2006/relationships/image" Target="../media/image32.png"/><Relationship Id="rId9" Type="http://schemas.openxmlformats.org/officeDocument/2006/relationships/image" Target="../media/image43.png"/><Relationship Id="rId10" Type="http://schemas.openxmlformats.org/officeDocument/2006/relationships/image" Target="../media/image3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37.png"/><Relationship Id="rId4" Type="http://schemas.openxmlformats.org/officeDocument/2006/relationships/image" Target="../media/image27.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33.png"/><Relationship Id="rId4" Type="http://schemas.openxmlformats.org/officeDocument/2006/relationships/image" Target="../media/image2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39.png"/><Relationship Id="rId4" Type="http://schemas.openxmlformats.org/officeDocument/2006/relationships/image" Target="../media/image4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7.xml"/><Relationship Id="rId3" Type="http://schemas.openxmlformats.org/officeDocument/2006/relationships/image" Target="../media/image38.png"/><Relationship Id="rId4" Type="http://schemas.openxmlformats.org/officeDocument/2006/relationships/image" Target="../media/image4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8.xml"/><Relationship Id="rId3" Type="http://schemas.openxmlformats.org/officeDocument/2006/relationships/image" Target="../media/image40.png"/><Relationship Id="rId4" Type="http://schemas.openxmlformats.org/officeDocument/2006/relationships/image" Target="../media/image4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9.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5.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1.xml"/><Relationship Id="rId3" Type="http://schemas.openxmlformats.org/officeDocument/2006/relationships/comments" Target="../comments/commen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5.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7.xml"/><Relationship Id="rId3" Type="http://schemas.openxmlformats.org/officeDocument/2006/relationships/image" Target="../media/image36.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1" name="Shape 141"/>
        <p:cNvGrpSpPr/>
        <p:nvPr/>
      </p:nvGrpSpPr>
      <p:grpSpPr>
        <a:xfrm>
          <a:off x="0" y="0"/>
          <a:ext cx="0" cy="0"/>
          <a:chOff x="0" y="0"/>
          <a:chExt cx="0" cy="0"/>
        </a:xfrm>
      </p:grpSpPr>
      <p:sp>
        <p:nvSpPr>
          <p:cNvPr id="142" name="Google Shape;142;p29"/>
          <p:cNvSpPr txBox="1"/>
          <p:nvPr/>
        </p:nvSpPr>
        <p:spPr>
          <a:xfrm>
            <a:off x="457200" y="6858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a:solidFill>
                  <a:srgbClr val="F79F83"/>
                </a:solidFill>
                <a:latin typeface="Alegreya Sans"/>
                <a:ea typeface="Alegreya Sans"/>
                <a:cs typeface="Alegreya Sans"/>
                <a:sym typeface="Alegreya Sans"/>
              </a:rPr>
              <a:t>THE </a:t>
            </a:r>
            <a:r>
              <a:rPr b="1" i="0" lang="en-GB" sz="1400" u="none" cap="none" strike="noStrike">
                <a:solidFill>
                  <a:srgbClr val="F79F83"/>
                </a:solidFill>
                <a:latin typeface="Alegreya Sans"/>
                <a:ea typeface="Alegreya Sans"/>
                <a:cs typeface="Alegreya Sans"/>
                <a:sym typeface="Alegreya Sans"/>
              </a:rPr>
              <a:t>WEIGHT LOSS &amp; LIFESTYLE ACADEMY · LIVE WORKSHOP</a:t>
            </a:r>
            <a:endParaRPr/>
          </a:p>
        </p:txBody>
      </p:sp>
      <p:sp>
        <p:nvSpPr>
          <p:cNvPr id="143" name="Google Shape;143;p29"/>
          <p:cNvSpPr txBox="1"/>
          <p:nvPr/>
        </p:nvSpPr>
        <p:spPr>
          <a:xfrm>
            <a:off x="457200" y="1645750"/>
            <a:ext cx="8229600" cy="2199900"/>
          </a:xfrm>
          <a:prstGeom prst="rect">
            <a:avLst/>
          </a:prstGeom>
          <a:noFill/>
          <a:ln>
            <a:noFill/>
          </a:ln>
        </p:spPr>
        <p:txBody>
          <a:bodyPr anchorCtr="0" anchor="t" bIns="0" lIns="0" spcFirstLastPara="1" rIns="0" wrap="square" tIns="0">
            <a:noAutofit/>
          </a:bodyPr>
          <a:lstStyle/>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How Women 45+ Are </a:t>
            </a:r>
            <a:r>
              <a:rPr b="1" lang="en-GB" sz="2800">
                <a:solidFill>
                  <a:srgbClr val="003060"/>
                </a:solidFill>
                <a:latin typeface="Libre Baskerville"/>
                <a:ea typeface="Libre Baskerville"/>
                <a:cs typeface="Libre Baskerville"/>
                <a:sym typeface="Libre Baskerville"/>
              </a:rPr>
              <a:t>Losing Up To 2 Stone</a:t>
            </a:r>
            <a:r>
              <a:rPr lang="en-GB" sz="2800">
                <a:solidFill>
                  <a:srgbClr val="003060"/>
                </a:solidFill>
                <a:latin typeface="Libre Baskerville"/>
                <a:ea typeface="Libre Baskerville"/>
                <a:cs typeface="Libre Baskerville"/>
                <a:sym typeface="Libre Baskerville"/>
              </a:rPr>
              <a:t> </a:t>
            </a:r>
            <a:endParaRPr sz="28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lang="en-GB" sz="2800">
                <a:solidFill>
                  <a:srgbClr val="003060"/>
                </a:solidFill>
                <a:latin typeface="Libre Baskerville"/>
                <a:ea typeface="Libre Baskerville"/>
                <a:cs typeface="Libre Baskerville"/>
                <a:sym typeface="Libre Baskerville"/>
              </a:rPr>
              <a:t>Without </a:t>
            </a:r>
            <a:r>
              <a:rPr i="1" lang="en-GB" sz="2800">
                <a:solidFill>
                  <a:srgbClr val="003060"/>
                </a:solidFill>
                <a:latin typeface="Libre Baskerville"/>
                <a:ea typeface="Libre Baskerville"/>
                <a:cs typeface="Libre Baskerville"/>
                <a:sym typeface="Libre Baskerville"/>
              </a:rPr>
              <a:t>Calorie Counting</a:t>
            </a:r>
            <a:r>
              <a:rPr lang="en-GB" sz="2800">
                <a:solidFill>
                  <a:srgbClr val="003060"/>
                </a:solidFill>
                <a:latin typeface="Libre Baskerville"/>
                <a:ea typeface="Libre Baskerville"/>
                <a:cs typeface="Libre Baskerville"/>
                <a:sym typeface="Libre Baskerville"/>
              </a:rPr>
              <a:t> Or </a:t>
            </a:r>
            <a:r>
              <a:rPr i="1" lang="en-GB" sz="2800">
                <a:solidFill>
                  <a:srgbClr val="003060"/>
                </a:solidFill>
                <a:latin typeface="Libre Baskerville"/>
                <a:ea typeface="Libre Baskerville"/>
                <a:cs typeface="Libre Baskerville"/>
                <a:sym typeface="Libre Baskerville"/>
              </a:rPr>
              <a:t>Miserable Diets</a:t>
            </a:r>
            <a:endParaRPr i="1" sz="28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a:solidFill/>
              </a:rP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47" name="Shape 147"/>
        <p:cNvGrpSpPr/>
        <p:nvPr/>
      </p:nvGrpSpPr>
      <p:grpSpPr>
        <a:xfrm>
          <a:off x="0" y="0"/>
          <a:ext cx="0" cy="0"/>
          <a:chOff x="0" y="0"/>
          <a:chExt cx="0" cy="0"/>
        </a:xfrm>
      </p:grpSpPr>
      <p:sp>
        <p:nvSpPr>
          <p:cNvPr id="148" name="Google Shape;148;p3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2200" u="none" cap="none" strike="noStrike">
                <a:solidFill>
                  <a:srgbClr val="003060"/>
                </a:solidFill>
                <a:latin typeface="Alegreya Sans"/>
                <a:ea typeface="Alegreya Sans"/>
                <a:cs typeface="Alegreya Sans"/>
                <a:sym typeface="Alegreya Sans"/>
              </a:rPr>
              <a:t>Today we will ensure you walk away with everything you need to</a:t>
            </a:r>
            <a:endParaRPr/>
          </a:p>
          <a:p>
            <a:pPr indent="0" lvl="0" marL="0" marR="0" rtl="0" algn="ctr">
              <a:spcBef>
                <a:spcPts val="600"/>
              </a:spcBef>
              <a:spcAft>
                <a:spcPts val="0"/>
              </a:spcAft>
              <a:buNone/>
            </a:pPr>
            <a:r>
              <a:rPr b="1" i="1" lang="en-GB" sz="2600" u="none" cap="none" strike="noStrike">
                <a:solidFill>
                  <a:srgbClr val="F79F83"/>
                </a:solidFill>
                <a:latin typeface="Libre Baskerville"/>
                <a:ea typeface="Libre Baskerville"/>
                <a:cs typeface="Libre Baskerville"/>
                <a:sym typeface="Libre Baskerville"/>
              </a:rPr>
              <a:t>lose up to 2 stone over the next 12 weeks.</a:t>
            </a:r>
            <a:endParaRPr/>
          </a:p>
          <a:p>
            <a:pPr indent="0" lvl="0" marL="0" marR="0" rtl="0" algn="ctr">
              <a:spcBef>
                <a:spcPts val="1800"/>
              </a:spcBef>
              <a:spcAft>
                <a:spcPts val="0"/>
              </a:spcAft>
              <a:buNone/>
            </a:pPr>
            <a:r>
              <a:rPr b="0" i="0" lang="en-GB" sz="2000" u="none" cap="none" strike="noStrike">
                <a:solidFill>
                  <a:srgbClr val="003060"/>
                </a:solidFill>
                <a:latin typeface="Alegreya Sans"/>
                <a:ea typeface="Alegreya Sans"/>
                <a:cs typeface="Alegreya Sans"/>
                <a:sym typeface="Alegreya Sans"/>
              </a:rPr>
              <a:t>What you do with this information is your choice</a:t>
            </a:r>
            <a:endParaRPr/>
          </a:p>
          <a:p>
            <a:pPr indent="0" lvl="0" marL="0" marR="0" rtl="0" algn="ctr">
              <a:spcBef>
                <a:spcPts val="600"/>
              </a:spcBef>
              <a:spcAft>
                <a:spcPts val="0"/>
              </a:spcAft>
              <a:buNone/>
            </a:pPr>
            <a:r>
              <a:rPr b="1" i="0" lang="en-GB" sz="2200" u="none" cap="none" strike="noStrike">
                <a:solidFill>
                  <a:srgbClr val="003060"/>
                </a:solidFill>
                <a:latin typeface="Alegreya Sans"/>
                <a:ea typeface="Alegreya Sans"/>
                <a:cs typeface="Alegreya Sans"/>
                <a:sym typeface="Alegreya Sans"/>
              </a:rPr>
              <a:t>but today we are getting into action!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2" name="Shape 152"/>
        <p:cNvGrpSpPr/>
        <p:nvPr/>
      </p:nvGrpSpPr>
      <p:grpSpPr>
        <a:xfrm>
          <a:off x="0" y="0"/>
          <a:ext cx="0" cy="0"/>
          <a:chOff x="0" y="0"/>
          <a:chExt cx="0" cy="0"/>
        </a:xfrm>
      </p:grpSpPr>
      <p:sp>
        <p:nvSpPr>
          <p:cNvPr id="153" name="Google Shape;153;p3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Access a </a:t>
            </a:r>
            <a:r>
              <a:rPr b="1" lang="en-GB" sz="3000">
                <a:solidFill>
                  <a:srgbClr val="003060"/>
                </a:solidFill>
                <a:latin typeface="Libre Baskerville"/>
                <a:ea typeface="Libre Baskerville"/>
                <a:cs typeface="Libre Baskerville"/>
                <a:sym typeface="Libre Baskerville"/>
              </a:rPr>
              <a:t>fun reward</a:t>
            </a:r>
            <a:r>
              <a:rPr b="1" i="0" lang="en-GB" sz="3000" u="none" cap="none" strike="noStrike">
                <a:solidFill>
                  <a:srgbClr val="003060"/>
                </a:solidFill>
                <a:latin typeface="Libre Baskerville"/>
                <a:ea typeface="Libre Baskerville"/>
                <a:cs typeface="Libre Baskerville"/>
                <a:sym typeface="Libre Baskerville"/>
              </a:rPr>
              <a:t> for hanging out today, until the end…</a:t>
            </a:r>
            <a:endParaRPr/>
          </a:p>
          <a:p>
            <a:pPr indent="0" lvl="0" marL="0" marR="0" rtl="0" algn="l">
              <a:spcBef>
                <a:spcPts val="1400"/>
              </a:spcBef>
              <a:spcAft>
                <a:spcPts val="0"/>
              </a:spcAft>
              <a:buNone/>
            </a:pPr>
            <a:r>
              <a:rPr>
                <a:solidFill/>
              </a:rPr>
              <a:t/>
            </a:r>
            <a:endParaRPr/>
          </a:p>
          <a:p>
            <a:pPr indent="0" lvl="0" marL="0" marR="0" rtl="0" algn="ctr">
              <a:spcBef>
                <a:spcPts val="1000"/>
              </a:spcBef>
              <a:spcAft>
                <a:spcPts val="0"/>
              </a:spcAft>
              <a:buNone/>
            </a:pPr>
            <a:r>
              <a:rPr b="1" i="1" lang="en-GB" sz="1900">
                <a:solidFill>
                  <a:srgbClr val="F79F83"/>
                </a:solidFill>
                <a:latin typeface="Libre Baskerville"/>
                <a:ea typeface="Libre Baskerville"/>
                <a:cs typeface="Libre Baskerville"/>
                <a:sym typeface="Libre Baskerville"/>
              </a:rPr>
              <a:t>Access a whole year of coaching for the price of 12 weeks plus announcing our two </a:t>
            </a:r>
            <a:r>
              <a:rPr b="1" i="1" lang="en-GB" sz="1900">
                <a:solidFill>
                  <a:srgbClr val="F79F83"/>
                </a:solidFill>
                <a:latin typeface="Libre Baskerville"/>
                <a:ea typeface="Libre Baskerville"/>
                <a:cs typeface="Libre Baskerville"/>
                <a:sym typeface="Libre Baskerville"/>
              </a:rPr>
              <a:t>winners that get FREE access into brand </a:t>
            </a:r>
            <a:br>
              <a:rPr b="1" i="1" lang="en-GB" sz="1900">
                <a:solidFill>
                  <a:srgbClr val="F79F83"/>
                </a:solidFill>
                <a:latin typeface="Libre Baskerville"/>
                <a:ea typeface="Libre Baskerville"/>
                <a:cs typeface="Libre Baskerville"/>
                <a:sym typeface="Libre Baskerville"/>
              </a:rPr>
            </a:br>
            <a:r>
              <a:rPr b="1" i="1" lang="en-GB" sz="1900">
                <a:solidFill>
                  <a:srgbClr val="F79F83"/>
                </a:solidFill>
                <a:latin typeface="Libre Baskerville"/>
                <a:ea typeface="Libre Baskerville"/>
                <a:cs typeface="Libre Baskerville"/>
                <a:sym typeface="Libre Baskerville"/>
              </a:rPr>
              <a:t>NEW WLA 12 Week Summer Challenge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57" name="Shape 157"/>
        <p:cNvGrpSpPr/>
        <p:nvPr/>
      </p:nvGrpSpPr>
      <p:grpSpPr>
        <a:xfrm>
          <a:off x="0" y="0"/>
          <a:ext cx="0" cy="0"/>
          <a:chOff x="0" y="0"/>
          <a:chExt cx="0" cy="0"/>
        </a:xfrm>
      </p:grpSpPr>
      <p:sp>
        <p:nvSpPr>
          <p:cNvPr id="158" name="Google Shape;158;p3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900" u="none" cap="none" strike="noStrike">
                <a:solidFill>
                  <a:srgbClr val="003060"/>
                </a:solidFill>
                <a:latin typeface="Alegreya Sans"/>
                <a:ea typeface="Alegreya Sans"/>
                <a:cs typeface="Alegreya Sans"/>
                <a:sym typeface="Alegreya Sans"/>
              </a:rPr>
              <a:t>Any person that has transformed their weight loss journey,</a:t>
            </a:r>
            <a:endParaRPr/>
          </a:p>
          <a:p>
            <a:pPr indent="0" lvl="0" marL="0" marR="0" rtl="0" algn="ctr">
              <a:spcBef>
                <a:spcPts val="400"/>
              </a:spcBef>
              <a:spcAft>
                <a:spcPts val="0"/>
              </a:spcAft>
              <a:buNone/>
            </a:pPr>
            <a:r>
              <a:rPr b="0" i="0" lang="en-GB" sz="1900" u="none" cap="none" strike="noStrike">
                <a:solidFill>
                  <a:srgbClr val="003060"/>
                </a:solidFill>
                <a:latin typeface="Alegreya Sans"/>
                <a:ea typeface="Alegreya Sans"/>
                <a:cs typeface="Alegreya Sans"/>
                <a:sym typeface="Alegreya Sans"/>
              </a:rPr>
              <a:t>their health and wellbeing,</a:t>
            </a:r>
            <a:r>
              <a:rPr lang="en-GB">
                <a:solidFill/>
              </a:rPr>
              <a:t> </a:t>
            </a:r>
            <a:r>
              <a:rPr b="1" i="1" lang="en-GB" sz="2000" u="none" cap="none" strike="noStrike">
                <a:solidFill>
                  <a:srgbClr val="F79F83"/>
                </a:solidFill>
                <a:latin typeface="Libre Baskerville"/>
                <a:ea typeface="Libre Baskerville"/>
                <a:cs typeface="Libre Baskerville"/>
                <a:sym typeface="Libre Baskerville"/>
              </a:rPr>
              <a:t>has taken serious action. Is </a:t>
            </a:r>
            <a:r>
              <a:rPr b="1" i="1" lang="en-GB" sz="2000">
                <a:solidFill>
                  <a:srgbClr val="F79F83"/>
                </a:solidFill>
                <a:latin typeface="Libre Baskerville"/>
                <a:ea typeface="Libre Baskerville"/>
                <a:cs typeface="Libre Baskerville"/>
                <a:sym typeface="Libre Baskerville"/>
              </a:rPr>
              <a:t>c</a:t>
            </a:r>
            <a:r>
              <a:rPr b="1" i="1" lang="en-GB" sz="2000" u="none" cap="none" strike="noStrike">
                <a:solidFill>
                  <a:srgbClr val="F79F83"/>
                </a:solidFill>
                <a:latin typeface="Libre Baskerville"/>
                <a:ea typeface="Libre Baskerville"/>
                <a:cs typeface="Libre Baskerville"/>
                <a:sym typeface="Libre Baskerville"/>
              </a:rPr>
              <a:t>ommitted. Overcame struggles, setbacks and difficult days.</a:t>
            </a:r>
            <a:endParaRPr/>
          </a:p>
          <a:p>
            <a:pPr indent="0" lvl="0" marL="0" marR="0" rtl="0" algn="ctr">
              <a:spcBef>
                <a:spcPts val="2200"/>
              </a:spcBef>
              <a:spcAft>
                <a:spcPts val="0"/>
              </a:spcAft>
              <a:buNone/>
            </a:pPr>
            <a:r>
              <a:rPr i="0" lang="en-GB" sz="2000" u="none" cap="none" strike="noStrike">
                <a:solidFill>
                  <a:srgbClr val="003060"/>
                </a:solidFill>
                <a:latin typeface="Alegreya Sans"/>
                <a:ea typeface="Alegreya Sans"/>
                <a:cs typeface="Alegreya Sans"/>
                <a:sym typeface="Alegreya Sans"/>
              </a:rPr>
              <a:t>Use today as the day that you show up</a:t>
            </a:r>
            <a:r>
              <a:rPr lang="en-GB">
                <a:solidFill/>
              </a:rPr>
              <a:t> </a:t>
            </a:r>
            <a:r>
              <a:rPr i="0" lang="en-GB" sz="2200" u="none" cap="none" strike="noStrike">
                <a:solidFill>
                  <a:srgbClr val="003060"/>
                </a:solidFill>
                <a:latin typeface="Alegreya Sans"/>
                <a:ea typeface="Alegreya Sans"/>
                <a:cs typeface="Alegreya Sans"/>
                <a:sym typeface="Alegreya Sans"/>
              </a:rPr>
              <a:t>for your future self!</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2" name="Shape 162"/>
        <p:cNvGrpSpPr/>
        <p:nvPr/>
      </p:nvGrpSpPr>
      <p:grpSpPr>
        <a:xfrm>
          <a:off x="0" y="0"/>
          <a:ext cx="0" cy="0"/>
          <a:chOff x="0" y="0"/>
          <a:chExt cx="0" cy="0"/>
        </a:xfrm>
      </p:grpSpPr>
      <p:sp>
        <p:nvSpPr>
          <p:cNvPr id="163" name="Google Shape;163;p33"/>
          <p:cNvSpPr txBox="1"/>
          <p:nvPr>
            <p:ph type="title"/>
          </p:nvPr>
        </p:nvSpPr>
        <p:spPr>
          <a:xfrm>
            <a:off x="103475" y="193575"/>
            <a:ext cx="9081300" cy="6405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500">
                <a:solidFill>
                  <a:srgbClr val="003060"/>
                </a:solidFill>
                <a:latin typeface="Libre Baskerville"/>
                <a:ea typeface="Lato"/>
                <a:cs typeface="Lato"/>
                <a:sym typeface="Lato"/>
              </a:rPr>
              <a:t>What I Learned </a:t>
            </a:r>
            <a:r>
              <a:rPr b="1" i="1" lang="en-GB" sz="2500">
                <a:solidFill>
                  <a:srgbClr val="003060"/>
                </a:solidFill>
                <a:latin typeface="Libre Baskerville"/>
                <a:ea typeface="Lato"/>
                <a:cs typeface="Lato"/>
                <a:sym typeface="Lato"/>
              </a:rPr>
              <a:t>(and this is what most people do to lose weight)</a:t>
            </a:r>
            <a:endParaRPr b="1" i="1" sz="2500">
              <a:solidFill>
                <a:srgbClr val="434343"/>
              </a:solidFill>
              <a:latin typeface="Lato"/>
              <a:ea typeface="Lato"/>
              <a:cs typeface="Lato"/>
              <a:sym typeface="Lato"/>
            </a:endParaRPr>
          </a:p>
        </p:txBody>
      </p:sp>
      <p:graphicFrame>
        <p:nvGraphicFramePr>
          <p:cNvPr id="164" name="Google Shape;164;p33"/>
          <p:cNvGraphicFramePr/>
          <p:nvPr/>
        </p:nvGraphicFramePr>
        <p:xfrm>
          <a:off x="305350" y="925913"/>
          <a:ext cx="3000000" cy="3000000"/>
        </p:xfrm>
        <a:graphic>
          <a:graphicData uri="http://schemas.openxmlformats.org/drawingml/2006/table">
            <a:tbl>
              <a:tblPr>
                <a:noFill/>
                <a:tableStyleId>{4B7BCF0C-A375-452B-9E6C-FE977FFECA84}</a:tableStyleId>
              </a:tblPr>
              <a:tblGrid>
                <a:gridCol w="4054075"/>
                <a:gridCol w="4054075"/>
              </a:tblGrid>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calorie diets</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Weight loss harder, weight gain faster</a:t>
                      </a:r>
                      <a:br>
                        <a:rPr lang="en-GB" sz="1200">
                          <a:solidFill>
                            <a:srgbClr val="434343"/>
                          </a:solidFill>
                          <a:latin typeface="Lato"/>
                          <a:ea typeface="Lato"/>
                          <a:cs typeface="Lato"/>
                          <a:sym typeface="Lato"/>
                        </a:rPr>
                      </a:br>
                      <a:r>
                        <a:rPr lang="en-GB" sz="1200">
                          <a:solidFill>
                            <a:srgbClr val="434343"/>
                          </a:solidFill>
                          <a:latin typeface="Lato"/>
                          <a:ea typeface="Lato"/>
                          <a:cs typeface="Lato"/>
                          <a:sym typeface="Lato"/>
                        </a:rPr>
                        <a:t>BMR adjusts to low calories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Eat “normally” weight increases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Weight loss becomes harder next time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Metabolism adaptation (takes time to change)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Cut all foods you love</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Restricting caused me to overeat foods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Periods of being “good”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Followed by periods of “bad” = weight gain</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Low quality food</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hunger and cravings</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Less filling = bigger appetite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81000">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Starve yourself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spcBef>
                          <a:spcPts val="0"/>
                        </a:spcBef>
                        <a:spcAft>
                          <a:spcPts val="0"/>
                        </a:spcAft>
                        <a:buNone/>
                      </a:pPr>
                      <a:r>
                        <a:rPr lang="en-GB" sz="1200">
                          <a:solidFill>
                            <a:srgbClr val="434343"/>
                          </a:solidFill>
                          <a:latin typeface="Lato"/>
                          <a:ea typeface="Lato"/>
                          <a:cs typeface="Lato"/>
                          <a:sym typeface="Lato"/>
                        </a:rPr>
                        <a:t>Increase overeating periods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Starve all day </a:t>
                      </a:r>
                      <a:endParaRPr sz="1200">
                        <a:solidFill>
                          <a:srgbClr val="434343"/>
                        </a:solidFill>
                        <a:latin typeface="Lato"/>
                        <a:ea typeface="Lato"/>
                        <a:cs typeface="Lato"/>
                        <a:sym typeface="Lato"/>
                      </a:endParaRPr>
                    </a:p>
                    <a:p>
                      <a:pPr indent="0" lvl="0" marL="0" rtl="0" algn="l">
                        <a:spcBef>
                          <a:spcPts val="0"/>
                        </a:spcBef>
                        <a:spcAft>
                          <a:spcPts val="0"/>
                        </a:spcAft>
                        <a:buNone/>
                      </a:pPr>
                      <a:r>
                        <a:rPr lang="en-GB" sz="1200">
                          <a:solidFill>
                            <a:srgbClr val="434343"/>
                          </a:solidFill>
                          <a:latin typeface="Lato"/>
                          <a:ea typeface="Lato"/>
                          <a:cs typeface="Lato"/>
                          <a:sym typeface="Lato"/>
                        </a:rPr>
                        <a:t>Binge all evening </a:t>
                      </a:r>
                      <a:endParaRPr sz="1200">
                        <a:solidFill>
                          <a:srgbClr val="434343"/>
                        </a:solidFill>
                        <a:latin typeface="Lato"/>
                        <a:ea typeface="Lato"/>
                        <a:cs typeface="Lato"/>
                        <a:sym typeface="Lato"/>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68" name="Shape 168"/>
        <p:cNvGrpSpPr/>
        <p:nvPr/>
      </p:nvGrpSpPr>
      <p:grpSpPr>
        <a:xfrm>
          <a:off x="0" y="0"/>
          <a:ext cx="0" cy="0"/>
          <a:chOff x="0" y="0"/>
          <a:chExt cx="0" cy="0"/>
        </a:xfrm>
      </p:grpSpPr>
      <p:sp>
        <p:nvSpPr>
          <p:cNvPr id="169" name="Google Shape;169;p34"/>
          <p:cNvSpPr txBox="1"/>
          <p:nvPr>
            <p:ph type="title"/>
          </p:nvPr>
        </p:nvSpPr>
        <p:spPr>
          <a:xfrm>
            <a:off x="407625" y="135525"/>
            <a:ext cx="78219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160">
                <a:solidFill>
                  <a:srgbClr val="003060"/>
                </a:solidFill>
                <a:latin typeface="Libre Baskerville"/>
                <a:ea typeface="Lato"/>
                <a:cs typeface="Lato"/>
                <a:sym typeface="Lato"/>
              </a:rPr>
              <a:t>Traditional Diets Never Worked For Me </a:t>
            </a:r>
            <a:endParaRPr b="1" sz="3160">
              <a:solidFill>
                <a:srgbClr val="434343"/>
              </a:solidFill>
              <a:latin typeface="Lato"/>
              <a:ea typeface="Lato"/>
              <a:cs typeface="Lato"/>
              <a:sym typeface="Lato"/>
            </a:endParaRPr>
          </a:p>
        </p:txBody>
      </p:sp>
      <p:sp>
        <p:nvSpPr>
          <p:cNvPr id="170" name="Google Shape;170;p34"/>
          <p:cNvSpPr txBox="1"/>
          <p:nvPr>
            <p:ph idx="1" type="body"/>
          </p:nvPr>
        </p:nvSpPr>
        <p:spPr>
          <a:xfrm>
            <a:off x="311700" y="779575"/>
            <a:ext cx="8520600" cy="4042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They cut out all the foods I loved</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be social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eat with people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I couldn’t actually be consistent with it, start and stop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With what I learned at university I could start to understand nutrition and how the body functioned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Started to lose weight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 for fat loss</a:t>
            </a:r>
            <a:endParaRPr sz="1500">
              <a:solidFill>
                <a:srgbClr val="434343"/>
              </a:solidFill>
              <a:latin typeface="Lato"/>
              <a:ea typeface="Lato"/>
              <a:cs typeface="Lato"/>
              <a:sym typeface="Lato"/>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4" name="Shape 174"/>
        <p:cNvGrpSpPr/>
        <p:nvPr/>
      </p:nvGrpSpPr>
      <p:grpSpPr>
        <a:xfrm>
          <a:off x="0" y="0"/>
          <a:ext cx="0" cy="0"/>
          <a:chOff x="0" y="0"/>
          <a:chExt cx="0" cy="0"/>
        </a:xfrm>
      </p:grpSpPr>
      <p:sp>
        <p:nvSpPr>
          <p:cNvPr id="175" name="Google Shape;175;p35"/>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lang="en-GB" sz="1800">
                <a:solidFill>
                  <a:srgbClr val="003060"/>
                </a:solidFill>
                <a:latin typeface="Alegreya Sans"/>
                <a:ea typeface="Alegreya Sans"/>
                <a:cs typeface="Alegreya Sans"/>
                <a:sym typeface="Alegreya Sans"/>
              </a:rPr>
              <a:t>After my own weight loss journey, </a:t>
            </a:r>
            <a:r>
              <a:rPr b="0" i="0" lang="en-GB" sz="1800" u="none" cap="none" strike="noStrike">
                <a:solidFill>
                  <a:srgbClr val="003060"/>
                </a:solidFill>
                <a:latin typeface="Alegreya Sans"/>
                <a:ea typeface="Alegreya Sans"/>
                <a:cs typeface="Alegreya Sans"/>
                <a:sym typeface="Alegreya Sans"/>
              </a:rPr>
              <a:t>I have worked with over 50,000 clients</a:t>
            </a:r>
            <a:r>
              <a:rPr lang="en-GB" sz="1800">
                <a:solidFill>
                  <a:srgbClr val="003060"/>
                </a:solidFill>
                <a:latin typeface="Alegreya Sans"/>
                <a:ea typeface="Alegreya Sans"/>
                <a:cs typeface="Alegreya Sans"/>
                <a:sym typeface="Alegreya Sans"/>
              </a:rPr>
              <a:t>,</a:t>
            </a:r>
            <a:r>
              <a:rPr lang="en-GB">
                <a:solidFill/>
              </a:rPr>
              <a:t> </a:t>
            </a:r>
            <a:r>
              <a:rPr b="0" i="0" lang="en-GB" sz="1800" u="none" cap="none" strike="noStrike">
                <a:solidFill>
                  <a:srgbClr val="003060"/>
                </a:solidFill>
                <a:latin typeface="Alegreya Sans"/>
                <a:ea typeface="Alegreya Sans"/>
                <a:cs typeface="Alegreya Sans"/>
                <a:sym typeface="Alegreya Sans"/>
              </a:rPr>
              <a:t>1-2-1 clients, small groups, big groups</a:t>
            </a:r>
            <a:r>
              <a:rPr lang="en-GB" sz="1800">
                <a:solidFill>
                  <a:srgbClr val="003060"/>
                </a:solidFill>
                <a:latin typeface="Alegreya Sans"/>
                <a:ea typeface="Alegreya Sans"/>
                <a:cs typeface="Alegreya Sans"/>
                <a:sym typeface="Alegreya Sans"/>
              </a:rPr>
              <a:t>,</a:t>
            </a:r>
            <a:r>
              <a:rPr b="0" i="0" lang="en-GB" sz="1800" u="none" cap="none" strike="noStrike">
                <a:solidFill>
                  <a:srgbClr val="003060"/>
                </a:solidFill>
                <a:latin typeface="Alegreya Sans"/>
                <a:ea typeface="Alegreya Sans"/>
                <a:cs typeface="Alegreya Sans"/>
                <a:sym typeface="Alegreya Sans"/>
              </a:rPr>
              <a:t> you name it.</a:t>
            </a:r>
            <a:endParaRPr/>
          </a:p>
          <a:p>
            <a:pPr indent="0" lvl="0" marL="0" marR="0" rtl="0" algn="ctr">
              <a:spcBef>
                <a:spcPts val="1800"/>
              </a:spcBef>
              <a:spcAft>
                <a:spcPts val="0"/>
              </a:spcAft>
              <a:buNone/>
            </a:pPr>
            <a:r>
              <a:rPr b="0" i="0" lang="en-GB" sz="1800" u="none" cap="none" strike="noStrike">
                <a:solidFill>
                  <a:srgbClr val="003060"/>
                </a:solidFill>
                <a:latin typeface="Alegreya Sans"/>
                <a:ea typeface="Alegreya Sans"/>
                <a:cs typeface="Alegreya Sans"/>
                <a:sym typeface="Alegreya Sans"/>
              </a:rPr>
              <a:t>Based on that experience, knowledge I have acquired over the years</a:t>
            </a:r>
            <a:endParaRPr/>
          </a:p>
          <a:p>
            <a:pPr indent="0" lvl="0" marL="0" marR="0" rtl="0" algn="ctr">
              <a:spcBef>
                <a:spcPts val="400"/>
              </a:spcBef>
              <a:spcAft>
                <a:spcPts val="0"/>
              </a:spcAft>
              <a:buNone/>
            </a:pPr>
            <a:r>
              <a:rPr b="0" i="1" lang="en-GB" sz="1800" u="none" cap="none" strike="noStrike">
                <a:solidFill>
                  <a:srgbClr val="003060"/>
                </a:solidFill>
                <a:latin typeface="Alegreya Sans"/>
                <a:ea typeface="Alegreya Sans"/>
                <a:cs typeface="Alegreya Sans"/>
                <a:sym typeface="Alegreya Sans"/>
              </a:rPr>
              <a:t>and overcoming my own struggles…</a:t>
            </a:r>
            <a:endParaRPr/>
          </a:p>
          <a:p>
            <a:pPr indent="0" lvl="0" marL="0" marR="0" rtl="0" algn="ctr">
              <a:spcBef>
                <a:spcPts val="18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here's what actually gets </a:t>
            </a:r>
            <a:r>
              <a:rPr b="1" i="1" lang="en-GB" sz="2200">
                <a:solidFill>
                  <a:srgbClr val="F79F83"/>
                </a:solidFill>
                <a:latin typeface="Libre Baskerville"/>
                <a:ea typeface="Libre Baskerville"/>
                <a:cs typeface="Libre Baskerville"/>
                <a:sym typeface="Libre Baskerville"/>
              </a:rPr>
              <a:t>women 45+</a:t>
            </a:r>
            <a:r>
              <a:rPr b="1" i="1" lang="en-GB" sz="2200" u="none" cap="none" strike="noStrike">
                <a:solidFill>
                  <a:srgbClr val="F79F83"/>
                </a:solidFill>
                <a:latin typeface="Libre Baskerville"/>
                <a:ea typeface="Libre Baskerville"/>
                <a:cs typeface="Libre Baskerville"/>
                <a:sym typeface="Libre Baskerville"/>
              </a:rPr>
              <a:t> the BEST results.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79" name="Shape 179"/>
        <p:cNvGrpSpPr/>
        <p:nvPr/>
      </p:nvGrpSpPr>
      <p:grpSpPr>
        <a:xfrm>
          <a:off x="0" y="0"/>
          <a:ext cx="0" cy="0"/>
          <a:chOff x="0" y="0"/>
          <a:chExt cx="0" cy="0"/>
        </a:xfrm>
      </p:grpSpPr>
      <p:sp>
        <p:nvSpPr>
          <p:cNvPr id="180" name="Google Shape;180;p36"/>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The Simple Fat Loss Formula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Helping Women 45+ Lose Weight</a:t>
            </a:r>
            <a:endParaRPr sz="3000">
              <a:solidFill>
                <a:srgbClr val="434343"/>
              </a:solidFill>
              <a:latin typeface="Lato"/>
              <a:ea typeface="Lato"/>
              <a:cs typeface="Lato"/>
              <a:sym typeface="Lato"/>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85" name="Shape 185"/>
        <p:cNvGrpSpPr/>
        <p:nvPr/>
      </p:nvGrpSpPr>
      <p:grpSpPr>
        <a:xfrm>
          <a:off x="0" y="0"/>
          <a:ext cx="0" cy="0"/>
          <a:chOff x="0" y="0"/>
          <a:chExt cx="0" cy="0"/>
        </a:xfrm>
      </p:grpSpPr>
      <p:sp>
        <p:nvSpPr>
          <p:cNvPr id="186" name="Google Shape;186;p37"/>
          <p:cNvSpPr txBox="1"/>
          <p:nvPr>
            <p:ph type="title"/>
          </p:nvPr>
        </p:nvSpPr>
        <p:spPr>
          <a:xfrm>
            <a:off x="311700" y="923825"/>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I did a 4 year degree at university, I did a one year internship at The Institute For Public Health and the Environment in The Netherlands. Rather than staying in the corporate world, I I decided I wanted to start helping clients achieve what I have been able to do but without doing unrealistic diets that don’t work anyway! </a:t>
            </a:r>
            <a:endParaRPr sz="2500">
              <a:solidFill>
                <a:srgbClr val="434343"/>
              </a:solidFill>
              <a:latin typeface="Lato"/>
              <a:ea typeface="Lato"/>
              <a:cs typeface="Lato"/>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1" name="Shape 191"/>
        <p:cNvGrpSpPr/>
        <p:nvPr/>
      </p:nvGrpSpPr>
      <p:grpSpPr>
        <a:xfrm>
          <a:off x="0" y="0"/>
          <a:ext cx="0" cy="0"/>
          <a:chOff x="0" y="0"/>
          <a:chExt cx="0" cy="0"/>
        </a:xfrm>
      </p:grpSpPr>
      <p:sp>
        <p:nvSpPr>
          <p:cNvPr id="192" name="Google Shape;192;p38"/>
          <p:cNvSpPr txBox="1"/>
          <p:nvPr>
            <p:ph type="title"/>
          </p:nvPr>
        </p:nvSpPr>
        <p:spPr>
          <a:xfrm>
            <a:off x="311700" y="1021125"/>
            <a:ext cx="8520600" cy="2854800"/>
          </a:xfrm>
          <a:prstGeom prst="rect">
            <a:avLst/>
          </a:prstGeom>
        </p:spPr>
        <p:txBody>
          <a:bodyPr anchorCtr="0" anchor="ctr" bIns="45700" lIns="91425" spcFirstLastPara="1" rIns="91425" wrap="square" tIns="45700">
            <a:normAutofit fontScale="90000"/>
          </a:bodyPr>
          <a:lstStyle/>
          <a:p>
            <a:pPr indent="0" lvl="0" marL="0" rtl="0" algn="ctr">
              <a:lnSpc>
                <a:spcPct val="115000"/>
              </a:lnSpc>
              <a:spcBef>
                <a:spcPts val="0"/>
              </a:spcBef>
              <a:spcAft>
                <a:spcPts val="0"/>
              </a:spcAft>
              <a:buNone/>
            </a:pPr>
            <a:r>
              <a:rPr lang="en-GB" sz="2750" b="1">
                <a:solidFill>
                  <a:srgbClr val="003060"/>
                </a:solidFill>
                <a:latin typeface="Libre Baskerville"/>
                <a:ea typeface="Lato"/>
                <a:cs typeface="Lato"/>
                <a:sym typeface="Lato"/>
              </a:rPr>
              <a:t>But I needed a way to explain to my clients what I had learned myself, how could I teach my clients about the nutrition that got me to my goal, so they can reach their goals?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sz="275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750" b="1">
                <a:solidFill>
                  <a:srgbClr val="003060"/>
                </a:solidFill>
                <a:latin typeface="Libre Baskerville"/>
                <a:ea typeface="Lato"/>
                <a:cs typeface="Lato"/>
                <a:sym typeface="Lato"/>
              </a:rPr>
              <a:t>Enter </a:t>
            </a:r>
            <a:r>
              <a:rPr b="1" lang="en-GB" sz="2750">
                <a:solidFill>
                  <a:srgbClr val="003060"/>
                </a:solidFill>
                <a:latin typeface="Libre Baskerville"/>
                <a:ea typeface="Lato"/>
                <a:cs typeface="Lato"/>
                <a:sym typeface="Lato"/>
              </a:rPr>
              <a:t>The WLA Nutrition Formula</a:t>
            </a:r>
            <a:r>
              <a:rPr b="1" lang="en-GB" sz="3000">
                <a:solidFill>
                  <a:srgbClr val="003060"/>
                </a:solidFill>
                <a:latin typeface="Libre Baskerville"/>
                <a:ea typeface="Helvetica Neue"/>
                <a:cs typeface="Helvetica Neue"/>
                <a:sym typeface="Helvetica Neue"/>
              </a:rPr>
              <a:t> </a:t>
            </a:r>
            <a:endParaRPr b="1" sz="3000">
              <a:solidFill>
                <a:srgbClr val="434343"/>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197" name="Shape 197"/>
        <p:cNvGrpSpPr/>
        <p:nvPr/>
      </p:nvGrpSpPr>
      <p:grpSpPr>
        <a:xfrm>
          <a:off x="0" y="0"/>
          <a:ext cx="0" cy="0"/>
          <a:chOff x="0" y="0"/>
          <a:chExt cx="0" cy="0"/>
        </a:xfrm>
      </p:grpSpPr>
      <p:sp>
        <p:nvSpPr>
          <p:cNvPr id="198" name="Google Shape;198;p39"/>
          <p:cNvSpPr txBox="1"/>
          <p:nvPr>
            <p:ph type="title"/>
          </p:nvPr>
        </p:nvSpPr>
        <p:spPr>
          <a:xfrm>
            <a:off x="407625" y="245800"/>
            <a:ext cx="8573400" cy="5727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Libre Baskerville"/>
                <a:ea typeface="Lato"/>
                <a:cs typeface="Lato"/>
                <a:sym typeface="Lato"/>
              </a:rPr>
              <a:t>What Is The WLA Nutrition Formula </a:t>
            </a:r>
            <a:endParaRPr b="1">
              <a:solidFill>
                <a:srgbClr val="434343"/>
              </a:solidFill>
              <a:latin typeface="Lato"/>
              <a:ea typeface="Lato"/>
              <a:cs typeface="Lato"/>
              <a:sym typeface="Lato"/>
            </a:endParaRPr>
          </a:p>
        </p:txBody>
      </p:sp>
      <p:sp>
        <p:nvSpPr>
          <p:cNvPr id="199" name="Google Shape;199;p39"/>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At university I learned how to create meal guides using recommended portion sizes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Most people are eating too much food (obvious) and their portions are a problem</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food properly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meals effectively (don’t have a sandwich for lunch and pasta for dinner, balance your carbs)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Ensure each meal has a protein element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Bulk up meals with high fibre foods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Aim for 80%  consistency across the week, allow a weekly indulgence for consistency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04" name="Shape 204"/>
        <p:cNvGrpSpPr/>
        <p:nvPr/>
      </p:nvGrpSpPr>
      <p:grpSpPr>
        <a:xfrm>
          <a:off x="0" y="0"/>
          <a:ext cx="0" cy="0"/>
          <a:chOff x="0" y="0"/>
          <a:chExt cx="0" cy="0"/>
        </a:xfrm>
      </p:grpSpPr>
      <p:sp>
        <p:nvSpPr>
          <p:cNvPr id="205" name="Google Shape;205;p40"/>
          <p:cNvSpPr txBox="1"/>
          <p:nvPr>
            <p:ph type="title"/>
          </p:nvPr>
        </p:nvSpPr>
        <p:spPr>
          <a:xfrm>
            <a:off x="311700" y="328175"/>
            <a:ext cx="8520600" cy="629100"/>
          </a:xfrm>
          <a:prstGeom prst="rect">
            <a:avLst/>
          </a:prstGeom>
        </p:spPr>
        <p:txBody>
          <a:bodyPr anchorCtr="0" anchor="ctr" bIns="45700" lIns="91425" spcFirstLastPara="1" rIns="91425" wrap="square" tIns="45700">
            <a:noAutofit/>
          </a:bodyPr>
          <a:lstStyle/>
          <a:p>
            <a:pPr indent="0" lvl="0" marL="0" rtl="0" algn="l">
              <a:spcBef>
                <a:spcPts val="0"/>
              </a:spcBef>
              <a:spcAft>
                <a:spcPts val="0"/>
              </a:spcAft>
              <a:buSzPts val="990"/>
              <a:buNone/>
            </a:pPr>
            <a:r>
              <a:rPr b="1" lang="en-GB" sz="2500">
                <a:solidFill>
                  <a:srgbClr val="003060"/>
                </a:solidFill>
                <a:latin typeface="Libre Baskerville"/>
                <a:ea typeface="Lato"/>
                <a:cs typeface="Lato"/>
                <a:sym typeface="Lato"/>
              </a:rPr>
              <a:t>The WLA Nutrition Formula </a:t>
            </a:r>
            <a:endParaRPr b="1" sz="2500">
              <a:solidFill>
                <a:srgbClr val="434343"/>
              </a:solidFill>
              <a:latin typeface="Lato"/>
              <a:ea typeface="Lato"/>
              <a:cs typeface="Lato"/>
              <a:sym typeface="Lato"/>
            </a:endParaRPr>
          </a:p>
        </p:txBody>
      </p:sp>
      <p:graphicFrame>
        <p:nvGraphicFramePr>
          <p:cNvPr id="206" name="Google Shape;206;p40"/>
          <p:cNvGraphicFramePr/>
          <p:nvPr/>
        </p:nvGraphicFramePr>
        <p:xfrm>
          <a:off x="379075" y="1259150"/>
          <a:ext cx="3000000" cy="3000000"/>
        </p:xfrm>
        <a:graphic>
          <a:graphicData uri="http://schemas.openxmlformats.org/drawingml/2006/table">
            <a:tbl>
              <a:tblPr>
                <a:noFill/>
                <a:tableStyleId>{4B7BCF0C-A375-452B-9E6C-FE977FFECA84}</a:tableStyleId>
              </a:tblPr>
              <a:tblGrid>
                <a:gridCol w="1207600"/>
                <a:gridCol w="1207600"/>
                <a:gridCol w="1207600"/>
                <a:gridCol w="1207600"/>
                <a:gridCol w="1207600"/>
                <a:gridCol w="1207600"/>
                <a:gridCol w="1207600"/>
              </a:tblGrid>
              <a:tr h="358775">
                <a:tc>
                  <a:txBody>
                    <a:bodyPr/>
                    <a:lstStyle/>
                    <a:p>
                      <a:pPr indent="0" lvl="0" marL="0" rtl="0" algn="ctr">
                        <a:spcBef>
                          <a:spcPts val="0"/>
                        </a:spcBef>
                        <a:spcAft>
                          <a:spcPts val="0"/>
                        </a:spcAft>
                        <a:buNone/>
                      </a:pPr>
                      <a:r>
                        <a:rPr lang="en-GB" sz="1500">
                          <a:solidFill>
                            <a:srgbClr val="FBF8F3"/>
                          </a:solidFill>
                        </a:rPr>
                        <a:t>Monday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Tuesday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Wednesday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Thursday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Friday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Saturday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c>
                  <a:txBody>
                    <a:bodyPr/>
                    <a:lstStyle/>
                    <a:p>
                      <a:pPr indent="0" lvl="0" marL="0" rtl="0" algn="ctr">
                        <a:spcBef>
                          <a:spcPts val="0"/>
                        </a:spcBef>
                        <a:spcAft>
                          <a:spcPts val="0"/>
                        </a:spcAft>
                        <a:buNone/>
                      </a:pPr>
                      <a:r>
                        <a:rPr lang="en-GB" sz="1500">
                          <a:solidFill>
                            <a:srgbClr val="FBF8F3"/>
                          </a:solidFill>
                        </a:rPr>
                        <a:t>Sunday</a:t>
                      </a:r>
                      <a:endParaRPr sz="1500">
                        <a:solidFill>
                          <a:srgbClr val="FBF8F3"/>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solidFill>
                      <a:srgbClr val="F79F83"/>
                    </a:solidFill>
                  </a:tcPr>
                </a:tc>
              </a:tr>
              <a:tr h="358775">
                <a:tc>
                  <a:txBody>
                    <a:bodyPr/>
                    <a:lstStyle/>
                    <a:p>
                      <a:pPr indent="0" lvl="0" marL="0" rtl="0" algn="ctr">
                        <a:spcBef>
                          <a:spcPts val="0"/>
                        </a:spcBef>
                        <a:spcAft>
                          <a:spcPts val="0"/>
                        </a:spcAft>
                        <a:buNone/>
                      </a:pPr>
                      <a:r>
                        <a:rPr lang="en-GB" sz="1500"/>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LC or HC</a:t>
                      </a:r>
                      <a:endParaRPr sz="1500"/>
                    </a:p>
                  </a:txBody>
                  <a:tcPr marT="91425" marB="91425" marR="91425" marL="91425" anchor="ctr">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Low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Low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358775">
                <a:tc>
                  <a:txBody>
                    <a:bodyPr/>
                    <a:lstStyle/>
                    <a:p>
                      <a:pPr indent="0" lvl="0" marL="0" rtl="0" algn="ctr">
                        <a:spcBef>
                          <a:spcPts val="0"/>
                        </a:spcBef>
                        <a:spcAft>
                          <a:spcPts val="0"/>
                        </a:spcAft>
                        <a:buNone/>
                      </a:pPr>
                      <a:r>
                        <a:rPr lang="en-GB" sz="1500"/>
                        <a:t>High Carb</a:t>
                      </a:r>
                      <a:endParaRPr sz="1500"/>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ctr">
                        <a:spcBef>
                          <a:spcPts val="0"/>
                        </a:spcBef>
                        <a:spcAft>
                          <a:spcPts val="0"/>
                        </a:spcAft>
                        <a:buNone/>
                      </a:pPr>
                      <a:r>
                        <a:rPr lang="en-GB" sz="1500">
                          <a:solidFill>
                            <a:schemeClr val="dk1"/>
                          </a:solidFill>
                        </a:rPr>
                        <a:t>High Carb</a:t>
                      </a:r>
                      <a:endParaRPr sz="1500">
                        <a:solidFill>
                          <a:schemeClr val="dk1"/>
                        </a:solidFill>
                      </a:endParaRPr>
                    </a:p>
                  </a:txBody>
                  <a:tcPr marT="91425" marB="91425" marR="91425" marL="91425">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207" name="Google Shape;207;p40"/>
          <p:cNvSpPr txBox="1"/>
          <p:nvPr/>
        </p:nvSpPr>
        <p:spPr>
          <a:xfrm>
            <a:off x="379075" y="3279400"/>
            <a:ext cx="5376900" cy="8367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LC or HC - Breakfast - Smoothie or Porridge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Low Carb/High Protein - Omelette / Pasta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 Medium / Medium Carb </a:t>
            </a:r>
            <a:endParaRPr sz="1500">
              <a:solidFill>
                <a:srgbClr val="434343"/>
              </a:solidFill>
              <a:latin typeface="Lato"/>
              <a:ea typeface="Lato"/>
              <a:cs typeface="Lato"/>
              <a:sym typeface="Lato"/>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2" name="Shape 212"/>
        <p:cNvGrpSpPr/>
        <p:nvPr/>
      </p:nvGrpSpPr>
      <p:grpSpPr>
        <a:xfrm>
          <a:off x="0" y="0"/>
          <a:ext cx="0" cy="0"/>
          <a:chOff x="0" y="0"/>
          <a:chExt cx="0" cy="0"/>
        </a:xfrm>
      </p:grpSpPr>
      <p:sp>
        <p:nvSpPr>
          <p:cNvPr id="213" name="Google Shape;213;p41"/>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b="1">
                <a:solidFill>
                  <a:srgbClr val="003060"/>
                </a:solidFill>
                <a:latin typeface="Libre Baskerville"/>
                <a:ea typeface="Libre Baskerville"/>
                <a:cs typeface="Libre Baskerville"/>
                <a:sym typeface="Libre Baskerville"/>
              </a:rPr>
              <a:t> Overall Nutrition + Weekend Solution </a:t>
            </a:r>
            <a:endParaRPr sz="2500">
              <a:solidFill>
                <a:srgbClr val="003060"/>
              </a:solidFill>
              <a:latin typeface="Libre Baskerville"/>
              <a:ea typeface="Libre Baskerville"/>
              <a:cs typeface="Libre Baskerville"/>
              <a:sym typeface="Libre Baskerville"/>
            </a:endParaRPr>
          </a:p>
        </p:txBody>
      </p:sp>
      <p:graphicFrame>
        <p:nvGraphicFramePr>
          <p:cNvPr id="214" name="Google Shape;214;p41"/>
          <p:cNvGraphicFramePr/>
          <p:nvPr/>
        </p:nvGraphicFramePr>
        <p:xfrm>
          <a:off x="360000" y="1080000"/>
          <a:ext cx="3000000" cy="3000000"/>
        </p:xfrm>
        <a:graphic>
          <a:graphicData uri="http://schemas.openxmlformats.org/drawingml/2006/table">
            <a:tbl>
              <a:tblPr>
                <a:noFill/>
                <a:tableStyleId>{745EEC0E-3737-49C0-8D55-B03DF21A2109}</a:tableStyleId>
              </a:tblPr>
              <a:tblGrid>
                <a:gridCol w="1208575"/>
                <a:gridCol w="1208575"/>
                <a:gridCol w="1208575"/>
                <a:gridCol w="1208575"/>
                <a:gridCol w="1208575"/>
                <a:gridCol w="1208575"/>
                <a:gridCol w="1208575"/>
              </a:tblGrid>
              <a:tr h="471850">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Porridge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Yoghurt</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Cereal</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Salad + Protein</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Omelette Wraps</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Bento Box</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r h="861175">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 Rice </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Curry + Naan</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b="1"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Wrap Pizza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19" name="Shape 219"/>
        <p:cNvGrpSpPr/>
        <p:nvPr/>
      </p:nvGrpSpPr>
      <p:grpSpPr>
        <a:xfrm>
          <a:off x="0" y="0"/>
          <a:ext cx="0" cy="0"/>
          <a:chOff x="0" y="0"/>
          <a:chExt cx="0" cy="0"/>
        </a:xfrm>
      </p:grpSpPr>
      <p:sp>
        <p:nvSpPr>
          <p:cNvPr id="220" name="Google Shape;220;p42"/>
          <p:cNvSpPr txBox="1"/>
          <p:nvPr/>
        </p:nvSpPr>
        <p:spPr>
          <a:xfrm>
            <a:off x="360000" y="351375"/>
            <a:ext cx="78711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lang="en-GB" sz="2500" b="1">
                <a:solidFill>
                  <a:srgbClr val="003060"/>
                </a:solidFill>
                <a:latin typeface="Libre Baskerville"/>
                <a:ea typeface="Libre Baskerville"/>
                <a:cs typeface="Libre Baskerville"/>
                <a:sym typeface="Libre Baskerville"/>
              </a:rPr>
              <a:t> Same Formula + Busy Week Solution </a:t>
            </a:r>
            <a:endParaRPr sz="2500">
              <a:solidFill>
                <a:srgbClr val="003060"/>
              </a:solidFill>
              <a:latin typeface="Libre Baskerville"/>
              <a:ea typeface="Libre Baskerville"/>
              <a:cs typeface="Libre Baskerville"/>
              <a:sym typeface="Libre Baskerville"/>
            </a:endParaRPr>
          </a:p>
        </p:txBody>
      </p:sp>
      <p:graphicFrame>
        <p:nvGraphicFramePr>
          <p:cNvPr id="221" name="Google Shape;221;p42"/>
          <p:cNvGraphicFramePr/>
          <p:nvPr/>
        </p:nvGraphicFramePr>
        <p:xfrm>
          <a:off x="540050" y="1080000"/>
          <a:ext cx="3000000" cy="3000000"/>
        </p:xfrm>
        <a:graphic>
          <a:graphicData uri="http://schemas.openxmlformats.org/drawingml/2006/table">
            <a:tbl>
              <a:tblPr>
                <a:noFill/>
                <a:tableStyleId>{745EEC0E-3737-49C0-8D55-B03DF21A2109}</a:tableStyleId>
              </a:tblPr>
              <a:tblGrid>
                <a:gridCol w="1165850"/>
                <a:gridCol w="1165850"/>
                <a:gridCol w="1165850"/>
                <a:gridCol w="1165850"/>
                <a:gridCol w="1165850"/>
                <a:gridCol w="1165850"/>
                <a:gridCol w="1278000"/>
              </a:tblGrid>
              <a:tr h="476375">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Mon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Tues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Wed</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Thurs</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Fri</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Sat</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Sun</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Cereal</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Smoothie</a:t>
                      </a:r>
                      <a:endParaRPr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Shop bought salad</a:t>
                      </a:r>
                      <a:br>
                        <a:rPr lang="en-GB" sz="1100">
                          <a:solidFill>
                            <a:srgbClr val="333333"/>
                          </a:solidFill>
                          <a:latin typeface="Alegreya Sans"/>
                          <a:ea typeface="Alegreya Sans"/>
                          <a:cs typeface="Alegreya Sans"/>
                          <a:sym typeface="Alegreya Sans"/>
                        </a:rPr>
                      </a:br>
                      <a:r>
                        <a:rPr lang="en-GB" sz="1100">
                          <a:solidFill>
                            <a:srgbClr val="333333"/>
                          </a:solidFill>
                          <a:latin typeface="Alegreya Sans"/>
                          <a:ea typeface="Alegreya Sans"/>
                          <a:cs typeface="Alegreya Sans"/>
                          <a:sym typeface="Alegreya Sans"/>
                        </a:rPr>
                        <a:t>Shop bought soup</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Sausages, Eggs, Avo, Mushrooms</a:t>
                      </a:r>
                      <a:br>
                        <a:rPr lang="en-GB" sz="1100">
                          <a:solidFill>
                            <a:srgbClr val="333333"/>
                          </a:solidFill>
                          <a:latin typeface="Alegreya Sans"/>
                          <a:ea typeface="Alegreya Sans"/>
                          <a:cs typeface="Alegreya Sans"/>
                          <a:sym typeface="Alegreya Sans"/>
                        </a:rPr>
                      </a:br>
                      <a:br>
                        <a:rPr lang="en-GB" sz="1100">
                          <a:solidFill>
                            <a:srgbClr val="333333"/>
                          </a:solidFill>
                          <a:latin typeface="Alegreya Sans"/>
                          <a:ea typeface="Alegreya Sans"/>
                          <a:cs typeface="Alegreya Sans"/>
                          <a:sym typeface="Alegreya Sans"/>
                        </a:rPr>
                      </a:br>
                      <a:r>
                        <a:rPr b="1" lang="en-GB" sz="1100">
                          <a:solidFill>
                            <a:srgbClr val="333333"/>
                          </a:solidFill>
                          <a:latin typeface="Alegreya Sans"/>
                          <a:ea typeface="Alegreya Sans"/>
                          <a:cs typeface="Alegreya Sans"/>
                          <a:sym typeface="Alegreya Sans"/>
                        </a:rPr>
                        <a:t>LOW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r h="812800">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Pesto Pasta</a:t>
                      </a:r>
                      <a:br>
                        <a:rPr lang="en-GB" sz="1100">
                          <a:solidFill>
                            <a:srgbClr val="333333"/>
                          </a:solidFill>
                          <a:latin typeface="Alegreya Sans"/>
                          <a:ea typeface="Alegreya Sans"/>
                          <a:cs typeface="Alegreya Sans"/>
                          <a:sym typeface="Alegreya Sans"/>
                        </a:rPr>
                      </a:b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Clr>
                          <a:schemeClr val="dk1"/>
                        </a:buClr>
                        <a:buSzPts val="1100"/>
                        <a:buFont typeface="Arial"/>
                        <a:buNone/>
                      </a:pPr>
                      <a:r>
                        <a:rPr lang="en-GB" sz="1100">
                          <a:solidFill>
                            <a:srgbClr val="333333"/>
                          </a:solidFill>
                          <a:latin typeface="Alegreya Sans"/>
                          <a:ea typeface="Alegreya Sans"/>
                          <a:cs typeface="Alegreya Sans"/>
                          <a:sym typeface="Alegreya Sans"/>
                        </a:rPr>
                        <a:t>Pesto Pasta</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Freezer Dinner</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Chicken Goujons Wrap</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Take Away</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INDULGENCE</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c>
                  <a:txBody>
                    <a:bodyPr/>
                    <a:lstStyle/>
                    <a:p>
                      <a:pPr indent="0" lvl="0" marL="0" rtl="0" algn="l">
                        <a:spcBef>
                          <a:spcPts val="0"/>
                        </a:spcBef>
                        <a:spcAft>
                          <a:spcPts val="0"/>
                        </a:spcAft>
                        <a:buNone/>
                      </a:pPr>
                      <a:r>
                        <a:rPr lang="en-GB" sz="1100">
                          <a:solidFill>
                            <a:srgbClr val="333333"/>
                          </a:solidFill>
                          <a:latin typeface="Alegreya Sans"/>
                          <a:ea typeface="Alegreya Sans"/>
                          <a:cs typeface="Alegreya Sans"/>
                          <a:sym typeface="Alegreya Sans"/>
                        </a:rPr>
                        <a:t>Sunday Roast</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t/>
                      </a:r>
                      <a:endParaRPr sz="1100">
                        <a:solidFill>
                          <a:srgbClr val="333333"/>
                        </a:solidFill>
                        <a:latin typeface="Alegreya Sans"/>
                        <a:ea typeface="Alegreya Sans"/>
                        <a:cs typeface="Alegreya Sans"/>
                        <a:sym typeface="Alegreya Sans"/>
                      </a:endParaRPr>
                    </a:p>
                    <a:p>
                      <a:pPr indent="0" lvl="0" marL="0" rtl="0" algn="l">
                        <a:spcBef>
                          <a:spcPts val="0"/>
                        </a:spcBef>
                        <a:spcAft>
                          <a:spcPts val="0"/>
                        </a:spcAft>
                        <a:buNone/>
                      </a:pPr>
                      <a:r>
                        <a:rPr b="1" lang="en-GB" sz="1100">
                          <a:solidFill>
                            <a:srgbClr val="333333"/>
                          </a:solidFill>
                          <a:latin typeface="Alegreya Sans"/>
                          <a:ea typeface="Alegreya Sans"/>
                          <a:cs typeface="Alegreya Sans"/>
                          <a:sym typeface="Alegreya Sans"/>
                        </a:rPr>
                        <a:t>HIGH CARB</a:t>
                      </a:r>
                      <a:endParaRPr b="1" sz="1100">
                        <a:solidFill>
                          <a:srgbClr val="333333"/>
                        </a:solidFill>
                        <a:latin typeface="Alegreya Sans"/>
                        <a:ea typeface="Alegreya Sans"/>
                        <a:cs typeface="Alegreya Sans"/>
                        <a:sym typeface="Alegreya Sans"/>
                      </a:endParaRPr>
                    </a:p>
                  </a:txBody>
                  <a:tcPr marT="63500" marB="63500" marR="63500" marL="63500" anchor="ctr">
                    <a:lnL cap="flat" cmpd="sng" w="9525">
                      <a:solidFill>
                        <a:srgbClr val="333333"/>
                      </a:solidFill>
                      <a:prstDash val="solid"/>
                      <a:round/>
                      <a:headEnd len="sm" w="sm" type="none"/>
                      <a:tailEnd len="sm" w="sm" type="none"/>
                    </a:lnL>
                    <a:lnR cap="flat" cmpd="sng" w="9525">
                      <a:solidFill>
                        <a:srgbClr val="333333"/>
                      </a:solidFill>
                      <a:prstDash val="solid"/>
                      <a:round/>
                      <a:headEnd len="sm" w="sm" type="none"/>
                      <a:tailEnd len="sm" w="sm" type="none"/>
                    </a:lnR>
                    <a:lnT cap="flat" cmpd="sng" w="9525">
                      <a:solidFill>
                        <a:srgbClr val="333333"/>
                      </a:solidFill>
                      <a:prstDash val="solid"/>
                      <a:round/>
                      <a:headEnd len="sm" w="sm" type="none"/>
                      <a:tailEnd len="sm" w="sm" type="none"/>
                    </a:lnT>
                    <a:lnB cap="flat" cmpd="sng" w="9525">
                      <a:solidFill>
                        <a:srgbClr val="333333"/>
                      </a:solidFill>
                      <a:prstDash val="solid"/>
                      <a:round/>
                      <a:headEnd len="sm" w="sm" type="none"/>
                      <a:tailEnd len="sm" w="sm" type="none"/>
                    </a:lnB>
                    <a:solidFill>
                      <a:schemeClr val="lt1"/>
                    </a:solid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26" name="Shape 226"/>
        <p:cNvGrpSpPr/>
        <p:nvPr/>
      </p:nvGrpSpPr>
      <p:grpSpPr>
        <a:xfrm>
          <a:off x="0" y="0"/>
          <a:ext cx="0" cy="0"/>
          <a:chOff x="0" y="0"/>
          <a:chExt cx="0" cy="0"/>
        </a:xfrm>
      </p:grpSpPr>
      <p:sp>
        <p:nvSpPr>
          <p:cNvPr id="227" name="Google Shape;227;p43"/>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b="1">
                <a:solidFill>
                  <a:srgbClr val="003060"/>
                </a:solidFill>
                <a:latin typeface="Libre Baskerville"/>
                <a:ea typeface="Libre Baskerville"/>
                <a:cs typeface="Libre Baskerville"/>
                <a:sym typeface="Libre Baskerville"/>
              </a:rPr>
              <a:t>Busy Day</a:t>
            </a:r>
            <a:r>
              <a:rPr lang="en-GB" sz="2500" b="1">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28" name="Google Shape;228;p43"/>
          <p:cNvSpPr txBox="1"/>
          <p:nvPr/>
        </p:nvSpPr>
        <p:spPr>
          <a:xfrm>
            <a:off x="360000" y="1080000"/>
            <a:ext cx="8135400" cy="20088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Does your nutrition have freezer foods options for days that are so busy? If not, you need that. You won’t cook fresh everyday</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know what pre-made foods that can be grabbed from the supermarket, requiring no cooking but still will support fat loss?</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Grab and go foods, do you know which items can be picked up in the shop? </a:t>
            </a:r>
            <a:endParaRPr sz="1500">
              <a:solidFill>
                <a:srgbClr val="333333"/>
              </a:solidFill>
              <a:latin typeface="Alegreya Sans"/>
              <a:ea typeface="Alegreya Sans"/>
              <a:cs typeface="Alegreya Sans"/>
              <a:sym typeface="Alegreya Sans"/>
            </a:endParaRPr>
          </a:p>
        </p:txBody>
      </p:sp>
      <p:sp>
        <p:nvSpPr>
          <p:cNvPr id="229" name="Google Shape;229;p43"/>
          <p:cNvSpPr txBox="1"/>
          <p:nvPr/>
        </p:nvSpPr>
        <p:spPr>
          <a:xfrm>
            <a:off x="360000" y="3733850"/>
            <a:ext cx="8372100" cy="68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lang="en-GB" sz="1500">
                <a:solidFill>
                  <a:srgbClr val="003060"/>
                </a:solidFill>
                <a:latin typeface="Alegreya Sans"/>
              </a:rPr>
              <a:t>* </a:t>
            </a:r>
            <a:r>
              <a:rPr lang="en-GB" sz="1500">
                <a:solidFill>
                  <a:srgbClr val="003060"/>
                </a:solidFill>
                <a:latin typeface="Alegreya Sans"/>
                <a:ea typeface="Alegreya Sans"/>
                <a:cs typeface="Alegreya Sans"/>
                <a:sym typeface="Alegreya Sans"/>
              </a:rPr>
              <a:t>You must have solutions for when you can’t cook or maybe you don’t want to cook as much, you need to be able to make nutrition decisions that will still support your goals. Life is busy, you need an easy solution. </a:t>
            </a:r>
            <a:endParaRPr sz="1500">
              <a:solidFill>
                <a:srgbClr val="333333"/>
              </a:solidFill>
              <a:latin typeface="Alegreya Sans"/>
              <a:ea typeface="Alegreya Sans"/>
              <a:cs typeface="Alegreya Sans"/>
              <a:sym typeface="Alegreya San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34" name="Shape 234"/>
        <p:cNvGrpSpPr/>
        <p:nvPr/>
      </p:nvGrpSpPr>
      <p:grpSpPr>
        <a:xfrm>
          <a:off x="0" y="0"/>
          <a:ext cx="0" cy="0"/>
          <a:chOff x="0" y="0"/>
          <a:chExt cx="0" cy="0"/>
        </a:xfrm>
      </p:grpSpPr>
      <p:sp>
        <p:nvSpPr>
          <p:cNvPr id="235" name="Google Shape;235;p44"/>
          <p:cNvSpPr txBox="1"/>
          <p:nvPr/>
        </p:nvSpPr>
        <p:spPr>
          <a:xfrm>
            <a:off x="360000" y="351375"/>
            <a:ext cx="7796400" cy="5694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200"/>
              </a:spcAft>
              <a:buNone/>
            </a:pPr>
            <a:r>
              <a:rPr i="1" lang="en-GB" sz="2500" b="1">
                <a:solidFill>
                  <a:srgbClr val="003060"/>
                </a:solidFill>
                <a:latin typeface="Libre Baskerville"/>
                <a:ea typeface="Libre Baskerville"/>
                <a:cs typeface="Libre Baskerville"/>
                <a:sym typeface="Libre Baskerville"/>
              </a:rPr>
              <a:t>Weekend</a:t>
            </a:r>
            <a:r>
              <a:rPr lang="en-GB" sz="2500" b="1">
                <a:solidFill>
                  <a:srgbClr val="003060"/>
                </a:solidFill>
                <a:latin typeface="Libre Baskerville"/>
                <a:ea typeface="Libre Baskerville"/>
                <a:cs typeface="Libre Baskerville"/>
                <a:sym typeface="Libre Baskerville"/>
              </a:rPr>
              <a:t> Nutrition Solution</a:t>
            </a:r>
            <a:endParaRPr sz="2500">
              <a:solidFill>
                <a:srgbClr val="003060"/>
              </a:solidFill>
              <a:latin typeface="Libre Baskerville"/>
              <a:ea typeface="Libre Baskerville"/>
              <a:cs typeface="Libre Baskerville"/>
              <a:sym typeface="Libre Baskerville"/>
            </a:endParaRPr>
          </a:p>
        </p:txBody>
      </p:sp>
      <p:sp>
        <p:nvSpPr>
          <p:cNvPr id="236" name="Google Shape;236;p44"/>
          <p:cNvSpPr txBox="1"/>
          <p:nvPr/>
        </p:nvSpPr>
        <p:spPr>
          <a:xfrm>
            <a:off x="360000" y="1080000"/>
            <a:ext cx="8135400" cy="2805300"/>
          </a:xfrm>
          <a:prstGeom prst="rect">
            <a:avLst/>
          </a:prstGeom>
          <a:noFill/>
          <a:ln>
            <a:noFill/>
          </a:ln>
        </p:spPr>
        <p:txBody>
          <a:bodyPr anchorCtr="0" anchor="t" bIns="91425" lIns="91425" spcFirstLastPara="1" rIns="91425" wrap="square" tIns="91425">
            <a:spAutoFit/>
          </a:bodyPr>
          <a:lstStyle/>
          <a:p>
            <a:pPr indent="-323850" lvl="0" marL="457200" rtl="0" algn="l">
              <a:lnSpc>
                <a:spcPct val="115000"/>
              </a:lnSpc>
              <a:spcBef>
                <a:spcPts val="120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try to limit social events while trying to lose weight? If so this is why you can stick with your diet</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Do you know how to balance your meals at the weekend for fat loss? </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The weekend needs a strategy, if you “do well” between Monday and Friday lunch time but then go off track because you don’t know how to manage the weekend, you won’t get to your goal before summer</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The weekend is a large part of the week</a:t>
            </a:r>
            <a:br>
              <a:rPr lang="en-GB" sz="1500">
                <a:solidFill>
                  <a:srgbClr val="333333"/>
                </a:solidFill>
                <a:latin typeface="Alegreya Sans"/>
                <a:ea typeface="Alegreya Sans"/>
                <a:cs typeface="Alegreya Sans"/>
                <a:sym typeface="Alegreya Sans"/>
              </a:rPr>
            </a:br>
            <a:endParaRPr sz="1500">
              <a:solidFill>
                <a:srgbClr val="333333"/>
              </a:solidFill>
              <a:latin typeface="Alegreya Sans"/>
              <a:ea typeface="Alegreya Sans"/>
              <a:cs typeface="Alegreya Sans"/>
              <a:sym typeface="Alegreya Sans"/>
            </a:endParaRPr>
          </a:p>
          <a:p>
            <a:pPr indent="-323850" lvl="0" marL="457200" rtl="0" algn="l">
              <a:lnSpc>
                <a:spcPct val="115000"/>
              </a:lnSpc>
              <a:spcBef>
                <a:spcPts val="0"/>
              </a:spcBef>
              <a:spcAft>
                <a:spcPts val="0"/>
              </a:spcAft>
              <a:buClr>
                <a:srgbClr val="333333"/>
              </a:buClr>
              <a:buSzPts val="1500"/>
              <a:buFont typeface="Alegreya Sans"/>
              <a:buChar char="●"/>
            </a:pPr>
            <a:r>
              <a:rPr lang="en-GB" sz="1500">
                <a:solidFill>
                  <a:srgbClr val="003060"/>
                </a:solidFill>
                <a:latin typeface="Alegreya Sans"/>
                <a:ea typeface="Alegreya Sans"/>
                <a:cs typeface="Alegreya Sans"/>
                <a:sym typeface="Alegreya Sans"/>
              </a:rPr>
              <a:t>You need a strategy that allows you to live your life and get results at the same time </a:t>
            </a:r>
            <a:endParaRPr sz="1500">
              <a:solidFill>
                <a:srgbClr val="333333"/>
              </a:solidFill>
              <a:latin typeface="Alegreya Sans"/>
              <a:ea typeface="Alegreya Sans"/>
              <a:cs typeface="Alegreya Sans"/>
              <a:sym typeface="Alegreya Sans"/>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1" name="Shape 241"/>
        <p:cNvGrpSpPr/>
        <p:nvPr/>
      </p:nvGrpSpPr>
      <p:grpSpPr>
        <a:xfrm>
          <a:off x="0" y="0"/>
          <a:ext cx="0" cy="0"/>
          <a:chOff x="0" y="0"/>
          <a:chExt cx="0" cy="0"/>
        </a:xfrm>
      </p:grpSpPr>
      <p:sp>
        <p:nvSpPr>
          <p:cNvPr id="242" name="Google Shape;242;p45"/>
          <p:cNvSpPr txBox="1"/>
          <p:nvPr>
            <p:ph type="title"/>
          </p:nvPr>
        </p:nvSpPr>
        <p:spPr>
          <a:xfrm>
            <a:off x="407625" y="245800"/>
            <a:ext cx="85734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660">
                <a:solidFill>
                  <a:srgbClr val="003060"/>
                </a:solidFill>
                <a:latin typeface="Libre Baskerville"/>
                <a:ea typeface="Lato"/>
                <a:cs typeface="Lato"/>
                <a:sym typeface="Lato"/>
              </a:rPr>
              <a:t>Why The Formula is a Game Changer!</a:t>
            </a:r>
            <a:endParaRPr b="1" sz="3660">
              <a:solidFill>
                <a:srgbClr val="434343"/>
              </a:solidFill>
              <a:latin typeface="Lato"/>
              <a:ea typeface="Lato"/>
              <a:cs typeface="Lato"/>
              <a:sym typeface="Lato"/>
            </a:endParaRPr>
          </a:p>
        </p:txBody>
      </p:sp>
      <p:sp>
        <p:nvSpPr>
          <p:cNvPr id="243" name="Google Shape;243;p45"/>
          <p:cNvSpPr txBox="1"/>
          <p:nvPr>
            <p:ph idx="1" type="body"/>
          </p:nvPr>
        </p:nvSpPr>
        <p:spPr>
          <a:xfrm>
            <a:off x="311700" y="896350"/>
            <a:ext cx="8074200" cy="40758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Freedom over foods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foods are excluded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out and socialise but still get results</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Eat same foods as family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Fuels for fat loss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for maintenance</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Works on holiday</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Portion control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of meals </a:t>
            </a: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No calorie counting</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
        <p:nvSpPr>
          <p:cNvPr id="244" name="Google Shape;244;p45"/>
          <p:cNvSpPr txBox="1"/>
          <p:nvPr/>
        </p:nvSpPr>
        <p:spPr>
          <a:xfrm>
            <a:off x="407625" y="4175200"/>
            <a:ext cx="8328000" cy="83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GB" sz="1500">
                <a:solidFill>
                  <a:srgbClr val="003060"/>
                </a:solidFill>
                <a:latin typeface="Alegreya Sans"/>
                <a:ea typeface="Lato"/>
                <a:cs typeface="Lato"/>
                <a:sym typeface="Lato"/>
              </a:rPr>
              <a:t>Biggest problems I see - (over-consuming carbs / low quality foods that increase appetite) </a:t>
            </a:r>
            <a:endParaRPr sz="1500">
              <a:solidFill>
                <a:srgbClr val="434343"/>
              </a:solidFill>
              <a:latin typeface="Lato"/>
              <a:ea typeface="Lato"/>
              <a:cs typeface="Lato"/>
              <a:sym typeface="Lato"/>
            </a:endParaRPr>
          </a:p>
          <a:p>
            <a:pPr indent="0" lvl="0" marL="0" rtl="0" algn="l">
              <a:lnSpc>
                <a:spcPct val="115000"/>
              </a:lnSpc>
              <a:spcBef>
                <a:spcPts val="1200"/>
              </a:spcBef>
              <a:spcAft>
                <a:spcPts val="1200"/>
              </a:spcAft>
              <a:buNone/>
            </a:pPr>
            <a:r>
              <a:rPr lang="en-GB" sz="1500">
                <a:solidFill>
                  <a:srgbClr val="003060"/>
                </a:solidFill>
                <a:latin typeface="Alegreya Sans"/>
                <a:ea typeface="Lato"/>
                <a:cs typeface="Lato"/>
                <a:sym typeface="Lato"/>
              </a:rPr>
              <a:t>The formula addresses these problems head on!</a:t>
            </a:r>
            <a:endParaRPr sz="1500">
              <a:solidFill>
                <a:srgbClr val="434343"/>
              </a:solidFill>
              <a:latin typeface="Lato"/>
              <a:ea typeface="Lato"/>
              <a:cs typeface="Lato"/>
              <a:sym typeface="Lato"/>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49" name="Shape 249"/>
        <p:cNvGrpSpPr/>
        <p:nvPr/>
      </p:nvGrpSpPr>
      <p:grpSpPr>
        <a:xfrm>
          <a:off x="0" y="0"/>
          <a:ext cx="0" cy="0"/>
          <a:chOff x="0" y="0"/>
          <a:chExt cx="0" cy="0"/>
        </a:xfrm>
      </p:grpSpPr>
      <p:sp>
        <p:nvSpPr>
          <p:cNvPr id="250" name="Google Shape;250;p46"/>
          <p:cNvSpPr txBox="1"/>
          <p:nvPr>
            <p:ph type="title"/>
          </p:nvPr>
        </p:nvSpPr>
        <p:spPr>
          <a:xfrm>
            <a:off x="407625" y="135525"/>
            <a:ext cx="86196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2760">
                <a:solidFill>
                  <a:srgbClr val="003060"/>
                </a:solidFill>
                <a:latin typeface="Libre Baskerville"/>
                <a:ea typeface="Lato"/>
                <a:cs typeface="Lato"/>
                <a:sym typeface="Lato"/>
              </a:rPr>
              <a:t>Here’s What Will Support 2 Stone Loss in 12 Weeks </a:t>
            </a:r>
            <a:endParaRPr b="1" sz="2760">
              <a:solidFill>
                <a:srgbClr val="434343"/>
              </a:solidFill>
              <a:latin typeface="Lato"/>
              <a:ea typeface="Lato"/>
              <a:cs typeface="Lato"/>
              <a:sym typeface="Lato"/>
            </a:endParaRPr>
          </a:p>
        </p:txBody>
      </p:sp>
      <p:sp>
        <p:nvSpPr>
          <p:cNvPr id="251" name="Google Shape;251;p46"/>
          <p:cNvSpPr txBox="1"/>
          <p:nvPr>
            <p:ph idx="1" type="body"/>
          </p:nvPr>
        </p:nvSpPr>
        <p:spPr>
          <a:xfrm>
            <a:off x="316800" y="883600"/>
            <a:ext cx="7725300" cy="3725400"/>
          </a:xfrm>
          <a:prstGeom prst="rect">
            <a:avLst/>
          </a:prstGeom>
        </p:spPr>
        <p:txBody>
          <a:bodyPr anchorCtr="0" anchor="t" bIns="45700" lIns="91425" spcFirstLastPara="1" rIns="91425" wrap="square" tIns="45700">
            <a:noAutofit/>
          </a:bodyPr>
          <a:lstStyle/>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Glass of water upon waking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3 meals per day (using The WLA Formula)</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Healthy snacking in between based on hunger</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Balance between meals (carb balancing) </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Protein included in each meal</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High fibre meals</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Approx 8 glasses of water per day</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1 milky coffee per day (in fat loss phase)</a:t>
            </a:r>
            <a:endParaRPr sz="1500">
              <a:solidFill>
                <a:srgbClr val="434343"/>
              </a:solidFill>
              <a:latin typeface="Lato"/>
              <a:ea typeface="Lato"/>
              <a:cs typeface="Lato"/>
              <a:sym typeface="Lato"/>
            </a:endParaRPr>
          </a:p>
          <a:p>
            <a:pPr indent="-323850" lvl="0" marL="457200" rtl="0" algn="l">
              <a:lnSpc>
                <a:spcPct val="150000"/>
              </a:lnSpc>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Alcohol consideration, indulgences, steps, evening snacking</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These are the my 12 week summer challenge foundations - </a:t>
            </a:r>
            <a:r>
              <a:rPr b="1" lang="en-GB" sz="1500">
                <a:solidFill>
                  <a:srgbClr val="003060"/>
                </a:solidFill>
                <a:latin typeface="Alegreya Sans"/>
                <a:ea typeface="Lato"/>
                <a:cs typeface="Lato"/>
                <a:sym typeface="Lato"/>
              </a:rPr>
              <a:t>AIM IS SIMPLICITY </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56" name="Shape 256"/>
        <p:cNvGrpSpPr/>
        <p:nvPr/>
      </p:nvGrpSpPr>
      <p:grpSpPr>
        <a:xfrm>
          <a:off x="0" y="0"/>
          <a:ext cx="0" cy="0"/>
          <a:chOff x="0" y="0"/>
          <a:chExt cx="0" cy="0"/>
        </a:xfrm>
      </p:grpSpPr>
      <p:sp>
        <p:nvSpPr>
          <p:cNvPr id="257" name="Google Shape;257;p47"/>
          <p:cNvSpPr txBox="1"/>
          <p:nvPr/>
        </p:nvSpPr>
        <p:spPr>
          <a:xfrm>
            <a:off x="341100" y="1080000"/>
            <a:ext cx="8461800" cy="954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5000" b="1">
                <a:solidFill>
                  <a:srgbClr val="003060"/>
                </a:solidFill>
                <a:latin typeface="Libre Baskerville"/>
                <a:ea typeface="Libre Baskerville"/>
                <a:cs typeface="Libre Baskerville"/>
                <a:sym typeface="Libre Baskerville"/>
              </a:rPr>
              <a:t>The </a:t>
            </a:r>
            <a:r>
              <a:rPr i="1" lang="en-GB" sz="5000" b="1">
                <a:solidFill>
                  <a:srgbClr val="003060"/>
                </a:solidFill>
                <a:latin typeface="Libre Baskerville"/>
                <a:ea typeface="Libre Baskerville"/>
                <a:cs typeface="Libre Baskerville"/>
                <a:sym typeface="Libre Baskerville"/>
              </a:rPr>
              <a:t>Key </a:t>
            </a:r>
            <a:r>
              <a:rPr lang="en-GB" sz="5000" b="1">
                <a:solidFill>
                  <a:srgbClr val="003060"/>
                </a:solidFill>
                <a:latin typeface="Libre Baskerville"/>
                <a:ea typeface="Libre Baskerville"/>
                <a:cs typeface="Libre Baskerville"/>
                <a:sym typeface="Libre Baskerville"/>
              </a:rPr>
              <a:t>To Best Results</a:t>
            </a:r>
            <a:endParaRPr sz="5000">
              <a:solidFill>
                <a:srgbClr val="003060"/>
              </a:solidFill>
              <a:latin typeface="Libre Baskerville"/>
              <a:ea typeface="Libre Baskerville"/>
              <a:cs typeface="Libre Baskerville"/>
              <a:sym typeface="Libre Baskerville"/>
            </a:endParaRPr>
          </a:p>
        </p:txBody>
      </p:sp>
      <p:sp>
        <p:nvSpPr>
          <p:cNvPr id="258" name="Google Shape;258;p47"/>
          <p:cNvSpPr txBox="1"/>
          <p:nvPr/>
        </p:nvSpPr>
        <p:spPr>
          <a:xfrm>
            <a:off x="341100" y="2919300"/>
            <a:ext cx="8461800" cy="1302300"/>
          </a:xfrm>
          <a:prstGeom prst="rect">
            <a:avLst/>
          </a:prstGeom>
          <a:noFill/>
          <a:ln>
            <a:noFill/>
          </a:ln>
        </p:spPr>
        <p:txBody>
          <a:bodyPr anchorCtr="0" anchor="t" bIns="91425" lIns="91425" spcFirstLastPara="1" rIns="91425" wrap="square" tIns="91425">
            <a:spAutoFit/>
          </a:bodyPr>
          <a:lstStyle/>
          <a:p>
            <a:pPr indent="0" lvl="0" marL="0" rtl="0" algn="ctr">
              <a:lnSpc>
                <a:spcPct val="115000"/>
              </a:lnSpc>
              <a:spcBef>
                <a:spcPts val="1200"/>
              </a:spcBef>
              <a:spcAft>
                <a:spcPts val="1200"/>
              </a:spcAft>
              <a:buNone/>
            </a:pPr>
            <a:r>
              <a:rPr lang="en-GB" sz="2200">
                <a:solidFill>
                  <a:srgbClr val="003060"/>
                </a:solidFill>
                <a:latin typeface="Alegreya Sans"/>
                <a:ea typeface="Alegreya Sans"/>
                <a:cs typeface="Alegreya Sans"/>
                <a:sym typeface="Alegreya Sans"/>
              </a:rPr>
              <a:t>Nutrition strategy that works anywhere. At home, on the road, busy days, no time to cook. You need a strategy that’s easy to be consistent. Guess what? Most diets feel impossible to stick with long term, that’s why you give up.</a:t>
            </a:r>
            <a:endParaRPr sz="2200">
              <a:solidFill>
                <a:srgbClr val="333333"/>
              </a:solidFill>
              <a:latin typeface="Alegreya Sans"/>
              <a:ea typeface="Alegreya Sans"/>
              <a:cs typeface="Alegreya Sans"/>
              <a:sym typeface="Alegreya Sans"/>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a:effectLst/>
      </p:bgPr>
    </p:bg>
    <p:spTree>
      <p:nvGrpSpPr>
        <p:cNvPr id="263" name="Shape 263"/>
        <p:cNvGrpSpPr/>
        <p:nvPr/>
      </p:nvGrpSpPr>
      <p:grpSpPr>
        <a:xfrm>
          <a:off x="0" y="0"/>
          <a:ext cx="0" cy="0"/>
          <a:chOff x="0" y="0"/>
          <a:chExt cx="0" cy="0"/>
        </a:xfrm>
      </p:grpSpPr>
      <p:sp>
        <p:nvSpPr>
          <p:cNvPr id="264" name="Google Shape;264;p48"/>
          <p:cNvSpPr/>
          <p:nvPr/>
        </p:nvSpPr>
        <p:spPr>
          <a:xfrm>
            <a:off x="426125" y="818550"/>
            <a:ext cx="8380500" cy="3506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4100"/>
              <a:buFont typeface="Helvetica Neue"/>
              <a:buNone/>
            </a:pPr>
            <a:r>
              <a:rPr lang="en-GB" sz="2700" b="1">
                <a:solidFill>
                  <a:srgbClr val="003060"/>
                </a:solidFill>
                <a:latin typeface="Libre Baskerville"/>
                <a:ea typeface="Libre Baskerville"/>
                <a:cs typeface="Libre Baskerville"/>
                <a:sym typeface="Libre Baskerville"/>
              </a:rPr>
              <a:t>The dieting industry tells us that we can all follow the same nutrition strategy but a 45 year old women with 3 kids needs a different strategy to a woman that’s retired. And someone that doesn't like cooking, needs a different strategy to someone that enjoys cooking.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b="1">
                <a:solidFill>
                  <a:srgbClr val="003060"/>
                </a:solidFill>
                <a:latin typeface="Libre Baskerville"/>
              </a:rPr>
              <a:t/>
            </a:r>
            <a:endParaRPr sz="2700">
              <a:solidFill>
                <a:srgbClr val="003060"/>
              </a:solidFill>
              <a:latin typeface="Libre Baskerville"/>
              <a:ea typeface="Libre Baskerville"/>
              <a:cs typeface="Libre Baskerville"/>
              <a:sym typeface="Libre Baskerville"/>
            </a:endParaRPr>
          </a:p>
          <a:p>
            <a:pPr indent="0" lvl="0" marL="0" marR="0" rtl="0" algn="ctr">
              <a:lnSpc>
                <a:spcPct val="100000"/>
              </a:lnSpc>
              <a:spcBef>
                <a:spcPts val="0"/>
              </a:spcBef>
              <a:spcAft>
                <a:spcPts val="0"/>
              </a:spcAft>
              <a:buClr>
                <a:srgbClr val="FFFFFF"/>
              </a:buClr>
              <a:buSzPts val="4100"/>
              <a:buFont typeface="Helvetica Neue"/>
              <a:buNone/>
            </a:pPr>
            <a:r>
              <a:rPr lang="en-GB" sz="2700" b="1">
                <a:solidFill>
                  <a:srgbClr val="003060"/>
                </a:solidFill>
                <a:latin typeface="Libre Baskerville"/>
                <a:ea typeface="Libre Baskerville"/>
                <a:cs typeface="Libre Baskerville"/>
                <a:sym typeface="Libre Baskerville"/>
              </a:rPr>
              <a:t>You need a formula you can personalise. Only then can you be consistent!</a:t>
            </a:r>
            <a:endParaRPr b="1" sz="26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69" name="Shape 269"/>
        <p:cNvGrpSpPr/>
        <p:nvPr/>
      </p:nvGrpSpPr>
      <p:grpSpPr>
        <a:xfrm>
          <a:off x="0" y="0"/>
          <a:ext cx="0" cy="0"/>
          <a:chOff x="0" y="0"/>
          <a:chExt cx="0" cy="0"/>
        </a:xfrm>
      </p:grpSpPr>
      <p:sp>
        <p:nvSpPr>
          <p:cNvPr id="270" name="Google Shape;270;p49"/>
          <p:cNvSpPr txBox="1"/>
          <p:nvPr/>
        </p:nvSpPr>
        <p:spPr>
          <a:xfrm>
            <a:off x="457200" y="3048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Still Using The Formula Today For Maintenance,</a:t>
            </a:r>
            <a:endParaRPr/>
          </a:p>
          <a:p>
            <a:pPr indent="0" lvl="0" marL="0" marR="0" rtl="0" algn="ctr">
              <a:spcBef>
                <a:spcPts val="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Used Before Pregnancy And After</a:t>
            </a:r>
            <a:endParaRPr/>
          </a:p>
        </p:txBody>
      </p:sp>
      <p:pic>
        <p:nvPicPr>
          <p:cNvPr id="271" name="Google Shape;271;p49" title="1. Anna Before and After.png"/>
          <p:cNvPicPr preferRelativeResize="0"/>
          <p:nvPr/>
        </p:nvPicPr>
        <p:blipFill>
          <a:blip r:embed="rId3">
            <a:alphaModFix/>
          </a:blip>
          <a:stretch>
            <a:fillRect/>
          </a:stretch>
        </p:blipFill>
        <p:spPr>
          <a:xfrm>
            <a:off x="2735475" y="1294400"/>
            <a:ext cx="3673050" cy="3673050"/>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75" name="Shape 275"/>
        <p:cNvGrpSpPr/>
        <p:nvPr/>
      </p:nvGrpSpPr>
      <p:grpSpPr>
        <a:xfrm>
          <a:off x="0" y="0"/>
          <a:ext cx="0" cy="0"/>
          <a:chOff x="0" y="0"/>
          <a:chExt cx="0" cy="0"/>
        </a:xfrm>
      </p:grpSpPr>
      <p:sp>
        <p:nvSpPr>
          <p:cNvPr id="276" name="Google Shape;276;p50"/>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And My WLA Clients Are Using The Formula, Getting Incredible Results</a:t>
            </a:r>
            <a:endParaRPr/>
          </a:p>
        </p:txBody>
      </p:sp>
      <p:pic>
        <p:nvPicPr>
          <p:cNvPr id="277" name="Google Shape;277;p50" title="lucy before and after.jpg"/>
          <p:cNvPicPr preferRelativeResize="0"/>
          <p:nvPr/>
        </p:nvPicPr>
        <p:blipFill>
          <a:blip r:embed="rId3">
            <a:alphaModFix/>
          </a:blip>
          <a:stretch>
            <a:fillRect/>
          </a:stretch>
        </p:blipFill>
        <p:spPr>
          <a:xfrm>
            <a:off x="254350" y="1276350"/>
            <a:ext cx="3637550" cy="3637550"/>
          </a:xfrm>
          <a:prstGeom prst="rect">
            <a:avLst/>
          </a:prstGeom>
          <a:noFill/>
          <a:ln>
            <a:noFill/>
          </a:ln>
        </p:spPr>
      </p:pic>
      <p:pic>
        <p:nvPicPr>
          <p:cNvPr id="278" name="Google Shape;278;p50" title="VIP Maddy Evans.SBS - From size 18 to 14. png.png"/>
          <p:cNvPicPr preferRelativeResize="0"/>
          <p:nvPr/>
        </p:nvPicPr>
        <p:blipFill>
          <a:blip r:embed="rId4">
            <a:alphaModFix/>
          </a:blip>
          <a:stretch>
            <a:fillRect/>
          </a:stretch>
        </p:blipFill>
        <p:spPr>
          <a:xfrm>
            <a:off x="4918900" y="1237750"/>
            <a:ext cx="3725139" cy="3714750"/>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2" name="Shape 282"/>
        <p:cNvGrpSpPr/>
        <p:nvPr/>
      </p:nvGrpSpPr>
      <p:grpSpPr>
        <a:xfrm>
          <a:off x="0" y="0"/>
          <a:ext cx="0" cy="0"/>
          <a:chOff x="0" y="0"/>
          <a:chExt cx="0" cy="0"/>
        </a:xfrm>
      </p:grpSpPr>
      <p:sp>
        <p:nvSpPr>
          <p:cNvPr id="283" name="Google Shape;283;p51"/>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The Power Of A Clear Roadmap </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&amp; Monthly Focus</a:t>
            </a:r>
            <a:endParaRPr sz="3000">
              <a:solidFill>
                <a:srgbClr val="434343"/>
              </a:solidFill>
              <a:latin typeface="Lato"/>
              <a:ea typeface="Lato"/>
              <a:cs typeface="Lato"/>
              <a:sym typeface="Lato"/>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88" name="Shape 288"/>
        <p:cNvGrpSpPr/>
        <p:nvPr/>
      </p:nvGrpSpPr>
      <p:grpSpPr>
        <a:xfrm>
          <a:off x="0" y="0"/>
          <a:ext cx="0" cy="0"/>
          <a:chOff x="0" y="0"/>
          <a:chExt cx="0" cy="0"/>
        </a:xfrm>
      </p:grpSpPr>
      <p:sp>
        <p:nvSpPr>
          <p:cNvPr id="289" name="Google Shape;289;p52"/>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The women who get the BEST results usually don’t just “try to eat healthy”.</a:t>
            </a:r>
            <a:endParaRPr sz="2500">
              <a:solidFill>
                <a:srgbClr val="434343"/>
              </a:solidFill>
              <a:latin typeface="Lato"/>
              <a:ea typeface="Lato"/>
              <a:cs typeface="Lato"/>
              <a:sym typeface="Lato"/>
            </a:endParaRPr>
          </a:p>
          <a:p>
            <a:pPr indent="0" lvl="0" marL="0" rtl="0" algn="l">
              <a:lnSpc>
                <a:spcPct val="115000"/>
              </a:lnSpc>
              <a:spcBef>
                <a:spcPts val="0"/>
              </a:spcBef>
              <a:spcAft>
                <a:spcPts val="0"/>
              </a:spcAft>
              <a:buNone/>
            </a:pPr>
            <a:r>
              <a:rPr lang="en-GB" sz="2500" b="1">
                <a:solidFill>
                  <a:srgbClr val="003060"/>
                </a:solidFill>
                <a:latin typeface="Libre Baskerville"/>
                <a:ea typeface="Lato"/>
                <a:cs typeface="Lato"/>
                <a:sym typeface="Lato"/>
              </a:rPr>
              <a:t>They have: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 A clear goal</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 A clear timeline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 A clear focus</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 A plan they can actually follow</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Because without that…</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You lose direction.</a:t>
            </a:r>
            <a:endParaRPr sz="2500">
              <a:solidFill>
                <a:srgbClr val="434343"/>
              </a:solidFill>
              <a:latin typeface="Lato"/>
              <a:ea typeface="Lato"/>
              <a:cs typeface="Lato"/>
              <a:sym typeface="Lato"/>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294" name="Shape 294"/>
        <p:cNvGrpSpPr/>
        <p:nvPr/>
      </p:nvGrpSpPr>
      <p:grpSpPr>
        <a:xfrm>
          <a:off x="0" y="0"/>
          <a:ext cx="0" cy="0"/>
          <a:chOff x="0" y="0"/>
          <a:chExt cx="0" cy="0"/>
        </a:xfrm>
      </p:grpSpPr>
      <p:sp>
        <p:nvSpPr>
          <p:cNvPr id="295" name="Google Shape;295;p53"/>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Clr>
                <a:schemeClr val="dk1"/>
              </a:buClr>
              <a:buSzPts val="1100"/>
              <a:buFont typeface="Arial"/>
              <a:buNone/>
            </a:pPr>
            <a:r>
              <a:rPr lang="en-GB" sz="2500" b="1">
                <a:solidFill>
                  <a:srgbClr val="003060"/>
                </a:solidFill>
                <a:latin typeface="Libre Baskerville"/>
                <a:ea typeface="Lato"/>
                <a:cs typeface="Lato"/>
                <a:sym typeface="Lato"/>
              </a:rPr>
              <a:t>You don’t know what you’re aiming for.</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b="1">
                <a:solidFill>
                  <a:srgbClr val="003060"/>
                </a:solidFill>
                <a:latin typeface="Libre Baskerville"/>
                <a:ea typeface="Lato"/>
                <a:cs typeface="Lato"/>
                <a:sym typeface="Lato"/>
              </a:rPr>
              <a:t>You try to change everything at once.</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b="1">
                <a:solidFill>
                  <a:srgbClr val="003060"/>
                </a:solidFill>
                <a:latin typeface="Libre Baskerville"/>
                <a:ea typeface="Lato"/>
                <a:cs typeface="Lato"/>
                <a:sym typeface="Lato"/>
              </a:rPr>
              <a:t>You lose focus when life gets busy.</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Clr>
                <a:schemeClr val="dk1"/>
              </a:buClr>
              <a:buSzPts val="1100"/>
              <a:buFont typeface="Arial"/>
              <a:buNone/>
            </a:pPr>
            <a:r>
              <a:rPr lang="en-GB" sz="2500" b="1">
                <a:solidFill>
                  <a:srgbClr val="003060"/>
                </a:solidFill>
                <a:latin typeface="Libre Baskerville"/>
                <a:ea typeface="Lato"/>
                <a:cs typeface="Lato"/>
                <a:sym typeface="Lato"/>
              </a:rPr>
              <a:t>You stop tracking progress.</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And eventually… you give up.</a:t>
            </a:r>
            <a:endParaRPr sz="2500">
              <a:solidFill>
                <a:srgbClr val="434343"/>
              </a:solidFill>
              <a:latin typeface="Lato"/>
              <a:ea typeface="Lato"/>
              <a:cs typeface="Lato"/>
              <a:sym typeface="Lato"/>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0" name="Shape 300"/>
        <p:cNvGrpSpPr/>
        <p:nvPr/>
      </p:nvGrpSpPr>
      <p:grpSpPr>
        <a:xfrm>
          <a:off x="0" y="0"/>
          <a:ext cx="0" cy="0"/>
          <a:chOff x="0" y="0"/>
          <a:chExt cx="0" cy="0"/>
        </a:xfrm>
      </p:grpSpPr>
      <p:sp>
        <p:nvSpPr>
          <p:cNvPr id="301" name="Google Shape;301;p54"/>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Clr>
                <a:schemeClr val="dk1"/>
              </a:buClr>
              <a:buSzPct val="44000"/>
              <a:buFont typeface="Arial"/>
              <a:buNone/>
            </a:pPr>
            <a:r>
              <a:rPr lang="en-GB" sz="2500" b="1">
                <a:solidFill>
                  <a:srgbClr val="003060"/>
                </a:solidFill>
                <a:latin typeface="Libre Baskerville"/>
                <a:ea typeface="Lato"/>
                <a:cs typeface="Lato"/>
                <a:sym typeface="Lato"/>
              </a:rPr>
              <a:t>But when you have: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Clr>
                <a:schemeClr val="dk1"/>
              </a:buClr>
              <a:buSzPct val="44000"/>
              <a:buFont typeface="Arial"/>
              <a:buNone/>
            </a:pPr>
            <a:r>
              <a:rPr lang="en-GB" sz="2500" b="1">
                <a:solidFill>
                  <a:srgbClr val="003060"/>
                </a:solidFill>
                <a:latin typeface="Libre Baskerville"/>
                <a:ea typeface="Lato"/>
                <a:cs typeface="Lato"/>
                <a:sym typeface="Lato"/>
              </a:rPr>
              <a:t>✔ A start date</a:t>
            </a:r>
            <a:br>
              <a:rPr lang="en-GB" sz="2500">
                <a:solidFill>
                  <a:srgbClr val="434343"/>
                </a:solidFill>
                <a:latin typeface="Lato"/>
                <a:ea typeface="Lato"/>
                <a:cs typeface="Lato"/>
                <a:sym typeface="Lato"/>
              </a:rPr>
            </a:br>
            <a:r>
              <a:rPr lang="en-GB" sz="2500" b="1">
                <a:solidFill>
                  <a:srgbClr val="003060"/>
                </a:solidFill>
                <a:latin typeface="Libre Baskerville"/>
                <a:ea typeface="Lato"/>
                <a:cs typeface="Lato"/>
                <a:sym typeface="Lato"/>
              </a:rPr>
              <a:t>✔ An end goal</a:t>
            </a:r>
            <a:br>
              <a:rPr lang="en-GB" sz="2500">
                <a:solidFill>
                  <a:srgbClr val="434343"/>
                </a:solidFill>
                <a:latin typeface="Lato"/>
                <a:ea typeface="Lato"/>
                <a:cs typeface="Lato"/>
                <a:sym typeface="Lato"/>
              </a:rPr>
            </a:br>
            <a:r>
              <a:rPr lang="en-GB" sz="2500" b="1">
                <a:solidFill>
                  <a:srgbClr val="003060"/>
                </a:solidFill>
                <a:latin typeface="Libre Baskerville"/>
                <a:ea typeface="Lato"/>
                <a:cs typeface="Lato"/>
                <a:sym typeface="Lato"/>
              </a:rPr>
              <a:t>✔ Monthly focus points</a:t>
            </a:r>
            <a:br>
              <a:rPr lang="en-GB" sz="2500">
                <a:solidFill>
                  <a:srgbClr val="434343"/>
                </a:solidFill>
                <a:latin typeface="Lato"/>
                <a:ea typeface="Lato"/>
                <a:cs typeface="Lato"/>
                <a:sym typeface="Lato"/>
              </a:rPr>
            </a:br>
            <a:r>
              <a:rPr lang="en-GB" sz="2500" b="1">
                <a:solidFill>
                  <a:srgbClr val="003060"/>
                </a:solidFill>
                <a:latin typeface="Libre Baskerville"/>
                <a:ea typeface="Lato"/>
                <a:cs typeface="Lato"/>
                <a:sym typeface="Lato"/>
              </a:rPr>
              <a:t>✔ Action steps to work 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Clr>
                <a:schemeClr val="dk1"/>
              </a:buClr>
              <a:buSzPct val="44000"/>
              <a:buFont typeface="Arial"/>
              <a:buNone/>
            </a:pPr>
            <a:r>
              <a:rPr lang="en-GB" sz="2500" b="1">
                <a:solidFill>
                  <a:srgbClr val="003060"/>
                </a:solidFill>
                <a:latin typeface="Libre Baskerville"/>
                <a:ea typeface="Lato"/>
                <a:cs typeface="Lato"/>
                <a:sym typeface="Lato"/>
              </a:rPr>
              <a:t>Everything changes.</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06" name="Shape 306"/>
        <p:cNvGrpSpPr/>
        <p:nvPr/>
      </p:nvGrpSpPr>
      <p:grpSpPr>
        <a:xfrm>
          <a:off x="0" y="0"/>
          <a:ext cx="0" cy="0"/>
          <a:chOff x="0" y="0"/>
          <a:chExt cx="0" cy="0"/>
        </a:xfrm>
      </p:grpSpPr>
      <p:sp>
        <p:nvSpPr>
          <p:cNvPr id="307" name="Google Shape;307;p55"/>
          <p:cNvSpPr txBox="1"/>
          <p:nvPr>
            <p:ph type="title"/>
          </p:nvPr>
        </p:nvSpPr>
        <p:spPr>
          <a:xfrm>
            <a:off x="635975" y="9173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Because instead of relying on motivation…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You have structure.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Instead of feeling overwhelmed trying to “be perfect”…</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You focus on improving ONE thing at a time.</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2" name="Shape 312"/>
        <p:cNvGrpSpPr/>
        <p:nvPr/>
      </p:nvGrpSpPr>
      <p:grpSpPr>
        <a:xfrm>
          <a:off x="0" y="0"/>
          <a:ext cx="0" cy="0"/>
          <a:chOff x="0" y="0"/>
          <a:chExt cx="0" cy="0"/>
        </a:xfrm>
      </p:grpSpPr>
      <p:sp>
        <p:nvSpPr>
          <p:cNvPr id="313" name="Google Shape;313;p56"/>
          <p:cNvSpPr txBox="1"/>
          <p:nvPr>
            <p:ph type="title"/>
          </p:nvPr>
        </p:nvSpPr>
        <p:spPr>
          <a:xfrm>
            <a:off x="564150" y="2068150"/>
            <a:ext cx="80157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Most women have a weight loss WISH. Very few have a weight loss PLAN. There’s a big difference between: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“I want to lose weight this summer…”</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vs</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“I’m going to lose 2 stone over the next 12 weeks and this month I’m focusing on consistency, reducing snacking and increasing my steps.”</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lang="en-GB" sz="2500" b="1">
                <a:solidFill>
                  <a:srgbClr val="003060"/>
                </a:solidFill>
                <a:latin typeface="Libre Baskerville"/>
                <a:ea typeface="Lato"/>
                <a:cs typeface="Lato"/>
                <a:sym typeface="Lato"/>
              </a:rPr>
              <a:t>One is a vague hope. The other creates direction, focus and action.</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l">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ctr">
              <a:lnSpc>
                <a:spcPct val="115000"/>
              </a:lnSpc>
              <a:spcBef>
                <a:spcPts val="12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18" name="Shape 318"/>
        <p:cNvGrpSpPr/>
        <p:nvPr/>
      </p:nvGrpSpPr>
      <p:grpSpPr>
        <a:xfrm>
          <a:off x="0" y="0"/>
          <a:ext cx="0" cy="0"/>
          <a:chOff x="0" y="0"/>
          <a:chExt cx="0" cy="0"/>
        </a:xfrm>
      </p:grpSpPr>
      <p:sp>
        <p:nvSpPr>
          <p:cNvPr id="319" name="Google Shape;319;p57"/>
          <p:cNvSpPr txBox="1"/>
          <p:nvPr>
            <p:ph type="title"/>
          </p:nvPr>
        </p:nvSpPr>
        <p:spPr>
          <a:xfrm>
            <a:off x="311700" y="988675"/>
            <a:ext cx="8520600" cy="2854800"/>
          </a:xfrm>
          <a:prstGeom prst="rect">
            <a:avLst/>
          </a:prstGeom>
        </p:spPr>
        <p:txBody>
          <a:bodyPr anchorCtr="0" anchor="ctr" bIns="45700" lIns="91425" spcFirstLastPara="1" rIns="91425" wrap="square" tIns="45700">
            <a:noAutofit/>
          </a:bodyPr>
          <a:lstStyle/>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Accountability &amp; Support</a:t>
            </a:r>
            <a:endParaRPr sz="30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3000" b="1">
                <a:solidFill>
                  <a:srgbClr val="003060"/>
                </a:solidFill>
                <a:latin typeface="Libre Baskerville"/>
                <a:ea typeface="Lato"/>
                <a:cs typeface="Lato"/>
                <a:sym typeface="Lato"/>
              </a:rPr>
              <a:t> That Keeps You Consistent</a:t>
            </a:r>
            <a:endParaRPr sz="3000">
              <a:solidFill>
                <a:srgbClr val="434343"/>
              </a:solidFill>
              <a:latin typeface="Lato"/>
              <a:ea typeface="Lato"/>
              <a:cs typeface="Lato"/>
              <a:sym typeface="Lato"/>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24" name="Shape 324"/>
        <p:cNvGrpSpPr/>
        <p:nvPr/>
      </p:nvGrpSpPr>
      <p:grpSpPr>
        <a:xfrm>
          <a:off x="0" y="0"/>
          <a:ext cx="0" cy="0"/>
          <a:chOff x="0" y="0"/>
          <a:chExt cx="0" cy="0"/>
        </a:xfrm>
      </p:grpSpPr>
      <p:sp>
        <p:nvSpPr>
          <p:cNvPr id="325" name="Google Shape;325;p58"/>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After working with clients for over 11 years I realised that MOST struggle with consistency, they give up shortly after starting! They fall off the wagon. They are not self accountable. This is a recurring pattern! People need help with cementing new habits and routines. </a:t>
            </a:r>
            <a:endParaRPr sz="2500">
              <a:solidFill>
                <a:srgbClr val="434343"/>
              </a:solidFill>
              <a:latin typeface="Lato"/>
              <a:ea typeface="Lato"/>
              <a:cs typeface="Lato"/>
              <a:sym typeface="Lato"/>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0" name="Shape 330"/>
        <p:cNvGrpSpPr/>
        <p:nvPr/>
      </p:nvGrpSpPr>
      <p:grpSpPr>
        <a:xfrm>
          <a:off x="0" y="0"/>
          <a:ext cx="0" cy="0"/>
          <a:chOff x="0" y="0"/>
          <a:chExt cx="0" cy="0"/>
        </a:xfrm>
      </p:grpSpPr>
      <p:sp>
        <p:nvSpPr>
          <p:cNvPr id="331" name="Google Shape;331;p59"/>
          <p:cNvSpPr txBox="1"/>
          <p:nvPr>
            <p:ph type="title"/>
          </p:nvPr>
        </p:nvSpPr>
        <p:spPr>
          <a:xfrm>
            <a:off x="635975" y="917350"/>
            <a:ext cx="80157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People underestimate the power of coaching and accountability. This is what really keeps people focused, motivated and consistent. This is because people can let themselves off the hook, give up quickly and give into negative mindsets. </a:t>
            </a:r>
            <a:endParaRPr sz="2500">
              <a:solidFill>
                <a:srgbClr val="434343"/>
              </a:solidFill>
              <a:latin typeface="Lato"/>
              <a:ea typeface="Lato"/>
              <a:cs typeface="Lato"/>
              <a:sym typeface="Lato"/>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07625" y="245800"/>
            <a:ext cx="8573400" cy="5727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a:solidFill>
                  <a:srgbClr val="003060"/>
                </a:solidFill>
                <a:latin typeface="Libre Baskerville"/>
                <a:ea typeface="Lato"/>
                <a:cs typeface="Lato"/>
                <a:sym typeface="Lato"/>
              </a:rPr>
              <a:t>Do You Do This?</a:t>
            </a:r>
            <a:endParaRPr b="1">
              <a:solidFill>
                <a:srgbClr val="434343"/>
              </a:solidFill>
              <a:latin typeface="Lato"/>
              <a:ea typeface="Lato"/>
              <a:cs typeface="Lato"/>
              <a:sym typeface="Lato"/>
            </a:endParaRPr>
          </a:p>
        </p:txBody>
      </p:sp>
      <p:sp>
        <p:nvSpPr>
          <p:cNvPr id="338" name="Google Shape;338;p60"/>
          <p:cNvSpPr txBox="1"/>
          <p:nvPr>
            <p:ph idx="1" type="body"/>
          </p:nvPr>
        </p:nvSpPr>
        <p:spPr>
          <a:xfrm>
            <a:off x="311700" y="919725"/>
            <a:ext cx="8520600" cy="37542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Start your weight loss journey but then stop within days or maybe sometimes weeks?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Give up too quickly?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Can’t get yourself to take action consistently?</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Lose and gain the same weight over and over?</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lang="en-GB" sz="1500">
                <a:solidFill>
                  <a:srgbClr val="003060"/>
                </a:solidFill>
                <a:latin typeface="Alegreya Sans"/>
                <a:ea typeface="Lato"/>
                <a:cs typeface="Lato"/>
                <a:sym typeface="Lato"/>
              </a:rPr>
              <a:t>Have all the cookbooks in the world but are not at your goal?</a:t>
            </a:r>
            <a:endParaRPr sz="1500">
              <a:solidFill>
                <a:srgbClr val="434343"/>
              </a:solidFill>
              <a:latin typeface="Lato"/>
              <a:ea typeface="Lato"/>
              <a:cs typeface="Lato"/>
              <a:sym typeface="Lato"/>
            </a:endParaRPr>
          </a:p>
          <a:p>
            <a:pPr indent="0" lvl="0" marL="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0" rtl="0" algn="l">
              <a:spcBef>
                <a:spcPts val="640"/>
              </a:spcBef>
              <a:spcAft>
                <a:spcPts val="0"/>
              </a:spcAft>
              <a:buNone/>
            </a:pPr>
            <a:r>
              <a:rPr lang="en-GB" sz="1500">
                <a:solidFill>
                  <a:srgbClr val="003060"/>
                </a:solidFill>
                <a:latin typeface="Alegreya Sans"/>
                <a:ea typeface="Lato"/>
                <a:cs typeface="Lato"/>
                <a:sym typeface="Lato"/>
              </a:rPr>
              <a:t>If this is you…. you have an action, accountability, application and implementation problem and this is why high accountability would make you take action!!</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43" name="Shape 343"/>
        <p:cNvGrpSpPr/>
        <p:nvPr/>
      </p:nvGrpSpPr>
      <p:grpSpPr>
        <a:xfrm>
          <a:off x="0" y="0"/>
          <a:ext cx="0" cy="0"/>
          <a:chOff x="0" y="0"/>
          <a:chExt cx="0" cy="0"/>
        </a:xfrm>
      </p:grpSpPr>
      <p:sp>
        <p:nvSpPr>
          <p:cNvPr id="344" name="Google Shape;344;p61"/>
          <p:cNvSpPr txBox="1"/>
          <p:nvPr>
            <p:ph type="title"/>
          </p:nvPr>
        </p:nvSpPr>
        <p:spPr>
          <a:xfrm>
            <a:off x="407625" y="245800"/>
            <a:ext cx="8573400" cy="572700"/>
          </a:xfrm>
          <a:prstGeom prst="rect">
            <a:avLst/>
          </a:prstGeom>
        </p:spPr>
        <p:txBody>
          <a:bodyPr anchorCtr="0" anchor="ctr" bIns="45700" lIns="91425" spcFirstLastPara="1" rIns="91425" wrap="square" tIns="45700">
            <a:noAutofit/>
          </a:bodyPr>
          <a:lstStyle/>
          <a:p>
            <a:pPr indent="0" lvl="0" marL="0" rtl="0" algn="ctr">
              <a:spcBef>
                <a:spcPts val="0"/>
              </a:spcBef>
              <a:spcAft>
                <a:spcPts val="0"/>
              </a:spcAft>
              <a:buSzPts val="990"/>
              <a:buNone/>
            </a:pPr>
            <a:r>
              <a:rPr b="1" lang="en-GB" sz="3260">
                <a:solidFill>
                  <a:srgbClr val="003060"/>
                </a:solidFill>
                <a:latin typeface="Libre Baskerville"/>
                <a:ea typeface="Lato"/>
                <a:cs typeface="Lato"/>
                <a:sym typeface="Lato"/>
              </a:rPr>
              <a:t>Accountability Is The Secret To Great Results</a:t>
            </a:r>
            <a:endParaRPr b="1" sz="3260">
              <a:solidFill>
                <a:srgbClr val="434343"/>
              </a:solidFill>
              <a:latin typeface="Lato"/>
              <a:ea typeface="Lato"/>
              <a:cs typeface="Lato"/>
              <a:sym typeface="Lato"/>
            </a:endParaRPr>
          </a:p>
        </p:txBody>
      </p:sp>
      <p:sp>
        <p:nvSpPr>
          <p:cNvPr id="345" name="Google Shape;345;p61"/>
          <p:cNvSpPr txBox="1"/>
          <p:nvPr>
            <p:ph idx="1" type="body"/>
          </p:nvPr>
        </p:nvSpPr>
        <p:spPr>
          <a:xfrm>
            <a:off x="311700" y="1042950"/>
            <a:ext cx="8520600" cy="3066600"/>
          </a:xfrm>
          <a:prstGeom prst="rect">
            <a:avLst/>
          </a:prstGeom>
        </p:spPr>
        <p:txBody>
          <a:bodyPr anchorCtr="0" anchor="t" bIns="45700" lIns="91425" spcFirstLastPara="1" rIns="91425" wrap="square" tIns="45700">
            <a:noAutofit/>
          </a:bodyPr>
          <a:lstStyle/>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Consistent Support:</a:t>
            </a:r>
            <a:r>
              <a:rPr lang="en-GB" sz="1500">
                <a:solidFill>
                  <a:srgbClr val="003060"/>
                </a:solidFill>
                <a:latin typeface="Alegreya Sans"/>
                <a:ea typeface="Lato"/>
                <a:cs typeface="Lato"/>
                <a:sym typeface="Lato"/>
              </a:rPr>
              <a:t> Regular check-ins keep individuals motivated and on track. When setbacks occur, we can navigate challenges and prevents a spiral back into old habits.</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Accountability Increases Commitment: </a:t>
            </a:r>
            <a:r>
              <a:rPr lang="en-GB" sz="1500">
                <a:solidFill>
                  <a:srgbClr val="003060"/>
                </a:solidFill>
                <a:latin typeface="Alegreya Sans"/>
                <a:ea typeface="Lato"/>
                <a:cs typeface="Lato"/>
                <a:sym typeface="Lato"/>
              </a:rPr>
              <a:t>Knowing that someone else is monitoring progress motivates individuals to stay committed to their goals. This accountability reduces the likelihood of quitting when motivation wanes or when temptations arise.</a:t>
            </a:r>
            <a:br>
              <a:rPr lang="en-GB" sz="1500">
                <a:solidFill>
                  <a:srgbClr val="434343"/>
                </a:solidFill>
                <a:latin typeface="Lato"/>
                <a:ea typeface="Lato"/>
                <a:cs typeface="Lato"/>
                <a:sym typeface="Lato"/>
              </a:rPr>
            </a:br>
            <a:endParaRPr sz="1500">
              <a:solidFill>
                <a:srgbClr val="434343"/>
              </a:solidFill>
              <a:latin typeface="Lato"/>
              <a:ea typeface="Lato"/>
              <a:cs typeface="Lato"/>
              <a:sym typeface="Lato"/>
            </a:endParaRPr>
          </a:p>
          <a:p>
            <a:pPr indent="-323850" lvl="0" marL="457200" rtl="0" algn="l">
              <a:spcBef>
                <a:spcPts val="640"/>
              </a:spcBef>
              <a:spcAft>
                <a:spcPts val="0"/>
              </a:spcAft>
              <a:buClr>
                <a:srgbClr val="434343"/>
              </a:buClr>
              <a:buSzPts val="1500"/>
              <a:buFont typeface="Lato"/>
              <a:buChar char="•"/>
            </a:pPr>
            <a:r>
              <a:rPr b="1" lang="en-GB" sz="1500">
                <a:solidFill>
                  <a:srgbClr val="003060"/>
                </a:solidFill>
                <a:latin typeface="Alegreya Sans"/>
                <a:ea typeface="Lato"/>
                <a:cs typeface="Lato"/>
                <a:sym typeface="Lato"/>
              </a:rPr>
              <a:t>Encourages Action: </a:t>
            </a:r>
            <a:r>
              <a:rPr lang="en-GB" sz="1500">
                <a:solidFill>
                  <a:srgbClr val="003060"/>
                </a:solidFill>
                <a:latin typeface="Alegreya Sans"/>
                <a:ea typeface="Lato"/>
                <a:cs typeface="Lato"/>
                <a:sym typeface="Lato"/>
              </a:rPr>
              <a:t>Accountability creates a sense of responsibility to take consistent action, turning intentions into concrete results. This constant action over time leads to sustainable weight loss rather than temporary success.</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a:p>
            <a:pPr indent="0" lvl="0" marL="457200" rtl="0" algn="l">
              <a:spcBef>
                <a:spcPts val="640"/>
              </a:spcBef>
              <a:spcAft>
                <a:spcPts val="0"/>
              </a:spcAft>
              <a:buNone/>
            </a:pPr>
            <a:r>
              <a:rPr>
                <a:solidFill>
                  <a:srgbClr val="003060"/>
                </a:solidFill>
                <a:latin typeface="Alegreya Sans"/>
              </a:rPr>
              <a:t/>
            </a:r>
            <a:endParaRPr sz="1500">
              <a:solidFill>
                <a:srgbClr val="434343"/>
              </a:solidFill>
              <a:latin typeface="Lato"/>
              <a:ea typeface="Lato"/>
              <a:cs typeface="Lato"/>
              <a:sym typeface="Lato"/>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0" name="Shape 350"/>
        <p:cNvGrpSpPr/>
        <p:nvPr/>
      </p:nvGrpSpPr>
      <p:grpSpPr>
        <a:xfrm>
          <a:off x="0" y="0"/>
          <a:ext cx="0" cy="0"/>
          <a:chOff x="0" y="0"/>
          <a:chExt cx="0" cy="0"/>
        </a:xfrm>
      </p:grpSpPr>
      <p:sp>
        <p:nvSpPr>
          <p:cNvPr id="351" name="Google Shape;351;p62"/>
          <p:cNvSpPr txBox="1"/>
          <p:nvPr>
            <p:ph type="title"/>
          </p:nvPr>
        </p:nvSpPr>
        <p:spPr>
          <a:xfrm>
            <a:off x="285750" y="858950"/>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How do you be consistent?</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b="1"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Well if you can’t be consistent yourself, get accountability and support so you stay consistent!</a:t>
            </a:r>
            <a:endParaRPr sz="2500">
              <a:solidFill>
                <a:srgbClr val="434343"/>
              </a:solidFill>
              <a:latin typeface="Lato"/>
              <a:ea typeface="Lato"/>
              <a:cs typeface="Lato"/>
              <a:sym typeface="Lato"/>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56" name="Shape 356"/>
        <p:cNvGrpSpPr/>
        <p:nvPr/>
      </p:nvGrpSpPr>
      <p:grpSpPr>
        <a:xfrm>
          <a:off x="0" y="0"/>
          <a:ext cx="0" cy="0"/>
          <a:chOff x="0" y="0"/>
          <a:chExt cx="0" cy="0"/>
        </a:xfrm>
      </p:grpSpPr>
      <p:sp>
        <p:nvSpPr>
          <p:cNvPr id="357" name="Google Shape;357;p63"/>
          <p:cNvSpPr txBox="1"/>
          <p:nvPr>
            <p:ph type="title"/>
          </p:nvPr>
        </p:nvSpPr>
        <p:spPr>
          <a:xfrm>
            <a:off x="311700" y="930300"/>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If an athlete performs better with a coach and accountability in a skill that they are already a professional in, </a:t>
            </a:r>
            <a:r>
              <a:rPr b="1" lang="en-GB" sz="2500">
                <a:solidFill>
                  <a:srgbClr val="003060"/>
                </a:solidFill>
                <a:latin typeface="Libre Baskerville"/>
                <a:ea typeface="Lato"/>
                <a:cs typeface="Lato"/>
                <a:sym typeface="Lato"/>
              </a:rPr>
              <a:t>imagine what the right accountability could do for you</a:t>
            </a:r>
            <a:r>
              <a:rPr lang="en-GB" sz="2500" b="1">
                <a:solidFill>
                  <a:srgbClr val="003060"/>
                </a:solidFill>
                <a:latin typeface="Libre Baskerville"/>
                <a:ea typeface="Lato"/>
                <a:cs typeface="Lato"/>
                <a:sym typeface="Lato"/>
              </a:rPr>
              <a:t> with something you struggle with?</a:t>
            </a:r>
            <a:endParaRPr sz="2500">
              <a:solidFill>
                <a:srgbClr val="434343"/>
              </a:solidFill>
              <a:latin typeface="Lato"/>
              <a:ea typeface="Lato"/>
              <a:cs typeface="Lato"/>
              <a:sym typeface="Lato"/>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2" name="Shape 362"/>
        <p:cNvGrpSpPr/>
        <p:nvPr/>
      </p:nvGrpSpPr>
      <p:grpSpPr>
        <a:xfrm>
          <a:off x="0" y="0"/>
          <a:ext cx="0" cy="0"/>
          <a:chOff x="0" y="0"/>
          <a:chExt cx="0" cy="0"/>
        </a:xfrm>
      </p:grpSpPr>
      <p:sp>
        <p:nvSpPr>
          <p:cNvPr id="363" name="Google Shape;363;p64"/>
          <p:cNvSpPr txBox="1"/>
          <p:nvPr>
            <p:ph type="title"/>
          </p:nvPr>
        </p:nvSpPr>
        <p:spPr>
          <a:xfrm>
            <a:off x="311700" y="904375"/>
            <a:ext cx="8520600" cy="2854800"/>
          </a:xfrm>
          <a:prstGeom prst="rect">
            <a:avLst/>
          </a:prstGeom>
        </p:spPr>
        <p:txBody>
          <a:bodyPr anchorCtr="0" anchor="ctr" bIns="45700" lIns="91425" spcFirstLastPara="1" rIns="91425" wrap="square" tIns="45700">
            <a:normAutofit/>
          </a:bodyPr>
          <a:lstStyle/>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Lapse (I feel guilty)</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Relapse (fall off the wagon)</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lang="en-GB" sz="2500" b="1">
                <a:solidFill>
                  <a:srgbClr val="003060"/>
                </a:solidFill>
                <a:latin typeface="Libre Baskerville"/>
                <a:ea typeface="Lato"/>
                <a:cs typeface="Lato"/>
                <a:sym typeface="Lato"/>
              </a:rPr>
              <a:t>Collapse (gain all weight back)</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a:p>
            <a:pPr indent="0" lvl="0" marL="0" rtl="0" algn="ctr">
              <a:lnSpc>
                <a:spcPct val="115000"/>
              </a:lnSpc>
              <a:spcBef>
                <a:spcPts val="0"/>
              </a:spcBef>
              <a:spcAft>
                <a:spcPts val="0"/>
              </a:spcAft>
              <a:buNone/>
            </a:pPr>
            <a:r>
              <a:rPr i="1" lang="en-GB" sz="2500" b="1">
                <a:solidFill>
                  <a:srgbClr val="003060"/>
                </a:solidFill>
                <a:latin typeface="Libre Baskerville"/>
                <a:ea typeface="Lato"/>
                <a:cs typeface="Lato"/>
                <a:sym typeface="Lato"/>
              </a:rPr>
              <a:t>(This is why coaching is fundamental)</a:t>
            </a:r>
            <a:endParaRPr i="1" sz="2500">
              <a:solidFill>
                <a:srgbClr val="434343"/>
              </a:solidFill>
              <a:latin typeface="Lato"/>
              <a:ea typeface="Lato"/>
              <a:cs typeface="Lato"/>
              <a:sym typeface="Lato"/>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68" name="Shape 368"/>
        <p:cNvGrpSpPr/>
        <p:nvPr/>
      </p:nvGrpSpPr>
      <p:grpSpPr>
        <a:xfrm>
          <a:off x="0" y="0"/>
          <a:ext cx="0" cy="0"/>
          <a:chOff x="0" y="0"/>
          <a:chExt cx="0" cy="0"/>
        </a:xfrm>
      </p:grpSpPr>
      <p:sp>
        <p:nvSpPr>
          <p:cNvPr id="369" name="Google Shape;369;p65"/>
          <p:cNvSpPr txBox="1"/>
          <p:nvPr>
            <p:ph type="title"/>
          </p:nvPr>
        </p:nvSpPr>
        <p:spPr>
          <a:xfrm>
            <a:off x="311700" y="904375"/>
            <a:ext cx="8520600" cy="2854800"/>
          </a:xfrm>
          <a:prstGeom prst="rect">
            <a:avLst/>
          </a:prstGeom>
        </p:spPr>
        <p:txBody>
          <a:bodyPr anchorCtr="0" anchor="ctr" bIns="45700" lIns="91425" spcFirstLastPara="1" rIns="91425" wrap="square" tIns="45700">
            <a:normAutofit fontScale="90000"/>
          </a:bodyPr>
          <a:lstStyle/>
          <a:p>
            <a:pPr indent="0" lvl="0" marL="0" rtl="0" algn="l">
              <a:lnSpc>
                <a:spcPct val="115000"/>
              </a:lnSpc>
              <a:spcBef>
                <a:spcPts val="2400"/>
              </a:spcBef>
              <a:spcAft>
                <a:spcPts val="0"/>
              </a:spcAft>
              <a:buClr>
                <a:schemeClr val="dk1"/>
              </a:buClr>
              <a:buSzPct val="47826"/>
              <a:buFont typeface="Arial"/>
              <a:buNone/>
            </a:pPr>
            <a:r>
              <a:rPr b="1" lang="en-GB" sz="2300">
                <a:solidFill>
                  <a:srgbClr val="003060"/>
                </a:solidFill>
                <a:latin typeface="Libre Baskerville"/>
                <a:ea typeface="Arial"/>
                <a:cs typeface="Arial"/>
                <a:sym typeface="Arial"/>
              </a:rPr>
              <a:t>Want to lose up to 2 stone over the summer?</a:t>
            </a:r>
            <a:br>
              <a:rPr b="1" lang="en-GB" sz="2300">
                <a:latin typeface="Arial"/>
                <a:ea typeface="Arial"/>
                <a:cs typeface="Arial"/>
                <a:sym typeface="Arial"/>
              </a:rPr>
            </a:br>
            <a:br>
              <a:rPr b="1" lang="en-GB" sz="2300">
                <a:latin typeface="Arial"/>
                <a:ea typeface="Arial"/>
                <a:cs typeface="Arial"/>
                <a:sym typeface="Arial"/>
              </a:rPr>
            </a:br>
            <a:r>
              <a:rPr b="1" lang="en-GB" sz="2300">
                <a:solidFill>
                  <a:srgbClr val="003060"/>
                </a:solidFill>
                <a:latin typeface="Libre Baskerville"/>
                <a:ea typeface="Arial"/>
                <a:cs typeface="Arial"/>
                <a:sym typeface="Arial"/>
              </a:rPr>
              <a:t>The Simple Fat Loss Formula Helping Women 45+ Lose Weight</a:t>
            </a:r>
            <a:endParaRPr b="1" sz="2300">
              <a:latin typeface="Arial"/>
              <a:ea typeface="Arial"/>
              <a:cs typeface="Arial"/>
              <a:sym typeface="Arial"/>
            </a:endParaRPr>
          </a:p>
          <a:p>
            <a:pPr indent="0" lvl="0" marL="0" rtl="0" algn="l">
              <a:lnSpc>
                <a:spcPct val="115000"/>
              </a:lnSpc>
              <a:spcBef>
                <a:spcPts val="2400"/>
              </a:spcBef>
              <a:spcAft>
                <a:spcPts val="0"/>
              </a:spcAft>
              <a:buClr>
                <a:schemeClr val="dk1"/>
              </a:buClr>
              <a:buSzPct val="47826"/>
              <a:buFont typeface="Arial"/>
              <a:buNone/>
            </a:pPr>
            <a:r>
              <a:rPr b="1" lang="en-GB" sz="2300">
                <a:solidFill>
                  <a:srgbClr val="003060"/>
                </a:solidFill>
                <a:latin typeface="Libre Baskerville"/>
                <a:ea typeface="Arial"/>
                <a:cs typeface="Arial"/>
                <a:sym typeface="Arial"/>
              </a:rPr>
              <a:t>The Power Of A Clear Roadmap &amp; Monthly Focus</a:t>
            </a:r>
            <a:endParaRPr b="1" sz="2300">
              <a:latin typeface="Arial"/>
              <a:ea typeface="Arial"/>
              <a:cs typeface="Arial"/>
              <a:sym typeface="Arial"/>
            </a:endParaRPr>
          </a:p>
          <a:p>
            <a:pPr indent="0" lvl="0" marL="0" rtl="0" algn="l">
              <a:lnSpc>
                <a:spcPct val="115000"/>
              </a:lnSpc>
              <a:spcBef>
                <a:spcPts val="2400"/>
              </a:spcBef>
              <a:spcAft>
                <a:spcPts val="0"/>
              </a:spcAft>
              <a:buClr>
                <a:schemeClr val="dk1"/>
              </a:buClr>
              <a:buSzPct val="47826"/>
              <a:buFont typeface="Arial"/>
              <a:buNone/>
            </a:pPr>
            <a:r>
              <a:rPr b="1" lang="en-GB" sz="2300">
                <a:solidFill>
                  <a:srgbClr val="003060"/>
                </a:solidFill>
                <a:latin typeface="Libre Baskerville"/>
                <a:ea typeface="Arial"/>
                <a:cs typeface="Arial"/>
                <a:sym typeface="Arial"/>
              </a:rPr>
              <a:t>Accountability &amp; Support That Keeps You Consistent</a:t>
            </a:r>
            <a:endParaRPr b="1" sz="2300">
              <a:latin typeface="Arial"/>
              <a:ea typeface="Arial"/>
              <a:cs typeface="Arial"/>
              <a:sym typeface="Arial"/>
            </a:endParaRPr>
          </a:p>
          <a:p>
            <a:pPr indent="0" lvl="0" marL="0" rtl="0" algn="ctr">
              <a:lnSpc>
                <a:spcPct val="115000"/>
              </a:lnSpc>
              <a:spcBef>
                <a:spcPts val="600"/>
              </a:spcBef>
              <a:spcAft>
                <a:spcPts val="0"/>
              </a:spcAft>
              <a:buNone/>
            </a:pPr>
            <a:r>
              <a:rPr b="1">
                <a:solidFill>
                  <a:srgbClr val="003060"/>
                </a:solidFill>
                <a:latin typeface="Libre Baskerville"/>
              </a:rPr>
              <a:t/>
            </a:r>
            <a:endParaRPr sz="2500">
              <a:solidFill>
                <a:srgbClr val="434343"/>
              </a:solidFill>
              <a:latin typeface="Lato"/>
              <a:ea typeface="Lato"/>
              <a:cs typeface="Lato"/>
              <a:sym typeface="Lato"/>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74" name="Shape 374"/>
        <p:cNvGrpSpPr/>
        <p:nvPr/>
      </p:nvGrpSpPr>
      <p:grpSpPr>
        <a:xfrm>
          <a:off x="0" y="0"/>
          <a:ext cx="0" cy="0"/>
          <a:chOff x="0" y="0"/>
          <a:chExt cx="0" cy="0"/>
        </a:xfrm>
      </p:grpSpPr>
      <p:sp>
        <p:nvSpPr>
          <p:cNvPr id="375" name="Google Shape;375;p66"/>
          <p:cNvSpPr txBox="1"/>
          <p:nvPr>
            <p:ph type="title"/>
          </p:nvPr>
        </p:nvSpPr>
        <p:spPr>
          <a:xfrm>
            <a:off x="311700" y="640050"/>
            <a:ext cx="8520600" cy="33852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n-GB" sz="4000">
                <a:solidFill>
                  <a:srgbClr val="003060"/>
                </a:solidFill>
                <a:latin typeface="Libre Baskerville"/>
                <a:ea typeface="Lato"/>
                <a:cs typeface="Lato"/>
                <a:sym typeface="Lato"/>
              </a:rPr>
              <a:t>In reality you have 3 options moving forward</a:t>
            </a:r>
            <a:br>
              <a:rPr b="1" lang="en-GB" sz="4000">
                <a:solidFill>
                  <a:srgbClr val="434343"/>
                </a:solidFill>
                <a:latin typeface="Lato"/>
                <a:ea typeface="Lato"/>
                <a:cs typeface="Lato"/>
                <a:sym typeface="Lato"/>
              </a:rPr>
            </a:br>
            <a:endParaRPr sz="4000">
              <a:solidFill>
                <a:srgbClr val="434343"/>
              </a:solidFill>
              <a:latin typeface="Lato"/>
              <a:ea typeface="Lato"/>
              <a:cs typeface="Lato"/>
              <a:sym typeface="Lato"/>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0" name="Shape 380"/>
        <p:cNvGrpSpPr/>
        <p:nvPr/>
      </p:nvGrpSpPr>
      <p:grpSpPr>
        <a:xfrm>
          <a:off x="0" y="0"/>
          <a:ext cx="0" cy="0"/>
          <a:chOff x="0" y="0"/>
          <a:chExt cx="0" cy="0"/>
        </a:xfrm>
      </p:grpSpPr>
      <p:sp>
        <p:nvSpPr>
          <p:cNvPr id="381" name="Google Shape;381;p67"/>
          <p:cNvSpPr txBox="1"/>
          <p:nvPr>
            <p:ph type="title"/>
          </p:nvPr>
        </p:nvSpPr>
        <p:spPr>
          <a:xfrm>
            <a:off x="311700" y="640050"/>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Libre Baskerville"/>
                <a:ea typeface="Lato"/>
                <a:cs typeface="Lato"/>
                <a:sym typeface="Lato"/>
              </a:rPr>
              <a:t>Option # 1</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Libre Baskerville"/>
                <a:ea typeface="Lato"/>
                <a:cs typeface="Lato"/>
                <a:sym typeface="Lato"/>
              </a:rPr>
              <a:t>Continue on after the reset on your own</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Libre Baskerville"/>
                <a:ea typeface="Lato"/>
                <a:cs typeface="Lato"/>
                <a:sym typeface="Lato"/>
              </a:rPr>
              <a:t>But will you stay consistent?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86" name="Shape 386"/>
        <p:cNvGrpSpPr/>
        <p:nvPr/>
      </p:nvGrpSpPr>
      <p:grpSpPr>
        <a:xfrm>
          <a:off x="0" y="0"/>
          <a:ext cx="0" cy="0"/>
          <a:chOff x="0" y="0"/>
          <a:chExt cx="0" cy="0"/>
        </a:xfrm>
      </p:grpSpPr>
      <p:sp>
        <p:nvSpPr>
          <p:cNvPr id="387" name="Google Shape;387;p68"/>
          <p:cNvSpPr txBox="1"/>
          <p:nvPr>
            <p:ph type="title"/>
          </p:nvPr>
        </p:nvSpPr>
        <p:spPr>
          <a:xfrm>
            <a:off x="242350" y="1206425"/>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Libre Baskerville"/>
                <a:ea typeface="Lato"/>
                <a:cs typeface="Lato"/>
                <a:sym typeface="Lato"/>
              </a:rPr>
              <a:t>Option # 2</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Libre Baskerville"/>
                <a:ea typeface="Lato"/>
                <a:cs typeface="Lato"/>
                <a:sym typeface="Lato"/>
              </a:rPr>
              <a:t>Do an expensive detox</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Libre Baskerville"/>
                <a:ea typeface="Lato"/>
                <a:cs typeface="Lato"/>
                <a:sym typeface="Lato"/>
              </a:rPr>
              <a:t>Lose weight and gain it back once you start eating normally again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2" name="Shape 392"/>
        <p:cNvGrpSpPr/>
        <p:nvPr/>
      </p:nvGrpSpPr>
      <p:grpSpPr>
        <a:xfrm>
          <a:off x="0" y="0"/>
          <a:ext cx="0" cy="0"/>
          <a:chOff x="0" y="0"/>
          <a:chExt cx="0" cy="0"/>
        </a:xfrm>
      </p:grpSpPr>
      <p:sp>
        <p:nvSpPr>
          <p:cNvPr id="393" name="Google Shape;393;p69"/>
          <p:cNvSpPr txBox="1"/>
          <p:nvPr>
            <p:ph type="title"/>
          </p:nvPr>
        </p:nvSpPr>
        <p:spPr>
          <a:xfrm>
            <a:off x="219225" y="1758300"/>
            <a:ext cx="8520600" cy="3385200"/>
          </a:xfrm>
          <a:prstGeom prst="rect">
            <a:avLst/>
          </a:prstGeom>
        </p:spPr>
        <p:txBody>
          <a:bodyPr anchorCtr="0" anchor="ctr" bIns="45700" lIns="91425" spcFirstLastPara="1" rIns="91425" wrap="square" tIns="45700">
            <a:normAutofit fontScale="90000"/>
          </a:bodyPr>
          <a:lstStyle/>
          <a:p>
            <a:pPr indent="0" lvl="0" marL="0" rtl="0" algn="ctr">
              <a:spcBef>
                <a:spcPts val="0"/>
              </a:spcBef>
              <a:spcAft>
                <a:spcPts val="0"/>
              </a:spcAft>
              <a:buNone/>
            </a:pPr>
            <a:r>
              <a:rPr b="1" lang="en-GB" sz="4000">
                <a:solidFill>
                  <a:srgbClr val="003060"/>
                </a:solidFill>
                <a:latin typeface="Libre Baskerville"/>
                <a:ea typeface="Lato"/>
                <a:cs typeface="Lato"/>
                <a:sym typeface="Lato"/>
              </a:rPr>
              <a:t>Option # 3</a:t>
            </a:r>
            <a:br>
              <a:rPr b="1" lang="en-GB" sz="4000">
                <a:solidFill>
                  <a:srgbClr val="434343"/>
                </a:solidFill>
                <a:latin typeface="Lato"/>
                <a:ea typeface="Lato"/>
                <a:cs typeface="Lato"/>
                <a:sym typeface="Lato"/>
              </a:rPr>
            </a:br>
            <a:br>
              <a:rPr b="1" lang="en-GB" sz="4000">
                <a:solidFill>
                  <a:srgbClr val="434343"/>
                </a:solidFill>
                <a:latin typeface="Lato"/>
                <a:ea typeface="Lato"/>
                <a:cs typeface="Lato"/>
                <a:sym typeface="Lato"/>
              </a:rPr>
            </a:br>
            <a:r>
              <a:rPr b="1" lang="en-GB" sz="4000">
                <a:solidFill>
                  <a:srgbClr val="003060"/>
                </a:solidFill>
                <a:latin typeface="Libre Baskerville"/>
                <a:ea typeface="Lato"/>
                <a:cs typeface="Lato"/>
                <a:sym typeface="Lato"/>
              </a:rPr>
              <a:t>Invest and join our brand new WLA summer challenge.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lang="en-GB" sz="4000">
                <a:solidFill>
                  <a:srgbClr val="003060"/>
                </a:solidFill>
                <a:latin typeface="Libre Baskerville"/>
                <a:ea typeface="Lato"/>
                <a:cs typeface="Lato"/>
                <a:sym typeface="Lato"/>
              </a:rPr>
              <a:t>Get every single tool needed to lose up to 2 stone in 12 weeks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l">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a:p>
            <a:pPr indent="0" lvl="0" marL="0" rtl="0" algn="ctr">
              <a:spcBef>
                <a:spcPts val="0"/>
              </a:spcBef>
              <a:spcAft>
                <a:spcPts val="0"/>
              </a:spcAft>
              <a:buNone/>
            </a:pPr>
            <a:r>
              <a:rPr b="1">
                <a:solidFill>
                  <a:srgbClr val="003060"/>
                </a:solidFill>
                <a:latin typeface="Libre Baskerville"/>
              </a:rPr>
              <a:t/>
            </a:r>
            <a:endParaRPr b="1" sz="4000">
              <a:solidFill>
                <a:srgbClr val="434343"/>
              </a:solidFill>
              <a:latin typeface="Lato"/>
              <a:ea typeface="Lato"/>
              <a:cs typeface="Lato"/>
              <a:sym typeface="La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398" name="Shape 398"/>
        <p:cNvGrpSpPr/>
        <p:nvPr/>
      </p:nvGrpSpPr>
      <p:grpSpPr>
        <a:xfrm>
          <a:off x="0" y="0"/>
          <a:ext cx="0" cy="0"/>
          <a:chOff x="0" y="0"/>
          <a:chExt cx="0" cy="0"/>
        </a:xfrm>
      </p:grpSpPr>
      <p:sp>
        <p:nvSpPr>
          <p:cNvPr id="399" name="Google Shape;399;p7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0" i="0" lang="en-GB" sz="1700" u="none" cap="none" strike="noStrike">
                <a:solidFill>
                  <a:srgbClr val="003060"/>
                </a:solidFill>
                <a:latin typeface="Alegreya Sans"/>
                <a:ea typeface="Alegreya Sans"/>
                <a:cs typeface="Alegreya Sans"/>
                <a:sym typeface="Alegreya Sans"/>
              </a:rPr>
              <a:t>Today I want to </a:t>
            </a:r>
            <a:r>
              <a:rPr lang="en-GB" sz="1700">
                <a:solidFill>
                  <a:srgbClr val="003060"/>
                </a:solidFill>
                <a:latin typeface="Alegreya Sans"/>
                <a:ea typeface="Alegreya Sans"/>
                <a:cs typeface="Alegreya Sans"/>
                <a:sym typeface="Alegreya Sans"/>
              </a:rPr>
              <a:t>invite</a:t>
            </a:r>
            <a:r>
              <a:rPr lang="en-GB" sz="1700">
                <a:solidFill>
                  <a:srgbClr val="003060"/>
                </a:solidFill>
                <a:latin typeface="Alegreya Sans"/>
                <a:ea typeface="Alegreya Sans"/>
                <a:cs typeface="Alegreya Sans"/>
                <a:sym typeface="Alegreya Sans"/>
              </a:rPr>
              <a:t> to our brand new</a:t>
            </a:r>
            <a:endParaRPr/>
          </a:p>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The WLA 12 Week Summer Challenge</a:t>
            </a:r>
            <a:endParaRPr/>
          </a:p>
          <a:p>
            <a:pPr indent="0" lvl="0" marL="0" marR="0" rtl="0" algn="ctr">
              <a:spcBef>
                <a:spcPts val="400"/>
              </a:spcBef>
              <a:spcAft>
                <a:spcPts val="0"/>
              </a:spcAft>
              <a:buNone/>
            </a:pPr>
            <a:r>
              <a:rPr b="0" i="1" lang="en-GB" sz="1600" u="none" cap="none" strike="noStrike">
                <a:solidFill>
                  <a:srgbClr val="F79F83"/>
                </a:solidFill>
                <a:latin typeface="Libre Baskerville"/>
                <a:ea typeface="Libre Baskerville"/>
                <a:cs typeface="Libre Baskerville"/>
                <a:sym typeface="Libre Baskerville"/>
              </a:rPr>
              <a:t>(The WLA's new game-changing 12-week weight loss program)</a:t>
            </a:r>
            <a:br>
              <a:rPr b="0" i="1" lang="en-GB" sz="1600" u="none" cap="none" strike="noStrike">
                <a:solidFill>
                  <a:srgbClr val="F79F83"/>
                </a:solidFill>
                <a:latin typeface="Libre Baskerville"/>
                <a:ea typeface="Libre Baskerville"/>
                <a:cs typeface="Libre Baskerville"/>
                <a:sym typeface="Libre Baskerville"/>
              </a:rPr>
            </a:br>
            <a:endParaRPr b="0" i="1" sz="1600" u="none" cap="none" strike="noStrike">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i="1" lang="en-GB" sz="1600">
                <a:solidFill>
                  <a:srgbClr val="F79F83"/>
                </a:solidFill>
                <a:latin typeface="Libre Baskerville"/>
                <a:ea typeface="Libre Baskerville"/>
                <a:cs typeface="Libre Baskerville"/>
                <a:sym typeface="Libre Baskerville"/>
              </a:rPr>
              <a:t>Kick off Monday 8th June</a:t>
            </a:r>
            <a:endParaRPr i="1" sz="1600">
              <a:solidFill>
                <a:srgbClr val="F79F83"/>
              </a:solidFill>
              <a:latin typeface="Libre Baskerville"/>
              <a:ea typeface="Libre Baskerville"/>
              <a:cs typeface="Libre Baskerville"/>
              <a:sym typeface="Libre Baskerville"/>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Lose up to 2 stone this summer</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r>
              <a:rPr lang="en-GB" sz="1800">
                <a:solidFill>
                  <a:srgbClr val="003060"/>
                </a:solidFill>
                <a:latin typeface="Alegreya Sans"/>
                <a:ea typeface="Alegreya Sans"/>
                <a:cs typeface="Alegreya Sans"/>
                <a:sym typeface="Alegreya Sans"/>
              </a:rPr>
              <a:t>Feel confident in your clothes again</a:t>
            </a:r>
            <a:endParaRPr sz="1800">
              <a:solidFill>
                <a:srgbClr val="003060"/>
              </a:solidFill>
              <a:latin typeface="Alegreya Sans"/>
              <a:ea typeface="Alegreya Sans"/>
              <a:cs typeface="Alegreya Sans"/>
              <a:sym typeface="Alegreya Sans"/>
            </a:endParaRPr>
          </a:p>
          <a:p>
            <a:pPr indent="0" lvl="0" marL="0" marR="0" rtl="0" algn="ctr">
              <a:spcBef>
                <a:spcPts val="400"/>
              </a:spcBef>
              <a:spcAft>
                <a:spcPts val="0"/>
              </a:spcAft>
              <a:buNone/>
            </a:pPr>
            <a:br>
              <a:rPr lang="en-GB" sz="1800">
                <a:solidFill>
                  <a:srgbClr val="003060"/>
                </a:solidFill>
                <a:latin typeface="Alegreya Sans"/>
                <a:ea typeface="Alegreya Sans"/>
                <a:cs typeface="Alegreya Sans"/>
                <a:sym typeface="Alegreya Sans"/>
              </a:rPr>
            </a:br>
            <a:r>
              <a:rPr lang="en-GB" sz="1800">
                <a:solidFill>
                  <a:srgbClr val="003060"/>
                </a:solidFill>
                <a:latin typeface="Alegreya Sans"/>
                <a:ea typeface="Alegreya Sans"/>
                <a:cs typeface="Alegreya Sans"/>
                <a:sym typeface="Alegreya Sans"/>
              </a:rPr>
              <a:t>Take back control around food without miserable diets</a:t>
            </a:r>
            <a:endParaRPr sz="1800">
              <a:solidFill>
                <a:srgbClr val="003060"/>
              </a:solidFill>
              <a:latin typeface="Alegreya Sans"/>
              <a:ea typeface="Alegreya Sans"/>
              <a:cs typeface="Alegreya Sans"/>
              <a:sym typeface="Alegreya Sans"/>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3" name="Shape 403"/>
        <p:cNvGrpSpPr/>
        <p:nvPr/>
      </p:nvGrpSpPr>
      <p:grpSpPr>
        <a:xfrm>
          <a:off x="0" y="0"/>
          <a:ext cx="0" cy="0"/>
          <a:chOff x="0" y="0"/>
          <a:chExt cx="0" cy="0"/>
        </a:xfrm>
      </p:grpSpPr>
      <p:sp>
        <p:nvSpPr>
          <p:cNvPr id="404" name="Google Shape;404;p7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1400"/>
              </a:spcBef>
              <a:spcAft>
                <a:spcPts val="0"/>
              </a:spcAft>
              <a:buNone/>
            </a:pPr>
            <a:r>
              <a:rPr b="1" i="1" lang="en-GB" sz="2600">
                <a:solidFill>
                  <a:srgbClr val="F79F83"/>
                </a:solidFill>
                <a:latin typeface="Libre Baskerville"/>
                <a:ea typeface="Libre Baskerville"/>
                <a:cs typeface="Libre Baskerville"/>
                <a:sym typeface="Libre Baskerville"/>
              </a:rPr>
              <a:t>BIGGEST BONUS OF THE YEAR</a:t>
            </a:r>
            <a:br>
              <a:rPr b="1" i="1" lang="en-GB" sz="2600">
                <a:solidFill>
                  <a:srgbClr val="F79F83"/>
                </a:solidFill>
                <a:latin typeface="Libre Baskerville"/>
                <a:ea typeface="Libre Baskerville"/>
                <a:cs typeface="Libre Baskerville"/>
                <a:sym typeface="Libre Baskerville"/>
              </a:rPr>
            </a:br>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Join our brand new WLA 12 Week Summer Challenge </a:t>
            </a:r>
            <a:endParaRPr b="1" sz="1600">
              <a:solidFill>
                <a:schemeClr val="dk2"/>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1600">
                <a:solidFill>
                  <a:schemeClr val="dk2"/>
                </a:solidFill>
                <a:latin typeface="Libre Baskerville"/>
                <a:ea typeface="Libre Baskerville"/>
                <a:cs typeface="Libre Baskerville"/>
                <a:sym typeface="Libre Baskerville"/>
              </a:rPr>
              <a:t>+ get a whole year of coaching INCLUDED for FREE</a:t>
            </a:r>
            <a:endParaRPr b="1" sz="1800">
              <a:solidFill>
                <a:schemeClr val="dk2"/>
              </a:solidFill>
              <a:latin typeface="Alegreya Sans"/>
              <a:ea typeface="Alegreya Sans"/>
              <a:cs typeface="Alegreya Sans"/>
              <a:sym typeface="Alegreya Sans"/>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08" name="Shape 408"/>
        <p:cNvGrpSpPr/>
        <p:nvPr/>
      </p:nvGrpSpPr>
      <p:grpSpPr>
        <a:xfrm>
          <a:off x="0" y="0"/>
          <a:ext cx="0" cy="0"/>
          <a:chOff x="0" y="0"/>
          <a:chExt cx="0" cy="0"/>
        </a:xfrm>
      </p:grpSpPr>
      <p:sp>
        <p:nvSpPr>
          <p:cNvPr id="409" name="Google Shape;409;p7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a:solidFill/>
              </a:rPr>
              <a:t/>
            </a:r>
            <a:endParaRPr sz="1800">
              <a:solidFill>
                <a:srgbClr val="003060"/>
              </a:solidFill>
              <a:latin typeface="Alegreya Sans"/>
              <a:ea typeface="Alegreya Sans"/>
              <a:cs typeface="Alegreya Sans"/>
              <a:sym typeface="Alegreya Sans"/>
            </a:endParaRPr>
          </a:p>
        </p:txBody>
      </p:sp>
      <p:pic>
        <p:nvPicPr>
          <p:cNvPr id="410" name="Google Shape;410;p72" title="Screenshot 2026-06-04 at 15.48.55.png"/>
          <p:cNvPicPr preferRelativeResize="0"/>
          <p:nvPr/>
        </p:nvPicPr>
        <p:blipFill>
          <a:blip r:embed="rId3">
            <a:alphaModFix/>
          </a:blip>
          <a:stretch>
            <a:fillRect/>
          </a:stretch>
        </p:blipFill>
        <p:spPr>
          <a:xfrm>
            <a:off x="0" y="677439"/>
            <a:ext cx="9144000" cy="3788621"/>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14" name="Shape 414"/>
        <p:cNvGrpSpPr/>
        <p:nvPr/>
      </p:nvGrpSpPr>
      <p:grpSpPr>
        <a:xfrm>
          <a:off x="0" y="0"/>
          <a:ext cx="0" cy="0"/>
          <a:chOff x="0" y="0"/>
          <a:chExt cx="0" cy="0"/>
        </a:xfrm>
      </p:grpSpPr>
      <p:sp>
        <p:nvSpPr>
          <p:cNvPr id="415" name="Google Shape;415;p7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Summer Challenge </a:t>
            </a:r>
            <a:endParaRPr/>
          </a:p>
          <a:p>
            <a:pPr indent="0" lvl="0" marL="0" marR="0" rtl="0" algn="ctr">
              <a:spcBef>
                <a:spcPts val="400"/>
              </a:spcBef>
              <a:spcAft>
                <a:spcPts val="0"/>
              </a:spcAft>
              <a:buNone/>
            </a:pPr>
            <a:r>
              <a:rPr b="1" i="1" lang="en-GB" sz="1800">
                <a:solidFill>
                  <a:srgbClr val="F79F83"/>
                </a:solidFill>
                <a:latin typeface="Libre Baskerville"/>
                <a:ea typeface="Libre Baskerville"/>
                <a:cs typeface="Libre Baskerville"/>
                <a:sym typeface="Libre Baskerville"/>
              </a:rPr>
              <a:t>To help you lose up to 2 stone</a:t>
            </a:r>
            <a:endParaRPr/>
          </a:p>
        </p:txBody>
      </p:sp>
      <p:sp>
        <p:nvSpPr>
          <p:cNvPr id="416" name="Google Shape;416;p73"/>
          <p:cNvSpPr/>
          <p:nvPr/>
        </p:nvSpPr>
        <p:spPr>
          <a:xfrm>
            <a:off x="65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1</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The WLA Nutrition Formula</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Flexible approach to nutrition with everyday foods. No foods excluded</a:t>
            </a:r>
            <a:r>
              <a:rPr lang="en-GB" sz="1400">
                <a:solidFill>
                  <a:srgbClr val="003060"/>
                </a:solidFill>
                <a:latin typeface="Alegreya Sans"/>
                <a:ea typeface="Alegreya Sans"/>
                <a:cs typeface="Alegreya Sans"/>
                <a:sym typeface="Alegreya Sans"/>
              </a:rPr>
              <a:t>. W</a:t>
            </a:r>
            <a:r>
              <a:rPr b="0" i="0" lang="en-GB" sz="1400" u="none" cap="none" strike="noStrike">
                <a:solidFill>
                  <a:srgbClr val="003060"/>
                </a:solidFill>
                <a:latin typeface="Alegreya Sans"/>
                <a:ea typeface="Alegreya Sans"/>
                <a:cs typeface="Alegreya Sans"/>
                <a:sym typeface="Alegreya Sans"/>
              </a:rPr>
              <a:t>e balance for results and enjoyment. Feel lighter within days, lose weight consistently, increase energy and say goodbye to fad diets.</a:t>
            </a:r>
            <a:endParaRPr/>
          </a:p>
        </p:txBody>
      </p:sp>
      <p:sp>
        <p:nvSpPr>
          <p:cNvPr id="417" name="Google Shape;417;p73"/>
          <p:cNvSpPr/>
          <p:nvPr/>
        </p:nvSpPr>
        <p:spPr>
          <a:xfrm>
            <a:off x="332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2</a:t>
            </a:r>
            <a:endParaRPr/>
          </a:p>
          <a:p>
            <a:pPr indent="0" lvl="0" marL="0" marR="0" rtl="0" algn="ctr">
              <a:spcBef>
                <a:spcPts val="600"/>
              </a:spcBef>
              <a:spcAft>
                <a:spcPts val="0"/>
              </a:spcAft>
              <a:buNone/>
            </a:pPr>
            <a:r>
              <a:rPr b="1" lang="en-GB" sz="1700">
                <a:solidFill>
                  <a:srgbClr val="003060"/>
                </a:solidFill>
                <a:latin typeface="Libre Baskerville"/>
                <a:ea typeface="Libre Baskerville"/>
                <a:cs typeface="Libre Baskerville"/>
                <a:sym typeface="Libre Baskerville"/>
              </a:rPr>
              <a:t>12 Week Weight Loss Roadmap + </a:t>
            </a:r>
            <a:r>
              <a:rPr b="1" lang="en-GB" sz="1700">
                <a:solidFill>
                  <a:srgbClr val="003060"/>
                </a:solidFill>
                <a:latin typeface="Libre Baskerville"/>
                <a:ea typeface="Libre Baskerville"/>
                <a:cs typeface="Libre Baskerville"/>
                <a:sym typeface="Libre Baskerville"/>
              </a:rPr>
              <a:t>Monthly Focus</a:t>
            </a:r>
            <a:endParaRPr/>
          </a:p>
          <a:p>
            <a:pPr indent="0" lvl="0" marL="0" marR="0" rtl="0" algn="ctr">
              <a:spcBef>
                <a:spcPts val="1200"/>
              </a:spcBef>
              <a:spcAft>
                <a:spcPts val="0"/>
              </a:spcAft>
              <a:buNone/>
            </a:pPr>
            <a:r>
              <a:rPr lang="en-GB" sz="1400">
                <a:solidFill>
                  <a:srgbClr val="003060"/>
                </a:solidFill>
                <a:latin typeface="Alegreya Sans"/>
                <a:ea typeface="Alegreya Sans"/>
                <a:cs typeface="Alegreya Sans"/>
                <a:sym typeface="Alegreya Sans"/>
              </a:rPr>
              <a:t>Have a clear start date, a goal to work towards and a roadmap that keeps you focused instead of constantly “starting again”. Track your monthly progress and stay accountable to your goals.</a:t>
            </a:r>
            <a:endParaRPr sz="1300">
              <a:solidFill>
                <a:srgbClr val="003060"/>
              </a:solidFill>
              <a:latin typeface="Alegreya Sans"/>
              <a:ea typeface="Alegreya Sans"/>
              <a:cs typeface="Alegreya Sans"/>
              <a:sym typeface="Alegreya Sans"/>
            </a:endParaRPr>
          </a:p>
        </p:txBody>
      </p:sp>
      <p:sp>
        <p:nvSpPr>
          <p:cNvPr id="418" name="Google Shape;418;p73"/>
          <p:cNvSpPr/>
          <p:nvPr/>
        </p:nvSpPr>
        <p:spPr>
          <a:xfrm>
            <a:off x="5992000" y="1300000"/>
            <a:ext cx="2499900" cy="3264900"/>
          </a:xfrm>
          <a:prstGeom prst="roundRect">
            <a:avLst>
              <a:gd fmla="val 16667" name="adj"/>
            </a:avLst>
          </a:prstGeom>
          <a:solidFill>
            <a:srgbClr val="EFE6DE"/>
          </a:solidFill>
          <a:ln cap="flat" cmpd="sng" w="19050">
            <a:solidFill>
              <a:srgbClr val="F79F83"/>
            </a:solidFill>
            <a:prstDash val="solid"/>
            <a:round/>
            <a:headEnd len="sm" w="sm" type="none"/>
            <a:tailEnd len="sm" w="sm" type="none"/>
          </a:ln>
        </p:spPr>
        <p:txBody>
          <a:bodyPr anchorCtr="0" anchor="t" bIns="203200" lIns="203200" spcFirstLastPara="1" rIns="203200" wrap="square" tIns="20320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Step 3</a:t>
            </a:r>
            <a:endParaRPr/>
          </a:p>
          <a:p>
            <a:pPr indent="0" lvl="0" marL="0" marR="0" rtl="0" algn="ctr">
              <a:spcBef>
                <a:spcPts val="600"/>
              </a:spcBef>
              <a:spcAft>
                <a:spcPts val="0"/>
              </a:spcAft>
              <a:buNone/>
            </a:pPr>
            <a:r>
              <a:rPr b="1" i="0" lang="en-GB" sz="1700" u="none" cap="none" strike="noStrike">
                <a:solidFill>
                  <a:srgbClr val="003060"/>
                </a:solidFill>
                <a:latin typeface="Libre Baskerville"/>
                <a:ea typeface="Libre Baskerville"/>
                <a:cs typeface="Libre Baskerville"/>
                <a:sym typeface="Libre Baskerville"/>
              </a:rPr>
              <a:t>Expert Coaching &amp; High A</a:t>
            </a:r>
            <a:r>
              <a:rPr b="1" lang="en-GB" sz="1700">
                <a:solidFill>
                  <a:srgbClr val="003060"/>
                </a:solidFill>
                <a:latin typeface="Libre Baskerville"/>
                <a:ea typeface="Libre Baskerville"/>
                <a:cs typeface="Libre Baskerville"/>
                <a:sym typeface="Libre Baskerville"/>
              </a:rPr>
              <a:t>ccountability</a:t>
            </a:r>
            <a:endParaRPr/>
          </a:p>
          <a:p>
            <a:pPr indent="0" lvl="0" marL="0" marR="0" rtl="0" algn="ctr">
              <a:spcBef>
                <a:spcPts val="1200"/>
              </a:spcBef>
              <a:spcAft>
                <a:spcPts val="0"/>
              </a:spcAft>
              <a:buNone/>
            </a:pPr>
            <a:r>
              <a:rPr b="0" i="0" lang="en-GB" sz="1400" u="none" cap="none" strike="noStrike">
                <a:solidFill>
                  <a:srgbClr val="003060"/>
                </a:solidFill>
                <a:latin typeface="Alegreya Sans"/>
                <a:ea typeface="Alegreya Sans"/>
                <a:cs typeface="Alegreya Sans"/>
                <a:sym typeface="Alegreya Sans"/>
              </a:rPr>
              <a:t>High-level coaching and accountability so you keep showing up</a:t>
            </a:r>
            <a:r>
              <a:rPr lang="en-GB" sz="1400">
                <a:solidFill>
                  <a:srgbClr val="003060"/>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even on the harder days. Expert coaching to help you stay consistent, make better decisions and achieve better results.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2" name="Shape 422"/>
        <p:cNvGrpSpPr/>
        <p:nvPr/>
      </p:nvGrpSpPr>
      <p:grpSpPr>
        <a:xfrm>
          <a:off x="0" y="0"/>
          <a:ext cx="0" cy="0"/>
          <a:chOff x="0" y="0"/>
          <a:chExt cx="0" cy="0"/>
        </a:xfrm>
      </p:grpSpPr>
      <p:sp>
        <p:nvSpPr>
          <p:cNvPr id="423" name="Google Shape;423;p74"/>
          <p:cNvSpPr txBox="1"/>
          <p:nvPr/>
        </p:nvSpPr>
        <p:spPr>
          <a:xfrm>
            <a:off x="457200" y="300000"/>
            <a:ext cx="8229600" cy="7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200" u="none" cap="none" strike="noStrike">
                <a:solidFill>
                  <a:srgbClr val="003060"/>
                </a:solidFill>
                <a:latin typeface="Libre Baskerville"/>
                <a:ea typeface="Libre Baskerville"/>
                <a:cs typeface="Libre Baskerville"/>
                <a:sym typeface="Libre Baskerville"/>
              </a:rPr>
              <a:t>What's Included</a:t>
            </a:r>
            <a:endParaRPr/>
          </a:p>
        </p:txBody>
      </p:sp>
      <p:sp>
        <p:nvSpPr>
          <p:cNvPr id="424" name="Google Shape;424;p74"/>
          <p:cNvSpPr txBox="1"/>
          <p:nvPr/>
        </p:nvSpPr>
        <p:spPr>
          <a:xfrm>
            <a:off x="600000" y="1180000"/>
            <a:ext cx="3792000" cy="37000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12 Week WLA Summer Challenge</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Monthly Accountability + Results Tracker</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Weekly LIVE Zoom Coaching Sessions With Anna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recipes added every week</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New fat loss meal guide dropped every Friday</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Daily Coaching &amp; Accountability Support</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Female-Only Coaching Community</a:t>
            </a:r>
            <a:endParaRPr/>
          </a:p>
        </p:txBody>
      </p:sp>
      <p:sp>
        <p:nvSpPr>
          <p:cNvPr id="425" name="Google Shape;425;p74"/>
          <p:cNvSpPr txBox="1"/>
          <p:nvPr/>
        </p:nvSpPr>
        <p:spPr>
          <a:xfrm>
            <a:off x="4752000" y="1180000"/>
            <a:ext cx="4051200" cy="36999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ALL WLA Challenges + Resets For 12 Months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The WLA Nutrition Formula Masterclass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WLA Recipe Collection with 500+ recipes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Movement Classes With Linda</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WLA Nutrition &amp; Lifestyle Guides</a:t>
            </a:r>
            <a:endParaRPr/>
          </a:p>
          <a:p>
            <a:pPr indent="0" lvl="0" marL="0" marR="0" rtl="0" algn="l">
              <a:spcBef>
                <a:spcPts val="1000"/>
              </a:spcBef>
              <a:spcAft>
                <a:spcPts val="0"/>
              </a:spcAft>
              <a:buNone/>
            </a:pP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Access To The Brand New Tools (including new app once released)</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29" name="Shape 429"/>
        <p:cNvGrpSpPr/>
        <p:nvPr/>
      </p:nvGrpSpPr>
      <p:grpSpPr>
        <a:xfrm>
          <a:off x="0" y="0"/>
          <a:ext cx="0" cy="0"/>
          <a:chOff x="0" y="0"/>
          <a:chExt cx="0" cy="0"/>
        </a:xfrm>
      </p:grpSpPr>
      <p:sp>
        <p:nvSpPr>
          <p:cNvPr id="430" name="Google Shape;430;p75"/>
          <p:cNvSpPr txBox="1"/>
          <p:nvPr/>
        </p:nvSpPr>
        <p:spPr>
          <a:xfrm>
            <a:off x="457200" y="280000"/>
            <a:ext cx="8229600" cy="45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1400" u="none" cap="none" strike="noStrike">
                <a:solidFill>
                  <a:srgbClr val="F79F83"/>
                </a:solidFill>
                <a:latin typeface="Alegreya Sans"/>
                <a:ea typeface="Alegreya Sans"/>
                <a:cs typeface="Alegreya Sans"/>
                <a:sym typeface="Alegreya Sans"/>
              </a:rPr>
              <a:t>SPECIAL ONE-OFF BONUS</a:t>
            </a:r>
            <a:endParaRPr/>
          </a:p>
        </p:txBody>
      </p:sp>
      <p:sp>
        <p:nvSpPr>
          <p:cNvPr id="431" name="Google Shape;431;p75"/>
          <p:cNvSpPr txBox="1"/>
          <p:nvPr/>
        </p:nvSpPr>
        <p:spPr>
          <a:xfrm>
            <a:off x="457200" y="750000"/>
            <a:ext cx="8229600" cy="140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Join the 12 Week Summer Challenge</a:t>
            </a:r>
            <a:endParaRPr/>
          </a:p>
          <a:p>
            <a:pPr indent="0" lvl="0" marL="0" marR="0" rtl="0" algn="ctr">
              <a:spcBef>
                <a:spcPts val="6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 get the whole year of coaching for FREE</a:t>
            </a:r>
            <a:endParaRPr/>
          </a:p>
        </p:txBody>
      </p:sp>
      <p:sp>
        <p:nvSpPr>
          <p:cNvPr id="432" name="Google Shape;432;p75"/>
          <p:cNvSpPr/>
          <p:nvPr/>
        </p:nvSpPr>
        <p:spPr>
          <a:xfrm>
            <a:off x="1500000" y="2200000"/>
            <a:ext cx="6144000" cy="2600000"/>
          </a:xfrm>
          <a:prstGeom prst="roundRect">
            <a:avLst>
              <a:gd fmla="val 16667" name="adj"/>
            </a:avLst>
          </a:prstGeom>
          <a:solidFill>
            <a:srgbClr val="FDEEE7"/>
          </a:solidFill>
          <a:ln cap="flat" cmpd="sng" w="19050">
            <a:solidFill>
              <a:srgbClr val="F79F8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a:solidFill/>
              </a:rPr>
              <a:t/>
            </a:r>
            <a:endParaRPr b="0" i="0" sz="1800" u="none" cap="none" strike="noStrike">
              <a:solidFill>
                <a:schemeClr val="dk1"/>
              </a:solidFill>
              <a:latin typeface="Calibri"/>
              <a:ea typeface="Calibri"/>
              <a:cs typeface="Calibri"/>
              <a:sym typeface="Calibri"/>
            </a:endParaRPr>
          </a:p>
        </p:txBody>
      </p:sp>
      <p:sp>
        <p:nvSpPr>
          <p:cNvPr id="433" name="Google Shape;433;p75"/>
          <p:cNvSpPr txBox="1"/>
          <p:nvPr/>
        </p:nvSpPr>
        <p:spPr>
          <a:xfrm>
            <a:off x="1900000" y="2420000"/>
            <a:ext cx="5344000" cy="216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Fat Loss Meal Guides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200+ Fresh Weekly Recipes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12 Monthly Sprint Challenges</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52 Weekly LIVE Coaching Zooms with Anna</a:t>
            </a:r>
            <a:endParaRPr/>
          </a:p>
          <a:p>
            <a:pPr indent="0" lvl="0" marL="0" marR="0" rtl="0" algn="l">
              <a:spcBef>
                <a:spcPts val="1200"/>
              </a:spcBef>
              <a:spcAft>
                <a:spcPts val="0"/>
              </a:spcAft>
              <a:buNone/>
            </a:pPr>
            <a:r>
              <a:rPr b="1" i="0" lang="en-GB" sz="1700" u="none" cap="none" strike="noStrike">
                <a:solidFill>
                  <a:srgbClr val="F79F83"/>
                </a:solidFill>
                <a:latin typeface="Alegreya Sans"/>
                <a:ea typeface="Alegreya Sans"/>
                <a:cs typeface="Alegreya Sans"/>
                <a:sym typeface="Alegreya Sans"/>
              </a:rPr>
              <a:t>✦  </a:t>
            </a:r>
            <a:r>
              <a:rPr b="0" i="0" lang="en-GB" sz="1700" u="none" cap="none" strike="noStrike">
                <a:solidFill>
                  <a:srgbClr val="003060"/>
                </a:solidFill>
                <a:latin typeface="Alegreya Sans"/>
                <a:ea typeface="Alegreya Sans"/>
                <a:cs typeface="Alegreya Sans"/>
                <a:sym typeface="Alegreya Sans"/>
              </a:rPr>
              <a:t>365 Days of Daily Coaching &amp; Support</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37" name="Shape 437"/>
        <p:cNvGrpSpPr/>
        <p:nvPr/>
      </p:nvGrpSpPr>
      <p:grpSpPr>
        <a:xfrm>
          <a:off x="0" y="0"/>
          <a:ext cx="0" cy="0"/>
          <a:chOff x="0" y="0"/>
          <a:chExt cx="0" cy="0"/>
        </a:xfrm>
      </p:grpSpPr>
      <p:sp>
        <p:nvSpPr>
          <p:cNvPr id="438" name="Google Shape;438;p76"/>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Access To Our Members Area </a:t>
            </a:r>
            <a:endParaRPr/>
          </a:p>
        </p:txBody>
      </p:sp>
      <p:pic>
        <p:nvPicPr>
          <p:cNvPr id="439" name="Google Shape;439;p76" title="Screenshot 2026-06-04 at 16.08.00.png"/>
          <p:cNvPicPr preferRelativeResize="0"/>
          <p:nvPr/>
        </p:nvPicPr>
        <p:blipFill>
          <a:blip r:embed="rId3">
            <a:alphaModFix/>
          </a:blip>
          <a:stretch>
            <a:fillRect/>
          </a:stretch>
        </p:blipFill>
        <p:spPr>
          <a:xfrm>
            <a:off x="413769" y="914800"/>
            <a:ext cx="8388480" cy="3923901"/>
          </a:xfrm>
          <a:prstGeom prst="rect">
            <a:avLst/>
          </a:prstGeom>
          <a:noFill/>
          <a:ln>
            <a:noFill/>
          </a:ln>
        </p:spPr>
      </p:pic>
      <p:pic>
        <p:nvPicPr>
          <p:cNvPr id="440" name="Google Shape;440;p76" title="Screenshot 2026-06-04 at 16.08.00.png"/>
          <p:cNvPicPr preferRelativeResize="0"/>
          <p:nvPr/>
        </p:nvPicPr>
        <p:blipFill>
          <a:blip r:embed="rId3">
            <a:alphaModFix/>
          </a:blip>
          <a:stretch>
            <a:fillRect/>
          </a:stretch>
        </p:blipFill>
        <p:spPr>
          <a:xfrm>
            <a:off x="135350" y="914800"/>
            <a:ext cx="8388526" cy="3923901"/>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44" name="Shape 444"/>
        <p:cNvGrpSpPr/>
        <p:nvPr/>
      </p:nvGrpSpPr>
      <p:grpSpPr>
        <a:xfrm>
          <a:off x="0" y="0"/>
          <a:ext cx="0" cy="0"/>
          <a:chOff x="0" y="0"/>
          <a:chExt cx="0" cy="0"/>
        </a:xfrm>
      </p:grpSpPr>
      <p:sp>
        <p:nvSpPr>
          <p:cNvPr id="445" name="Google Shape;445;p7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700">
                <a:solidFill>
                  <a:srgbClr val="003060"/>
                </a:solidFill>
                <a:latin typeface="Libre Baskerville"/>
                <a:ea typeface="Libre Baskerville"/>
                <a:cs typeface="Libre Baskerville"/>
                <a:sym typeface="Libre Baskerville"/>
              </a:rPr>
              <a:t>Brand New Fat Loss Meal Guide Every Week</a:t>
            </a:r>
            <a:endParaRPr sz="1300"/>
          </a:p>
        </p:txBody>
      </p:sp>
      <p:pic>
        <p:nvPicPr>
          <p:cNvPr id="446" name="Google Shape;446;p77" title="Screenshot 2026-06-04 at 16.10.05.png"/>
          <p:cNvPicPr preferRelativeResize="0"/>
          <p:nvPr/>
        </p:nvPicPr>
        <p:blipFill rotWithShape="1">
          <a:blip r:embed="rId3">
            <a:alphaModFix/>
          </a:blip>
          <a:srcRect b="0" l="872" r="0" t="0"/>
          <a:stretch/>
        </p:blipFill>
        <p:spPr>
          <a:xfrm>
            <a:off x="457200" y="844675"/>
            <a:ext cx="8391773" cy="3923999"/>
          </a:xfrm>
          <a:prstGeom prst="rect">
            <a:avLst/>
          </a:prstGeom>
          <a:noFill/>
          <a:ln>
            <a:noFill/>
          </a:ln>
        </p:spPr>
      </p:pic>
      <p:pic>
        <p:nvPicPr>
          <p:cNvPr id="447" name="Google Shape;447;p77" title="Screenshot 2026-06-04 at 16.10.05.png"/>
          <p:cNvPicPr preferRelativeResize="0"/>
          <p:nvPr/>
        </p:nvPicPr>
        <p:blipFill>
          <a:blip r:embed="rId3">
            <a:alphaModFix/>
          </a:blip>
          <a:stretch>
            <a:fillRect/>
          </a:stretch>
        </p:blipFill>
        <p:spPr>
          <a:xfrm>
            <a:off x="395650" y="899463"/>
            <a:ext cx="8229602" cy="3814424"/>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1" name="Shape 451"/>
        <p:cNvGrpSpPr/>
        <p:nvPr/>
      </p:nvGrpSpPr>
      <p:grpSpPr>
        <a:xfrm>
          <a:off x="0" y="0"/>
          <a:ext cx="0" cy="0"/>
          <a:chOff x="0" y="0"/>
          <a:chExt cx="0" cy="0"/>
        </a:xfrm>
      </p:grpSpPr>
      <p:sp>
        <p:nvSpPr>
          <p:cNvPr id="452" name="Google Shape;452;p7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Get Hands on Personalised Advice </a:t>
            </a:r>
            <a:endParaRPr/>
          </a:p>
        </p:txBody>
      </p:sp>
      <p:pic>
        <p:nvPicPr>
          <p:cNvPr id="453" name="Google Shape;453;p78" title="Screenshot 2026-06-04 at 16.09.06.png"/>
          <p:cNvPicPr preferRelativeResize="0"/>
          <p:nvPr/>
        </p:nvPicPr>
        <p:blipFill>
          <a:blip r:embed="rId3">
            <a:alphaModFix/>
          </a:blip>
          <a:stretch>
            <a:fillRect/>
          </a:stretch>
        </p:blipFill>
        <p:spPr>
          <a:xfrm>
            <a:off x="152400" y="1067100"/>
            <a:ext cx="8839204" cy="3655667"/>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57" name="Shape 457"/>
        <p:cNvGrpSpPr/>
        <p:nvPr/>
      </p:nvGrpSpPr>
      <p:grpSpPr>
        <a:xfrm>
          <a:off x="0" y="0"/>
          <a:ext cx="0" cy="0"/>
          <a:chOff x="0" y="0"/>
          <a:chExt cx="0" cy="0"/>
        </a:xfrm>
      </p:grpSpPr>
      <p:sp>
        <p:nvSpPr>
          <p:cNvPr id="458" name="Google Shape;458;p7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lang="en-GB" sz="2800">
                <a:solidFill>
                  <a:srgbClr val="003060"/>
                </a:solidFill>
                <a:latin typeface="Libre Baskerville"/>
                <a:ea typeface="Libre Baskerville"/>
                <a:cs typeface="Libre Baskerville"/>
                <a:sym typeface="Libre Baskerville"/>
              </a:rPr>
              <a:t>The WLA Nutrition Formula Tools </a:t>
            </a:r>
            <a:endParaRPr/>
          </a:p>
        </p:txBody>
      </p:sp>
      <p:pic>
        <p:nvPicPr>
          <p:cNvPr id="459" name="Google Shape;459;p79" title="Screenshot 2026-06-04 at 16.11.48.png"/>
          <p:cNvPicPr preferRelativeResize="0"/>
          <p:nvPr/>
        </p:nvPicPr>
        <p:blipFill>
          <a:blip r:embed="rId3">
            <a:alphaModFix/>
          </a:blip>
          <a:stretch>
            <a:fillRect/>
          </a:stretch>
        </p:blipFill>
        <p:spPr>
          <a:xfrm>
            <a:off x="152400" y="1067100"/>
            <a:ext cx="8839204" cy="3418286"/>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BF8F3"/>
        </a:solidFill>
      </p:bgPr>
    </p:bg>
    <p:spTree>
      <p:nvGrpSpPr>
        <p:cNvPr id="463" name="Shape 463"/>
        <p:cNvGrpSpPr/>
        <p:nvPr/>
      </p:nvGrpSpPr>
      <p:grpSpPr>
        <a:xfrm>
          <a:off x="0" y="0"/>
          <a:ext cx="0" cy="0"/>
          <a:chOff x="0" y="0"/>
          <a:chExt cx="0" cy="0"/>
        </a:xfrm>
      </p:grpSpPr>
      <p:sp>
        <p:nvSpPr>
          <p:cNvPr id="464" name="Google Shape;464;p80"/>
          <p:cNvSpPr txBox="1"/>
          <p:nvPr/>
        </p:nvSpPr>
        <p:spPr>
          <a:xfrm>
            <a:off x="360825" y="503925"/>
            <a:ext cx="5344800" cy="4155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1" lang="en-GB" sz="2700">
                <a:solidFill>
                  <a:srgbClr val="003060"/>
                </a:solidFill>
                <a:latin typeface="Libre Baskerville"/>
                <a:ea typeface="Libre Baskerville"/>
                <a:cs typeface="Libre Baskerville"/>
                <a:sym typeface="Libre Baskerville"/>
              </a:rPr>
              <a:t>EXTRA FREE BONUS </a:t>
            </a:r>
            <a:endParaRPr sz="1100">
              <a:solidFill>
                <a:srgbClr val="003060"/>
              </a:solidFill>
            </a:endParaRPr>
          </a:p>
        </p:txBody>
      </p:sp>
      <p:sp>
        <p:nvSpPr>
          <p:cNvPr id="465" name="Google Shape;465;p80"/>
          <p:cNvSpPr txBox="1"/>
          <p:nvPr/>
        </p:nvSpPr>
        <p:spPr>
          <a:xfrm>
            <a:off x="360825" y="1311402"/>
            <a:ext cx="5417700" cy="2616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i="1" lang="en-GB" sz="1700">
                <a:solidFill>
                  <a:srgbClr val="0E2746"/>
                </a:solidFill>
                <a:latin typeface="Libre Baskerville"/>
                <a:ea typeface="Libre Baskerville"/>
                <a:cs typeface="Libre Baskerville"/>
                <a:sym typeface="Libre Baskerville"/>
              </a:rPr>
              <a:t>Access To The New WLA App (once it launches)</a:t>
            </a:r>
            <a:endParaRPr i="1" sz="1700">
              <a:solidFill>
                <a:srgbClr val="0E2746"/>
              </a:solidFill>
              <a:latin typeface="Libre Baskerville"/>
              <a:ea typeface="Libre Baskerville"/>
              <a:cs typeface="Libre Baskerville"/>
              <a:sym typeface="Libre Baskerville"/>
            </a:endParaRPr>
          </a:p>
        </p:txBody>
      </p:sp>
      <p:sp>
        <p:nvSpPr>
          <p:cNvPr id="466" name="Google Shape;466;p80"/>
          <p:cNvSpPr/>
          <p:nvPr/>
        </p:nvSpPr>
        <p:spPr>
          <a:xfrm>
            <a:off x="411961" y="20470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7" name="Google Shape;467;p80"/>
          <p:cNvSpPr txBox="1"/>
          <p:nvPr/>
        </p:nvSpPr>
        <p:spPr>
          <a:xfrm>
            <a:off x="645144" y="1987081"/>
            <a:ext cx="3312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Advanced daily tracking</a:t>
            </a:r>
            <a:endParaRPr sz="1100"/>
          </a:p>
        </p:txBody>
      </p:sp>
      <p:sp>
        <p:nvSpPr>
          <p:cNvPr id="468" name="Google Shape;468;p80"/>
          <p:cNvSpPr/>
          <p:nvPr/>
        </p:nvSpPr>
        <p:spPr>
          <a:xfrm>
            <a:off x="411961" y="23899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69" name="Google Shape;469;p80"/>
          <p:cNvSpPr txBox="1"/>
          <p:nvPr/>
        </p:nvSpPr>
        <p:spPr>
          <a:xfrm>
            <a:off x="645145" y="2312831"/>
            <a:ext cx="39504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Lifestyle tracking</a:t>
            </a:r>
            <a:endParaRPr sz="1100"/>
          </a:p>
        </p:txBody>
      </p:sp>
      <p:sp>
        <p:nvSpPr>
          <p:cNvPr id="470" name="Google Shape;470;p80"/>
          <p:cNvSpPr/>
          <p:nvPr/>
        </p:nvSpPr>
        <p:spPr>
          <a:xfrm>
            <a:off x="411961" y="27328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1" name="Google Shape;471;p80"/>
          <p:cNvSpPr txBox="1"/>
          <p:nvPr/>
        </p:nvSpPr>
        <p:spPr>
          <a:xfrm>
            <a:off x="645143" y="2655750"/>
            <a:ext cx="2573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Progress dashboards</a:t>
            </a:r>
            <a:endParaRPr sz="1100"/>
          </a:p>
        </p:txBody>
      </p:sp>
      <p:sp>
        <p:nvSpPr>
          <p:cNvPr id="472" name="Google Shape;472;p80"/>
          <p:cNvSpPr/>
          <p:nvPr/>
        </p:nvSpPr>
        <p:spPr>
          <a:xfrm>
            <a:off x="411961" y="3075793"/>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3" name="Google Shape;473;p80"/>
          <p:cNvSpPr txBox="1"/>
          <p:nvPr/>
        </p:nvSpPr>
        <p:spPr>
          <a:xfrm>
            <a:off x="645142" y="2998650"/>
            <a:ext cx="193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Habit tracking</a:t>
            </a:r>
            <a:endParaRPr sz="1100"/>
          </a:p>
        </p:txBody>
      </p:sp>
      <p:sp>
        <p:nvSpPr>
          <p:cNvPr id="474" name="Google Shape;474;p80"/>
          <p:cNvSpPr/>
          <p:nvPr/>
        </p:nvSpPr>
        <p:spPr>
          <a:xfrm>
            <a:off x="407713" y="33801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5" name="Google Shape;475;p80"/>
          <p:cNvSpPr txBox="1"/>
          <p:nvPr/>
        </p:nvSpPr>
        <p:spPr>
          <a:xfrm>
            <a:off x="645204" y="3332400"/>
            <a:ext cx="24441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Meal planning</a:t>
            </a:r>
            <a:endParaRPr sz="1100"/>
          </a:p>
        </p:txBody>
      </p:sp>
      <p:sp>
        <p:nvSpPr>
          <p:cNvPr id="476" name="Google Shape;476;p80"/>
          <p:cNvSpPr/>
          <p:nvPr/>
        </p:nvSpPr>
        <p:spPr>
          <a:xfrm>
            <a:off x="407713" y="37230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7" name="Google Shape;477;p80"/>
          <p:cNvSpPr txBox="1"/>
          <p:nvPr/>
        </p:nvSpPr>
        <p:spPr>
          <a:xfrm>
            <a:off x="645204" y="3675300"/>
            <a:ext cx="26493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Shopping lists</a:t>
            </a:r>
            <a:endParaRPr sz="1100"/>
          </a:p>
        </p:txBody>
      </p:sp>
      <p:sp>
        <p:nvSpPr>
          <p:cNvPr id="478" name="Google Shape;478;p80"/>
          <p:cNvSpPr/>
          <p:nvPr/>
        </p:nvSpPr>
        <p:spPr>
          <a:xfrm>
            <a:off x="407713" y="4065928"/>
            <a:ext cx="89100" cy="89100"/>
          </a:xfrm>
          <a:prstGeom prst="ellipse">
            <a:avLst/>
          </a:prstGeom>
          <a:solidFill>
            <a:srgbClr val="D97757"/>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rPr>
                <a:solidFill/>
              </a:rPr>
              <a:t/>
            </a:r>
            <a:endParaRPr b="0" i="0" sz="1400" u="none" cap="none" strike="noStrike">
              <a:solidFill>
                <a:schemeClr val="dk1"/>
              </a:solidFill>
              <a:latin typeface="Calibri"/>
              <a:ea typeface="Calibri"/>
              <a:cs typeface="Calibri"/>
              <a:sym typeface="Calibri"/>
            </a:endParaRPr>
          </a:p>
        </p:txBody>
      </p:sp>
      <p:sp>
        <p:nvSpPr>
          <p:cNvPr id="479" name="Google Shape;479;p80"/>
          <p:cNvSpPr txBox="1"/>
          <p:nvPr/>
        </p:nvSpPr>
        <p:spPr>
          <a:xfrm>
            <a:off x="645204" y="4018200"/>
            <a:ext cx="2491200" cy="2154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0" lang="en-GB" sz="1400" u="none" cap="none" strike="noStrike">
                <a:solidFill>
                  <a:srgbClr val="0E2746"/>
                </a:solidFill>
                <a:latin typeface="Libre Baskerville"/>
                <a:ea typeface="Libre Baskerville"/>
                <a:cs typeface="Libre Baskerville"/>
                <a:sym typeface="Libre Baskerville"/>
              </a:rPr>
              <a:t>Future feature updates</a:t>
            </a:r>
            <a:endParaRPr sz="1100"/>
          </a:p>
        </p:txBody>
      </p:sp>
      <p:pic>
        <p:nvPicPr>
          <p:cNvPr id="480" name="Google Shape;480;p80" title="FullSizeRender (13).jpg"/>
          <p:cNvPicPr preferRelativeResize="0"/>
          <p:nvPr/>
        </p:nvPicPr>
        <p:blipFill>
          <a:blip r:embed="rId3">
            <a:alphaModFix/>
          </a:blip>
          <a:stretch>
            <a:fillRect/>
          </a:stretch>
        </p:blipFill>
        <p:spPr>
          <a:xfrm>
            <a:off x="6344113" y="266588"/>
            <a:ext cx="2311931" cy="4610324"/>
          </a:xfrm>
          <a:prstGeom prst="rect">
            <a:avLst/>
          </a:prstGeom>
          <a:noFill/>
          <a:ln cap="flat" cmpd="sng" w="28575">
            <a:solidFill>
              <a:schemeClr val="lt1"/>
            </a:solidFill>
            <a:prstDash val="solid"/>
            <a:round/>
            <a:headEnd len="sm" w="sm" type="none"/>
            <a:tailEnd len="sm" w="sm" type="none"/>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4" name="Shape 484"/>
        <p:cNvGrpSpPr/>
        <p:nvPr/>
      </p:nvGrpSpPr>
      <p:grpSpPr>
        <a:xfrm>
          <a:off x="0" y="0"/>
          <a:ext cx="0" cy="0"/>
          <a:chOff x="0" y="0"/>
          <a:chExt cx="0" cy="0"/>
        </a:xfrm>
      </p:grpSpPr>
      <p:sp>
        <p:nvSpPr>
          <p:cNvPr id="485" name="Google Shape;485;p81"/>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500 places available</a:t>
            </a:r>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100 already gone </a:t>
            </a:r>
            <a:endParaRPr b="1" i="1" sz="24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400">
                <a:solidFill>
                  <a:srgbClr val="F79F83"/>
                </a:solidFill>
                <a:latin typeface="Libre Baskerville"/>
                <a:ea typeface="Libre Baskerville"/>
                <a:cs typeface="Libre Baskerville"/>
                <a:sym typeface="Libre Baskerville"/>
              </a:rPr>
              <a:t>(as 100 of my existing clients signed up)</a:t>
            </a:r>
            <a:endParaRPr/>
          </a:p>
          <a:p>
            <a:pPr indent="0" lvl="0" marL="0" marR="0" rtl="0" algn="ctr">
              <a:spcBef>
                <a:spcPts val="1400"/>
              </a:spcBef>
              <a:spcAft>
                <a:spcPts val="0"/>
              </a:spcAft>
              <a:buNone/>
            </a:pPr>
            <a:r>
              <a:rPr b="1" lang="en-GB" sz="2200">
                <a:solidFill>
                  <a:srgbClr val="003060"/>
                </a:solidFill>
                <a:latin typeface="Libre Baskerville"/>
                <a:ea typeface="Libre Baskerville"/>
                <a:cs typeface="Libre Baskerville"/>
                <a:sym typeface="Libre Baskerville"/>
              </a:rPr>
              <a:t>400 places left, 7500 women in this group</a:t>
            </a:r>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On Sunday, I open to my whole community</a:t>
            </a:r>
            <a:endParaRPr b="1" i="1" sz="22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b="1" i="1" lang="en-GB" sz="2200">
                <a:solidFill>
                  <a:srgbClr val="F79F83"/>
                </a:solidFill>
                <a:latin typeface="Libre Baskerville"/>
                <a:ea typeface="Libre Baskerville"/>
                <a:cs typeface="Libre Baskerville"/>
                <a:sym typeface="Libre Baskerville"/>
              </a:rPr>
              <a:t>Grab a place while you can </a:t>
            </a:r>
            <a:endParaRPr b="1" i="1" sz="2200">
              <a:solidFill>
                <a:srgbClr val="F79F83"/>
              </a:solidFill>
              <a:latin typeface="Libre Baskerville"/>
              <a:ea typeface="Libre Baskerville"/>
              <a:cs typeface="Libre Baskerville"/>
              <a:sym typeface="Libre Baskerville"/>
            </a:endParaRPr>
          </a:p>
          <a:p>
            <a:pPr indent="0" lvl="0" marL="0" marR="0" rtl="0" algn="ctr">
              <a:spcBef>
                <a:spcPts val="2200"/>
              </a:spcBef>
              <a:spcAft>
                <a:spcPts val="0"/>
              </a:spcAft>
              <a:buNone/>
            </a:pPr>
            <a:r>
              <a:rPr>
                <a:solidFill/>
              </a:rPr>
              <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89" name="Shape 489"/>
        <p:cNvGrpSpPr/>
        <p:nvPr/>
      </p:nvGrpSpPr>
      <p:grpSpPr>
        <a:xfrm>
          <a:off x="0" y="0"/>
          <a:ext cx="0" cy="0"/>
          <a:chOff x="0" y="0"/>
          <a:chExt cx="0" cy="0"/>
        </a:xfrm>
      </p:grpSpPr>
      <p:sp>
        <p:nvSpPr>
          <p:cNvPr id="490" name="Google Shape;490;p82"/>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Join for only £97 (normally £397)</a:t>
            </a:r>
            <a:endParaRPr b="1" sz="3000">
              <a:solidFill>
                <a:srgbClr val="003060"/>
              </a:solidFill>
              <a:latin typeface="Libre Baskerville"/>
              <a:ea typeface="Libre Baskerville"/>
              <a:cs typeface="Libre Baskerville"/>
              <a:sym typeface="Libre Baskerville"/>
            </a:endParaRPr>
          </a:p>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Get 12 Week Summer Challenge</a:t>
            </a:r>
            <a:endParaRPr b="1" sz="3000">
              <a:solidFill>
                <a:srgbClr val="003060"/>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Plus FULL year of coaching, members area </a:t>
            </a:r>
            <a:endParaRPr b="1" i="1" sz="2000">
              <a:solidFill>
                <a:srgbClr val="F79F83"/>
              </a:solidFill>
              <a:latin typeface="Libre Baskerville"/>
              <a:ea typeface="Libre Baskerville"/>
              <a:cs typeface="Libre Baskerville"/>
              <a:sym typeface="Libre Baskerville"/>
            </a:endParaRPr>
          </a:p>
          <a:p>
            <a:pPr indent="0" lvl="0" marL="0" marR="0" rtl="0" algn="ctr">
              <a:spcBef>
                <a:spcPts val="1800"/>
              </a:spcBef>
              <a:spcAft>
                <a:spcPts val="0"/>
              </a:spcAft>
              <a:buNone/>
            </a:pPr>
            <a:r>
              <a:rPr b="1" i="1" lang="en-GB" sz="2000">
                <a:solidFill>
                  <a:srgbClr val="F79F83"/>
                </a:solidFill>
                <a:latin typeface="Libre Baskerville"/>
                <a:ea typeface="Libre Baskerville"/>
                <a:cs typeface="Libre Baskerville"/>
                <a:sym typeface="Libre Baskerville"/>
              </a:rPr>
              <a:t>+ accountability for FREE</a:t>
            </a:r>
            <a:br>
              <a:rPr b="1" i="1" lang="en-GB" sz="2000">
                <a:solidFill>
                  <a:srgbClr val="F79F83"/>
                </a:solidFill>
                <a:latin typeface="Libre Baskerville"/>
                <a:ea typeface="Libre Baskerville"/>
                <a:cs typeface="Libre Baskerville"/>
                <a:sym typeface="Libre Baskerville"/>
              </a:rPr>
            </a:br>
            <a:endParaRPr b="1" i="1" sz="2000">
              <a:solidFill>
                <a:srgbClr val="F79F83"/>
              </a:solidFill>
              <a:latin typeface="Libre Baskerville"/>
              <a:ea typeface="Libre Baskerville"/>
              <a:cs typeface="Libre Baskerville"/>
              <a:sym typeface="Libre Baskerville"/>
            </a:endParaRPr>
          </a:p>
          <a:p>
            <a:pPr indent="0" lvl="0" marL="0" rtl="0" algn="ctr">
              <a:spcBef>
                <a:spcPts val="400"/>
              </a:spcBef>
              <a:spcAft>
                <a:spcPts val="0"/>
              </a:spcAft>
              <a:buClr>
                <a:schemeClr val="dk1"/>
              </a:buClr>
              <a:buFont typeface="Arial"/>
              <a:buNone/>
            </a:pPr>
            <a:r>
              <a:rPr b="1" lang="en-GB" sz="1900">
                <a:solidFill>
                  <a:srgbClr val="003060"/>
                </a:solidFill>
                <a:latin typeface="Libre Baskerville"/>
                <a:ea typeface="Libre Baskerville"/>
                <a:cs typeface="Libre Baskerville"/>
                <a:sym typeface="Libre Baskerville"/>
              </a:rPr>
              <a:t>26p per day! Pay £97 in full or get started for as little less than £25 with </a:t>
            </a:r>
            <a:r>
              <a:rPr b="1" lang="en-GB" sz="1900">
                <a:solidFill>
                  <a:srgbClr val="003060"/>
                </a:solidFill>
                <a:latin typeface="Libre Baskerville"/>
                <a:ea typeface="Libre Baskerville"/>
                <a:cs typeface="Libre Baskerville"/>
                <a:sym typeface="Libre Baskerville"/>
              </a:rPr>
              <a:t>payment</a:t>
            </a:r>
            <a:r>
              <a:rPr b="1" lang="en-GB" sz="1900">
                <a:solidFill>
                  <a:srgbClr val="003060"/>
                </a:solidFill>
                <a:latin typeface="Libre Baskerville"/>
                <a:ea typeface="Libre Baskerville"/>
                <a:cs typeface="Libre Baskerville"/>
                <a:sym typeface="Libre Baskerville"/>
              </a:rPr>
              <a:t> plans with paypal, Klarna and Clearpay at checkout</a:t>
            </a:r>
            <a:endParaRPr b="1" i="1" sz="900">
              <a:solidFill>
                <a:srgbClr val="F79F83"/>
              </a:solidFill>
              <a:latin typeface="Libre Baskerville"/>
              <a:ea typeface="Libre Baskerville"/>
              <a:cs typeface="Libre Baskerville"/>
              <a:sym typeface="Libre Baskerville"/>
            </a:endParaRPr>
          </a:p>
          <a:p>
            <a:pPr indent="0" lvl="0" marL="0" marR="0" rtl="0" algn="ctr">
              <a:spcBef>
                <a:spcPts val="1400"/>
              </a:spcBef>
              <a:spcAft>
                <a:spcPts val="0"/>
              </a:spcAft>
              <a:buNone/>
            </a:pPr>
            <a:r>
              <a:rPr>
                <a:solidFill/>
              </a:rPr>
              <a:t/>
            </a:r>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4" name="Shape 494"/>
        <p:cNvGrpSpPr/>
        <p:nvPr/>
      </p:nvGrpSpPr>
      <p:grpSpPr>
        <a:xfrm>
          <a:off x="0" y="0"/>
          <a:ext cx="0" cy="0"/>
          <a:chOff x="0" y="0"/>
          <a:chExt cx="0" cy="0"/>
        </a:xfrm>
      </p:grpSpPr>
      <p:sp>
        <p:nvSpPr>
          <p:cNvPr id="495" name="Google Shape;495;p83"/>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400"/>
              </a:spcBef>
              <a:spcAft>
                <a:spcPts val="0"/>
              </a:spcAft>
              <a:buNone/>
            </a:pPr>
            <a:r>
              <a:rPr b="1" lang="en-GB" sz="3000">
                <a:solidFill>
                  <a:srgbClr val="003060"/>
                </a:solidFill>
                <a:latin typeface="Libre Baskerville"/>
                <a:ea typeface="Libre Baskerville"/>
                <a:cs typeface="Libre Baskerville"/>
                <a:sym typeface="Libre Baskerville"/>
              </a:rPr>
              <a:t>This is a one off opportunity</a:t>
            </a:r>
            <a:endParaRPr b="1" sz="3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We're upgrading the entire WLA </a:t>
            </a:r>
            <a:r>
              <a:rPr lang="en-GB" sz="2000">
                <a:solidFill>
                  <a:srgbClr val="003060"/>
                </a:solidFill>
                <a:latin typeface="Libre Baskerville"/>
                <a:ea typeface="Libre Baskerville"/>
                <a:cs typeface="Libre Baskerville"/>
                <a:sym typeface="Libre Baskerville"/>
              </a:rPr>
              <a:t>experience</a:t>
            </a:r>
            <a:r>
              <a:rPr lang="en-GB" sz="2000">
                <a:solidFill>
                  <a:srgbClr val="003060"/>
                </a:solidFill>
                <a:latin typeface="Libre Baskerville"/>
                <a:ea typeface="Libre Baskerville"/>
                <a:cs typeface="Libre Baskerville"/>
                <a:sym typeface="Libre Baskerville"/>
              </a:rPr>
              <a:t> </a:t>
            </a:r>
            <a:r>
              <a:rPr i="1" lang="en-GB" sz="2000">
                <a:solidFill>
                  <a:srgbClr val="003060"/>
                </a:solidFill>
                <a:latin typeface="Libre Baskerville"/>
                <a:ea typeface="Libre Baskerville"/>
                <a:cs typeface="Libre Baskerville"/>
                <a:sym typeface="Libre Baskerville"/>
              </a:rPr>
              <a:t>(a slight name change from The Weight Loss Academy - </a:t>
            </a:r>
            <a:r>
              <a:rPr i="1" lang="en-GB" sz="2000">
                <a:solidFill>
                  <a:srgbClr val="003060"/>
                </a:solidFill>
                <a:latin typeface="Libre Baskerville"/>
                <a:ea typeface="Libre Baskerville"/>
                <a:cs typeface="Libre Baskerville"/>
                <a:sym typeface="Libre Baskerville"/>
              </a:rPr>
              <a:t>The Weight Loss &amp; Lifestyle Academy)</a:t>
            </a:r>
            <a:r>
              <a:rPr lang="en-GB" sz="2000">
                <a:solidFill>
                  <a:srgbClr val="003060"/>
                </a:solidFill>
                <a:latin typeface="Libre Baskerville"/>
                <a:ea typeface="Libre Baskerville"/>
                <a:cs typeface="Libre Baskerville"/>
                <a:sym typeface="Libre Baskerville"/>
              </a:rPr>
              <a:t> </a:t>
            </a:r>
            <a:r>
              <a:rPr lang="en-GB" sz="2000">
                <a:solidFill>
                  <a:srgbClr val="003060"/>
                </a:solidFill>
                <a:latin typeface="Libre Baskerville"/>
                <a:ea typeface="Libre Baskerville"/>
                <a:cs typeface="Libre Baskerville"/>
                <a:sym typeface="Libre Baskerville"/>
              </a:rPr>
              <a:t>with improved coaching, accountability, tracking and support tools designed to help women achieve even better long-term results. </a:t>
            </a:r>
            <a:endParaRPr sz="2000">
              <a:solidFill>
                <a:srgbClr val="003060"/>
              </a:solidFill>
              <a:latin typeface="Libre Baskerville"/>
              <a:ea typeface="Libre Baskerville"/>
              <a:cs typeface="Libre Baskerville"/>
              <a:sym typeface="Libre Baskerville"/>
            </a:endParaRPr>
          </a:p>
          <a:p>
            <a:pPr indent="0" lvl="0" marL="0" marR="0" rtl="0" algn="ctr">
              <a:spcBef>
                <a:spcPts val="1400"/>
              </a:spcBef>
              <a:spcAft>
                <a:spcPts val="0"/>
              </a:spcAft>
              <a:buNone/>
            </a:pPr>
            <a:r>
              <a:rPr lang="en-GB" sz="2000">
                <a:solidFill>
                  <a:srgbClr val="003060"/>
                </a:solidFill>
                <a:latin typeface="Libre Baskerville"/>
                <a:ea typeface="Libre Baskerville"/>
                <a:cs typeface="Libre Baskerville"/>
                <a:sym typeface="Libre Baskerville"/>
              </a:rPr>
              <a:t>To celebrate this evolution, this is your one-off opportunity to get early access to everything we're building, before prices increase later this year.</a:t>
            </a:r>
            <a:endParaRPr sz="2000">
              <a:solidFill>
                <a:srgbClr val="003060"/>
              </a:solidFill>
              <a:latin typeface="Libre Baskerville"/>
              <a:ea typeface="Libre Baskerville"/>
              <a:cs typeface="Libre Baskerville"/>
              <a:sym typeface="Libre Baskerville"/>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499" name="Shape 499"/>
        <p:cNvGrpSpPr/>
        <p:nvPr/>
      </p:nvGrpSpPr>
      <p:grpSpPr>
        <a:xfrm>
          <a:off x="0" y="0"/>
          <a:ext cx="0" cy="0"/>
          <a:chOff x="0" y="0"/>
          <a:chExt cx="0" cy="0"/>
        </a:xfrm>
      </p:grpSpPr>
      <p:sp>
        <p:nvSpPr>
          <p:cNvPr id="500" name="Google Shape;500;p8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Reserve your space now!</a:t>
            </a:r>
            <a:endParaRPr/>
          </a:p>
          <a:p>
            <a:pPr indent="0" lvl="0" marL="0" marR="0" rtl="0" algn="ctr">
              <a:spcBef>
                <a:spcPts val="1400"/>
              </a:spcBef>
              <a:spcAft>
                <a:spcPts val="0"/>
              </a:spcAft>
              <a:buNone/>
            </a:pPr>
            <a:r>
              <a:rPr b="1" i="1" lang="en-GB" sz="2400" u="none" cap="none" strike="noStrike">
                <a:solidFill>
                  <a:srgbClr val="F79F83"/>
                </a:solidFill>
                <a:latin typeface="Libre Baskerville"/>
                <a:ea typeface="Libre Baskerville"/>
                <a:cs typeface="Libre Baskerville"/>
                <a:sym typeface="Libre Baskerville"/>
              </a:rPr>
              <a:t>Link in comments!</a:t>
            </a:r>
            <a:endParaRPr/>
          </a:p>
          <a:p>
            <a:pPr indent="0" lvl="0" marL="0" marR="0" rtl="0" algn="ctr">
              <a:spcBef>
                <a:spcPts val="1400"/>
              </a:spcBef>
              <a:spcAft>
                <a:spcPts val="0"/>
              </a:spcAft>
              <a:buNone/>
            </a:pPr>
            <a:r>
              <a:rPr b="1" i="0" lang="en-GB" sz="2200" u="none" cap="none" strike="noStrike">
                <a:solidFill>
                  <a:srgbClr val="003060"/>
                </a:solidFill>
                <a:latin typeface="Libre Baskerville"/>
                <a:ea typeface="Libre Baskerville"/>
                <a:cs typeface="Libre Baskerville"/>
                <a:sym typeface="Libre Baskerville"/>
              </a:rPr>
              <a:t>Limited places!</a:t>
            </a:r>
            <a:endParaRPr/>
          </a:p>
          <a:p>
            <a:pPr indent="0" lvl="0" marL="0" marR="0" rtl="0" algn="ctr">
              <a:spcBef>
                <a:spcPts val="14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One time offer and discount!</a:t>
            </a:r>
            <a:endParaRPr/>
          </a:p>
          <a:p>
            <a:pPr indent="0" lvl="0" marL="0" marR="0" rtl="0" algn="ctr">
              <a:spcBef>
                <a:spcPts val="2200"/>
              </a:spcBef>
              <a:spcAft>
                <a:spcPts val="0"/>
              </a:spcAft>
              <a:buNone/>
            </a:pPr>
            <a:r>
              <a:rPr b="1" i="0" lang="en-GB" sz="2000" u="none" cap="none" strike="noStrike">
                <a:solidFill>
                  <a:srgbClr val="003060"/>
                </a:solidFill>
                <a:latin typeface="Libre Baskerville"/>
                <a:ea typeface="Libre Baskerville"/>
                <a:cs typeface="Libre Baskerville"/>
                <a:sym typeface="Libre Baskerville"/>
              </a:rPr>
              <a:t>Pop LINK into comments if you need </a:t>
            </a:r>
            <a:r>
              <a:rPr b="1" lang="en-GB" sz="2000">
                <a:solidFill>
                  <a:srgbClr val="003060"/>
                </a:solidFill>
                <a:latin typeface="Libre Baskerville"/>
                <a:ea typeface="Libre Baskerville"/>
                <a:cs typeface="Libre Baskerville"/>
                <a:sym typeface="Libre Baskerville"/>
              </a:rPr>
              <a:t>the link to join</a:t>
            </a:r>
            <a:endParaRPr>
              <a:latin typeface="Libre Baskerville"/>
              <a:ea typeface="Libre Baskerville"/>
              <a:cs typeface="Libre Baskerville"/>
              <a:sym typeface="Libre Baskerville"/>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04" name="Shape 504"/>
        <p:cNvGrpSpPr/>
        <p:nvPr/>
      </p:nvGrpSpPr>
      <p:grpSpPr>
        <a:xfrm>
          <a:off x="0" y="0"/>
          <a:ext cx="0" cy="0"/>
          <a:chOff x="0" y="0"/>
          <a:chExt cx="0" cy="0"/>
        </a:xfrm>
      </p:grpSpPr>
      <p:sp>
        <p:nvSpPr>
          <p:cNvPr id="505" name="Google Shape;505;p85"/>
          <p:cNvSpPr txBox="1"/>
          <p:nvPr/>
        </p:nvSpPr>
        <p:spPr>
          <a:xfrm>
            <a:off x="457200" y="280000"/>
            <a:ext cx="8229600" cy="62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For You If…</a:t>
            </a:r>
            <a:endParaRPr/>
          </a:p>
        </p:txBody>
      </p:sp>
      <p:sp>
        <p:nvSpPr>
          <p:cNvPr id="506" name="Google Shape;506;p85"/>
          <p:cNvSpPr txBox="1"/>
          <p:nvPr/>
        </p:nvSpPr>
        <p:spPr>
          <a:xfrm>
            <a:off x="457200" y="980000"/>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Time</a:t>
            </a:r>
            <a:endParaRPr sz="1600"/>
          </a:p>
        </p:txBody>
      </p:sp>
      <p:sp>
        <p:nvSpPr>
          <p:cNvPr id="507" name="Google Shape;507;p85"/>
          <p:cNvSpPr txBox="1"/>
          <p:nvPr/>
        </p:nvSpPr>
        <p:spPr>
          <a:xfrm>
            <a:off x="2817200" y="980000"/>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simple, easy nutrition solution that gives you results without taking over your life.</a:t>
            </a:r>
            <a:endParaRPr sz="1600"/>
          </a:p>
        </p:txBody>
      </p:sp>
      <p:sp>
        <p:nvSpPr>
          <p:cNvPr id="508" name="Google Shape;508;p85"/>
          <p:cNvSpPr txBox="1"/>
          <p:nvPr/>
        </p:nvSpPr>
        <p:spPr>
          <a:xfrm>
            <a:off x="457200" y="1549071"/>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Want Results</a:t>
            </a:r>
            <a:endParaRPr sz="1600"/>
          </a:p>
        </p:txBody>
      </p:sp>
      <p:sp>
        <p:nvSpPr>
          <p:cNvPr id="509" name="Google Shape;509;p85"/>
          <p:cNvSpPr txBox="1"/>
          <p:nvPr/>
        </p:nvSpPr>
        <p:spPr>
          <a:xfrm>
            <a:off x="2817200" y="1549071"/>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tired of not seeing results and you want real support to finally make it happen.</a:t>
            </a:r>
            <a:endParaRPr sz="1600"/>
          </a:p>
        </p:txBody>
      </p:sp>
      <p:sp>
        <p:nvSpPr>
          <p:cNvPr id="510" name="Google Shape;510;p85"/>
          <p:cNvSpPr txBox="1"/>
          <p:nvPr/>
        </p:nvSpPr>
        <p:spPr>
          <a:xfrm>
            <a:off x="457200" y="2118142"/>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Consistency</a:t>
            </a:r>
            <a:endParaRPr sz="1600"/>
          </a:p>
        </p:txBody>
      </p:sp>
      <p:sp>
        <p:nvSpPr>
          <p:cNvPr id="511" name="Google Shape;511;p85"/>
          <p:cNvSpPr txBox="1"/>
          <p:nvPr/>
        </p:nvSpPr>
        <p:spPr>
          <a:xfrm>
            <a:off x="2817200" y="2118142"/>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need high accountability so you stay consistent and stop quitting every few weeks.</a:t>
            </a:r>
            <a:endParaRPr sz="1600"/>
          </a:p>
        </p:txBody>
      </p:sp>
      <p:sp>
        <p:nvSpPr>
          <p:cNvPr id="512" name="Google Shape;512;p85"/>
          <p:cNvSpPr txBox="1"/>
          <p:nvPr/>
        </p:nvSpPr>
        <p:spPr>
          <a:xfrm>
            <a:off x="457200" y="2687213"/>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Energy</a:t>
            </a:r>
            <a:endParaRPr sz="1600"/>
          </a:p>
        </p:txBody>
      </p:sp>
      <p:sp>
        <p:nvSpPr>
          <p:cNvPr id="513" name="Google Shape;513;p85"/>
          <p:cNvSpPr txBox="1"/>
          <p:nvPr/>
        </p:nvSpPr>
        <p:spPr>
          <a:xfrm>
            <a:off x="2817200" y="2687213"/>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nutrition setup that gives you real energy without depending on sugar and caffeine.</a:t>
            </a:r>
            <a:endParaRPr sz="1600"/>
          </a:p>
        </p:txBody>
      </p:sp>
      <p:sp>
        <p:nvSpPr>
          <p:cNvPr id="514" name="Google Shape;514;p85"/>
          <p:cNvSpPr txBox="1"/>
          <p:nvPr/>
        </p:nvSpPr>
        <p:spPr>
          <a:xfrm>
            <a:off x="457200" y="3256284"/>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Snacking</a:t>
            </a:r>
            <a:endParaRPr sz="1600"/>
          </a:p>
        </p:txBody>
      </p:sp>
      <p:sp>
        <p:nvSpPr>
          <p:cNvPr id="515" name="Google Shape;515;p85"/>
          <p:cNvSpPr txBox="1"/>
          <p:nvPr/>
        </p:nvSpPr>
        <p:spPr>
          <a:xfrm>
            <a:off x="2817200" y="3256284"/>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the support and accountability to break the evening snacking that has just become habit.</a:t>
            </a:r>
            <a:endParaRPr sz="1600"/>
          </a:p>
        </p:txBody>
      </p:sp>
      <p:sp>
        <p:nvSpPr>
          <p:cNvPr id="516" name="Google Shape;516;p85"/>
          <p:cNvSpPr txBox="1"/>
          <p:nvPr/>
        </p:nvSpPr>
        <p:spPr>
          <a:xfrm>
            <a:off x="457200" y="3825355"/>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Weekends</a:t>
            </a:r>
            <a:endParaRPr sz="1600"/>
          </a:p>
        </p:txBody>
      </p:sp>
      <p:sp>
        <p:nvSpPr>
          <p:cNvPr id="517" name="Google Shape;517;p85"/>
          <p:cNvSpPr txBox="1"/>
          <p:nvPr/>
        </p:nvSpPr>
        <p:spPr>
          <a:xfrm>
            <a:off x="2817200" y="3825355"/>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want a rock-solid weekend strategy so you don't undo all your weekly hard work.</a:t>
            </a:r>
            <a:endParaRPr sz="1600"/>
          </a:p>
        </p:txBody>
      </p:sp>
      <p:sp>
        <p:nvSpPr>
          <p:cNvPr id="518" name="Google Shape;518;p85"/>
          <p:cNvSpPr txBox="1"/>
          <p:nvPr/>
        </p:nvSpPr>
        <p:spPr>
          <a:xfrm>
            <a:off x="457200" y="4394426"/>
            <a:ext cx="2200000" cy="569071"/>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Ready</a:t>
            </a:r>
            <a:endParaRPr sz="1600"/>
          </a:p>
        </p:txBody>
      </p:sp>
      <p:sp>
        <p:nvSpPr>
          <p:cNvPr id="519" name="Google Shape;519;p85"/>
          <p:cNvSpPr txBox="1"/>
          <p:nvPr/>
        </p:nvSpPr>
        <p:spPr>
          <a:xfrm>
            <a:off x="2817200" y="4394426"/>
            <a:ext cx="5869600" cy="569071"/>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ready to take action and show up for your goals.</a:t>
            </a:r>
            <a:endParaRPr sz="1600"/>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23" name="Shape 523"/>
        <p:cNvGrpSpPr/>
        <p:nvPr/>
      </p:nvGrpSpPr>
      <p:grpSpPr>
        <a:xfrm>
          <a:off x="0" y="0"/>
          <a:ext cx="0" cy="0"/>
          <a:chOff x="0" y="0"/>
          <a:chExt cx="0" cy="0"/>
        </a:xfrm>
      </p:grpSpPr>
      <p:sp>
        <p:nvSpPr>
          <p:cNvPr id="524" name="Google Shape;524;p86"/>
          <p:cNvSpPr txBox="1"/>
          <p:nvPr/>
        </p:nvSpPr>
        <p:spPr>
          <a:xfrm>
            <a:off x="457200" y="280000"/>
            <a:ext cx="8229600" cy="6201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This Is NOT For You If…</a:t>
            </a:r>
            <a:endParaRPr/>
          </a:p>
        </p:txBody>
      </p:sp>
      <p:sp>
        <p:nvSpPr>
          <p:cNvPr id="525" name="Google Shape;525;p86"/>
          <p:cNvSpPr txBox="1"/>
          <p:nvPr/>
        </p:nvSpPr>
        <p:spPr>
          <a:xfrm>
            <a:off x="457200" y="98000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Quick Fixes</a:t>
            </a:r>
            <a:endParaRPr sz="1600">
              <a:solidFill>
                <a:srgbClr val="F79F83"/>
              </a:solidFill>
            </a:endParaRPr>
          </a:p>
        </p:txBody>
      </p:sp>
      <p:sp>
        <p:nvSpPr>
          <p:cNvPr id="526" name="Google Shape;526;p86"/>
          <p:cNvSpPr txBox="1"/>
          <p:nvPr/>
        </p:nvSpPr>
        <p:spPr>
          <a:xfrm>
            <a:off x="2817200" y="98000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looking for a magic pill or detox tea solution.</a:t>
            </a:r>
            <a:endParaRPr sz="1600"/>
          </a:p>
        </p:txBody>
      </p:sp>
      <p:sp>
        <p:nvSpPr>
          <p:cNvPr id="527" name="Google Shape;527;p86"/>
          <p:cNvSpPr txBox="1"/>
          <p:nvPr/>
        </p:nvSpPr>
        <p:spPr>
          <a:xfrm>
            <a:off x="457200" y="1643916"/>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Commitment</a:t>
            </a:r>
            <a:endParaRPr sz="1600">
              <a:solidFill>
                <a:srgbClr val="F79F83"/>
              </a:solidFill>
            </a:endParaRPr>
          </a:p>
        </p:txBody>
      </p:sp>
      <p:sp>
        <p:nvSpPr>
          <p:cNvPr id="528" name="Google Shape;528;p86"/>
          <p:cNvSpPr txBox="1"/>
          <p:nvPr/>
        </p:nvSpPr>
        <p:spPr>
          <a:xfrm>
            <a:off x="2817200" y="1643916"/>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ready to take action, stay consistent or show up for yourself.</a:t>
            </a:r>
            <a:endParaRPr sz="1600"/>
          </a:p>
        </p:txBody>
      </p:sp>
      <p:sp>
        <p:nvSpPr>
          <p:cNvPr id="529" name="Google Shape;529;p86"/>
          <p:cNvSpPr txBox="1"/>
          <p:nvPr/>
        </p:nvSpPr>
        <p:spPr>
          <a:xfrm>
            <a:off x="457200" y="2307832"/>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Perfection</a:t>
            </a:r>
            <a:endParaRPr sz="1600">
              <a:solidFill>
                <a:srgbClr val="F79F83"/>
              </a:solidFill>
            </a:endParaRPr>
          </a:p>
        </p:txBody>
      </p:sp>
      <p:sp>
        <p:nvSpPr>
          <p:cNvPr id="530" name="Google Shape;530;p86"/>
          <p:cNvSpPr txBox="1"/>
          <p:nvPr/>
        </p:nvSpPr>
        <p:spPr>
          <a:xfrm>
            <a:off x="2817200" y="2307832"/>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think you need to be "perfect" to get results instead of being consistent.</a:t>
            </a:r>
            <a:endParaRPr sz="1600"/>
          </a:p>
        </p:txBody>
      </p:sp>
      <p:sp>
        <p:nvSpPr>
          <p:cNvPr id="531" name="Google Shape;531;p86"/>
          <p:cNvSpPr txBox="1"/>
          <p:nvPr/>
        </p:nvSpPr>
        <p:spPr>
          <a:xfrm>
            <a:off x="457200" y="2971748"/>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Excuses</a:t>
            </a:r>
            <a:endParaRPr sz="1600">
              <a:solidFill>
                <a:srgbClr val="F79F83"/>
              </a:solidFill>
            </a:endParaRPr>
          </a:p>
        </p:txBody>
      </p:sp>
      <p:sp>
        <p:nvSpPr>
          <p:cNvPr id="532" name="Google Shape;532;p86"/>
          <p:cNvSpPr txBox="1"/>
          <p:nvPr/>
        </p:nvSpPr>
        <p:spPr>
          <a:xfrm>
            <a:off x="2817200" y="2971748"/>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are not willing to make changes or take responsibility for your progress.</a:t>
            </a:r>
            <a:endParaRPr sz="1600"/>
          </a:p>
        </p:txBody>
      </p:sp>
      <p:sp>
        <p:nvSpPr>
          <p:cNvPr id="533" name="Google Shape;533;p86"/>
          <p:cNvSpPr txBox="1"/>
          <p:nvPr/>
        </p:nvSpPr>
        <p:spPr>
          <a:xfrm>
            <a:off x="457200" y="3635664"/>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All Or Nothing</a:t>
            </a:r>
            <a:endParaRPr sz="1600">
              <a:solidFill>
                <a:srgbClr val="F79F83"/>
              </a:solidFill>
            </a:endParaRPr>
          </a:p>
        </p:txBody>
      </p:sp>
      <p:sp>
        <p:nvSpPr>
          <p:cNvPr id="534" name="Google Shape;534;p86"/>
          <p:cNvSpPr txBox="1"/>
          <p:nvPr/>
        </p:nvSpPr>
        <p:spPr>
          <a:xfrm>
            <a:off x="2817200" y="3635664"/>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quit the moment life gets busy instead of learning how to adapt and keep going.</a:t>
            </a:r>
            <a:endParaRPr sz="1600"/>
          </a:p>
        </p:txBody>
      </p:sp>
      <p:sp>
        <p:nvSpPr>
          <p:cNvPr id="535" name="Google Shape;535;p86"/>
          <p:cNvSpPr txBox="1"/>
          <p:nvPr/>
        </p:nvSpPr>
        <p:spPr>
          <a:xfrm>
            <a:off x="457200" y="4299580"/>
            <a:ext cx="2199900" cy="6639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1700" u="none" cap="none" strike="noStrike">
                <a:solidFill>
                  <a:srgbClr val="F79F83"/>
                </a:solidFill>
                <a:latin typeface="Libre Baskerville"/>
                <a:ea typeface="Libre Baskerville"/>
                <a:cs typeface="Libre Baskerville"/>
                <a:sym typeface="Libre Baskerville"/>
              </a:rPr>
              <a:t>No Support</a:t>
            </a:r>
            <a:endParaRPr sz="1600">
              <a:solidFill>
                <a:srgbClr val="F79F83"/>
              </a:solidFill>
            </a:endParaRPr>
          </a:p>
        </p:txBody>
      </p:sp>
      <p:sp>
        <p:nvSpPr>
          <p:cNvPr id="536" name="Google Shape;536;p86"/>
          <p:cNvSpPr txBox="1"/>
          <p:nvPr/>
        </p:nvSpPr>
        <p:spPr>
          <a:xfrm>
            <a:off x="2817200" y="4299580"/>
            <a:ext cx="5869500" cy="6639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None/>
            </a:pPr>
            <a:r>
              <a:rPr b="0" i="0" lang="en-GB" sz="1500" u="none" cap="none" strike="noStrike">
                <a:solidFill>
                  <a:srgbClr val="003060"/>
                </a:solidFill>
                <a:latin typeface="Alegreya Sans"/>
                <a:ea typeface="Alegreya Sans"/>
                <a:cs typeface="Alegreya Sans"/>
                <a:sym typeface="Alegreya Sans"/>
              </a:rPr>
              <a:t>You prefer doing everything alone rather than being coached, supported and held accountable.</a:t>
            </a:r>
            <a:endParaRPr sz="16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0" name="Shape 540"/>
        <p:cNvGrpSpPr/>
        <p:nvPr/>
      </p:nvGrpSpPr>
      <p:grpSpPr>
        <a:xfrm>
          <a:off x="0" y="0"/>
          <a:ext cx="0" cy="0"/>
          <a:chOff x="0" y="0"/>
          <a:chExt cx="0" cy="0"/>
        </a:xfrm>
      </p:grpSpPr>
      <p:sp>
        <p:nvSpPr>
          <p:cNvPr id="541" name="Google Shape;541;p8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42" name="Google Shape;542;p87" title="Jennifer McClurg - First sprint.png"/>
          <p:cNvPicPr preferRelativeResize="0"/>
          <p:nvPr/>
        </p:nvPicPr>
        <p:blipFill>
          <a:blip r:embed="rId3">
            <a:alphaModFix/>
          </a:blip>
          <a:stretch>
            <a:fillRect/>
          </a:stretch>
        </p:blipFill>
        <p:spPr>
          <a:xfrm>
            <a:off x="3145695" y="1095011"/>
            <a:ext cx="2883160" cy="3603950"/>
          </a:xfrm>
          <a:prstGeom prst="rect">
            <a:avLst/>
          </a:prstGeom>
          <a:noFill/>
          <a:ln>
            <a:noFill/>
          </a:ln>
        </p:spPr>
      </p:pic>
      <p:pic>
        <p:nvPicPr>
          <p:cNvPr id="543" name="Google Shape;543;p87" title="Fran Playfoot - Over a stone lost in 5 weeks.png"/>
          <p:cNvPicPr preferRelativeResize="0"/>
          <p:nvPr/>
        </p:nvPicPr>
        <p:blipFill>
          <a:blip r:embed="rId4">
            <a:alphaModFix/>
          </a:blip>
          <a:stretch>
            <a:fillRect/>
          </a:stretch>
        </p:blipFill>
        <p:spPr>
          <a:xfrm>
            <a:off x="158299" y="1095000"/>
            <a:ext cx="2883160" cy="3603950"/>
          </a:xfrm>
          <a:prstGeom prst="rect">
            <a:avLst/>
          </a:prstGeom>
          <a:noFill/>
          <a:ln>
            <a:noFill/>
          </a:ln>
        </p:spPr>
      </p:pic>
      <p:pic>
        <p:nvPicPr>
          <p:cNvPr id="544" name="Google Shape;544;p87" title="Emma Prior - 10 lbs Gone + Inches Lost All Over.png"/>
          <p:cNvPicPr preferRelativeResize="0"/>
          <p:nvPr/>
        </p:nvPicPr>
        <p:blipFill>
          <a:blip r:embed="rId5">
            <a:alphaModFix/>
          </a:blip>
          <a:stretch>
            <a:fillRect/>
          </a:stretch>
        </p:blipFill>
        <p:spPr>
          <a:xfrm>
            <a:off x="6107556" y="1095000"/>
            <a:ext cx="2883165" cy="3603974"/>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48" name="Shape 548"/>
        <p:cNvGrpSpPr/>
        <p:nvPr/>
      </p:nvGrpSpPr>
      <p:grpSpPr>
        <a:xfrm>
          <a:off x="0" y="0"/>
          <a:ext cx="0" cy="0"/>
          <a:chOff x="0" y="0"/>
          <a:chExt cx="0" cy="0"/>
        </a:xfrm>
      </p:grpSpPr>
      <p:sp>
        <p:nvSpPr>
          <p:cNvPr id="549" name="Google Shape;549;p88"/>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0" name="Google Shape;550;p88" title="Mel Broad - 54cm Lost, 1.5 Stone Down.png"/>
          <p:cNvPicPr preferRelativeResize="0"/>
          <p:nvPr/>
        </p:nvPicPr>
        <p:blipFill>
          <a:blip r:embed="rId3">
            <a:alphaModFix/>
          </a:blip>
          <a:stretch>
            <a:fillRect/>
          </a:stretch>
        </p:blipFill>
        <p:spPr>
          <a:xfrm>
            <a:off x="196900" y="982763"/>
            <a:ext cx="2863374" cy="3579211"/>
          </a:xfrm>
          <a:prstGeom prst="rect">
            <a:avLst/>
          </a:prstGeom>
          <a:noFill/>
          <a:ln>
            <a:noFill/>
          </a:ln>
        </p:spPr>
      </p:pic>
      <p:pic>
        <p:nvPicPr>
          <p:cNvPr id="551" name="Google Shape;551;p88" title="Sally Nash -1 stone lost.png"/>
          <p:cNvPicPr preferRelativeResize="0"/>
          <p:nvPr/>
        </p:nvPicPr>
        <p:blipFill>
          <a:blip r:embed="rId4">
            <a:alphaModFix/>
          </a:blip>
          <a:stretch>
            <a:fillRect/>
          </a:stretch>
        </p:blipFill>
        <p:spPr>
          <a:xfrm>
            <a:off x="3142103" y="982776"/>
            <a:ext cx="2863374" cy="3579201"/>
          </a:xfrm>
          <a:prstGeom prst="rect">
            <a:avLst/>
          </a:prstGeom>
          <a:noFill/>
          <a:ln>
            <a:noFill/>
          </a:ln>
        </p:spPr>
      </p:pic>
      <p:pic>
        <p:nvPicPr>
          <p:cNvPr id="552" name="Google Shape;552;p88" title="Dawn Barker - 1 stone 4 lbs lost (1).png"/>
          <p:cNvPicPr preferRelativeResize="0"/>
          <p:nvPr/>
        </p:nvPicPr>
        <p:blipFill>
          <a:blip r:embed="rId5">
            <a:alphaModFix/>
          </a:blip>
          <a:stretch>
            <a:fillRect/>
          </a:stretch>
        </p:blipFill>
        <p:spPr>
          <a:xfrm>
            <a:off x="6085025" y="977387"/>
            <a:ext cx="2863374" cy="3579211"/>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56" name="Shape 556"/>
        <p:cNvGrpSpPr/>
        <p:nvPr/>
      </p:nvGrpSpPr>
      <p:grpSpPr>
        <a:xfrm>
          <a:off x="0" y="0"/>
          <a:ext cx="0" cy="0"/>
          <a:chOff x="0" y="0"/>
          <a:chExt cx="0" cy="0"/>
        </a:xfrm>
      </p:grpSpPr>
      <p:sp>
        <p:nvSpPr>
          <p:cNvPr id="557" name="Google Shape;557;p89"/>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58" name="Google Shape;558;p89" title="Mand Fleet- 26 lbs down, 13 inches lost.png"/>
          <p:cNvPicPr preferRelativeResize="0"/>
          <p:nvPr/>
        </p:nvPicPr>
        <p:blipFill>
          <a:blip r:embed="rId3">
            <a:alphaModFix/>
          </a:blip>
          <a:stretch>
            <a:fillRect/>
          </a:stretch>
        </p:blipFill>
        <p:spPr>
          <a:xfrm>
            <a:off x="180195" y="1084725"/>
            <a:ext cx="2867149" cy="3583950"/>
          </a:xfrm>
          <a:prstGeom prst="rect">
            <a:avLst/>
          </a:prstGeom>
          <a:noFill/>
          <a:ln>
            <a:noFill/>
          </a:ln>
        </p:spPr>
      </p:pic>
      <p:pic>
        <p:nvPicPr>
          <p:cNvPr id="559" name="Google Shape;559;p89" title="15 lbs down.png"/>
          <p:cNvPicPr preferRelativeResize="0"/>
          <p:nvPr/>
        </p:nvPicPr>
        <p:blipFill>
          <a:blip r:embed="rId4">
            <a:alphaModFix/>
          </a:blip>
          <a:stretch>
            <a:fillRect/>
          </a:stretch>
        </p:blipFill>
        <p:spPr>
          <a:xfrm>
            <a:off x="6095545" y="1084725"/>
            <a:ext cx="2900399" cy="3625486"/>
          </a:xfrm>
          <a:prstGeom prst="rect">
            <a:avLst/>
          </a:prstGeom>
          <a:noFill/>
          <a:ln>
            <a:noFill/>
          </a:ln>
        </p:spPr>
      </p:pic>
      <p:pic>
        <p:nvPicPr>
          <p:cNvPr id="560" name="Google Shape;560;p89" title="Teresa Gentle - 1 stone lost.png"/>
          <p:cNvPicPr preferRelativeResize="0"/>
          <p:nvPr/>
        </p:nvPicPr>
        <p:blipFill>
          <a:blip r:embed="rId5">
            <a:alphaModFix/>
          </a:blip>
          <a:stretch>
            <a:fillRect/>
          </a:stretch>
        </p:blipFill>
        <p:spPr>
          <a:xfrm>
            <a:off x="3121245" y="1084725"/>
            <a:ext cx="2900399" cy="3625476"/>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64" name="Shape 564"/>
        <p:cNvGrpSpPr/>
        <p:nvPr/>
      </p:nvGrpSpPr>
      <p:grpSpPr>
        <a:xfrm>
          <a:off x="0" y="0"/>
          <a:ext cx="0" cy="0"/>
          <a:chOff x="0" y="0"/>
          <a:chExt cx="0" cy="0"/>
        </a:xfrm>
      </p:grpSpPr>
      <p:sp>
        <p:nvSpPr>
          <p:cNvPr id="565" name="Google Shape;565;p90"/>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800" u="none" cap="none" strike="noStrike">
                <a:solidFill>
                  <a:srgbClr val="003060"/>
                </a:solidFill>
                <a:latin typeface="Libre Baskerville"/>
                <a:ea typeface="Libre Baskerville"/>
                <a:cs typeface="Libre Baskerville"/>
                <a:sym typeface="Libre Baskerville"/>
              </a:rPr>
              <a:t>What Our Clients Say</a:t>
            </a:r>
            <a:endParaRPr/>
          </a:p>
        </p:txBody>
      </p:sp>
      <p:pic>
        <p:nvPicPr>
          <p:cNvPr id="566" name="Google Shape;566;p90" title="_Leah Athol - 23 lbs lost, beat menopause symptoms.png"/>
          <p:cNvPicPr preferRelativeResize="0"/>
          <p:nvPr/>
        </p:nvPicPr>
        <p:blipFill>
          <a:blip r:embed="rId3">
            <a:alphaModFix/>
          </a:blip>
          <a:stretch>
            <a:fillRect/>
          </a:stretch>
        </p:blipFill>
        <p:spPr>
          <a:xfrm>
            <a:off x="206975" y="1062475"/>
            <a:ext cx="2857124" cy="3571418"/>
          </a:xfrm>
          <a:prstGeom prst="rect">
            <a:avLst/>
          </a:prstGeom>
          <a:noFill/>
          <a:ln>
            <a:noFill/>
          </a:ln>
        </p:spPr>
      </p:pic>
      <p:pic>
        <p:nvPicPr>
          <p:cNvPr id="567" name="Google Shape;567;p90" title="Claire King - 1 stone lost .png"/>
          <p:cNvPicPr preferRelativeResize="0"/>
          <p:nvPr/>
        </p:nvPicPr>
        <p:blipFill>
          <a:blip r:embed="rId4">
            <a:alphaModFix/>
          </a:blip>
          <a:stretch>
            <a:fillRect/>
          </a:stretch>
        </p:blipFill>
        <p:spPr>
          <a:xfrm>
            <a:off x="6079894" y="1062487"/>
            <a:ext cx="2857124" cy="3608688"/>
          </a:xfrm>
          <a:prstGeom prst="rect">
            <a:avLst/>
          </a:prstGeom>
          <a:noFill/>
          <a:ln>
            <a:noFill/>
          </a:ln>
        </p:spPr>
      </p:pic>
      <p:pic>
        <p:nvPicPr>
          <p:cNvPr id="568" name="Google Shape;568;p90" title="Leah Athol - 1 stone lost since 21 day Reset.png"/>
          <p:cNvPicPr preferRelativeResize="0"/>
          <p:nvPr/>
        </p:nvPicPr>
        <p:blipFill>
          <a:blip r:embed="rId5">
            <a:alphaModFix/>
          </a:blip>
          <a:stretch>
            <a:fillRect/>
          </a:stretch>
        </p:blipFill>
        <p:spPr>
          <a:xfrm>
            <a:off x="3149165" y="1062487"/>
            <a:ext cx="2857124" cy="3571418"/>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72" name="Shape 572"/>
        <p:cNvGrpSpPr/>
        <p:nvPr/>
      </p:nvGrpSpPr>
      <p:grpSpPr>
        <a:xfrm>
          <a:off x="0" y="0"/>
          <a:ext cx="0" cy="0"/>
          <a:chOff x="0" y="0"/>
          <a:chExt cx="0" cy="0"/>
        </a:xfrm>
      </p:grpSpPr>
      <p:sp>
        <p:nvSpPr>
          <p:cNvPr id="573" name="Google Shape;573;p91"/>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Incredible Transformations From </a:t>
            </a:r>
            <a:endParaRPr b="1" i="0" sz="2400" u="none" cap="none" strike="noStrike">
              <a:solidFill>
                <a:srgbClr val="003060"/>
              </a:solidFill>
              <a:latin typeface="Libre Baskerville"/>
              <a:ea typeface="Libre Baskerville"/>
              <a:cs typeface="Libre Baskerville"/>
              <a:sym typeface="Libre Baskerville"/>
            </a:endParaRPr>
          </a:p>
          <a:p>
            <a:pPr indent="0" lvl="0" marL="0" marR="0" rtl="0" algn="ctr">
              <a:spcBef>
                <a:spcPts val="0"/>
              </a:spcBef>
              <a:spcAft>
                <a:spcPts val="0"/>
              </a:spcAft>
              <a:buNone/>
            </a:pPr>
            <a:r>
              <a:rPr b="1" i="0" lang="en-GB" sz="2400" u="none" cap="none" strike="noStrike">
                <a:solidFill>
                  <a:srgbClr val="003060"/>
                </a:solidFill>
                <a:latin typeface="Libre Baskerville"/>
                <a:ea typeface="Libre Baskerville"/>
                <a:cs typeface="Libre Baskerville"/>
                <a:sym typeface="Libre Baskerville"/>
              </a:rPr>
              <a:t>Our WLA Community</a:t>
            </a:r>
            <a:endParaRPr/>
          </a:p>
        </p:txBody>
      </p:sp>
      <p:pic>
        <p:nvPicPr>
          <p:cNvPr id="574" name="Google Shape;574;p91" title="Tara Deakin .png"/>
          <p:cNvPicPr preferRelativeResize="0"/>
          <p:nvPr/>
        </p:nvPicPr>
        <p:blipFill rotWithShape="1">
          <a:blip r:embed="rId3">
            <a:alphaModFix/>
          </a:blip>
          <a:srcRect b="4626" l="0" r="4925" t="0"/>
          <a:stretch/>
        </p:blipFill>
        <p:spPr>
          <a:xfrm>
            <a:off x="2432696" y="1075447"/>
            <a:ext cx="2044775" cy="1987224"/>
          </a:xfrm>
          <a:prstGeom prst="rect">
            <a:avLst/>
          </a:prstGeom>
          <a:noFill/>
          <a:ln>
            <a:noFill/>
          </a:ln>
        </p:spPr>
      </p:pic>
      <p:pic>
        <p:nvPicPr>
          <p:cNvPr id="575" name="Google Shape;575;p91" title="SBS(2).png"/>
          <p:cNvPicPr preferRelativeResize="0"/>
          <p:nvPr/>
        </p:nvPicPr>
        <p:blipFill>
          <a:blip r:embed="rId4">
            <a:alphaModFix/>
          </a:blip>
          <a:stretch>
            <a:fillRect/>
          </a:stretch>
        </p:blipFill>
        <p:spPr>
          <a:xfrm>
            <a:off x="6700846" y="3146975"/>
            <a:ext cx="2168424" cy="1982626"/>
          </a:xfrm>
          <a:prstGeom prst="rect">
            <a:avLst/>
          </a:prstGeom>
          <a:noFill/>
          <a:ln>
            <a:noFill/>
          </a:ln>
        </p:spPr>
      </p:pic>
      <p:pic>
        <p:nvPicPr>
          <p:cNvPr id="576" name="Google Shape;576;p91" title="Copy of Audrey Revie - S&amp;S.png"/>
          <p:cNvPicPr preferRelativeResize="0"/>
          <p:nvPr/>
        </p:nvPicPr>
        <p:blipFill>
          <a:blip r:embed="rId5">
            <a:alphaModFix/>
          </a:blip>
          <a:stretch>
            <a:fillRect/>
          </a:stretch>
        </p:blipFill>
        <p:spPr>
          <a:xfrm>
            <a:off x="329221" y="3146975"/>
            <a:ext cx="1982599" cy="1937326"/>
          </a:xfrm>
          <a:prstGeom prst="rect">
            <a:avLst/>
          </a:prstGeom>
          <a:noFill/>
          <a:ln>
            <a:noFill/>
          </a:ln>
        </p:spPr>
      </p:pic>
      <p:pic>
        <p:nvPicPr>
          <p:cNvPr id="577" name="Google Shape;577;p91" title="Claire King.png"/>
          <p:cNvPicPr preferRelativeResize="0"/>
          <p:nvPr/>
        </p:nvPicPr>
        <p:blipFill>
          <a:blip r:embed="rId6">
            <a:alphaModFix/>
          </a:blip>
          <a:stretch>
            <a:fillRect/>
          </a:stretch>
        </p:blipFill>
        <p:spPr>
          <a:xfrm>
            <a:off x="311671" y="1082375"/>
            <a:ext cx="1982599" cy="1982626"/>
          </a:xfrm>
          <a:prstGeom prst="rect">
            <a:avLst/>
          </a:prstGeom>
          <a:noFill/>
          <a:ln>
            <a:noFill/>
          </a:ln>
        </p:spPr>
      </p:pic>
      <p:pic>
        <p:nvPicPr>
          <p:cNvPr id="578" name="Google Shape;578;p91" title="With Permission - Sarah Jane Moore.png"/>
          <p:cNvPicPr preferRelativeResize="0"/>
          <p:nvPr/>
        </p:nvPicPr>
        <p:blipFill>
          <a:blip r:embed="rId7">
            <a:alphaModFix/>
          </a:blip>
          <a:stretch>
            <a:fillRect/>
          </a:stretch>
        </p:blipFill>
        <p:spPr>
          <a:xfrm>
            <a:off x="2389346" y="3146975"/>
            <a:ext cx="2124425" cy="1937326"/>
          </a:xfrm>
          <a:prstGeom prst="rect">
            <a:avLst/>
          </a:prstGeom>
          <a:noFill/>
          <a:ln>
            <a:noFill/>
          </a:ln>
        </p:spPr>
      </p:pic>
      <p:pic>
        <p:nvPicPr>
          <p:cNvPr id="579" name="Google Shape;579;p91" title="Christine Robe.png"/>
          <p:cNvPicPr preferRelativeResize="0"/>
          <p:nvPr/>
        </p:nvPicPr>
        <p:blipFill>
          <a:blip r:embed="rId8">
            <a:alphaModFix/>
          </a:blip>
          <a:stretch>
            <a:fillRect/>
          </a:stretch>
        </p:blipFill>
        <p:spPr>
          <a:xfrm>
            <a:off x="4591296" y="3146975"/>
            <a:ext cx="1982599" cy="1937326"/>
          </a:xfrm>
          <a:prstGeom prst="rect">
            <a:avLst/>
          </a:prstGeom>
          <a:noFill/>
          <a:ln>
            <a:noFill/>
          </a:ln>
        </p:spPr>
      </p:pic>
      <p:pic>
        <p:nvPicPr>
          <p:cNvPr id="580" name="Google Shape;580;p91" title="Sylvia Anderson SBS (1).png"/>
          <p:cNvPicPr preferRelativeResize="0"/>
          <p:nvPr/>
        </p:nvPicPr>
        <p:blipFill rotWithShape="1">
          <a:blip r:embed="rId9">
            <a:alphaModFix/>
          </a:blip>
          <a:srcRect b="26686" l="0" r="0" t="0"/>
          <a:stretch/>
        </p:blipFill>
        <p:spPr>
          <a:xfrm>
            <a:off x="6700843" y="1067200"/>
            <a:ext cx="2168424" cy="1987224"/>
          </a:xfrm>
          <a:prstGeom prst="rect">
            <a:avLst/>
          </a:prstGeom>
          <a:noFill/>
          <a:ln>
            <a:noFill/>
          </a:ln>
        </p:spPr>
      </p:pic>
      <p:pic>
        <p:nvPicPr>
          <p:cNvPr id="581" name="Google Shape;581;p91" title="Copy of Anette Nordhoff - S&amp;S.png"/>
          <p:cNvPicPr preferRelativeResize="0"/>
          <p:nvPr/>
        </p:nvPicPr>
        <p:blipFill>
          <a:blip r:embed="rId10">
            <a:alphaModFix/>
          </a:blip>
          <a:stretch>
            <a:fillRect/>
          </a:stretch>
        </p:blipFill>
        <p:spPr>
          <a:xfrm>
            <a:off x="4615896" y="1075450"/>
            <a:ext cx="1982599" cy="1982599"/>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85" name="Shape 585"/>
        <p:cNvGrpSpPr/>
        <p:nvPr/>
      </p:nvGrpSpPr>
      <p:grpSpPr>
        <a:xfrm>
          <a:off x="0" y="0"/>
          <a:ext cx="0" cy="0"/>
          <a:chOff x="0" y="0"/>
          <a:chExt cx="0" cy="0"/>
        </a:xfrm>
      </p:grpSpPr>
      <p:sp>
        <p:nvSpPr>
          <p:cNvPr id="586" name="Google Shape;586;p92"/>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87" name="Google Shape;587;p92" title="SBS.png"/>
          <p:cNvPicPr preferRelativeResize="0"/>
          <p:nvPr/>
        </p:nvPicPr>
        <p:blipFill>
          <a:blip r:embed="rId3">
            <a:alphaModFix/>
          </a:blip>
          <a:stretch>
            <a:fillRect/>
          </a:stretch>
        </p:blipFill>
        <p:spPr>
          <a:xfrm>
            <a:off x="504597" y="1002975"/>
            <a:ext cx="3853475" cy="3853475"/>
          </a:xfrm>
          <a:prstGeom prst="rect">
            <a:avLst/>
          </a:prstGeom>
          <a:solidFill>
            <a:srgbClr val="ECE7DE"/>
          </a:solidFill>
          <a:ln cap="flat" cmpd="sng" w="19050">
            <a:solidFill>
              <a:srgbClr val="D9CDB6"/>
            </a:solidFill>
            <a:prstDash val="solid"/>
            <a:round/>
            <a:headEnd len="sm" w="sm" type="none"/>
            <a:tailEnd len="sm" w="sm" type="none"/>
          </a:ln>
        </p:spPr>
      </p:pic>
      <p:pic>
        <p:nvPicPr>
          <p:cNvPr id="588" name="Google Shape;588;p92" title="037bb43b-1844-4427-a635-66e727e35d98.jpg"/>
          <p:cNvPicPr preferRelativeResize="0"/>
          <p:nvPr/>
        </p:nvPicPr>
        <p:blipFill>
          <a:blip r:embed="rId4">
            <a:alphaModFix/>
          </a:blip>
          <a:stretch>
            <a:fillRect/>
          </a:stretch>
        </p:blipFill>
        <p:spPr>
          <a:xfrm>
            <a:off x="4762097" y="1002975"/>
            <a:ext cx="3896899" cy="3902729"/>
          </a:xfrm>
          <a:prstGeom prst="rect">
            <a:avLst/>
          </a:prstGeom>
          <a:solidFill>
            <a:srgbClr val="ECE7DE"/>
          </a:solidFill>
          <a:ln cap="flat" cmpd="sng" w="19050">
            <a:solidFill>
              <a:srgbClr val="D9CDB6"/>
            </a:solidFill>
            <a:prstDash val="solid"/>
            <a:round/>
            <a:headEnd len="sm" w="sm" type="none"/>
            <a:tailEnd len="sm" w="sm" type="none"/>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2" name="Shape 592"/>
        <p:cNvGrpSpPr/>
        <p:nvPr/>
      </p:nvGrpSpPr>
      <p:grpSpPr>
        <a:xfrm>
          <a:off x="0" y="0"/>
          <a:ext cx="0" cy="0"/>
          <a:chOff x="0" y="0"/>
          <a:chExt cx="0" cy="0"/>
        </a:xfrm>
      </p:grpSpPr>
      <p:sp>
        <p:nvSpPr>
          <p:cNvPr id="593" name="Google Shape;593;p93"/>
          <p:cNvSpPr txBox="1"/>
          <p:nvPr/>
        </p:nvSpPr>
        <p:spPr>
          <a:xfrm>
            <a:off x="457200" y="304800"/>
            <a:ext cx="8229600" cy="6100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594" name="Google Shape;594;p93" title="Lisa Thorpe.png"/>
          <p:cNvPicPr preferRelativeResize="0"/>
          <p:nvPr/>
        </p:nvPicPr>
        <p:blipFill>
          <a:blip r:embed="rId3">
            <a:alphaModFix/>
          </a:blip>
          <a:stretch>
            <a:fillRect/>
          </a:stretch>
        </p:blipFill>
        <p:spPr>
          <a:xfrm>
            <a:off x="597250" y="955966"/>
            <a:ext cx="3923899" cy="3923899"/>
          </a:xfrm>
          <a:prstGeom prst="rect">
            <a:avLst/>
          </a:prstGeom>
          <a:noFill/>
          <a:ln>
            <a:noFill/>
          </a:ln>
        </p:spPr>
      </p:pic>
      <p:pic>
        <p:nvPicPr>
          <p:cNvPr id="595" name="Google Shape;595;p93" title="3b18e6b2-b99e-4c1a-8cba-902bd8dc4436.png"/>
          <p:cNvPicPr preferRelativeResize="0"/>
          <p:nvPr/>
        </p:nvPicPr>
        <p:blipFill>
          <a:blip r:embed="rId4">
            <a:alphaModFix/>
          </a:blip>
          <a:stretch>
            <a:fillRect/>
          </a:stretch>
        </p:blipFill>
        <p:spPr>
          <a:xfrm>
            <a:off x="4673549" y="955966"/>
            <a:ext cx="3923899" cy="3923899"/>
          </a:xfrm>
          <a:prstGeom prst="rect">
            <a:avLst/>
          </a:prstGeom>
          <a:noFill/>
          <a:ln>
            <a:noFill/>
          </a:ln>
        </p:spPr>
      </p:pic>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599" name="Shape 599"/>
        <p:cNvGrpSpPr/>
        <p:nvPr/>
      </p:nvGrpSpPr>
      <p:grpSpPr>
        <a:xfrm>
          <a:off x="0" y="0"/>
          <a:ext cx="0" cy="0"/>
          <a:chOff x="0" y="0"/>
          <a:chExt cx="0" cy="0"/>
        </a:xfrm>
      </p:grpSpPr>
      <p:sp>
        <p:nvSpPr>
          <p:cNvPr id="600" name="Google Shape;600;p94"/>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1" name="Google Shape;601;p94" title="SBS - Laura GlassMissy Pane.png"/>
          <p:cNvPicPr preferRelativeResize="0"/>
          <p:nvPr/>
        </p:nvPicPr>
        <p:blipFill>
          <a:blip r:embed="rId3">
            <a:alphaModFix/>
          </a:blip>
          <a:stretch>
            <a:fillRect/>
          </a:stretch>
        </p:blipFill>
        <p:spPr>
          <a:xfrm>
            <a:off x="1064325" y="892450"/>
            <a:ext cx="3139201" cy="3924001"/>
          </a:xfrm>
          <a:prstGeom prst="rect">
            <a:avLst/>
          </a:prstGeom>
          <a:noFill/>
          <a:ln>
            <a:noFill/>
          </a:ln>
        </p:spPr>
      </p:pic>
      <p:pic>
        <p:nvPicPr>
          <p:cNvPr id="602" name="Google Shape;602;p94" title="SBS Photo - Fran Playfoot - S&amp;S.png"/>
          <p:cNvPicPr preferRelativeResize="0"/>
          <p:nvPr/>
        </p:nvPicPr>
        <p:blipFill>
          <a:blip r:embed="rId4">
            <a:alphaModFix/>
          </a:blip>
          <a:stretch>
            <a:fillRect/>
          </a:stretch>
        </p:blipFill>
        <p:spPr>
          <a:xfrm>
            <a:off x="4767401" y="892450"/>
            <a:ext cx="3139201" cy="3924001"/>
          </a:xfrm>
          <a:prstGeom prst="rect">
            <a:avLst/>
          </a:prstGeom>
          <a:noFill/>
          <a:ln>
            <a:noFill/>
          </a:ln>
        </p:spPr>
      </p:pic>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06" name="Shape 606"/>
        <p:cNvGrpSpPr/>
        <p:nvPr/>
      </p:nvGrpSpPr>
      <p:grpSpPr>
        <a:xfrm>
          <a:off x="0" y="0"/>
          <a:ext cx="0" cy="0"/>
          <a:chOff x="0" y="0"/>
          <a:chExt cx="0" cy="0"/>
        </a:xfrm>
      </p:grpSpPr>
      <p:sp>
        <p:nvSpPr>
          <p:cNvPr id="607" name="Google Shape;607;p95"/>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08" name="Google Shape;608;p95" title="SBS - Elaine Devlin- S&amp;S.png"/>
          <p:cNvPicPr preferRelativeResize="0"/>
          <p:nvPr/>
        </p:nvPicPr>
        <p:blipFill>
          <a:blip r:embed="rId3">
            <a:alphaModFix/>
          </a:blip>
          <a:stretch>
            <a:fillRect/>
          </a:stretch>
        </p:blipFill>
        <p:spPr>
          <a:xfrm>
            <a:off x="1214450" y="878050"/>
            <a:ext cx="3139201" cy="3924001"/>
          </a:xfrm>
          <a:prstGeom prst="rect">
            <a:avLst/>
          </a:prstGeom>
          <a:noFill/>
          <a:ln>
            <a:noFill/>
          </a:ln>
        </p:spPr>
      </p:pic>
      <p:pic>
        <p:nvPicPr>
          <p:cNvPr id="609" name="Google Shape;609;p95" title="Arleen Hulley - SBS (1).png"/>
          <p:cNvPicPr preferRelativeResize="0"/>
          <p:nvPr/>
        </p:nvPicPr>
        <p:blipFill>
          <a:blip r:embed="rId4">
            <a:alphaModFix/>
          </a:blip>
          <a:stretch>
            <a:fillRect/>
          </a:stretch>
        </p:blipFill>
        <p:spPr>
          <a:xfrm>
            <a:off x="4661726" y="878050"/>
            <a:ext cx="3139201" cy="3924001"/>
          </a:xfrm>
          <a:prstGeom prst="rect">
            <a:avLst/>
          </a:prstGeom>
          <a:noFill/>
          <a:ln>
            <a:noFill/>
          </a:ln>
        </p:spPr>
      </p:pic>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13" name="Shape 613"/>
        <p:cNvGrpSpPr/>
        <p:nvPr/>
      </p:nvGrpSpPr>
      <p:grpSpPr>
        <a:xfrm>
          <a:off x="0" y="0"/>
          <a:ext cx="0" cy="0"/>
          <a:chOff x="0" y="0"/>
          <a:chExt cx="0" cy="0"/>
        </a:xfrm>
      </p:grpSpPr>
      <p:sp>
        <p:nvSpPr>
          <p:cNvPr id="614" name="Google Shape;614;p96"/>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15" name="Google Shape;615;p96" title="SBS 1.png"/>
          <p:cNvPicPr preferRelativeResize="0"/>
          <p:nvPr/>
        </p:nvPicPr>
        <p:blipFill>
          <a:blip r:embed="rId3">
            <a:alphaModFix/>
          </a:blip>
          <a:stretch>
            <a:fillRect/>
          </a:stretch>
        </p:blipFill>
        <p:spPr>
          <a:xfrm>
            <a:off x="1481375" y="914700"/>
            <a:ext cx="3139201" cy="3924001"/>
          </a:xfrm>
          <a:prstGeom prst="rect">
            <a:avLst/>
          </a:prstGeom>
          <a:noFill/>
          <a:ln>
            <a:noFill/>
          </a:ln>
        </p:spPr>
      </p:pic>
      <p:pic>
        <p:nvPicPr>
          <p:cNvPr id="616" name="Google Shape;616;p96" title="SBS.png"/>
          <p:cNvPicPr preferRelativeResize="0"/>
          <p:nvPr/>
        </p:nvPicPr>
        <p:blipFill>
          <a:blip r:embed="rId4">
            <a:alphaModFix/>
          </a:blip>
          <a:stretch>
            <a:fillRect/>
          </a:stretch>
        </p:blipFill>
        <p:spPr>
          <a:xfrm>
            <a:off x="4911976" y="914700"/>
            <a:ext cx="3139201" cy="3924001"/>
          </a:xfrm>
          <a:prstGeom prst="rect">
            <a:avLst/>
          </a:prstGeom>
          <a:noFill/>
          <a:ln>
            <a:noFill/>
          </a:ln>
        </p:spPr>
      </p:pic>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0" name="Shape 620"/>
        <p:cNvGrpSpPr/>
        <p:nvPr/>
      </p:nvGrpSpPr>
      <p:grpSpPr>
        <a:xfrm>
          <a:off x="0" y="0"/>
          <a:ext cx="0" cy="0"/>
          <a:chOff x="0" y="0"/>
          <a:chExt cx="0" cy="0"/>
        </a:xfrm>
      </p:grpSpPr>
      <p:sp>
        <p:nvSpPr>
          <p:cNvPr id="621" name="Google Shape;621;p97"/>
          <p:cNvSpPr txBox="1"/>
          <p:nvPr/>
        </p:nvSpPr>
        <p:spPr>
          <a:xfrm>
            <a:off x="457200" y="304800"/>
            <a:ext cx="8229600" cy="6099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1" i="0" lang="en-GB" sz="2600" u="none" cap="none" strike="noStrike">
                <a:solidFill>
                  <a:srgbClr val="003060"/>
                </a:solidFill>
                <a:latin typeface="Libre Baskerville"/>
                <a:ea typeface="Libre Baskerville"/>
                <a:cs typeface="Libre Baskerville"/>
                <a:sym typeface="Libre Baskerville"/>
              </a:rPr>
              <a:t>Real Women, Real Transformations</a:t>
            </a:r>
            <a:endParaRPr/>
          </a:p>
        </p:txBody>
      </p:sp>
      <p:pic>
        <p:nvPicPr>
          <p:cNvPr id="622" name="Google Shape;622;p97" title="Lorraine Courts - SBS .png"/>
          <p:cNvPicPr preferRelativeResize="0"/>
          <p:nvPr/>
        </p:nvPicPr>
        <p:blipFill>
          <a:blip r:embed="rId3">
            <a:alphaModFix/>
          </a:blip>
          <a:stretch>
            <a:fillRect/>
          </a:stretch>
        </p:blipFill>
        <p:spPr>
          <a:xfrm>
            <a:off x="202663" y="1198300"/>
            <a:ext cx="2640408" cy="3300517"/>
          </a:xfrm>
          <a:prstGeom prst="rect">
            <a:avLst/>
          </a:prstGeom>
          <a:noFill/>
          <a:ln>
            <a:noFill/>
          </a:ln>
        </p:spPr>
      </p:pic>
      <p:pic>
        <p:nvPicPr>
          <p:cNvPr id="623" name="Google Shape;623;p97" title="Kay Crane SBS Side.png"/>
          <p:cNvPicPr preferRelativeResize="0"/>
          <p:nvPr/>
        </p:nvPicPr>
        <p:blipFill>
          <a:blip r:embed="rId4">
            <a:alphaModFix/>
          </a:blip>
          <a:stretch>
            <a:fillRect/>
          </a:stretch>
        </p:blipFill>
        <p:spPr>
          <a:xfrm>
            <a:off x="6356528" y="1198300"/>
            <a:ext cx="2640408" cy="3300524"/>
          </a:xfrm>
          <a:prstGeom prst="rect">
            <a:avLst/>
          </a:prstGeom>
          <a:noFill/>
          <a:ln>
            <a:noFill/>
          </a:ln>
        </p:spPr>
      </p:pic>
      <p:pic>
        <p:nvPicPr>
          <p:cNvPr id="624" name="Google Shape;624;p97" title="Before and after photo - Jill .png"/>
          <p:cNvPicPr preferRelativeResize="0"/>
          <p:nvPr/>
        </p:nvPicPr>
        <p:blipFill>
          <a:blip r:embed="rId5">
            <a:alphaModFix/>
          </a:blip>
          <a:stretch>
            <a:fillRect/>
          </a:stretch>
        </p:blipFill>
        <p:spPr>
          <a:xfrm>
            <a:off x="2952537" y="1198300"/>
            <a:ext cx="3300518" cy="3300518"/>
          </a:xfrm>
          <a:prstGeom prst="rect">
            <a:avLst/>
          </a:prstGeom>
          <a:noFill/>
          <a:ln>
            <a:noFill/>
          </a:ln>
        </p:spPr>
      </p:pic>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28" name="Shape 628"/>
        <p:cNvGrpSpPr/>
        <p:nvPr/>
      </p:nvGrpSpPr>
      <p:grpSpPr>
        <a:xfrm>
          <a:off x="0" y="0"/>
          <a:ext cx="0" cy="0"/>
          <a:chOff x="0" y="0"/>
          <a:chExt cx="0" cy="0"/>
        </a:xfrm>
      </p:grpSpPr>
      <p:sp>
        <p:nvSpPr>
          <p:cNvPr id="629" name="Google Shape;629;p98"/>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How Is This </a:t>
            </a:r>
            <a:r>
              <a:rPr b="1" lang="en-GB" sz="3000">
                <a:solidFill>
                  <a:srgbClr val="003060"/>
                </a:solidFill>
                <a:latin typeface="Libre Baskerville"/>
                <a:ea typeface="Libre Baskerville"/>
                <a:cs typeface="Libre Baskerville"/>
                <a:sym typeface="Libre Baskerville"/>
              </a:rPr>
              <a:t>Challenge</a:t>
            </a:r>
            <a:r>
              <a:rPr b="1" i="0" lang="en-GB" sz="3000" u="none" cap="none" strike="noStrike">
                <a:solidFill>
                  <a:srgbClr val="003060"/>
                </a:solidFill>
                <a:latin typeface="Libre Baskerville"/>
                <a:ea typeface="Libre Baskerville"/>
                <a:cs typeface="Libre Baskerville"/>
                <a:sym typeface="Libre Baskerville"/>
              </a:rPr>
              <a:t> Different From The Original 12 Week Academy?</a:t>
            </a:r>
            <a:endParaRPr/>
          </a:p>
          <a:p>
            <a:pPr indent="0" lvl="0" marL="0" marR="0" rtl="0" algn="ctr">
              <a:spcBef>
                <a:spcPts val="1400"/>
              </a:spcBef>
              <a:spcAft>
                <a:spcPts val="0"/>
              </a:spcAft>
              <a:buNone/>
            </a:pPr>
            <a:r>
              <a:rPr lang="en-GB" sz="1500">
                <a:solidFill>
                  <a:srgbClr val="003060"/>
                </a:solidFill>
                <a:latin typeface="Alegreya Sans"/>
                <a:ea typeface="Alegreya Sans"/>
                <a:cs typeface="Alegreya Sans"/>
                <a:sym typeface="Alegreya Sans"/>
              </a:rPr>
              <a:t>O</a:t>
            </a:r>
            <a:r>
              <a:rPr b="0" i="0" lang="en-GB" sz="1500" u="none" cap="none" strike="noStrike">
                <a:solidFill>
                  <a:srgbClr val="003060"/>
                </a:solidFill>
                <a:latin typeface="Alegreya Sans"/>
                <a:ea typeface="Alegreya Sans"/>
                <a:cs typeface="Alegreya Sans"/>
                <a:sym typeface="Alegreya Sans"/>
              </a:rPr>
              <a:t>ur Academy program remains unchanged, </a:t>
            </a:r>
            <a:r>
              <a:rPr lang="en-GB" sz="1500">
                <a:solidFill>
                  <a:srgbClr val="003060"/>
                </a:solidFill>
                <a:latin typeface="Alegreya Sans"/>
                <a:ea typeface="Alegreya Sans"/>
                <a:cs typeface="Alegreya Sans"/>
                <a:sym typeface="Alegreya Sans"/>
              </a:rPr>
              <a:t>it's</a:t>
            </a:r>
            <a:r>
              <a:rPr b="0" i="0" lang="en-GB" sz="1500" u="none" cap="none" strike="noStrike">
                <a:solidFill>
                  <a:srgbClr val="003060"/>
                </a:solidFill>
                <a:latin typeface="Alegreya Sans"/>
                <a:ea typeface="Alegreya Sans"/>
                <a:cs typeface="Alegreya Sans"/>
                <a:sym typeface="Alegreya Sans"/>
              </a:rPr>
              <a:t> </a:t>
            </a:r>
            <a:r>
              <a:rPr lang="en-GB" sz="1500">
                <a:solidFill>
                  <a:srgbClr val="003060"/>
                </a:solidFill>
                <a:latin typeface="Alegreya Sans"/>
                <a:ea typeface="Alegreya Sans"/>
                <a:cs typeface="Alegreya Sans"/>
                <a:sym typeface="Alegreya Sans"/>
              </a:rPr>
              <a:t>just</a:t>
            </a:r>
            <a:r>
              <a:rPr b="0" i="0" lang="en-GB" sz="1500" u="none" cap="none" strike="noStrike">
                <a:solidFill>
                  <a:srgbClr val="003060"/>
                </a:solidFill>
                <a:latin typeface="Alegreya Sans"/>
                <a:ea typeface="Alegreya Sans"/>
                <a:cs typeface="Alegreya Sans"/>
                <a:sym typeface="Alegreya Sans"/>
              </a:rPr>
              <a:t> not open to new clien</a:t>
            </a:r>
            <a:r>
              <a:rPr lang="en-GB" sz="1500">
                <a:solidFill>
                  <a:srgbClr val="003060"/>
                </a:solidFill>
                <a:latin typeface="Alegreya Sans"/>
                <a:ea typeface="Alegreya Sans"/>
                <a:cs typeface="Alegreya Sans"/>
                <a:sym typeface="Alegreya Sans"/>
              </a:rPr>
              <a:t>ts anymore.</a:t>
            </a:r>
            <a:endParaRPr/>
          </a:p>
          <a:p>
            <a:pPr indent="0" lvl="0" marL="0" marR="0" rtl="0" algn="ctr">
              <a:spcBef>
                <a:spcPts val="1000"/>
              </a:spcBef>
              <a:spcAft>
                <a:spcPts val="0"/>
              </a:spcAft>
              <a:buNone/>
            </a:pPr>
            <a:r>
              <a:rPr b="1" i="1" lang="en-GB" sz="1500">
                <a:solidFill>
                  <a:srgbClr val="F79F83"/>
                </a:solidFill>
                <a:latin typeface="Libre Baskerville"/>
                <a:ea typeface="Libre Baskerville"/>
                <a:cs typeface="Libre Baskerville"/>
                <a:sym typeface="Libre Baskerville"/>
              </a:rPr>
              <a:t>D</a:t>
            </a:r>
            <a:r>
              <a:rPr b="1" i="1" lang="en-GB" sz="1500" u="none" cap="none" strike="noStrike">
                <a:solidFill>
                  <a:srgbClr val="F79F83"/>
                </a:solidFill>
                <a:latin typeface="Libre Baskerville"/>
                <a:ea typeface="Libre Baskerville"/>
                <a:cs typeface="Libre Baskerville"/>
                <a:sym typeface="Libre Baskerville"/>
              </a:rPr>
              <a:t>ue to overwhelming demand, </a:t>
            </a:r>
            <a:endParaRPr b="1" i="1" sz="1500" u="none" cap="none" strike="noStrike">
              <a:solidFill>
                <a:srgbClr val="F79F83"/>
              </a:solidFill>
              <a:latin typeface="Libre Baskerville"/>
              <a:ea typeface="Libre Baskerville"/>
              <a:cs typeface="Libre Baskerville"/>
              <a:sym typeface="Libre Baskerville"/>
            </a:endParaRPr>
          </a:p>
          <a:p>
            <a:pPr indent="0" lvl="0" marL="0" marR="0" rtl="0" algn="ctr">
              <a:spcBef>
                <a:spcPts val="10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we've introduced </a:t>
            </a:r>
            <a:r>
              <a:rPr b="1" i="1" lang="en-GB" sz="1500">
                <a:solidFill>
                  <a:srgbClr val="F79F83"/>
                </a:solidFill>
                <a:latin typeface="Libre Baskerville"/>
                <a:ea typeface="Libre Baskerville"/>
                <a:cs typeface="Libre Baskerville"/>
                <a:sym typeface="Libre Baskerville"/>
              </a:rPr>
              <a:t>new options</a:t>
            </a:r>
            <a:r>
              <a:rPr b="1" i="1" lang="en-GB" sz="1500" u="none" cap="none" strike="noStrike">
                <a:solidFill>
                  <a:srgbClr val="F79F83"/>
                </a:solidFill>
                <a:latin typeface="Libre Baskerville"/>
                <a:ea typeface="Libre Baskerville"/>
                <a:cs typeface="Libre Baskerville"/>
                <a:sym typeface="Libre Baskerville"/>
              </a:rPr>
              <a:t> to provide a more personalised experience.</a:t>
            </a:r>
            <a:endParaRPr/>
          </a:p>
          <a:p>
            <a:pPr indent="0" lvl="0" marL="0" marR="0" rtl="0" algn="ctr">
              <a:spcBef>
                <a:spcPts val="1800"/>
              </a:spcBef>
              <a:spcAft>
                <a:spcPts val="0"/>
              </a:spcAft>
              <a:buNone/>
            </a:pPr>
            <a:r>
              <a:rPr b="0" i="0" lang="en-GB" sz="1400" u="none" cap="none" strike="noStrike">
                <a:solidFill>
                  <a:srgbClr val="003060"/>
                </a:solidFill>
                <a:latin typeface="Alegreya Sans"/>
                <a:ea typeface="Alegreya Sans"/>
                <a:cs typeface="Alegreya Sans"/>
                <a:sym typeface="Alegreya Sans"/>
              </a:rPr>
              <a:t>The truth is, delivering high-level accountability and tailored support is challenging in large groups.</a:t>
            </a:r>
            <a:endParaRPr/>
          </a:p>
          <a:p>
            <a:pPr indent="0" lvl="0" marL="0" marR="0" rtl="0" algn="ctr">
              <a:spcBef>
                <a:spcPts val="1400"/>
              </a:spcBef>
              <a:spcAft>
                <a:spcPts val="0"/>
              </a:spcAft>
              <a:buNone/>
            </a:pPr>
            <a:r>
              <a:rPr b="1" i="0" lang="en-GB" sz="1400" u="none" cap="none" strike="noStrike">
                <a:solidFill>
                  <a:srgbClr val="F79F83"/>
                </a:solidFill>
                <a:latin typeface="Alegreya Sans"/>
                <a:ea typeface="Alegreya Sans"/>
                <a:cs typeface="Alegreya Sans"/>
                <a:sym typeface="Alegreya Sans"/>
              </a:rPr>
              <a:t>Regular Academy Program:  </a:t>
            </a:r>
            <a:r>
              <a:rPr b="0" i="0" lang="en-GB" sz="1400" u="none" cap="none" strike="noStrike">
                <a:solidFill>
                  <a:srgbClr val="003060"/>
                </a:solidFill>
                <a:latin typeface="Alegreya Sans"/>
                <a:ea typeface="Alegreya Sans"/>
                <a:cs typeface="Alegreya Sans"/>
                <a:sym typeface="Alegreya Sans"/>
              </a:rPr>
              <a:t>Ideal for those who are self-motivated and need tools to succeed on their own.</a:t>
            </a:r>
            <a:endParaRPr/>
          </a:p>
          <a:p>
            <a:pPr indent="0" lvl="0" marL="0" marR="0" rtl="0" algn="ctr">
              <a:spcBef>
                <a:spcPts val="800"/>
              </a:spcBef>
              <a:spcAft>
                <a:spcPts val="0"/>
              </a:spcAft>
              <a:buNone/>
            </a:pPr>
            <a:r>
              <a:rPr b="1" lang="en-GB">
                <a:solidFill>
                  <a:srgbClr val="F79F83"/>
                </a:solidFill>
                <a:latin typeface="Alegreya Sans"/>
                <a:ea typeface="Alegreya Sans"/>
                <a:cs typeface="Alegreya Sans"/>
                <a:sym typeface="Alegreya Sans"/>
              </a:rPr>
              <a:t>12 Week Challenge</a:t>
            </a:r>
            <a:r>
              <a:rPr b="1" i="0" lang="en-GB" sz="1400" u="none" cap="none" strike="noStrike">
                <a:solidFill>
                  <a:srgbClr val="F79F83"/>
                </a:solidFill>
                <a:latin typeface="Alegreya Sans"/>
                <a:ea typeface="Alegreya Sans"/>
                <a:cs typeface="Alegreya Sans"/>
                <a:sym typeface="Alegreya Sans"/>
              </a:rPr>
              <a:t>:  </a:t>
            </a:r>
            <a:r>
              <a:rPr b="0" i="0" lang="en-GB" sz="1400" u="none" cap="none" strike="noStrike">
                <a:solidFill>
                  <a:srgbClr val="003060"/>
                </a:solidFill>
                <a:latin typeface="Alegreya Sans"/>
                <a:ea typeface="Alegreya Sans"/>
                <a:cs typeface="Alegreya Sans"/>
                <a:sym typeface="Alegreya Sans"/>
              </a:rPr>
              <a:t>Designed for individuals who crave closer support, detailed accountability, and personalised guidance.</a:t>
            </a:r>
            <a:endParaRPr/>
          </a:p>
          <a:p>
            <a:pPr indent="0" lvl="0" marL="0" marR="0" rtl="0" algn="ctr">
              <a:spcBef>
                <a:spcPts val="1400"/>
              </a:spcBef>
              <a:spcAft>
                <a:spcPts val="0"/>
              </a:spcAft>
              <a:buNone/>
            </a:pPr>
            <a:r>
              <a:rPr b="1" i="1" lang="en-GB" sz="1600" u="none" cap="none" strike="noStrike">
                <a:solidFill>
                  <a:srgbClr val="F79F83"/>
                </a:solidFill>
                <a:latin typeface="Libre Baskerville"/>
                <a:ea typeface="Libre Baskerville"/>
                <a:cs typeface="Libre Baskerville"/>
                <a:sym typeface="Libre Baskerville"/>
              </a:rPr>
              <a:t>It's about taking consistent action, not just having the right tools.</a:t>
            </a:r>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3" name="Shape 633"/>
        <p:cNvGrpSpPr/>
        <p:nvPr/>
      </p:nvGrpSpPr>
      <p:grpSpPr>
        <a:xfrm>
          <a:off x="0" y="0"/>
          <a:ext cx="0" cy="0"/>
          <a:chOff x="0" y="0"/>
          <a:chExt cx="0" cy="0"/>
        </a:xfrm>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500">
                <a:solidFill>
                  <a:srgbClr val="003060"/>
                </a:solidFill>
                <a:latin typeface="Alegreya Sans"/>
              </a:rPr>
              <a:t>The WLA summer challenge </a:t>
            </a:r>
            <a:r>
              <a:rPr sz="1500" b="0" i="0">
                <a:solidFill>
                  <a:srgbClr val="003060"/>
                </a:solidFill>
                <a:latin typeface="Alegreya Sans"/>
              </a:rPr>
              <a:t>goal is to support clients who start their weight loss journey but quit after 5 days, lose weight, gain it back and just cannot be consistent. Our ethos is centere</a:t>
            </a:r>
            <a:r>
              <a:rPr sz="1500">
                <a:solidFill>
                  <a:srgbClr val="003060"/>
                </a:solidFill>
                <a:latin typeface="Alegreya Sans"/>
              </a:rPr>
              <a:t>d around our proven flexible nutrition formula, behavioural change </a:t>
            </a:r>
            <a:r>
              <a:rPr sz="1500">
                <a:solidFill>
                  <a:srgbClr val="003060"/>
                </a:solidFill>
                <a:latin typeface="Alegreya Sans"/>
              </a:rPr>
              <a:t>strategies</a:t>
            </a:r>
            <a:r>
              <a:rPr sz="1500">
                <a:solidFill>
                  <a:srgbClr val="003060"/>
                </a:solidFill>
                <a:latin typeface="Alegreya Sans"/>
              </a:rPr>
              <a:t> and expert coaching. Most program don’t include these tools or support.</a:t>
            </a:r>
          </a:p>
          <a:p>
            <a:pPr algn="ctr">
              <a:spcBef>
                <a:spcPts val="800"/>
              </a:spcBef>
            </a:pPr>
            <a:r>
              <a:rPr sz="1500" b="0" i="0">
                <a:solidFill>
                  <a:srgbClr val="003060"/>
                </a:solidFill>
                <a:latin typeface="Alegreya Sans"/>
              </a:rPr>
              <a:t>For people who struggle with consistency, they need accountability, challenges, incentives and coaching to continuously take action.</a:t>
            </a:r>
          </a:p>
          <a:p>
            <a:pPr algn="ctr">
              <a:spcBef>
                <a:spcPts val="800"/>
              </a:spcBef>
            </a:pPr>
            <a:r>
              <a:rPr sz="1600" b="1" i="1">
                <a:solidFill>
                  <a:srgbClr val="F79F83"/>
                </a:solidFill>
                <a:latin typeface="Libre Baskerville"/>
              </a:rPr>
              <a:t>They cannot hold themselves accountable. They need that external motivation and focus.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9F7F4"/>
        </a:solidFill>
        <a:effectLst/>
      </p:bgPr>
    </p:bg>
    <p:spTree>
      <p:nvGrpSpPr>
        <p:cNvPr id="1" name=""/>
        <p:cNvGrpSpPr/>
        <p:nvPr/>
      </p:nvGrpSpPr>
      <p:grpSpPr/>
      <p:sp>
        <p:nvSpPr>
          <p:cNvPr id="634" name="Google Shape;634;p99"/>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sz="3000" b="1" i="0">
                <a:solidFill>
                  <a:srgbClr val="003060"/>
                </a:solidFill>
                <a:latin typeface="Libre Baskerville"/>
              </a:rPr>
              <a:t>Why Is This </a:t>
            </a:r>
            <a:r>
              <a:rPr sz="3000" b="1">
                <a:solidFill>
                  <a:srgbClr val="003060"/>
                </a:solidFill>
                <a:latin typeface="Libre Baskerville"/>
              </a:rPr>
              <a:t>Challenge</a:t>
            </a:r>
            <a:r>
              <a:rPr sz="3000" b="1" i="0">
                <a:solidFill>
                  <a:srgbClr val="003060"/>
                </a:solidFill>
                <a:latin typeface="Libre Baskerville"/>
              </a:rPr>
              <a:t> Different From Other Diets?</a:t>
            </a:r>
            <a:endParaRPr/>
          </a:p>
          <a:p>
            <a:pPr algn="ctr">
              <a:spcBef>
                <a:spcPts val="2000"/>
              </a:spcBef>
            </a:pPr>
            <a:r>
              <a:rPr sz="1600" b="1" i="0">
                <a:solidFill>
                  <a:srgbClr val="003060"/>
                </a:solidFill>
                <a:latin typeface="Alegreya Sans"/>
              </a:rPr>
              <a:t>That's where I come in with </a:t>
            </a:r>
            <a:r>
              <a:rPr sz="1600" b="1">
                <a:solidFill>
                  <a:srgbClr val="003060"/>
                </a:solidFill>
                <a:latin typeface="Alegreya Sans"/>
              </a:rPr>
              <a:t>our 12 week challenge</a:t>
            </a:r>
            <a:r>
              <a:rPr sz="1600" b="1" i="0">
                <a:solidFill>
                  <a:srgbClr val="003060"/>
                </a:solidFill>
                <a:latin typeface="Alegreya Sans"/>
              </a:rPr>
              <a:t>.</a:t>
            </a:r>
          </a:p>
          <a:p>
            <a:pPr algn="ctr">
              <a:spcBef>
                <a:spcPts val="800"/>
              </a:spcBef>
            </a:pPr>
            <a:r>
              <a:rPr sz="1700" b="1" i="1">
                <a:solidFill>
                  <a:srgbClr val="F79F83"/>
                </a:solidFill>
                <a:latin typeface="Libre Baskerville"/>
              </a:rPr>
              <a:t>This is a high-energy group coaching program where the goal is action.</a:t>
            </a:r>
          </a:p>
          <a:p>
            <a:pPr algn="ctr">
              <a:spcBef>
                <a:spcPts val="800"/>
              </a:spcBef>
            </a:pPr>
            <a:r>
              <a:rPr sz="2200" b="1" i="1">
                <a:solidFill>
                  <a:srgbClr val="F79F83"/>
                </a:solidFill>
                <a:latin typeface="Libre Baskerville"/>
              </a:rPr>
              <a:t>Action creates results.</a:t>
            </a: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38" name="Shape 638"/>
        <p:cNvGrpSpPr/>
        <p:nvPr/>
      </p:nvGrpSpPr>
      <p:grpSpPr>
        <a:xfrm>
          <a:off x="0" y="0"/>
          <a:ext cx="0" cy="0"/>
          <a:chOff x="0" y="0"/>
          <a:chExt cx="0" cy="0"/>
        </a:xfrm>
      </p:grpSpPr>
      <p:sp>
        <p:nvSpPr>
          <p:cNvPr id="639" name="Google Shape;639;p100"/>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000">
                <a:solidFill>
                  <a:srgbClr val="003060"/>
                </a:solidFill>
                <a:latin typeface="Libre Baskerville"/>
                <a:ea typeface="Libre Baskerville"/>
                <a:cs typeface="Libre Baskerville"/>
                <a:sym typeface="Libre Baskerville"/>
              </a:rPr>
              <a:t>Why Would I Do This?</a:t>
            </a:r>
            <a:endParaRPr/>
          </a:p>
          <a:p>
            <a:pPr indent="0" lvl="0" marL="0" marR="0" rtl="0" algn="l">
              <a:spcBef>
                <a:spcPts val="1000"/>
              </a:spcBef>
              <a:spcAft>
                <a:spcPts val="0"/>
              </a:spcAft>
              <a:buNone/>
            </a:pPr>
            <a:r>
              <a:rPr>
                <a:solidFill/>
              </a:rPr>
              <a:t/>
            </a:r>
            <a:endParaRPr/>
          </a:p>
          <a:p>
            <a:pPr indent="0" lvl="0" marL="0" marR="0" rtl="0" algn="ctr">
              <a:spcBef>
                <a:spcPts val="1400"/>
              </a:spcBef>
              <a:spcAft>
                <a:spcPts val="0"/>
              </a:spcAft>
              <a:buNone/>
            </a:pPr>
            <a:r>
              <a:rPr b="1" i="1" lang="en-GB" sz="1500" u="none" cap="none" strike="noStrike">
                <a:solidFill>
                  <a:srgbClr val="F79F83"/>
                </a:solidFill>
                <a:latin typeface="Libre Baskerville"/>
                <a:ea typeface="Libre Baskerville"/>
                <a:cs typeface="Libre Baskerville"/>
                <a:sym typeface="Libre Baskerville"/>
              </a:rPr>
              <a:t>If you are currently not at your goal, it's probably not because you don't have the right tools it's that you are not implementing them.</a:t>
            </a:r>
            <a:endParaRPr/>
          </a:p>
          <a:p>
            <a:pPr indent="0" lvl="0" marL="0" marR="0" rtl="0" algn="ctr">
              <a:spcBef>
                <a:spcPts val="400"/>
              </a:spcBef>
              <a:spcAft>
                <a:spcPts val="0"/>
              </a:spcAft>
              <a:buNone/>
            </a:pPr>
            <a:r>
              <a:rPr b="1" i="0" lang="en-GB" sz="1400" u="none" cap="none" strike="noStrike">
                <a:solidFill>
                  <a:srgbClr val="003060"/>
                </a:solidFill>
                <a:latin typeface="Alegreya Sans"/>
                <a:ea typeface="Alegreya Sans"/>
                <a:cs typeface="Alegreya Sans"/>
                <a:sym typeface="Alegreya Sans"/>
              </a:rPr>
              <a:t>You need to take action more than anything else and that's our primary goal for the program. And gi</a:t>
            </a:r>
            <a:r>
              <a:rPr b="1" lang="en-GB">
                <a:solidFill>
                  <a:srgbClr val="003060"/>
                </a:solidFill>
                <a:latin typeface="Alegreya Sans"/>
                <a:ea typeface="Alegreya Sans"/>
                <a:cs typeface="Alegreya Sans"/>
                <a:sym typeface="Alegreya Sans"/>
              </a:rPr>
              <a:t>ve you all the tools, so implementing becomes easy</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43" name="Shape 643"/>
        <p:cNvGrpSpPr/>
        <p:nvPr/>
      </p:nvGrpSpPr>
      <p:grpSpPr>
        <a:xfrm>
          <a:off x="0" y="0"/>
          <a:ext cx="0" cy="0"/>
          <a:chOff x="0" y="0"/>
          <a:chExt cx="0" cy="0"/>
        </a:xfrm>
      </p:grpSpPr>
      <p:sp>
        <p:nvSpPr>
          <p:cNvPr id="644" name="TextBox 643"/>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45" name="Rounded Rectangle 644"/>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6" name="Rectangle 645"/>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7" name="TextBox 646"/>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When does it start?</a:t>
            </a:r>
          </a:p>
        </p:txBody>
      </p:sp>
      <p:sp>
        <p:nvSpPr>
          <p:cNvPr id="648" name="TextBox 647"/>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Monday 8th June, when you register, you will get access to our members area and group straight away</a:t>
            </a:r>
          </a:p>
        </p:txBody>
      </p:sp>
      <p:sp>
        <p:nvSpPr>
          <p:cNvPr id="649" name="Rounded Rectangle 648"/>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0" name="Rectangle 649"/>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1" name="TextBox 650"/>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How long is the program?</a:t>
            </a:r>
          </a:p>
        </p:txBody>
      </p:sp>
      <p:sp>
        <p:nvSpPr>
          <p:cNvPr id="652" name="TextBox 651"/>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It is 12 weeks. But with this special Summer offer you get 1 full year of access in total, for just £97.</a:t>
            </a:r>
          </a:p>
        </p:txBody>
      </p:sp>
      <p:sp>
        <p:nvSpPr>
          <p:cNvPr id="653" name="Rounded Rectangle 652"/>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4" name="Rectangle 653"/>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5" name="TextBox 654"/>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Do you have a refund policy?</a:t>
            </a:r>
          </a:p>
        </p:txBody>
      </p:sp>
      <p:sp>
        <p:nvSpPr>
          <p:cNvPr id="656" name="TextBox 655"/>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I'm so confident this can help you reach your goals that we have a rock-solid 7-day try-it-out option. If you implement (yes, you have to do the work) and decide it's not for you, get your fee back, no questions asked.</a:t>
            </a:r>
          </a:p>
        </p:txBody>
      </p:sp>
      <p:sp>
        <p:nvSpPr>
          <p:cNvPr id="657" name="Rounded Rectangle 656"/>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8" name="Rectangle 657"/>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TextBox 658"/>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results?</a:t>
            </a:r>
          </a:p>
        </p:txBody>
      </p:sp>
      <p:sp>
        <p:nvSpPr>
          <p:cNvPr id="660" name="TextBox 659"/>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With high accountability, challenges and incentives for taking action, this is the place to be if you just can't stay consistent on your own. We're going to get to work, but you'll love it,  you'll get incredible results and feel better than you have in a long time.</a:t>
            </a: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56" name="Shape 656"/>
        <p:cNvGrpSpPr/>
        <p:nvPr/>
      </p:nvGrpSpPr>
      <p:grpSpPr>
        <a:xfrm>
          <a:off x="0" y="0"/>
          <a:ext cx="0" cy="0"/>
          <a:chOff x="0" y="0"/>
          <a:chExt cx="0" cy="0"/>
        </a:xfrm>
      </p:grpSpPr>
      <p:sp>
        <p:nvSpPr>
          <p:cNvPr id="657" name="TextBox 656"/>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58" name="Rounded Rectangle 657"/>
          <p:cNvSpPr/>
          <p:nvPr/>
        </p:nvSpPr>
        <p:spPr>
          <a:xfrm>
            <a:off x="380000" y="900000"/>
            <a:ext cx="8384000" cy="190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9" name="Rectangle 658"/>
          <p:cNvSpPr/>
          <p:nvPr/>
        </p:nvSpPr>
        <p:spPr>
          <a:xfrm>
            <a:off x="380000" y="900000"/>
            <a:ext cx="80000" cy="190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0" name="TextBox 659"/>
          <p:cNvSpPr txBox="1"/>
          <p:nvPr/>
        </p:nvSpPr>
        <p:spPr>
          <a:xfrm>
            <a:off x="640000" y="1000000"/>
            <a:ext cx="7944000" cy="380000"/>
          </a:xfrm>
          <a:prstGeom prst="rect">
            <a:avLst/>
          </a:prstGeom>
          <a:noFill/>
        </p:spPr>
        <p:txBody>
          <a:bodyPr wrap="square" lIns="0" rIns="0" tIns="0" bIns="0" anchor="t"/>
          <a:lstStyle/>
          <a:p>
            <a:pPr algn="l"/>
            <a:r>
              <a:rPr sz="1400" b="1" i="0">
                <a:solidFill>
                  <a:srgbClr val="003060"/>
                </a:solidFill>
                <a:latin typeface="Libre Baskerville"/>
              </a:rPr>
              <a:t>Are the meal guides new?</a:t>
            </a:r>
          </a:p>
        </p:txBody>
      </p:sp>
      <p:sp>
        <p:nvSpPr>
          <p:cNvPr id="661" name="TextBox 660"/>
          <p:cNvSpPr txBox="1"/>
          <p:nvPr/>
        </p:nvSpPr>
        <p:spPr>
          <a:xfrm>
            <a:off x="640000" y="1420000"/>
            <a:ext cx="7944000" cy="124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Every week we share a new fat-loss meal guide into our members area, plus new resources, videos and tools monthly to help you stay focused and motivated.</a:t>
            </a:r>
          </a:p>
        </p:txBody>
      </p:sp>
      <p:sp>
        <p:nvSpPr>
          <p:cNvPr id="662" name="Rounded Rectangle 661"/>
          <p:cNvSpPr/>
          <p:nvPr/>
        </p:nvSpPr>
        <p:spPr>
          <a:xfrm>
            <a:off x="380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3" name="Rectangle 662"/>
          <p:cNvSpPr/>
          <p:nvPr/>
        </p:nvSpPr>
        <p:spPr>
          <a:xfrm>
            <a:off x="380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4" name="TextBox 663"/>
          <p:cNvSpPr txBox="1"/>
          <p:nvPr/>
        </p:nvSpPr>
        <p:spPr>
          <a:xfrm>
            <a:off x="640000" y="3041750"/>
            <a:ext cx="3672000" cy="380000"/>
          </a:xfrm>
          <a:prstGeom prst="rect">
            <a:avLst/>
          </a:prstGeom>
          <a:noFill/>
        </p:spPr>
        <p:txBody>
          <a:bodyPr wrap="square" lIns="0" rIns="0" tIns="0" bIns="0" anchor="t"/>
          <a:lstStyle/>
          <a:p>
            <a:pPr algn="l"/>
            <a:r>
              <a:rPr sz="1400" b="1" i="0">
                <a:solidFill>
                  <a:srgbClr val="003060"/>
                </a:solidFill>
                <a:latin typeface="Libre Baskerville"/>
              </a:rPr>
              <a:t>Is it time consuming?</a:t>
            </a:r>
          </a:p>
        </p:txBody>
      </p:sp>
      <p:sp>
        <p:nvSpPr>
          <p:cNvPr id="665" name="TextBox 664"/>
          <p:cNvSpPr txBox="1"/>
          <p:nvPr/>
        </p:nvSpPr>
        <p:spPr>
          <a:xfrm>
            <a:off x="640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at all. Double, triple or quadruple the recipes to save time, energy and money. Use the meal guides as they are with plenty of variety, or simplify them by repeating recipes as much as you like.</a:t>
            </a:r>
          </a:p>
        </p:txBody>
      </p:sp>
      <p:sp>
        <p:nvSpPr>
          <p:cNvPr id="666" name="Rounded Rectangle 665"/>
          <p:cNvSpPr/>
          <p:nvPr/>
        </p:nvSpPr>
        <p:spPr>
          <a:xfrm>
            <a:off x="4652000" y="2941750"/>
            <a:ext cx="4112000" cy="202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7" name="Rectangle 666"/>
          <p:cNvSpPr/>
          <p:nvPr/>
        </p:nvSpPr>
        <p:spPr>
          <a:xfrm>
            <a:off x="4652000" y="2941750"/>
            <a:ext cx="80000" cy="202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8" name="TextBox 667"/>
          <p:cNvSpPr txBox="1"/>
          <p:nvPr/>
        </p:nvSpPr>
        <p:spPr>
          <a:xfrm>
            <a:off x="4912000" y="3041750"/>
            <a:ext cx="3672000" cy="380000"/>
          </a:xfrm>
          <a:prstGeom prst="rect">
            <a:avLst/>
          </a:prstGeom>
          <a:noFill/>
        </p:spPr>
        <p:txBody>
          <a:bodyPr wrap="square" lIns="0" rIns="0" tIns="0" bIns="0" anchor="t"/>
          <a:lstStyle/>
          <a:p>
            <a:pPr algn="l"/>
            <a:r>
              <a:rPr sz="1400" b="1" i="0">
                <a:solidFill>
                  <a:srgbClr val="003060"/>
                </a:solidFill>
                <a:latin typeface="Libre Baskerville"/>
              </a:rPr>
              <a:t>Concerned about cost?</a:t>
            </a:r>
          </a:p>
        </p:txBody>
      </p:sp>
      <p:sp>
        <p:nvSpPr>
          <p:cNvPr id="669" name="TextBox 668"/>
          <p:cNvSpPr txBox="1"/>
          <p:nvPr/>
        </p:nvSpPr>
        <p:spPr>
          <a:xfrm>
            <a:off x="4912000" y="3461750"/>
            <a:ext cx="3672000" cy="1361750"/>
          </a:xfrm>
          <a:prstGeom prst="rect">
            <a:avLst/>
          </a:prstGeom>
          <a:noFill/>
        </p:spPr>
        <p:txBody>
          <a:bodyPr wrap="square" lIns="0" rIns="0" tIns="0" bIns="0" anchor="t"/>
          <a:lstStyle/>
          <a:p>
            <a:pPr algn="l">
              <a:lnSpc>
                <a:spcPct val="120000"/>
              </a:lnSpc>
            </a:pPr>
            <a:r>
              <a:rPr sz="1200" b="0" i="0">
                <a:solidFill>
                  <a:srgbClr val="003060"/>
                </a:solidFill>
                <a:latin typeface="Alegreya Sans"/>
              </a:rPr>
              <a:t>We've got you covered with our budgeting tips. Planning your meals actually decreases the cost of your groceries, you'll already have most of the staples in your cupboard; it's just regular food. If any ingredient feels too costly, leave it out or swap it.</a:t>
            </a: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67" name="Shape 667"/>
        <p:cNvGrpSpPr/>
        <p:nvPr/>
      </p:nvGrpSpPr>
      <p:grpSpPr>
        <a:xfrm>
          <a:off x="0" y="0"/>
          <a:ext cx="0" cy="0"/>
          <a:chOff x="0" y="0"/>
          <a:chExt cx="0" cy="0"/>
        </a:xfrm>
      </p:grpSpPr>
      <p:sp>
        <p:nvSpPr>
          <p:cNvPr id="668" name="TextBox 667"/>
          <p:cNvSpPr txBox="1"/>
          <p:nvPr/>
        </p:nvSpPr>
        <p:spPr>
          <a:xfrm>
            <a:off x="457200" y="200000"/>
            <a:ext cx="8229600" cy="560000"/>
          </a:xfrm>
          <a:prstGeom prst="rect">
            <a:avLst/>
          </a:prstGeom>
          <a:noFill/>
        </p:spPr>
        <p:txBody>
          <a:bodyPr wrap="square" lIns="0" rIns="0" tIns="0" bIns="0" anchor="t"/>
          <a:lstStyle/>
          <a:p>
            <a:pPr algn="ctr">
              <a:spcAft>
                <a:spcPts val="400"/>
              </a:spcAft>
            </a:pPr>
            <a:r>
              <a:rPr sz="1200" b="1" i="0">
                <a:solidFill>
                  <a:srgbClr val="F79F83"/>
                </a:solidFill>
                <a:latin typeface="Alegreya Sans"/>
              </a:rPr>
              <a:t>EVERYTHING YOU NEED TO KNOW</a:t>
            </a:r>
          </a:p>
          <a:p>
            <a:pPr algn="ctr"/>
            <a:r>
              <a:rPr sz="2000" b="1" i="1">
                <a:solidFill>
                  <a:srgbClr val="003060"/>
                </a:solidFill>
                <a:latin typeface="Libre Baskerville"/>
              </a:rPr>
              <a:t>Frequently Asked Questions</a:t>
            </a:r>
          </a:p>
        </p:txBody>
      </p:sp>
      <p:sp>
        <p:nvSpPr>
          <p:cNvPr id="669" name="Rounded Rectangle 668"/>
          <p:cNvSpPr/>
          <p:nvPr/>
        </p:nvSpPr>
        <p:spPr>
          <a:xfrm>
            <a:off x="380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0" name="Rectangle 669"/>
          <p:cNvSpPr/>
          <p:nvPr/>
        </p:nvSpPr>
        <p:spPr>
          <a:xfrm>
            <a:off x="380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1" name="TextBox 670"/>
          <p:cNvSpPr txBox="1"/>
          <p:nvPr/>
        </p:nvSpPr>
        <p:spPr>
          <a:xfrm>
            <a:off x="640000" y="1000000"/>
            <a:ext cx="3672000" cy="380000"/>
          </a:xfrm>
          <a:prstGeom prst="rect">
            <a:avLst/>
          </a:prstGeom>
          <a:noFill/>
        </p:spPr>
        <p:txBody>
          <a:bodyPr wrap="square" lIns="0" rIns="0" tIns="0" bIns="0" anchor="t"/>
          <a:lstStyle/>
          <a:p>
            <a:pPr algn="l"/>
            <a:r>
              <a:rPr sz="1400" b="1" i="0">
                <a:solidFill>
                  <a:srgbClr val="003060"/>
                </a:solidFill>
                <a:latin typeface="Libre Baskerville"/>
              </a:rPr>
              <a:t>I can't do a lot of exercise…</a:t>
            </a:r>
          </a:p>
        </p:txBody>
      </p:sp>
      <p:sp>
        <p:nvSpPr>
          <p:cNvPr id="672" name="TextBox 671"/>
          <p:cNvSpPr txBox="1"/>
          <p:nvPr/>
        </p:nvSpPr>
        <p:spPr>
          <a:xfrm>
            <a:off x="640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Not a problem. Your fat-loss results mostly come down to what you're eating, around 80% nutrition. If you have an existing exercise routine, keep it going alongside the program. If you're not currently exercising, let's just focus on your nutrition for maximum results.</a:t>
            </a:r>
          </a:p>
        </p:txBody>
      </p:sp>
      <p:sp>
        <p:nvSpPr>
          <p:cNvPr id="673" name="Rounded Rectangle 672"/>
          <p:cNvSpPr/>
          <p:nvPr/>
        </p:nvSpPr>
        <p:spPr>
          <a:xfrm>
            <a:off x="4652000" y="90000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4" name="Rectangle 673"/>
          <p:cNvSpPr/>
          <p:nvPr/>
        </p:nvSpPr>
        <p:spPr>
          <a:xfrm>
            <a:off x="4652000" y="90000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5" name="TextBox 674"/>
          <p:cNvSpPr txBox="1"/>
          <p:nvPr/>
        </p:nvSpPr>
        <p:spPr>
          <a:xfrm>
            <a:off x="4912000" y="1000000"/>
            <a:ext cx="3672000" cy="380000"/>
          </a:xfrm>
          <a:prstGeom prst="rect">
            <a:avLst/>
          </a:prstGeom>
          <a:noFill/>
        </p:spPr>
        <p:txBody>
          <a:bodyPr wrap="square" lIns="0" rIns="0" tIns="0" bIns="0" anchor="t"/>
          <a:lstStyle/>
          <a:p>
            <a:pPr algn="l"/>
            <a:r>
              <a:rPr sz="1400" b="1" i="0">
                <a:solidFill>
                  <a:srgbClr val="003060"/>
                </a:solidFill>
                <a:latin typeface="Libre Baskerville"/>
              </a:rPr>
              <a:t>I'm a fussy eater…</a:t>
            </a:r>
          </a:p>
        </p:txBody>
      </p:sp>
      <p:sp>
        <p:nvSpPr>
          <p:cNvPr id="676" name="TextBox 675"/>
          <p:cNvSpPr txBox="1"/>
          <p:nvPr/>
        </p:nvSpPr>
        <p:spPr>
          <a:xfrm>
            <a:off x="4912000" y="142000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Every single recipe in the can be adjusted. If you love flavour, keep the recipes pimped up. If you prefer food that's more bland, leave out spices, flavours and herbs. Total flexibility.</a:t>
            </a:r>
          </a:p>
        </p:txBody>
      </p:sp>
      <p:sp>
        <p:nvSpPr>
          <p:cNvPr id="677" name="Rounded Rectangle 676"/>
          <p:cNvSpPr/>
          <p:nvPr/>
        </p:nvSpPr>
        <p:spPr>
          <a:xfrm>
            <a:off x="380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8" name="Rectangle 677"/>
          <p:cNvSpPr/>
          <p:nvPr/>
        </p:nvSpPr>
        <p:spPr>
          <a:xfrm>
            <a:off x="380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9" name="TextBox 678"/>
          <p:cNvSpPr txBox="1"/>
          <p:nvPr/>
        </p:nvSpPr>
        <p:spPr>
          <a:xfrm>
            <a:off x="640000" y="3101750"/>
            <a:ext cx="3672000" cy="380000"/>
          </a:xfrm>
          <a:prstGeom prst="rect">
            <a:avLst/>
          </a:prstGeom>
          <a:noFill/>
        </p:spPr>
        <p:txBody>
          <a:bodyPr wrap="square" lIns="0" rIns="0" tIns="0" bIns="0" anchor="t"/>
          <a:lstStyle/>
          <a:p>
            <a:pPr algn="l"/>
            <a:r>
              <a:rPr sz="1400" b="1" i="0">
                <a:solidFill>
                  <a:srgbClr val="003060"/>
                </a:solidFill>
                <a:latin typeface="Libre Baskerville"/>
              </a:rPr>
              <a:t>I need to feed my family…</a:t>
            </a:r>
          </a:p>
        </p:txBody>
      </p:sp>
      <p:sp>
        <p:nvSpPr>
          <p:cNvPr id="680" name="TextBox 679"/>
          <p:cNvSpPr txBox="1"/>
          <p:nvPr/>
        </p:nvSpPr>
        <p:spPr>
          <a:xfrm>
            <a:off x="640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Use the meal guides with your family,  just increase portion sizes and we can support you in our coaching group. The recipes are family-friendly. Any recipes you don't like, leave out and swap with others.</a:t>
            </a:r>
          </a:p>
        </p:txBody>
      </p:sp>
      <p:sp>
        <p:nvSpPr>
          <p:cNvPr id="681" name="Rounded Rectangle 680"/>
          <p:cNvSpPr/>
          <p:nvPr/>
        </p:nvSpPr>
        <p:spPr>
          <a:xfrm>
            <a:off x="4652000" y="3001750"/>
            <a:ext cx="4112000" cy="1961750"/>
          </a:xfrm>
          <a:prstGeom prst="roundRect">
            <a:avLst/>
          </a:prstGeom>
          <a:solidFill>
            <a:srgbClr val="FFFFFF"/>
          </a:solidFill>
          <a:ln w="12700">
            <a:solidFill>
              <a:srgbClr val="E2D8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2" name="Rectangle 681"/>
          <p:cNvSpPr/>
          <p:nvPr/>
        </p:nvSpPr>
        <p:spPr>
          <a:xfrm>
            <a:off x="4652000" y="3001750"/>
            <a:ext cx="80000" cy="1961750"/>
          </a:xfrm>
          <a:prstGeom prst="rect">
            <a:avLst/>
          </a:prstGeom>
          <a:solidFill>
            <a:srgbClr val="F79F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3" name="TextBox 682"/>
          <p:cNvSpPr txBox="1"/>
          <p:nvPr/>
        </p:nvSpPr>
        <p:spPr>
          <a:xfrm>
            <a:off x="4912000" y="3101750"/>
            <a:ext cx="3672000" cy="380000"/>
          </a:xfrm>
          <a:prstGeom prst="rect">
            <a:avLst/>
          </a:prstGeom>
          <a:noFill/>
        </p:spPr>
        <p:txBody>
          <a:bodyPr wrap="square" lIns="0" rIns="0" tIns="0" bIns="0" anchor="t"/>
          <a:lstStyle/>
          <a:p>
            <a:pPr algn="l"/>
            <a:r>
              <a:rPr sz="1400" b="1" i="0">
                <a:solidFill>
                  <a:srgbClr val="003060"/>
                </a:solidFill>
                <a:latin typeface="Libre Baskerville"/>
              </a:rPr>
              <a:t>Will I get Anna's hands-on support?</a:t>
            </a:r>
          </a:p>
        </p:txBody>
      </p:sp>
      <p:sp>
        <p:nvSpPr>
          <p:cNvPr id="684" name="TextBox 683"/>
          <p:cNvSpPr txBox="1"/>
          <p:nvPr/>
        </p:nvSpPr>
        <p:spPr>
          <a:xfrm>
            <a:off x="4912000" y="3521750"/>
            <a:ext cx="3672000" cy="1301750"/>
          </a:xfrm>
          <a:prstGeom prst="rect">
            <a:avLst/>
          </a:prstGeom>
          <a:noFill/>
        </p:spPr>
        <p:txBody>
          <a:bodyPr wrap="square" lIns="0" rIns="0" tIns="0" bIns="0" anchor="t"/>
          <a:lstStyle/>
          <a:p>
            <a:pPr algn="l">
              <a:lnSpc>
                <a:spcPct val="120000"/>
              </a:lnSpc>
            </a:pPr>
            <a:r>
              <a:rPr sz="1200" b="0" i="0">
                <a:solidFill>
                  <a:srgbClr val="003060"/>
                </a:solidFill>
                <a:latin typeface="Alegreya Sans"/>
              </a:rPr>
              <a:t>Yes. This is the only coaching program where you get direct, live coaching from Anna herself. You'll have the chance to ask questions, get personalised feedback, and stay on track every step. Anna's proven strategies, accountability and encouragement will keep you focused and moving toward your goals.</a:t>
            </a: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0" name="Shape 680"/>
        <p:cNvGrpSpPr/>
        <p:nvPr/>
      </p:nvGrpSpPr>
      <p:grpSpPr>
        <a:xfrm>
          <a:off x="0" y="0"/>
          <a:ext cx="0" cy="0"/>
          <a:chOff x="0" y="0"/>
          <a:chExt cx="0" cy="0"/>
        </a:xfrm>
      </p:grpSpPr>
      <p:sp>
        <p:nvSpPr>
          <p:cNvPr id="681" name="Google Shape;681;p104"/>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Whether you believe you can or you can't, you are usually right!</a:t>
            </a:r>
            <a:endParaRPr/>
          </a:p>
          <a:p>
            <a:pPr indent="0" lvl="0" marL="0" marR="0" rtl="0" algn="ctr">
              <a:spcBef>
                <a:spcPts val="2200"/>
              </a:spcBef>
              <a:spcAft>
                <a:spcPts val="0"/>
              </a:spcAft>
              <a:buNone/>
            </a:pPr>
            <a:r>
              <a:rPr b="1" i="0" lang="en-GB" sz="1800" u="none" cap="none" strike="noStrike">
                <a:solidFill>
                  <a:srgbClr val="003060"/>
                </a:solidFill>
                <a:latin typeface="Alegreya Sans"/>
                <a:ea typeface="Alegreya Sans"/>
                <a:cs typeface="Alegreya Sans"/>
                <a:sym typeface="Alegreya Sans"/>
              </a:rPr>
              <a:t>Click link in comments if you are ready to become our next success story!</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I want to celebrate you in 12 weeks and I will guide you</a:t>
            </a:r>
            <a:r>
              <a:rPr lang="en-GB">
                <a:solidFill/>
              </a:rPr>
              <a:t> </a:t>
            </a:r>
            <a:r>
              <a:rPr i="0" lang="en-GB" sz="1800" u="none" cap="none" strike="noStrike">
                <a:solidFill>
                  <a:srgbClr val="003060"/>
                </a:solidFill>
                <a:latin typeface="Alegreya Sans"/>
                <a:ea typeface="Alegreya Sans"/>
                <a:cs typeface="Alegreya Sans"/>
                <a:sym typeface="Alegreya Sans"/>
              </a:rPr>
              <a:t>to the best of my ability.</a:t>
            </a:r>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85" name="Shape 685"/>
        <p:cNvGrpSpPr/>
        <p:nvPr/>
      </p:nvGrpSpPr>
      <p:grpSpPr>
        <a:xfrm>
          <a:off x="0" y="0"/>
          <a:ext cx="0" cy="0"/>
          <a:chOff x="0" y="0"/>
          <a:chExt cx="0" cy="0"/>
        </a:xfrm>
      </p:grpSpPr>
      <p:sp>
        <p:nvSpPr>
          <p:cNvPr id="686" name="Google Shape;686;p105"/>
          <p:cNvSpPr txBox="1"/>
          <p:nvPr/>
        </p:nvSpPr>
        <p:spPr>
          <a:xfrm>
            <a:off x="4400000" y="1900000"/>
            <a:ext cx="4300000" cy="1800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lang="en-GB" sz="3400">
                <a:solidFill>
                  <a:srgbClr val="003060"/>
                </a:solidFill>
                <a:latin typeface="Libre Baskerville"/>
                <a:ea typeface="Libre Baskerville"/>
                <a:cs typeface="Libre Baskerville"/>
                <a:sym typeface="Libre Baskerville"/>
              </a:rPr>
              <a:t>Summer Challenge Winners</a:t>
            </a:r>
            <a:endParaRPr/>
          </a:p>
          <a:p>
            <a:pPr indent="0" lvl="0" marL="0" marR="0" rtl="0" algn="ctr">
              <a:spcBef>
                <a:spcPts val="600"/>
              </a:spcBef>
              <a:spcAft>
                <a:spcPts val="0"/>
              </a:spcAft>
              <a:buNone/>
            </a:pPr>
            <a:r>
              <a:rPr>
                <a:solidFill/>
              </a:rPr>
              <a:t/>
            </a:r>
            <a:endParaRPr/>
          </a:p>
        </p:txBody>
      </p:sp>
      <p:pic>
        <p:nvPicPr>
          <p:cNvPr id="687" name="Google Shape;687;p105" title="ChatGPT Image Jun 4, 2026, 08_47_16 PM.png"/>
          <p:cNvPicPr preferRelativeResize="0"/>
          <p:nvPr/>
        </p:nvPicPr>
        <p:blipFill>
          <a:blip r:embed="rId3">
            <a:alphaModFix/>
          </a:blip>
          <a:stretch>
            <a:fillRect/>
          </a:stretch>
        </p:blipFill>
        <p:spPr>
          <a:xfrm>
            <a:off x="869700" y="825875"/>
            <a:ext cx="3343876" cy="3343876"/>
          </a:xfrm>
          <a:prstGeom prst="rect">
            <a:avLst/>
          </a:prstGeom>
          <a:noFill/>
          <a:ln>
            <a:noFill/>
          </a:ln>
        </p:spPr>
      </p:pic>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9F7F4"/>
        </a:solidFill>
      </p:bgPr>
    </p:bg>
    <p:spTree>
      <p:nvGrpSpPr>
        <p:cNvPr id="691" name="Shape 691"/>
        <p:cNvGrpSpPr/>
        <p:nvPr/>
      </p:nvGrpSpPr>
      <p:grpSpPr>
        <a:xfrm>
          <a:off x="0" y="0"/>
          <a:ext cx="0" cy="0"/>
          <a:chOff x="0" y="0"/>
          <a:chExt cx="0" cy="0"/>
        </a:xfrm>
      </p:grpSpPr>
      <p:sp>
        <p:nvSpPr>
          <p:cNvPr id="692" name="Google Shape;692;p106"/>
          <p:cNvSpPr txBox="1"/>
          <p:nvPr/>
        </p:nvSpPr>
        <p:spPr>
          <a:xfrm>
            <a:off x="457200" y="361950"/>
            <a:ext cx="8229600" cy="44196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None/>
            </a:pPr>
            <a:r>
              <a:rPr b="1" i="0" lang="en-GB" sz="3000" u="none" cap="none" strike="noStrike">
                <a:solidFill>
                  <a:srgbClr val="003060"/>
                </a:solidFill>
                <a:latin typeface="Libre Baskerville"/>
                <a:ea typeface="Libre Baskerville"/>
                <a:cs typeface="Libre Baskerville"/>
                <a:sym typeface="Libre Baskerville"/>
              </a:rPr>
              <a:t>Thank you for joining me today a</a:t>
            </a:r>
            <a:r>
              <a:rPr b="1" lang="en-GB" sz="3000">
                <a:solidFill>
                  <a:srgbClr val="003060"/>
                </a:solidFill>
                <a:latin typeface="Libre Baskerville"/>
                <a:ea typeface="Libre Baskerville"/>
                <a:cs typeface="Libre Baskerville"/>
                <a:sym typeface="Libre Baskerville"/>
              </a:rPr>
              <a:t>nd for the 5 day free reset</a:t>
            </a:r>
            <a:r>
              <a:rPr b="1" i="0" lang="en-GB" sz="3000" u="none" cap="none" strike="noStrike">
                <a:solidFill>
                  <a:srgbClr val="003060"/>
                </a:solidFill>
                <a:latin typeface="Libre Baskerville"/>
                <a:ea typeface="Libre Baskerville"/>
                <a:cs typeface="Libre Baskerville"/>
                <a:sym typeface="Libre Baskerville"/>
              </a:rPr>
              <a:t>!</a:t>
            </a:r>
            <a:endParaRPr/>
          </a:p>
          <a:p>
            <a:pPr indent="0" lvl="0" marL="0" marR="0" rtl="0" algn="ctr">
              <a:spcBef>
                <a:spcPts val="2200"/>
              </a:spcBef>
              <a:spcAft>
                <a:spcPts val="0"/>
              </a:spcAft>
              <a:buNone/>
            </a:pPr>
            <a:r>
              <a:rPr b="1" i="1" lang="en-GB" sz="2200" u="none" cap="none" strike="noStrike">
                <a:solidFill>
                  <a:srgbClr val="F79F83"/>
                </a:solidFill>
                <a:latin typeface="Libre Baskerville"/>
                <a:ea typeface="Libre Baskerville"/>
                <a:cs typeface="Libre Baskerville"/>
                <a:sym typeface="Libre Baskerville"/>
              </a:rPr>
              <a:t>Let's take your goals to the next level!</a:t>
            </a:r>
            <a:endParaRPr/>
          </a:p>
          <a:p>
            <a:pPr indent="0" lvl="0" marL="0" marR="0" rtl="0" algn="ctr">
              <a:spcBef>
                <a:spcPts val="1800"/>
              </a:spcBef>
              <a:spcAft>
                <a:spcPts val="0"/>
              </a:spcAft>
              <a:buNone/>
            </a:pPr>
            <a:r>
              <a:rPr b="0" i="0" lang="en-GB" sz="1700" u="none" cap="none" strike="noStrike">
                <a:solidFill>
                  <a:srgbClr val="003060"/>
                </a:solidFill>
                <a:latin typeface="Alegreya Sans"/>
                <a:ea typeface="Alegreya Sans"/>
                <a:cs typeface="Alegreya Sans"/>
                <a:sym typeface="Alegreya Sans"/>
              </a:rPr>
              <a:t>You are capable of your goals and we would be honoured</a:t>
            </a:r>
            <a:endParaRPr/>
          </a:p>
          <a:p>
            <a:pPr indent="0" lvl="0" marL="0" marR="0" rtl="0" algn="ctr">
              <a:spcBef>
                <a:spcPts val="400"/>
              </a:spcBef>
              <a:spcAft>
                <a:spcPts val="0"/>
              </a:spcAft>
              <a:buNone/>
            </a:pPr>
            <a:r>
              <a:rPr b="1" i="0" lang="en-GB" sz="1800" u="none" cap="none" strike="noStrike">
                <a:solidFill>
                  <a:srgbClr val="003060"/>
                </a:solidFill>
                <a:latin typeface="Alegreya Sans"/>
                <a:ea typeface="Alegreya Sans"/>
                <a:cs typeface="Alegreya Sans"/>
                <a:sym typeface="Alegreya Sans"/>
              </a:rPr>
              <a:t>to help you achieve them!</a:t>
            </a:r>
            <a:endParaRPr/>
          </a:p>
          <a:p>
            <a:pPr indent="0" lvl="0" marL="0" marR="0" rtl="0" algn="ctr">
              <a:spcBef>
                <a:spcPts val="1800"/>
              </a:spcBef>
              <a:spcAft>
                <a:spcPts val="0"/>
              </a:spcAft>
              <a:buNone/>
            </a:pPr>
            <a:r>
              <a:rPr lang="en-GB" sz="1500">
                <a:solidFill>
                  <a:srgbClr val="003060"/>
                </a:solidFill>
                <a:latin typeface="Alegreya Sans"/>
                <a:ea typeface="Alegreya Sans"/>
                <a:cs typeface="Alegreya Sans"/>
                <a:sym typeface="Alegreya Sans"/>
              </a:rPr>
              <a:t>P.S Today is our </a:t>
            </a:r>
            <a:r>
              <a:rPr lang="en-GB" sz="1500">
                <a:solidFill>
                  <a:srgbClr val="003060"/>
                </a:solidFill>
                <a:latin typeface="Alegreya Sans"/>
                <a:ea typeface="Alegreya Sans"/>
                <a:cs typeface="Alegreya Sans"/>
                <a:sym typeface="Alegreya Sans"/>
              </a:rPr>
              <a:t>final day of reset coaching. If you join the summer challenge you will get access to the members area and group straight away, the party continues over there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