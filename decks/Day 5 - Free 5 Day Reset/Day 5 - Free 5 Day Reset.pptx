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commentAuthors.xml" ContentType="application/vnd.openxmlformats-officedocument.presentationml.commentAuthors+xml"/>
  <Override PartName="/ppt/comments/comment1.xml" ContentType="application/vnd.openxmlformats-officedocument.presentationml.comments+xml"/>
  <Override PartName="/ppt/comments/comment2.xml" ContentType="application/vnd.openxmlformats-officedocument.presentationml.comment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4" r:id="rId6"/>
    <p:sldMasterId id="2147483675"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 id="312" r:id="rId65"/>
    <p:sldId id="313" r:id="rId66"/>
    <p:sldId id="314" r:id="rId67"/>
    <p:sldId id="315" r:id="rId68"/>
    <p:sldId id="316" r:id="rId69"/>
    <p:sldId id="317" r:id="rId70"/>
    <p:sldId id="318" r:id="rId71"/>
    <p:sldId id="319" r:id="rId72"/>
    <p:sldId id="320" r:id="rId73"/>
    <p:sldId id="321" r:id="rId74"/>
    <p:sldId id="322" r:id="rId75"/>
    <p:sldId id="323" r:id="rId76"/>
    <p:sldId id="324" r:id="rId77"/>
    <p:sldId id="325" r:id="rId78"/>
    <p:sldId id="326" r:id="rId79"/>
    <p:sldId id="334" r:id="rId87"/>
    <p:sldId id="327" r:id="rId80"/>
    <p:sldId id="328" r:id="rId81"/>
    <p:sldId id="329" r:id="rId82"/>
    <p:sldId id="330" r:id="rId83"/>
    <p:sldId id="331" r:id="rId84"/>
    <p:sldId id="332" r:id="rId85"/>
    <p:sldId id="333" r:id="rId8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2" name="Anna Wallace"/>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B7BCF0C-A375-452B-9E6C-FE977FFECA84}">
  <a:tblStyle styleId="{4B7BCF0C-A375-452B-9E6C-FE977FFECA84}"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745EEC0E-3737-49C0-8D55-B03DF21A2109}" styleName="Table_1">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commentAuthors" Target="commentAuthors.xml"/><Relationship Id="rId6" Type="http://schemas.openxmlformats.org/officeDocument/2006/relationships/slideMaster" Target="slideMasters/slideMaster1.xml"/><Relationship Id="rId7" Type="http://schemas.openxmlformats.org/officeDocument/2006/relationships/slideMaster" Target="slideMasters/slideMaster2.xml"/><Relationship Id="rId8" Type="http://schemas.openxmlformats.org/officeDocument/2006/relationships/notesMaster" Target="notesMasters/notesMaster1.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51" Type="http://schemas.openxmlformats.org/officeDocument/2006/relationships/slide" Target="slides/slide43.xml"/><Relationship Id="rId52" Type="http://schemas.openxmlformats.org/officeDocument/2006/relationships/slide" Target="slides/slide44.xml"/><Relationship Id="rId53" Type="http://schemas.openxmlformats.org/officeDocument/2006/relationships/slide" Target="slides/slide45.xml"/><Relationship Id="rId54" Type="http://schemas.openxmlformats.org/officeDocument/2006/relationships/slide" Target="slides/slide46.xml"/><Relationship Id="rId55" Type="http://schemas.openxmlformats.org/officeDocument/2006/relationships/slide" Target="slides/slide47.xml"/><Relationship Id="rId56" Type="http://schemas.openxmlformats.org/officeDocument/2006/relationships/slide" Target="slides/slide48.xml"/><Relationship Id="rId57" Type="http://schemas.openxmlformats.org/officeDocument/2006/relationships/slide" Target="slides/slide49.xml"/><Relationship Id="rId58" Type="http://schemas.openxmlformats.org/officeDocument/2006/relationships/slide" Target="slides/slide50.xml"/><Relationship Id="rId59" Type="http://schemas.openxmlformats.org/officeDocument/2006/relationships/slide" Target="slides/slide51.xml"/><Relationship Id="rId60" Type="http://schemas.openxmlformats.org/officeDocument/2006/relationships/slide" Target="slides/slide52.xml"/><Relationship Id="rId61" Type="http://schemas.openxmlformats.org/officeDocument/2006/relationships/slide" Target="slides/slide53.xml"/><Relationship Id="rId62" Type="http://schemas.openxmlformats.org/officeDocument/2006/relationships/slide" Target="slides/slide54.xml"/><Relationship Id="rId63" Type="http://schemas.openxmlformats.org/officeDocument/2006/relationships/slide" Target="slides/slide55.xml"/><Relationship Id="rId64" Type="http://schemas.openxmlformats.org/officeDocument/2006/relationships/slide" Target="slides/slide56.xml"/><Relationship Id="rId65" Type="http://schemas.openxmlformats.org/officeDocument/2006/relationships/slide" Target="slides/slide57.xml"/><Relationship Id="rId66" Type="http://schemas.openxmlformats.org/officeDocument/2006/relationships/slide" Target="slides/slide58.xml"/><Relationship Id="rId67" Type="http://schemas.openxmlformats.org/officeDocument/2006/relationships/slide" Target="slides/slide59.xml"/><Relationship Id="rId68" Type="http://schemas.openxmlformats.org/officeDocument/2006/relationships/slide" Target="slides/slide60.xml"/><Relationship Id="rId69" Type="http://schemas.openxmlformats.org/officeDocument/2006/relationships/slide" Target="slides/slide61.xml"/><Relationship Id="rId70" Type="http://schemas.openxmlformats.org/officeDocument/2006/relationships/slide" Target="slides/slide62.xml"/><Relationship Id="rId71" Type="http://schemas.openxmlformats.org/officeDocument/2006/relationships/slide" Target="slides/slide63.xml"/><Relationship Id="rId72" Type="http://schemas.openxmlformats.org/officeDocument/2006/relationships/slide" Target="slides/slide64.xml"/><Relationship Id="rId73" Type="http://schemas.openxmlformats.org/officeDocument/2006/relationships/slide" Target="slides/slide65.xml"/><Relationship Id="rId74" Type="http://schemas.openxmlformats.org/officeDocument/2006/relationships/slide" Target="slides/slide66.xml"/><Relationship Id="rId75" Type="http://schemas.openxmlformats.org/officeDocument/2006/relationships/slide" Target="slides/slide67.xml"/><Relationship Id="rId76" Type="http://schemas.openxmlformats.org/officeDocument/2006/relationships/slide" Target="slides/slide68.xml"/><Relationship Id="rId77" Type="http://schemas.openxmlformats.org/officeDocument/2006/relationships/slide" Target="slides/slide69.xml"/><Relationship Id="rId78" Type="http://schemas.openxmlformats.org/officeDocument/2006/relationships/slide" Target="slides/slide70.xml"/><Relationship Id="rId79" Type="http://schemas.openxmlformats.org/officeDocument/2006/relationships/slide" Target="slides/slide71.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7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6-04T14:29:43.617">
    <p:pos x="256" y="154"/>
    <p:text>no time for this in reset</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6-06-04T16:08:36.189">
    <p:pos x="288" y="228"/>
    <p:text>a lot of text here, so not sure if he needs to go across two?</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e85230e1f2_2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g3e85230e1f2_2_7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e85230e1f2_2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g3e85230e1f2_2_8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e85230e1f2_2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g3e85230e1f2_2_9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e85230e1f2_2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g3e85230e1f2_2_9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e856f66ec9_0_4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e856f66ec9_0_4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e856f66ec9_0_4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e856f66ec9_0_4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e85230e1f2_2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g3e85230e1f2_2_1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e856f66ec9_0_2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e856f66ec9_0_2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e856f66ec9_0_3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e856f66ec9_0_3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e856f66ec9_0_3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e856f66ec9_0_3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e856f66ec9_0_3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e856f66ec9_0_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e856f66ec9_0_3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e856f66ec9_0_3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e856f66ec9_0_3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e856f66ec9_0_3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e856f66ec9_0_3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e856f66ec9_0_3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e856f66ec9_0_4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e856f66ec9_0_4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e856f66ec9_0_4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e856f66ec9_0_4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e856f66ec9_0_3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e856f66ec9_0_3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e856f66ec9_0_3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3e856f66ec9_0_3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e856f66ec9_0_3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3e856f66ec9_0_3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e856f66ec9_0_388: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g3e856f66ec9_0_38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e85230e1f2_2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g3e85230e1f2_2_15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e85230e1f2_2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g3e85230e1f2_2_15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e856f66ec9_0_4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e856f66ec9_0_4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e856f66ec9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e856f66ec9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e856f66ec9_0_5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e856f66ec9_0_5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e856f66ec9_0_5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3e856f66ec9_0_5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e856f66ec9_0_5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3e856f66ec9_0_5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e856f66ec9_0_5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3e856f66ec9_0_5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e856f66ec9_0_5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3e856f66ec9_0_5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e856f66ec9_0_5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3e856f66ec9_0_5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e856f66ec9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3e856f66ec9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e856f66ec9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3e856f66ec9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e856f66ec9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3e856f66ec9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e856f66ec9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3e856f66ec9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e856f66ec9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3e856f66ec9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e856f66ec9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3e856f66ec9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3e856f66ec9_0_5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3e856f66ec9_0_5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e856f66ec9_0_4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3e856f66ec9_0_4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3e856f66ec9_0_4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3e856f66ec9_0_4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e856f66ec9_0_4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3e856f66ec9_0_4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3e856f66ec9_0_4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3e856f66ec9_0_4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3e85230e1f2_2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g3e85230e1f2_2_17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3e856f66ec9_0_5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g3e856f66ec9_0_59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3e856f66ec9_0_5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g3e856f66ec9_0_58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e85230e1f2_2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g3e85230e1f2_2_19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3e85fcbded8_1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g3e85fcbded8_13_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3e85fcbded8_6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g3e85fcbded8_6_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3e85230e1f2_2_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g3e85230e1f2_2_2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3e856f66ec9_0_6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g3e856f66ec9_0_6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3e856f66ec9_0_6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g3e856f66ec9_0_60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3e856f66ec9_0_6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g3e856f66ec9_0_6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3e856f66ec9_0_6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g3e856f66ec9_0_648: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3e856f66ec9_0_6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g3e856f66ec9_0_6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3e85230e1f2_2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g3e85230e1f2_2_20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3e856f66ec9_0_6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g3e856f66ec9_0_6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3e85230e1f2_2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g3e85230e1f2_2_2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3e85fcbded8_1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g3e85fcbded8_15_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3e85fcbded8_15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g3e85fcbded8_15_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3e85230e1f2_2_3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g3e85230e1f2_2_30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3e85fcbded8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g3e85fcbded8_0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3e85fcbded8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g3e85fcbded8_0_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g3e85fcbded8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g3e85fcbded8_0_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3e85230e1f2_2_3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g3e85230e1f2_2_30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3e85230e1f2_2_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g3e85230e1f2_2_3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3e85230e1f2_2_3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g3e85230e1f2_2_3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g3e85fcbded8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g3e85fcbded8_0_5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3e85fcbded8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g3e85fcbded8_0_6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g3e85fcbded8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g3e85fcbded8_0_7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g3e85fcbded8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g3e85fcbded8_0_8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g3e85230e1f2_2_3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g3e85230e1f2_2_3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g3e85230e1f2_2_3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g3e85230e1f2_2_3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g3e85230e1f2_2_3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g3e85230e1f2_2_3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g3e85fcbded8_1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g3e85fcbded8_10_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g3e85fcbded8_1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g3e85fcbded8_10_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e85fcbded8_1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g3e85fcbded8_10_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g3e85230e1f2_2_3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g3e85230e1f2_2_35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g3e85230e1f2_2_3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g3e85230e1f2_2_36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g3e85230e1f2_2_3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g3e85230e1f2_2_36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 name="Shape 60"/>
        <p:cNvGrpSpPr/>
        <p:nvPr/>
      </p:nvGrpSpPr>
      <p:grpSpPr>
        <a:xfrm>
          <a:off x="0" y="0"/>
          <a:ext cx="0" cy="0"/>
          <a:chOff x="0" y="0"/>
          <a:chExt cx="0" cy="0"/>
        </a:xfrm>
      </p:grpSpPr>
      <p:sp>
        <p:nvSpPr>
          <p:cNvPr id="61" name="Google Shape;61;p1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1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63" name="Google Shape;63;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6" name="Shape 66"/>
        <p:cNvGrpSpPr/>
        <p:nvPr/>
      </p:nvGrpSpPr>
      <p:grpSpPr>
        <a:xfrm>
          <a:off x="0" y="0"/>
          <a:ext cx="0" cy="0"/>
          <a:chOff x="0" y="0"/>
          <a:chExt cx="0" cy="0"/>
        </a:xfrm>
      </p:grpSpPr>
      <p:sp>
        <p:nvSpPr>
          <p:cNvPr id="67" name="Google Shape;67;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9" name="Google Shape;69;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1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75" name="Google Shape;75;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8" name="Shape 78"/>
        <p:cNvGrpSpPr/>
        <p:nvPr/>
      </p:nvGrpSpPr>
      <p:grpSpPr>
        <a:xfrm>
          <a:off x="0" y="0"/>
          <a:ext cx="0" cy="0"/>
          <a:chOff x="0" y="0"/>
          <a:chExt cx="0" cy="0"/>
        </a:xfrm>
      </p:grpSpPr>
      <p:sp>
        <p:nvSpPr>
          <p:cNvPr id="79" name="Google Shape;79;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81" name="Google Shape;81;p1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82" name="Google Shape;82;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5" name="Shape 85"/>
        <p:cNvGrpSpPr/>
        <p:nvPr/>
      </p:nvGrpSpPr>
      <p:grpSpPr>
        <a:xfrm>
          <a:off x="0" y="0"/>
          <a:ext cx="0" cy="0"/>
          <a:chOff x="0" y="0"/>
          <a:chExt cx="0" cy="0"/>
        </a:xfrm>
      </p:grpSpPr>
      <p:sp>
        <p:nvSpPr>
          <p:cNvPr id="86" name="Google Shape;86;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1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88" name="Google Shape;88;p1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89" name="Google Shape;89;p1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90" name="Google Shape;90;p1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91" name="Google Shape;91;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 name="Shape 94"/>
        <p:cNvGrpSpPr/>
        <p:nvPr/>
      </p:nvGrpSpPr>
      <p:grpSpPr>
        <a:xfrm>
          <a:off x="0" y="0"/>
          <a:ext cx="0" cy="0"/>
          <a:chOff x="0" y="0"/>
          <a:chExt cx="0" cy="0"/>
        </a:xfrm>
      </p:grpSpPr>
      <p:sp>
        <p:nvSpPr>
          <p:cNvPr id="95" name="Google Shape;95;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6" name="Google Shape;96;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1" name="Google Shape;101;p2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102" name="Google Shape;102;p2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03" name="Google Shape;103;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8" name="Google Shape;108;p22"/>
          <p:cNvSpPr/>
          <p:nvPr>
            <p:ph idx="2" type="pic"/>
          </p:nvPr>
        </p:nvSpPr>
        <p:spPr>
          <a:xfrm>
            <a:off x="1792288" y="612775"/>
            <a:ext cx="5486400" cy="4114800"/>
          </a:xfrm>
          <a:prstGeom prst="rect">
            <a:avLst/>
          </a:prstGeom>
          <a:noFill/>
          <a:ln>
            <a:noFill/>
          </a:ln>
        </p:spPr>
      </p:sp>
      <p:sp>
        <p:nvSpPr>
          <p:cNvPr id="109" name="Google Shape;109;p2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10" name="Google Shape;110;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5" name="Google Shape;115;p2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16" name="Google Shape;116;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1" name="Google Shape;121;p2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22" name="Google Shape;122;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HEADER_1">
  <p:cSld name="SECTION_HEADER_1">
    <p:spTree>
      <p:nvGrpSpPr>
        <p:cNvPr id="125" name="Shape 125"/>
        <p:cNvGrpSpPr/>
        <p:nvPr/>
      </p:nvGrpSpPr>
      <p:grpSpPr>
        <a:xfrm>
          <a:off x="0" y="0"/>
          <a:ext cx="0" cy="0"/>
          <a:chOff x="0" y="0"/>
          <a:chExt cx="0" cy="0"/>
        </a:xfrm>
      </p:grpSpPr>
      <p:sp>
        <p:nvSpPr>
          <p:cNvPr id="126" name="Google Shape;126;p25"/>
          <p:cNvSpPr txBox="1"/>
          <p:nvPr>
            <p:ph type="title"/>
          </p:nvPr>
        </p:nvSpPr>
        <p:spPr>
          <a:xfrm>
            <a:off x="311700" y="2150850"/>
            <a:ext cx="8520600" cy="841800"/>
          </a:xfrm>
          <a:prstGeom prst="rect">
            <a:avLst/>
          </a:prstGeom>
        </p:spPr>
        <p:txBody>
          <a:bodyPr anchorCtr="0" anchor="ctr" bIns="45700" lIns="91425" spcFirstLastPara="1" rIns="91425" wrap="square" tIns="4570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27" name="Google Shape;127;p25"/>
          <p:cNvSpPr txBox="1"/>
          <p:nvPr>
            <p:ph idx="12" type="sldNum"/>
          </p:nvPr>
        </p:nvSpPr>
        <p:spPr>
          <a:xfrm>
            <a:off x="8472458" y="4663217"/>
            <a:ext cx="548700" cy="393600"/>
          </a:xfrm>
          <a:prstGeom prst="rect">
            <a:avLst/>
          </a:prstGeom>
        </p:spPr>
        <p:txBody>
          <a:bodyPr anchorCtr="0" anchor="ctr" bIns="45700" lIns="91425" spcFirstLastPara="1" rIns="91425" wrap="square" tIns="457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28" name="Shape 128"/>
        <p:cNvGrpSpPr/>
        <p:nvPr/>
      </p:nvGrpSpPr>
      <p:grpSpPr>
        <a:xfrm>
          <a:off x="0" y="0"/>
          <a:ext cx="0" cy="0"/>
          <a:chOff x="0" y="0"/>
          <a:chExt cx="0" cy="0"/>
        </a:xfrm>
      </p:grpSpPr>
      <p:sp>
        <p:nvSpPr>
          <p:cNvPr id="129" name="Google Shape;129;p26"/>
          <p:cNvSpPr txBox="1"/>
          <p:nvPr>
            <p:ph type="title"/>
          </p:nvPr>
        </p:nvSpPr>
        <p:spPr>
          <a:xfrm>
            <a:off x="311700" y="445025"/>
            <a:ext cx="8520600" cy="572700"/>
          </a:xfrm>
          <a:prstGeom prst="rect">
            <a:avLst/>
          </a:prstGeom>
        </p:spPr>
        <p:txBody>
          <a:bodyPr anchorCtr="0" anchor="ctr" bIns="45700" lIns="91425" spcFirstLastPara="1" rIns="91425" wrap="square" tIns="45700">
            <a:normAutofit/>
          </a:bodyPr>
          <a:lstStyle>
            <a:lvl1pPr lvl="0">
              <a:spcBef>
                <a:spcPts val="0"/>
              </a:spcBef>
              <a:spcAft>
                <a:spcPts val="0"/>
              </a:spcAft>
              <a:buSzPts val="4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0" name="Google Shape;130;p26"/>
          <p:cNvSpPr txBox="1"/>
          <p:nvPr>
            <p:ph idx="1" type="body"/>
          </p:nvPr>
        </p:nvSpPr>
        <p:spPr>
          <a:xfrm>
            <a:off x="311700" y="1152475"/>
            <a:ext cx="8520600" cy="3416400"/>
          </a:xfrm>
          <a:prstGeom prst="rect">
            <a:avLst/>
          </a:prstGeom>
        </p:spPr>
        <p:txBody>
          <a:bodyPr anchorCtr="0" anchor="t" bIns="45700" lIns="91425" spcFirstLastPara="1" rIns="91425" wrap="square" tIns="45700">
            <a:normAutofit/>
          </a:bodyPr>
          <a:lstStyle>
            <a:lvl1pPr indent="-431800" lvl="0" marL="457200">
              <a:spcBef>
                <a:spcPts val="640"/>
              </a:spcBef>
              <a:spcAft>
                <a:spcPts val="0"/>
              </a:spcAft>
              <a:buSzPts val="3200"/>
              <a:buChar char="•"/>
              <a:defRPr/>
            </a:lvl1pPr>
            <a:lvl2pPr indent="-406400" lvl="1" marL="914400">
              <a:spcBef>
                <a:spcPts val="560"/>
              </a:spcBef>
              <a:spcAft>
                <a:spcPts val="0"/>
              </a:spcAft>
              <a:buSzPts val="2800"/>
              <a:buChar char="–"/>
              <a:defRPr/>
            </a:lvl2pPr>
            <a:lvl3pPr indent="-381000" lvl="2" marL="1371600">
              <a:spcBef>
                <a:spcPts val="480"/>
              </a:spcBef>
              <a:spcAft>
                <a:spcPts val="0"/>
              </a:spcAft>
              <a:buSzPts val="2400"/>
              <a:buChar char="•"/>
              <a:defRPr/>
            </a:lvl3pPr>
            <a:lvl4pPr indent="-355600" lvl="3" marL="1828800">
              <a:spcBef>
                <a:spcPts val="400"/>
              </a:spcBef>
              <a:spcAft>
                <a:spcPts val="0"/>
              </a:spcAft>
              <a:buSzPts val="2000"/>
              <a:buChar char="–"/>
              <a:defRPr/>
            </a:lvl4pPr>
            <a:lvl5pPr indent="-355600" lvl="4" marL="2286000">
              <a:spcBef>
                <a:spcPts val="400"/>
              </a:spcBef>
              <a:spcAft>
                <a:spcPts val="0"/>
              </a:spcAft>
              <a:buSzPts val="2000"/>
              <a:buChar char="»"/>
              <a:defRPr/>
            </a:lvl5pPr>
            <a:lvl6pPr indent="-355600" lvl="5" marL="2743200">
              <a:spcBef>
                <a:spcPts val="400"/>
              </a:spcBef>
              <a:spcAft>
                <a:spcPts val="0"/>
              </a:spcAft>
              <a:buSzPts val="2000"/>
              <a:buChar char="•"/>
              <a:defRPr/>
            </a:lvl6pPr>
            <a:lvl7pPr indent="-355600" lvl="6" marL="3200400">
              <a:spcBef>
                <a:spcPts val="400"/>
              </a:spcBef>
              <a:spcAft>
                <a:spcPts val="0"/>
              </a:spcAft>
              <a:buSzPts val="2000"/>
              <a:buChar char="•"/>
              <a:defRPr/>
            </a:lvl7pPr>
            <a:lvl8pPr indent="-355600" lvl="7" marL="3657600">
              <a:spcBef>
                <a:spcPts val="400"/>
              </a:spcBef>
              <a:spcAft>
                <a:spcPts val="0"/>
              </a:spcAft>
              <a:buSzPts val="2000"/>
              <a:buChar char="•"/>
              <a:defRPr/>
            </a:lvl8pPr>
            <a:lvl9pPr indent="-355600" lvl="8" marL="4114800">
              <a:spcBef>
                <a:spcPts val="400"/>
              </a:spcBef>
              <a:spcAft>
                <a:spcPts val="0"/>
              </a:spcAft>
              <a:buSzPts val="2000"/>
              <a:buChar char="•"/>
              <a:defRPr/>
            </a:lvl9pPr>
          </a:lstStyle>
          <a:p/>
        </p:txBody>
      </p:sp>
      <p:sp>
        <p:nvSpPr>
          <p:cNvPr id="131" name="Google Shape;131;p26"/>
          <p:cNvSpPr txBox="1"/>
          <p:nvPr>
            <p:ph idx="12" type="sldNum"/>
          </p:nvPr>
        </p:nvSpPr>
        <p:spPr>
          <a:xfrm>
            <a:off x="8472458" y="4663217"/>
            <a:ext cx="548700" cy="393600"/>
          </a:xfrm>
          <a:prstGeom prst="rect">
            <a:avLst/>
          </a:prstGeom>
        </p:spPr>
        <p:txBody>
          <a:bodyPr anchorCtr="0" anchor="ctr" bIns="45700" lIns="91425" spcFirstLastPara="1" rIns="91425" wrap="square" tIns="457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HEADER_2">
  <p:cSld name="SECTION_HEADER_2">
    <p:spTree>
      <p:nvGrpSpPr>
        <p:cNvPr id="132" name="Shape 132"/>
        <p:cNvGrpSpPr/>
        <p:nvPr/>
      </p:nvGrpSpPr>
      <p:grpSpPr>
        <a:xfrm>
          <a:off x="0" y="0"/>
          <a:ext cx="0" cy="0"/>
          <a:chOff x="0" y="0"/>
          <a:chExt cx="0" cy="0"/>
        </a:xfrm>
      </p:grpSpPr>
      <p:sp>
        <p:nvSpPr>
          <p:cNvPr id="133" name="Google Shape;133;p27"/>
          <p:cNvSpPr txBox="1"/>
          <p:nvPr>
            <p:ph type="title"/>
          </p:nvPr>
        </p:nvSpPr>
        <p:spPr>
          <a:xfrm>
            <a:off x="311700" y="2150850"/>
            <a:ext cx="8520600" cy="841800"/>
          </a:xfrm>
          <a:prstGeom prst="rect">
            <a:avLst/>
          </a:prstGeom>
        </p:spPr>
        <p:txBody>
          <a:bodyPr anchorCtr="0" anchor="ctr" bIns="45700" lIns="91425" spcFirstLastPara="1" rIns="91425" wrap="square" tIns="4570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34" name="Google Shape;134;p27"/>
          <p:cNvSpPr txBox="1"/>
          <p:nvPr>
            <p:ph idx="12" type="sldNum"/>
          </p:nvPr>
        </p:nvSpPr>
        <p:spPr>
          <a:xfrm>
            <a:off x="8472458" y="4663217"/>
            <a:ext cx="548700" cy="393600"/>
          </a:xfrm>
          <a:prstGeom prst="rect">
            <a:avLst/>
          </a:prstGeom>
        </p:spPr>
        <p:txBody>
          <a:bodyPr anchorCtr="0" anchor="ctr" bIns="45700" lIns="91425" spcFirstLastPara="1" rIns="91425" wrap="square" tIns="457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HEADER_3">
  <p:cSld name="SECTION_HEADER_3">
    <p:spTree>
      <p:nvGrpSpPr>
        <p:cNvPr id="135" name="Shape 135"/>
        <p:cNvGrpSpPr/>
        <p:nvPr/>
      </p:nvGrpSpPr>
      <p:grpSpPr>
        <a:xfrm>
          <a:off x="0" y="0"/>
          <a:ext cx="0" cy="0"/>
          <a:chOff x="0" y="0"/>
          <a:chExt cx="0" cy="0"/>
        </a:xfrm>
      </p:grpSpPr>
      <p:sp>
        <p:nvSpPr>
          <p:cNvPr id="136" name="Google Shape;136;p28"/>
          <p:cNvSpPr txBox="1"/>
          <p:nvPr>
            <p:ph type="title"/>
          </p:nvPr>
        </p:nvSpPr>
        <p:spPr>
          <a:xfrm>
            <a:off x="311700" y="2150850"/>
            <a:ext cx="8520600" cy="841800"/>
          </a:xfrm>
          <a:prstGeom prst="rect">
            <a:avLst/>
          </a:prstGeom>
        </p:spPr>
        <p:txBody>
          <a:bodyPr anchorCtr="0" anchor="ctr" bIns="45700" lIns="91425" spcFirstLastPara="1" rIns="91425" wrap="square" tIns="4570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37" name="Google Shape;137;p28"/>
          <p:cNvSpPr txBox="1"/>
          <p:nvPr>
            <p:ph idx="12" type="sldNum"/>
          </p:nvPr>
        </p:nvSpPr>
        <p:spPr>
          <a:xfrm>
            <a:off x="8472458" y="4663217"/>
            <a:ext cx="548700" cy="393600"/>
          </a:xfrm>
          <a:prstGeom prst="rect">
            <a:avLst/>
          </a:prstGeom>
        </p:spPr>
        <p:txBody>
          <a:bodyPr anchorCtr="0" anchor="ctr" bIns="45700" lIns="91425" spcFirstLastPara="1" rIns="91425" wrap="square" tIns="457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Relationship Id="rId14" Type="http://schemas.openxmlformats.org/officeDocument/2006/relationships/slideLayout" Target="../slideLayouts/slideLayout25.xml"/><Relationship Id="rId15" Type="http://schemas.openxmlformats.org/officeDocument/2006/relationships/slideLayout" Target="../slideLayouts/slideLayout26.xml"/><Relationship Id="rId1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2" name="Google Shape;52;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1.xml"/><Relationship Id="rId3" Type="http://schemas.openxmlformats.org/officeDocument/2006/relationships/comments" Target="../comments/comment1.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2.jpg"/><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3.xml"/><Relationship Id="rId3"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4.xml"/><Relationship Id="rId3"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5.xml"/><Relationship Id="rId3"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6.xml"/><Relationship Id="rId3"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7.xml"/><Relationship Id="rId3" Type="http://schemas.openxmlformats.org/officeDocument/2006/relationships/image" Target="../media/image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8.xml"/><Relationship Id="rId3" Type="http://schemas.openxmlformats.org/officeDocument/2006/relationships/image" Target="../media/image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9.xml"/><Relationship Id="rId3" Type="http://schemas.openxmlformats.org/officeDocument/2006/relationships/image" Target="../media/image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0.xml"/><Relationship Id="rId3" Type="http://schemas.openxmlformats.org/officeDocument/2006/relationships/image" Target="../media/image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1.xml"/><Relationship Id="rId3" Type="http://schemas.openxmlformats.org/officeDocument/2006/relationships/image" Target="../media/image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2.xml"/><Relationship Id="rId3" Type="http://schemas.openxmlformats.org/officeDocument/2006/relationships/image" Target="../media/image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3.xml"/><Relationship Id="rId3" Type="http://schemas.openxmlformats.org/officeDocument/2006/relationships/image" Target="../media/image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4.xml"/><Relationship Id="rId3" Type="http://schemas.openxmlformats.org/officeDocument/2006/relationships/image" Target="../media/image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5.xml"/><Relationship Id="rId3" Type="http://schemas.openxmlformats.org/officeDocument/2006/relationships/image" Target="../media/image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6.xml"/><Relationship Id="rId3" Type="http://schemas.openxmlformats.org/officeDocument/2006/relationships/image" Target="../media/image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7.xml"/><Relationship Id="rId3" Type="http://schemas.openxmlformats.org/officeDocument/2006/relationships/image" Target="../media/image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8.xml"/><Relationship Id="rId3" Type="http://schemas.openxmlformats.org/officeDocument/2006/relationships/image" Target="../media/image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9.xml"/><Relationship Id="rId3" Type="http://schemas.openxmlformats.org/officeDocument/2006/relationships/image" Target="../media/image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0.xml"/><Relationship Id="rId3" Type="http://schemas.openxmlformats.org/officeDocument/2006/relationships/image" Target="../media/image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1.xml"/><Relationship Id="rId3" Type="http://schemas.openxmlformats.org/officeDocument/2006/relationships/image" Target="../media/image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 Id="rId3" Type="http://schemas.openxmlformats.org/officeDocument/2006/relationships/image" Target="../media/image1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 Id="rId3" Type="http://schemas.openxmlformats.org/officeDocument/2006/relationships/image" Target="../media/image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9.xml"/><Relationship Id="rId3" Type="http://schemas.openxmlformats.org/officeDocument/2006/relationships/image" Target="../media/image15.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 Id="rId3" Type="http://schemas.openxmlformats.org/officeDocument/2006/relationships/image" Target="../media/image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1.xml"/><Relationship Id="rId3" Type="http://schemas.openxmlformats.org/officeDocument/2006/relationships/image" Target="../media/image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2.xml"/><Relationship Id="rId3" Type="http://schemas.openxmlformats.org/officeDocument/2006/relationships/image" Target="../media/image11.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9.xml"/><Relationship Id="rId3" Type="http://schemas.openxmlformats.org/officeDocument/2006/relationships/image" Target="../media/image10.png"/><Relationship Id="rId4" Type="http://schemas.openxmlformats.org/officeDocument/2006/relationships/image" Target="../media/image13.png"/><Relationship Id="rId5" Type="http://schemas.openxmlformats.org/officeDocument/2006/relationships/image" Target="../media/image19.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0.xml"/><Relationship Id="rId3" Type="http://schemas.openxmlformats.org/officeDocument/2006/relationships/image" Target="../media/image16.png"/><Relationship Id="rId4" Type="http://schemas.openxmlformats.org/officeDocument/2006/relationships/image" Target="../media/image21.png"/><Relationship Id="rId5" Type="http://schemas.openxmlformats.org/officeDocument/2006/relationships/image" Target="../media/image23.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1.xml"/><Relationship Id="rId3" Type="http://schemas.openxmlformats.org/officeDocument/2006/relationships/image" Target="../media/image22.png"/><Relationship Id="rId4" Type="http://schemas.openxmlformats.org/officeDocument/2006/relationships/image" Target="../media/image18.png"/><Relationship Id="rId5" Type="http://schemas.openxmlformats.org/officeDocument/2006/relationships/image" Target="../media/image17.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2.xml"/><Relationship Id="rId3" Type="http://schemas.openxmlformats.org/officeDocument/2006/relationships/image" Target="../media/image14.png"/><Relationship Id="rId4" Type="http://schemas.openxmlformats.org/officeDocument/2006/relationships/image" Target="../media/image25.png"/><Relationship Id="rId5" Type="http://schemas.openxmlformats.org/officeDocument/2006/relationships/image" Target="../media/image24.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3.xml"/><Relationship Id="rId3" Type="http://schemas.openxmlformats.org/officeDocument/2006/relationships/image" Target="../media/image34.png"/><Relationship Id="rId4" Type="http://schemas.openxmlformats.org/officeDocument/2006/relationships/image" Target="../media/image28.png"/><Relationship Id="rId5" Type="http://schemas.openxmlformats.org/officeDocument/2006/relationships/image" Target="../media/image31.png"/><Relationship Id="rId6" Type="http://schemas.openxmlformats.org/officeDocument/2006/relationships/image" Target="../media/image30.png"/><Relationship Id="rId7" Type="http://schemas.openxmlformats.org/officeDocument/2006/relationships/image" Target="../media/image29.png"/><Relationship Id="rId8" Type="http://schemas.openxmlformats.org/officeDocument/2006/relationships/image" Target="../media/image32.png"/><Relationship Id="rId9" Type="http://schemas.openxmlformats.org/officeDocument/2006/relationships/image" Target="../media/image43.png"/><Relationship Id="rId10" Type="http://schemas.openxmlformats.org/officeDocument/2006/relationships/image" Target="../media/image35.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4.xml"/><Relationship Id="rId3" Type="http://schemas.openxmlformats.org/officeDocument/2006/relationships/image" Target="../media/image37.png"/><Relationship Id="rId4" Type="http://schemas.openxmlformats.org/officeDocument/2006/relationships/image" Target="../media/image27.jp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5.xml"/><Relationship Id="rId3" Type="http://schemas.openxmlformats.org/officeDocument/2006/relationships/image" Target="../media/image33.png"/><Relationship Id="rId4" Type="http://schemas.openxmlformats.org/officeDocument/2006/relationships/image" Target="../media/image26.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6.xml"/><Relationship Id="rId3" Type="http://schemas.openxmlformats.org/officeDocument/2006/relationships/image" Target="../media/image39.png"/><Relationship Id="rId4" Type="http://schemas.openxmlformats.org/officeDocument/2006/relationships/image" Target="../media/image4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7.xml"/><Relationship Id="rId3" Type="http://schemas.openxmlformats.org/officeDocument/2006/relationships/image" Target="../media/image38.png"/><Relationship Id="rId4" Type="http://schemas.openxmlformats.org/officeDocument/2006/relationships/image" Target="../media/image42.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8.xml"/><Relationship Id="rId3" Type="http://schemas.openxmlformats.org/officeDocument/2006/relationships/image" Target="../media/image40.png"/><Relationship Id="rId4" Type="http://schemas.openxmlformats.org/officeDocument/2006/relationships/image" Target="../media/image44.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9.xml"/><Relationship Id="rId3" Type="http://schemas.openxmlformats.org/officeDocument/2006/relationships/image" Target="../media/image46.png"/><Relationship Id="rId4" Type="http://schemas.openxmlformats.org/officeDocument/2006/relationships/image" Target="../media/image47.png"/><Relationship Id="rId5" Type="http://schemas.openxmlformats.org/officeDocument/2006/relationships/image" Target="../media/image45.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1.xml"/><Relationship Id="rId3" Type="http://schemas.openxmlformats.org/officeDocument/2006/relationships/comments" Target="../comments/commen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6.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7.xml"/><Relationship Id="rId3" Type="http://schemas.openxmlformats.org/officeDocument/2006/relationships/image" Target="../media/image36.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141" name="Shape 141"/>
        <p:cNvGrpSpPr/>
        <p:nvPr/>
      </p:nvGrpSpPr>
      <p:grpSpPr>
        <a:xfrm>
          <a:off x="0" y="0"/>
          <a:ext cx="0" cy="0"/>
          <a:chOff x="0" y="0"/>
          <a:chExt cx="0" cy="0"/>
        </a:xfrm>
      </p:grpSpPr>
      <p:sp>
        <p:nvSpPr>
          <p:cNvPr id="142" name="Google Shape;142;p29"/>
          <p:cNvSpPr txBox="1"/>
          <p:nvPr/>
        </p:nvSpPr>
        <p:spPr>
          <a:xfrm>
            <a:off x="457200" y="685800"/>
            <a:ext cx="8229600" cy="4500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GB">
                <a:solidFill>
                  <a:srgbClr val="F79F83"/>
                </a:solidFill>
                <a:latin typeface="Alegreya Sans"/>
                <a:ea typeface="Alegreya Sans"/>
                <a:cs typeface="Alegreya Sans"/>
                <a:sym typeface="Alegreya Sans"/>
              </a:rPr>
              <a:t>THE </a:t>
            </a:r>
            <a:r>
              <a:rPr b="1" i="0" lang="en-GB" sz="1400" u="none" cap="none" strike="noStrike">
                <a:solidFill>
                  <a:srgbClr val="F79F83"/>
                </a:solidFill>
                <a:latin typeface="Alegreya Sans"/>
                <a:ea typeface="Alegreya Sans"/>
                <a:cs typeface="Alegreya Sans"/>
                <a:sym typeface="Alegreya Sans"/>
              </a:rPr>
              <a:t>WEIGHT LOSS &amp; LIFESTYLE ACADEMY · LIVE WORKSHOP</a:t>
            </a:r>
            <a:endParaRPr/>
          </a:p>
        </p:txBody>
      </p:sp>
      <p:sp>
        <p:nvSpPr>
          <p:cNvPr id="143" name="Google Shape;143;p29"/>
          <p:cNvSpPr txBox="1"/>
          <p:nvPr/>
        </p:nvSpPr>
        <p:spPr>
          <a:xfrm>
            <a:off x="457200" y="1645750"/>
            <a:ext cx="8229600" cy="2199900"/>
          </a:xfrm>
          <a:prstGeom prst="rect">
            <a:avLst/>
          </a:prstGeom>
          <a:noFill/>
          <a:ln>
            <a:noFill/>
          </a:ln>
        </p:spPr>
        <p:txBody>
          <a:bodyPr anchorCtr="0" anchor="t" bIns="0" lIns="0" spcFirstLastPara="1" rIns="0" wrap="square" tIns="0">
            <a:noAutofit/>
          </a:bodyPr>
          <a:lstStyle/>
          <a:p>
            <a:pPr indent="0" lvl="0" marL="0" marR="0" rtl="0" algn="ctr">
              <a:spcBef>
                <a:spcPts val="400"/>
              </a:spcBef>
              <a:spcAft>
                <a:spcPts val="0"/>
              </a:spcAft>
              <a:buNone/>
            </a:pPr>
            <a:r>
              <a:rPr lang="en-GB" sz="2800">
                <a:solidFill>
                  <a:srgbClr val="003060"/>
                </a:solidFill>
                <a:latin typeface="Libre Baskerville"/>
                <a:ea typeface="Libre Baskerville"/>
                <a:cs typeface="Libre Baskerville"/>
                <a:sym typeface="Libre Baskerville"/>
              </a:rPr>
              <a:t>How Women 45+ Are </a:t>
            </a:r>
            <a:r>
              <a:rPr b="1" lang="en-GB" sz="2800">
                <a:solidFill>
                  <a:srgbClr val="003060"/>
                </a:solidFill>
                <a:latin typeface="Libre Baskerville"/>
                <a:ea typeface="Libre Baskerville"/>
                <a:cs typeface="Libre Baskerville"/>
                <a:sym typeface="Libre Baskerville"/>
              </a:rPr>
              <a:t>Losing Up To 2 Stone</a:t>
            </a:r>
            <a:r>
              <a:rPr lang="en-GB" sz="2800">
                <a:solidFill>
                  <a:srgbClr val="003060"/>
                </a:solidFill>
                <a:latin typeface="Libre Baskerville"/>
                <a:ea typeface="Libre Baskerville"/>
                <a:cs typeface="Libre Baskerville"/>
                <a:sym typeface="Libre Baskerville"/>
              </a:rPr>
              <a:t> </a:t>
            </a:r>
            <a:endParaRPr sz="2800">
              <a:solidFill>
                <a:srgbClr val="003060"/>
              </a:solidFill>
              <a:latin typeface="Libre Baskerville"/>
              <a:ea typeface="Libre Baskerville"/>
              <a:cs typeface="Libre Baskerville"/>
              <a:sym typeface="Libre Baskerville"/>
            </a:endParaRPr>
          </a:p>
          <a:p>
            <a:pPr indent="0" lvl="0" marL="0" marR="0" rtl="0" algn="ctr">
              <a:spcBef>
                <a:spcPts val="400"/>
              </a:spcBef>
              <a:spcAft>
                <a:spcPts val="0"/>
              </a:spcAft>
              <a:buNone/>
            </a:pPr>
            <a:r>
              <a:rPr lang="en-GB" sz="2800">
                <a:solidFill>
                  <a:srgbClr val="003060"/>
                </a:solidFill>
                <a:latin typeface="Libre Baskerville"/>
                <a:ea typeface="Libre Baskerville"/>
                <a:cs typeface="Libre Baskerville"/>
                <a:sym typeface="Libre Baskerville"/>
              </a:rPr>
              <a:t>Without </a:t>
            </a:r>
            <a:r>
              <a:rPr i="1" lang="en-GB" sz="2800">
                <a:solidFill>
                  <a:srgbClr val="003060"/>
                </a:solidFill>
                <a:latin typeface="Libre Baskerville"/>
                <a:ea typeface="Libre Baskerville"/>
                <a:cs typeface="Libre Baskerville"/>
                <a:sym typeface="Libre Baskerville"/>
              </a:rPr>
              <a:t>Calorie Counting</a:t>
            </a:r>
            <a:r>
              <a:rPr lang="en-GB" sz="2800">
                <a:solidFill>
                  <a:srgbClr val="003060"/>
                </a:solidFill>
                <a:latin typeface="Libre Baskerville"/>
                <a:ea typeface="Libre Baskerville"/>
                <a:cs typeface="Libre Baskerville"/>
                <a:sym typeface="Libre Baskerville"/>
              </a:rPr>
              <a:t> Or </a:t>
            </a:r>
            <a:r>
              <a:rPr i="1" lang="en-GB" sz="2800">
                <a:solidFill>
                  <a:srgbClr val="003060"/>
                </a:solidFill>
                <a:latin typeface="Libre Baskerville"/>
                <a:ea typeface="Libre Baskerville"/>
                <a:cs typeface="Libre Baskerville"/>
                <a:sym typeface="Libre Baskerville"/>
              </a:rPr>
              <a:t>Miserable Diets</a:t>
            </a:r>
            <a:endParaRPr i="1" sz="2800">
              <a:solidFill>
                <a:srgbClr val="003060"/>
              </a:solidFill>
              <a:latin typeface="Libre Baskerville"/>
              <a:ea typeface="Libre Baskerville"/>
              <a:cs typeface="Libre Baskerville"/>
              <a:sym typeface="Libre Baskerville"/>
            </a:endParaRPr>
          </a:p>
          <a:p>
            <a:pPr indent="0" lvl="0" marL="0" marR="0" rtl="0" algn="ctr">
              <a:spcBef>
                <a:spcPts val="1800"/>
              </a:spcBef>
              <a:spcAft>
                <a:spcPts val="0"/>
              </a:spcAft>
              <a:buNone/>
            </a:pPr>
            <a:r>
              <a:rPr>
                <a:solidFill/>
              </a:rP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147" name="Shape 147"/>
        <p:cNvGrpSpPr/>
        <p:nvPr/>
      </p:nvGrpSpPr>
      <p:grpSpPr>
        <a:xfrm>
          <a:off x="0" y="0"/>
          <a:ext cx="0" cy="0"/>
          <a:chOff x="0" y="0"/>
          <a:chExt cx="0" cy="0"/>
        </a:xfrm>
      </p:grpSpPr>
      <p:sp>
        <p:nvSpPr>
          <p:cNvPr id="148" name="Google Shape;148;p30"/>
          <p:cNvSpPr txBox="1"/>
          <p:nvPr/>
        </p:nvSpPr>
        <p:spPr>
          <a:xfrm>
            <a:off x="457200" y="361950"/>
            <a:ext cx="8229600" cy="44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GB" sz="2200" u="none" cap="none" strike="noStrike">
                <a:solidFill>
                  <a:srgbClr val="003060"/>
                </a:solidFill>
                <a:latin typeface="Alegreya Sans"/>
                <a:ea typeface="Alegreya Sans"/>
                <a:cs typeface="Alegreya Sans"/>
                <a:sym typeface="Alegreya Sans"/>
              </a:rPr>
              <a:t>Today we will ensure you walk away with everything you need to</a:t>
            </a:r>
            <a:endParaRPr/>
          </a:p>
          <a:p>
            <a:pPr indent="0" lvl="0" marL="0" marR="0" rtl="0" algn="ctr">
              <a:spcBef>
                <a:spcPts val="600"/>
              </a:spcBef>
              <a:spcAft>
                <a:spcPts val="0"/>
              </a:spcAft>
              <a:buNone/>
            </a:pPr>
            <a:r>
              <a:rPr b="1" i="1" lang="en-GB" sz="2600" u="none" cap="none" strike="noStrike">
                <a:solidFill>
                  <a:srgbClr val="F79F83"/>
                </a:solidFill>
                <a:latin typeface="Libre Baskerville"/>
                <a:ea typeface="Libre Baskerville"/>
                <a:cs typeface="Libre Baskerville"/>
                <a:sym typeface="Libre Baskerville"/>
              </a:rPr>
              <a:t>lose up to 2 stone over the next 12 weeks.</a:t>
            </a:r>
            <a:endParaRPr/>
          </a:p>
          <a:p>
            <a:pPr indent="0" lvl="0" marL="0" marR="0" rtl="0" algn="ctr">
              <a:spcBef>
                <a:spcPts val="1800"/>
              </a:spcBef>
              <a:spcAft>
                <a:spcPts val="0"/>
              </a:spcAft>
              <a:buNone/>
            </a:pPr>
            <a:r>
              <a:rPr b="0" i="0" lang="en-GB" sz="2000" u="none" cap="none" strike="noStrike">
                <a:solidFill>
                  <a:srgbClr val="003060"/>
                </a:solidFill>
                <a:latin typeface="Alegreya Sans"/>
                <a:ea typeface="Alegreya Sans"/>
                <a:cs typeface="Alegreya Sans"/>
                <a:sym typeface="Alegreya Sans"/>
              </a:rPr>
              <a:t>What you do with this information is your choice</a:t>
            </a:r>
            <a:endParaRPr/>
          </a:p>
          <a:p>
            <a:pPr indent="0" lvl="0" marL="0" marR="0" rtl="0" algn="ctr">
              <a:spcBef>
                <a:spcPts val="600"/>
              </a:spcBef>
              <a:spcAft>
                <a:spcPts val="0"/>
              </a:spcAft>
              <a:buNone/>
            </a:pPr>
            <a:r>
              <a:rPr b="1" i="0" lang="en-GB" sz="2200" u="none" cap="none" strike="noStrike">
                <a:solidFill>
                  <a:srgbClr val="003060"/>
                </a:solidFill>
                <a:latin typeface="Alegreya Sans"/>
                <a:ea typeface="Alegreya Sans"/>
                <a:cs typeface="Alegreya Sans"/>
                <a:sym typeface="Alegreya Sans"/>
              </a:rPr>
              <a:t>but today we are getting into action!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152" name="Shape 152"/>
        <p:cNvGrpSpPr/>
        <p:nvPr/>
      </p:nvGrpSpPr>
      <p:grpSpPr>
        <a:xfrm>
          <a:off x="0" y="0"/>
          <a:ext cx="0" cy="0"/>
          <a:chOff x="0" y="0"/>
          <a:chExt cx="0" cy="0"/>
        </a:xfrm>
      </p:grpSpPr>
      <p:sp>
        <p:nvSpPr>
          <p:cNvPr id="153" name="Google Shape;153;p31"/>
          <p:cNvSpPr txBox="1"/>
          <p:nvPr/>
        </p:nvSpPr>
        <p:spPr>
          <a:xfrm>
            <a:off x="457200" y="361950"/>
            <a:ext cx="8229600" cy="44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GB" sz="2800" u="none" cap="none" strike="noStrike">
                <a:solidFill>
                  <a:srgbClr val="003060"/>
                </a:solidFill>
                <a:latin typeface="Libre Baskerville"/>
                <a:ea typeface="Libre Baskerville"/>
                <a:cs typeface="Libre Baskerville"/>
                <a:sym typeface="Libre Baskerville"/>
              </a:rPr>
              <a:t>Access a </a:t>
            </a:r>
            <a:r>
              <a:rPr b="1" lang="en-GB" sz="2800">
                <a:solidFill>
                  <a:srgbClr val="003060"/>
                </a:solidFill>
                <a:latin typeface="Libre Baskerville"/>
                <a:ea typeface="Libre Baskerville"/>
                <a:cs typeface="Libre Baskerville"/>
                <a:sym typeface="Libre Baskerville"/>
              </a:rPr>
              <a:t>fun reward</a:t>
            </a:r>
            <a:r>
              <a:rPr b="1" i="0" lang="en-GB" sz="2800" u="none" cap="none" strike="noStrike">
                <a:solidFill>
                  <a:srgbClr val="003060"/>
                </a:solidFill>
                <a:latin typeface="Libre Baskerville"/>
                <a:ea typeface="Libre Baskerville"/>
                <a:cs typeface="Libre Baskerville"/>
                <a:sym typeface="Libre Baskerville"/>
              </a:rPr>
              <a:t> for hanging out today, until the end…</a:t>
            </a:r>
            <a:endParaRPr/>
          </a:p>
          <a:p>
            <a:pPr indent="0" lvl="0" marL="0" marR="0" rtl="0" algn="l">
              <a:spcBef>
                <a:spcPts val="1400"/>
              </a:spcBef>
              <a:spcAft>
                <a:spcPts val="0"/>
              </a:spcAft>
              <a:buNone/>
            </a:pPr>
            <a:r>
              <a:rPr>
                <a:solidFill/>
              </a:rPr>
              <a:t/>
            </a:r>
            <a:endParaRPr/>
          </a:p>
          <a:p>
            <a:pPr indent="0" lvl="0" marL="0" marR="0" rtl="0" algn="ctr">
              <a:spcBef>
                <a:spcPts val="1000"/>
              </a:spcBef>
              <a:spcAft>
                <a:spcPts val="0"/>
              </a:spcAft>
              <a:buNone/>
            </a:pPr>
            <a:r>
              <a:rPr b="1" i="1" lang="en-GB" sz="1900">
                <a:solidFill>
                  <a:srgbClr val="F79F83"/>
                </a:solidFill>
                <a:latin typeface="Libre Baskerville"/>
                <a:ea typeface="Libre Baskerville"/>
                <a:cs typeface="Libre Baskerville"/>
                <a:sym typeface="Libre Baskerville"/>
              </a:rPr>
              <a:t>Access a whole year of coaching for the price of 12 weeks plus announcing our two </a:t>
            </a:r>
            <a:r>
              <a:rPr b="1" i="1" lang="en-GB" sz="1900">
                <a:solidFill>
                  <a:srgbClr val="F79F83"/>
                </a:solidFill>
                <a:latin typeface="Libre Baskerville"/>
                <a:ea typeface="Libre Baskerville"/>
                <a:cs typeface="Libre Baskerville"/>
                <a:sym typeface="Libre Baskerville"/>
              </a:rPr>
              <a:t>winners that get FREE access into brand </a:t>
            </a:r>
            <a:br>
              <a:rPr b="1" i="1" lang="en-GB" sz="1900">
                <a:solidFill>
                  <a:srgbClr val="F79F83"/>
                </a:solidFill>
                <a:latin typeface="Libre Baskerville"/>
                <a:ea typeface="Libre Baskerville"/>
                <a:cs typeface="Libre Baskerville"/>
                <a:sym typeface="Libre Baskerville"/>
              </a:rPr>
            </a:br>
            <a:r>
              <a:rPr b="1" i="1" lang="en-GB" sz="1900">
                <a:solidFill>
                  <a:srgbClr val="F79F83"/>
                </a:solidFill>
                <a:latin typeface="Libre Baskerville"/>
                <a:ea typeface="Libre Baskerville"/>
                <a:cs typeface="Libre Baskerville"/>
                <a:sym typeface="Libre Baskerville"/>
              </a:rPr>
              <a:t>NEW WLA 12 Week Summer Challenge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157" name="Shape 157"/>
        <p:cNvGrpSpPr/>
        <p:nvPr/>
      </p:nvGrpSpPr>
      <p:grpSpPr>
        <a:xfrm>
          <a:off x="0" y="0"/>
          <a:ext cx="0" cy="0"/>
          <a:chOff x="0" y="0"/>
          <a:chExt cx="0" cy="0"/>
        </a:xfrm>
      </p:grpSpPr>
      <p:sp>
        <p:nvSpPr>
          <p:cNvPr id="158" name="Google Shape;158;p32"/>
          <p:cNvSpPr txBox="1"/>
          <p:nvPr/>
        </p:nvSpPr>
        <p:spPr>
          <a:xfrm>
            <a:off x="457200" y="361950"/>
            <a:ext cx="8229600" cy="44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GB" sz="1900" u="none" cap="none" strike="noStrike">
                <a:solidFill>
                  <a:srgbClr val="003060"/>
                </a:solidFill>
                <a:latin typeface="Alegreya Sans"/>
                <a:ea typeface="Alegreya Sans"/>
                <a:cs typeface="Alegreya Sans"/>
                <a:sym typeface="Alegreya Sans"/>
              </a:rPr>
              <a:t>Any person that has transformed their weight loss journey,</a:t>
            </a:r>
            <a:endParaRPr/>
          </a:p>
          <a:p>
            <a:pPr indent="0" lvl="0" marL="0" marR="0" rtl="0" algn="ctr">
              <a:spcBef>
                <a:spcPts val="400"/>
              </a:spcBef>
              <a:spcAft>
                <a:spcPts val="0"/>
              </a:spcAft>
              <a:buNone/>
            </a:pPr>
            <a:r>
              <a:rPr b="0" i="0" lang="en-GB" sz="1900" u="none" cap="none" strike="noStrike">
                <a:solidFill>
                  <a:srgbClr val="003060"/>
                </a:solidFill>
                <a:latin typeface="Alegreya Sans"/>
                <a:ea typeface="Alegreya Sans"/>
                <a:cs typeface="Alegreya Sans"/>
                <a:sym typeface="Alegreya Sans"/>
              </a:rPr>
              <a:t>their health and wellbeing,</a:t>
            </a:r>
            <a:r>
              <a:rPr lang="en-GB">
                <a:solidFill/>
              </a:rPr>
              <a:t> </a:t>
            </a:r>
            <a:r>
              <a:rPr b="1" i="1" lang="en-GB" sz="2000" u="none" cap="none" strike="noStrike">
                <a:solidFill>
                  <a:srgbClr val="F79F83"/>
                </a:solidFill>
                <a:latin typeface="Libre Baskerville"/>
                <a:ea typeface="Libre Baskerville"/>
                <a:cs typeface="Libre Baskerville"/>
                <a:sym typeface="Libre Baskerville"/>
              </a:rPr>
              <a:t>has taken serious action. Is </a:t>
            </a:r>
            <a:r>
              <a:rPr b="1" i="1" lang="en-GB" sz="2000">
                <a:solidFill>
                  <a:srgbClr val="F79F83"/>
                </a:solidFill>
                <a:latin typeface="Libre Baskerville"/>
                <a:ea typeface="Libre Baskerville"/>
                <a:cs typeface="Libre Baskerville"/>
                <a:sym typeface="Libre Baskerville"/>
              </a:rPr>
              <a:t>c</a:t>
            </a:r>
            <a:r>
              <a:rPr b="1" i="1" lang="en-GB" sz="2000" u="none" cap="none" strike="noStrike">
                <a:solidFill>
                  <a:srgbClr val="F79F83"/>
                </a:solidFill>
                <a:latin typeface="Libre Baskerville"/>
                <a:ea typeface="Libre Baskerville"/>
                <a:cs typeface="Libre Baskerville"/>
                <a:sym typeface="Libre Baskerville"/>
              </a:rPr>
              <a:t>ommitted. Overcame struggles, setbacks and difficult days.</a:t>
            </a:r>
            <a:endParaRPr/>
          </a:p>
          <a:p>
            <a:pPr indent="0" lvl="0" marL="0" marR="0" rtl="0" algn="ctr">
              <a:spcBef>
                <a:spcPts val="2200"/>
              </a:spcBef>
              <a:spcAft>
                <a:spcPts val="0"/>
              </a:spcAft>
              <a:buNone/>
            </a:pPr>
            <a:r>
              <a:rPr i="0" lang="en-GB" sz="2000" u="none" cap="none" strike="noStrike">
                <a:solidFill>
                  <a:srgbClr val="003060"/>
                </a:solidFill>
                <a:latin typeface="Alegreya Sans"/>
                <a:ea typeface="Alegreya Sans"/>
                <a:cs typeface="Alegreya Sans"/>
                <a:sym typeface="Alegreya Sans"/>
              </a:rPr>
              <a:t>Use today as the day that you show up</a:t>
            </a:r>
            <a:r>
              <a:rPr lang="en-GB">
                <a:solidFill/>
              </a:rPr>
              <a:t> </a:t>
            </a:r>
            <a:r>
              <a:rPr i="0" lang="en-GB" sz="2200" u="none" cap="none" strike="noStrike">
                <a:solidFill>
                  <a:srgbClr val="003060"/>
                </a:solidFill>
                <a:latin typeface="Alegreya Sans"/>
                <a:ea typeface="Alegreya Sans"/>
                <a:cs typeface="Alegreya Sans"/>
                <a:sym typeface="Alegreya Sans"/>
              </a:rPr>
              <a:t>for your future self!</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162" name="Shape 162"/>
        <p:cNvGrpSpPr/>
        <p:nvPr/>
      </p:nvGrpSpPr>
      <p:grpSpPr>
        <a:xfrm>
          <a:off x="0" y="0"/>
          <a:ext cx="0" cy="0"/>
          <a:chOff x="0" y="0"/>
          <a:chExt cx="0" cy="0"/>
        </a:xfrm>
      </p:grpSpPr>
      <p:sp>
        <p:nvSpPr>
          <p:cNvPr id="163" name="TextBox 162"/>
          <p:cNvSpPr txBox="1"/>
          <p:nvPr/>
        </p:nvSpPr>
        <p:spPr>
          <a:xfrm>
            <a:off x="457200" y="280000"/>
            <a:ext cx="8229600" cy="610000"/>
          </a:xfrm>
          <a:prstGeom prst="rect">
            <a:avLst/>
          </a:prstGeom>
          <a:noFill/>
        </p:spPr>
        <p:txBody>
          <a:bodyPr wrap="square" lIns="0" rIns="0" tIns="0" bIns="0" anchor="t"/>
          <a:lstStyle/>
          <a:p>
            <a:pPr algn="ctr"/>
            <a:r>
              <a:rPr sz="2800" b="1" i="0">
                <a:solidFill>
                  <a:srgbClr val="003060"/>
                </a:solidFill>
                <a:latin typeface="Libre Baskerville"/>
              </a:rPr>
              <a:t>What I Learned</a:t>
            </a:r>
          </a:p>
        </p:txBody>
      </p:sp>
      <p:sp>
        <p:nvSpPr>
          <p:cNvPr id="164" name="TextBox 163"/>
          <p:cNvSpPr txBox="1"/>
          <p:nvPr/>
        </p:nvSpPr>
        <p:spPr>
          <a:xfrm>
            <a:off x="457200" y="880000"/>
            <a:ext cx="8229600" cy="380000"/>
          </a:xfrm>
          <a:prstGeom prst="rect">
            <a:avLst/>
          </a:prstGeom>
          <a:noFill/>
        </p:spPr>
        <p:txBody>
          <a:bodyPr wrap="square" lIns="0" rIns="0" tIns="0" bIns="0" anchor="t"/>
          <a:lstStyle/>
          <a:p>
            <a:pPr algn="ctr"/>
            <a:r>
              <a:rPr sz="1600" b="1" i="1">
                <a:solidFill>
                  <a:srgbClr val="F79F83"/>
                </a:solidFill>
                <a:latin typeface="Libre Baskerville"/>
              </a:rPr>
              <a:t>(and this is what most people do to lose weight)</a:t>
            </a:r>
          </a:p>
        </p:txBody>
      </p:sp>
      <p:graphicFrame>
        <p:nvGraphicFramePr>
          <p:cNvPr id="165" name="Table 164"/>
          <p:cNvGraphicFramePr>
            <a:graphicFrameLocks noGrp="1"/>
          </p:cNvGraphicFramePr>
          <p:nvPr/>
        </p:nvGraphicFramePr>
        <p:xfrm>
          <a:off x="457200" y="1330000"/>
          <a:ext cx="8229600" cy="3500000"/>
        </p:xfrm>
        <a:graphic>
          <a:graphicData uri="http://schemas.openxmlformats.org/drawingml/2006/table">
            <a:tbl>
              <a:tblPr firstRow="1" bandRow="1">
                <a:tableStyleId>{5C22544A-7EE6-4342-B048-85BDC9FD1C3A}</a:tableStyleId>
              </a:tblPr>
              <a:tblGrid>
                <a:gridCol w="4114800"/>
                <a:gridCol w="4114800"/>
              </a:tblGrid>
              <a:tr h="700000">
                <a:tc>
                  <a:txBody>
                    <a:bodyPr wrap="square"/>
                    <a:lstStyle/>
                    <a:p>
                      <a:pPr algn="ctr"/>
                      <a:r>
                        <a:rPr sz="1200" b="1">
                          <a:solidFill>
                            <a:srgbClr val="FFFFFF"/>
                          </a:solidFill>
                          <a:latin typeface="Libre Baskerville"/>
                        </a:rPr>
                        <a:t>Common Approach</a:t>
                      </a:r>
                    </a:p>
                  </a:txBody>
                  <a:tcPr marL="76200" marR="76200" marT="50800" marB="50800">
                    <a:solidFill>
                      <a:srgbClr val="003060"/>
                    </a:solidFill>
                  </a:tcPr>
                </a:tc>
                <a:tc>
                  <a:txBody>
                    <a:bodyPr wrap="square"/>
                    <a:lstStyle/>
                    <a:p>
                      <a:pPr algn="ctr"/>
                      <a:r>
                        <a:rPr sz="1200" b="1">
                          <a:solidFill>
                            <a:srgbClr val="FFFFFF"/>
                          </a:solidFill>
                          <a:latin typeface="Libre Baskerville"/>
                        </a:rPr>
                        <a:t>Why It Doesn't Work</a:t>
                      </a:r>
                    </a:p>
                  </a:txBody>
                  <a:tcPr marL="76200" marR="76200" marT="50800" marB="50800">
                    <a:solidFill>
                      <a:srgbClr val="003060"/>
                    </a:solidFill>
                  </a:tcPr>
                </a:tc>
              </a:tr>
              <a:tr h="700000">
                <a:tc>
                  <a:txBody>
                    <a:bodyPr wrap="square"/>
                    <a:lstStyle/>
                    <a:p>
                      <a:pPr algn="l"/>
                      <a:r>
                        <a:rPr sz="1100" b="1">
                          <a:solidFill>
                            <a:srgbClr val="F79F83"/>
                          </a:solidFill>
                          <a:latin typeface="Alegreya Sans"/>
                        </a:rPr>
                        <a:t>Low calorie diets</a:t>
                      </a:r>
                    </a:p>
                  </a:txBody>
                  <a:tcPr marL="76200" marR="76200" marT="50800" marB="50800">
                    <a:solidFill>
                      <a:srgbClr val="FFFFFF"/>
                    </a:solidFill>
                  </a:tcPr>
                </a:tc>
                <a:tc>
                  <a:txBody>
                    <a:bodyPr wrap="square"/>
                    <a:lstStyle/>
                    <a:p>
                      <a:pPr algn="l"/>
                      <a:r>
                        <a:rPr sz="1100">
                          <a:solidFill>
                            <a:srgbClr val="003060"/>
                          </a:solidFill>
                          <a:latin typeface="Alegreya Sans"/>
                        </a:rPr>
                        <a:t>Weight loss harder, weight gain faster. BMR adjusts; eating "normally" leads to weight gain. Metabolism takes time to recover.</a:t>
                      </a:r>
                    </a:p>
                  </a:txBody>
                  <a:tcPr marL="76200" marR="76200" marT="50800" marB="50800">
                    <a:solidFill>
                      <a:srgbClr val="FFFFFF"/>
                    </a:solidFill>
                  </a:tcPr>
                </a:tc>
              </a:tr>
              <a:tr h="700000">
                <a:tc>
                  <a:txBody>
                    <a:bodyPr wrap="square"/>
                    <a:lstStyle/>
                    <a:p>
                      <a:pPr algn="l"/>
                      <a:r>
                        <a:rPr sz="1100" b="1">
                          <a:solidFill>
                            <a:srgbClr val="F79F83"/>
                          </a:solidFill>
                          <a:latin typeface="Alegreya Sans"/>
                        </a:rPr>
                        <a:t>Cut all foods you love</a:t>
                      </a:r>
                    </a:p>
                  </a:txBody>
                  <a:tcPr marL="76200" marR="76200" marT="50800" marB="50800">
                    <a:solidFill>
                      <a:srgbClr val="FDEEE7"/>
                    </a:solidFill>
                  </a:tcPr>
                </a:tc>
                <a:tc>
                  <a:txBody>
                    <a:bodyPr wrap="square"/>
                    <a:lstStyle/>
                    <a:p>
                      <a:pPr algn="l"/>
                      <a:r>
                        <a:rPr sz="1100">
                          <a:solidFill>
                            <a:srgbClr val="003060"/>
                          </a:solidFill>
                          <a:latin typeface="Alegreya Sans"/>
                        </a:rPr>
                        <a:t>Restriction → overeating. Periods of being "good" followed by periods of "bad" = weight gain.</a:t>
                      </a:r>
                    </a:p>
                  </a:txBody>
                  <a:tcPr marL="76200" marR="76200" marT="50800" marB="50800">
                    <a:solidFill>
                      <a:srgbClr val="FDEEE7"/>
                    </a:solidFill>
                  </a:tcPr>
                </a:tc>
              </a:tr>
              <a:tr h="700000">
                <a:tc>
                  <a:txBody>
                    <a:bodyPr wrap="square"/>
                    <a:lstStyle/>
                    <a:p>
                      <a:pPr algn="l"/>
                      <a:r>
                        <a:rPr sz="1100" b="1">
                          <a:solidFill>
                            <a:srgbClr val="F79F83"/>
                          </a:solidFill>
                          <a:latin typeface="Alegreya Sans"/>
                        </a:rPr>
                        <a:t>Low quality food</a:t>
                      </a:r>
                    </a:p>
                  </a:txBody>
                  <a:tcPr marL="76200" marR="76200" marT="50800" marB="50800">
                    <a:solidFill>
                      <a:srgbClr val="FFFFFF"/>
                    </a:solidFill>
                  </a:tcPr>
                </a:tc>
                <a:tc>
                  <a:txBody>
                    <a:bodyPr wrap="square"/>
                    <a:lstStyle/>
                    <a:p>
                      <a:pPr algn="l"/>
                      <a:r>
                        <a:rPr sz="1100">
                          <a:solidFill>
                            <a:srgbClr val="003060"/>
                          </a:solidFill>
                          <a:latin typeface="Alegreya Sans"/>
                        </a:rPr>
                        <a:t>Increases hunger and cravings. Less filling = bigger appetite.</a:t>
                      </a:r>
                    </a:p>
                  </a:txBody>
                  <a:tcPr marL="76200" marR="76200" marT="50800" marB="50800">
                    <a:solidFill>
                      <a:srgbClr val="FFFFFF"/>
                    </a:solidFill>
                  </a:tcPr>
                </a:tc>
              </a:tr>
              <a:tr h="700000">
                <a:tc>
                  <a:txBody>
                    <a:bodyPr wrap="square"/>
                    <a:lstStyle/>
                    <a:p>
                      <a:pPr algn="l"/>
                      <a:r>
                        <a:rPr sz="1100" b="1">
                          <a:solidFill>
                            <a:srgbClr val="F79F83"/>
                          </a:solidFill>
                          <a:latin typeface="Alegreya Sans"/>
                        </a:rPr>
                        <a:t>Starve yourself</a:t>
                      </a:r>
                    </a:p>
                  </a:txBody>
                  <a:tcPr marL="76200" marR="76200" marT="50800" marB="50800">
                    <a:solidFill>
                      <a:srgbClr val="FDEEE7"/>
                    </a:solidFill>
                  </a:tcPr>
                </a:tc>
                <a:tc>
                  <a:txBody>
                    <a:bodyPr wrap="square"/>
                    <a:lstStyle/>
                    <a:p>
                      <a:pPr algn="l"/>
                      <a:r>
                        <a:rPr sz="1100">
                          <a:solidFill>
                            <a:srgbClr val="003060"/>
                          </a:solidFill>
                          <a:latin typeface="Alegreya Sans"/>
                        </a:rPr>
                        <a:t>Starve all day → binge all evening. Overeating periods increase.</a:t>
                      </a:r>
                    </a:p>
                  </a:txBody>
                  <a:tcPr marL="76200" marR="76200" marT="50800" marB="50800">
                    <a:solidFill>
                      <a:srgbClr val="FDEEE7"/>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168" name="Shape 168"/>
        <p:cNvGrpSpPr/>
        <p:nvPr/>
      </p:nvGrpSpPr>
      <p:grpSpPr>
        <a:xfrm>
          <a:off x="0" y="0"/>
          <a:ext cx="0" cy="0"/>
          <a:chOff x="0" y="0"/>
          <a:chExt cx="0" cy="0"/>
        </a:xfrm>
      </p:grpSpPr>
      <p:sp>
        <p:nvSpPr>
          <p:cNvPr id="169" name="TextBox 168"/>
          <p:cNvSpPr txBox="1"/>
          <p:nvPr/>
        </p:nvSpPr>
        <p:spPr>
          <a:xfrm>
            <a:off x="457200" y="280000"/>
            <a:ext cx="8229600" cy="610000"/>
          </a:xfrm>
          <a:prstGeom prst="rect">
            <a:avLst/>
          </a:prstGeom>
          <a:noFill/>
        </p:spPr>
        <p:txBody>
          <a:bodyPr wrap="square" lIns="0" rIns="0" tIns="0" bIns="0" anchor="t"/>
          <a:lstStyle/>
          <a:p>
            <a:pPr algn="ctr"/>
            <a:r>
              <a:rPr sz="2800" b="1" i="0">
                <a:solidFill>
                  <a:srgbClr val="003060"/>
                </a:solidFill>
                <a:latin typeface="Libre Baskerville"/>
              </a:rPr>
              <a:t>Traditional Diets Never Worked For Me</a:t>
            </a:r>
          </a:p>
        </p:txBody>
      </p:sp>
      <p:sp>
        <p:nvSpPr>
          <p:cNvPr id="170" name="TextBox 169"/>
          <p:cNvSpPr txBox="1"/>
          <p:nvPr/>
        </p:nvSpPr>
        <p:spPr>
          <a:xfrm>
            <a:off x="457200" y="960000"/>
            <a:ext cx="8229600" cy="4003500"/>
          </a:xfrm>
          <a:prstGeom prst="rect">
            <a:avLst/>
          </a:prstGeom>
          <a:noFill/>
        </p:spPr>
        <p:txBody>
          <a:bodyPr wrap="square" lIns="0" rIns="0" tIns="0" bIns="0" anchor="ctr"/>
          <a:lstStyle/>
          <a:p>
            <a:pPr algn="ctr">
              <a:spcAft>
                <a:spcPts val="700"/>
              </a:spcAft>
            </a:pPr>
            <a:r>
              <a:rPr sz="1700" b="0" i="0">
                <a:solidFill>
                  <a:srgbClr val="003060"/>
                </a:solidFill>
                <a:latin typeface="Alegreya Sans"/>
              </a:rPr>
              <a:t>✗  They cut out all the foods I loved</a:t>
            </a:r>
          </a:p>
          <a:p>
            <a:pPr algn="ctr">
              <a:spcAft>
                <a:spcPts val="700"/>
              </a:spcAft>
            </a:pPr>
            <a:r>
              <a:rPr sz="1700" b="0" i="0">
                <a:solidFill>
                  <a:srgbClr val="003060"/>
                </a:solidFill>
                <a:latin typeface="Alegreya Sans"/>
              </a:rPr>
              <a:t>✗  I couldn't be social</a:t>
            </a:r>
          </a:p>
          <a:p>
            <a:pPr algn="ctr">
              <a:spcAft>
                <a:spcPts val="700"/>
              </a:spcAft>
            </a:pPr>
            <a:r>
              <a:rPr sz="1700" b="0" i="0">
                <a:solidFill>
                  <a:srgbClr val="003060"/>
                </a:solidFill>
                <a:latin typeface="Alegreya Sans"/>
              </a:rPr>
              <a:t>✗  I couldn't eat with people</a:t>
            </a:r>
          </a:p>
          <a:p>
            <a:pPr algn="ctr">
              <a:spcAft>
                <a:spcPts val="2200"/>
              </a:spcAft>
            </a:pPr>
            <a:r>
              <a:rPr sz="1700" b="0" i="0">
                <a:solidFill>
                  <a:srgbClr val="003060"/>
                </a:solidFill>
                <a:latin typeface="Alegreya Sans"/>
              </a:rPr>
              <a:t>✗  I couldn't actually be consistent — start and stop</a:t>
            </a:r>
          </a:p>
          <a:p>
            <a:pPr algn="ctr">
              <a:spcAft>
                <a:spcPts val="400"/>
              </a:spcAft>
            </a:pPr>
            <a:r>
              <a:rPr sz="1700" b="0" i="0">
                <a:solidFill>
                  <a:srgbClr val="003060"/>
                </a:solidFill>
                <a:latin typeface="Alegreya Sans"/>
              </a:rPr>
              <a:t>With what I learned at university I started to understand</a:t>
            </a:r>
          </a:p>
          <a:p>
            <a:pPr algn="ctr">
              <a:spcAft>
                <a:spcPts val="1800"/>
              </a:spcAft>
            </a:pPr>
            <a:r>
              <a:rPr sz="1700" b="0" i="1">
                <a:solidFill>
                  <a:srgbClr val="003060"/>
                </a:solidFill>
                <a:latin typeface="Alegreya Sans"/>
              </a:rPr>
              <a:t>nutrition and how the body functioned.</a:t>
            </a:r>
          </a:p>
          <a:p>
            <a:pPr algn="ctr">
              <a:spcAft>
                <a:spcPts val="600"/>
              </a:spcAft>
            </a:pPr>
            <a:r>
              <a:rPr sz="1800" b="1" i="0">
                <a:solidFill>
                  <a:srgbClr val="003060"/>
                </a:solidFill>
                <a:latin typeface="Alegreya Sans"/>
              </a:rPr>
              <a:t>Started to lose weight.</a:t>
            </a:r>
          </a:p>
          <a:p>
            <a:pPr algn="ctr"/>
            <a:r>
              <a:rPr sz="2200" b="1" i="1">
                <a:solidFill>
                  <a:srgbClr val="F79F83"/>
                </a:solidFill>
                <a:latin typeface="Libre Baskerville"/>
              </a:rPr>
              <a:t>Fuel for fat loss.</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174" name="Shape 174"/>
        <p:cNvGrpSpPr/>
        <p:nvPr/>
      </p:nvGrpSpPr>
      <p:grpSpPr>
        <a:xfrm>
          <a:off x="0" y="0"/>
          <a:ext cx="0" cy="0"/>
          <a:chOff x="0" y="0"/>
          <a:chExt cx="0" cy="0"/>
        </a:xfrm>
      </p:grpSpPr>
      <p:sp>
        <p:nvSpPr>
          <p:cNvPr id="175" name="Google Shape;175;p35"/>
          <p:cNvSpPr txBox="1"/>
          <p:nvPr/>
        </p:nvSpPr>
        <p:spPr>
          <a:xfrm>
            <a:off x="457200" y="361950"/>
            <a:ext cx="8229600" cy="44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n-GB" sz="1800">
                <a:solidFill>
                  <a:srgbClr val="003060"/>
                </a:solidFill>
                <a:latin typeface="Alegreya Sans"/>
                <a:ea typeface="Alegreya Sans"/>
                <a:cs typeface="Alegreya Sans"/>
                <a:sym typeface="Alegreya Sans"/>
              </a:rPr>
              <a:t>After my own weight loss journey, </a:t>
            </a:r>
            <a:r>
              <a:rPr b="0" i="0" lang="en-GB" sz="1800" u="none" cap="none" strike="noStrike">
                <a:solidFill>
                  <a:srgbClr val="003060"/>
                </a:solidFill>
                <a:latin typeface="Alegreya Sans"/>
                <a:ea typeface="Alegreya Sans"/>
                <a:cs typeface="Alegreya Sans"/>
                <a:sym typeface="Alegreya Sans"/>
              </a:rPr>
              <a:t>I have worked with over 50,000 clients</a:t>
            </a:r>
            <a:r>
              <a:rPr lang="en-GB" sz="1800">
                <a:solidFill>
                  <a:srgbClr val="003060"/>
                </a:solidFill>
                <a:latin typeface="Alegreya Sans"/>
                <a:ea typeface="Alegreya Sans"/>
                <a:cs typeface="Alegreya Sans"/>
                <a:sym typeface="Alegreya Sans"/>
              </a:rPr>
              <a:t>,</a:t>
            </a:r>
            <a:r>
              <a:rPr lang="en-GB">
                <a:solidFill/>
              </a:rPr>
              <a:t> </a:t>
            </a:r>
            <a:r>
              <a:rPr b="0" i="0" lang="en-GB" sz="1800" u="none" cap="none" strike="noStrike">
                <a:solidFill>
                  <a:srgbClr val="003060"/>
                </a:solidFill>
                <a:latin typeface="Alegreya Sans"/>
                <a:ea typeface="Alegreya Sans"/>
                <a:cs typeface="Alegreya Sans"/>
                <a:sym typeface="Alegreya Sans"/>
              </a:rPr>
              <a:t>1-2-1 clients, small groups, big groups</a:t>
            </a:r>
            <a:r>
              <a:rPr lang="en-GB" sz="1800">
                <a:solidFill>
                  <a:srgbClr val="003060"/>
                </a:solidFill>
                <a:latin typeface="Alegreya Sans"/>
                <a:ea typeface="Alegreya Sans"/>
                <a:cs typeface="Alegreya Sans"/>
                <a:sym typeface="Alegreya Sans"/>
              </a:rPr>
              <a:t>,</a:t>
            </a:r>
            <a:r>
              <a:rPr b="0" i="0" lang="en-GB" sz="1800" u="none" cap="none" strike="noStrike">
                <a:solidFill>
                  <a:srgbClr val="003060"/>
                </a:solidFill>
                <a:latin typeface="Alegreya Sans"/>
                <a:ea typeface="Alegreya Sans"/>
                <a:cs typeface="Alegreya Sans"/>
                <a:sym typeface="Alegreya Sans"/>
              </a:rPr>
              <a:t> you name it.</a:t>
            </a:r>
            <a:endParaRPr/>
          </a:p>
          <a:p>
            <a:pPr indent="0" lvl="0" marL="0" marR="0" rtl="0" algn="ctr">
              <a:spcBef>
                <a:spcPts val="1800"/>
              </a:spcBef>
              <a:spcAft>
                <a:spcPts val="0"/>
              </a:spcAft>
              <a:buNone/>
            </a:pPr>
            <a:r>
              <a:rPr b="0" i="0" lang="en-GB" sz="1800" u="none" cap="none" strike="noStrike">
                <a:solidFill>
                  <a:srgbClr val="003060"/>
                </a:solidFill>
                <a:latin typeface="Alegreya Sans"/>
                <a:ea typeface="Alegreya Sans"/>
                <a:cs typeface="Alegreya Sans"/>
                <a:sym typeface="Alegreya Sans"/>
              </a:rPr>
              <a:t>Based on that experience, knowledge I have acquired over the years</a:t>
            </a:r>
            <a:endParaRPr/>
          </a:p>
          <a:p>
            <a:pPr indent="0" lvl="0" marL="0" marR="0" rtl="0" algn="ctr">
              <a:spcBef>
                <a:spcPts val="400"/>
              </a:spcBef>
              <a:spcAft>
                <a:spcPts val="0"/>
              </a:spcAft>
              <a:buNone/>
            </a:pPr>
            <a:r>
              <a:rPr b="0" i="1" lang="en-GB" sz="1800" u="none" cap="none" strike="noStrike">
                <a:solidFill>
                  <a:srgbClr val="003060"/>
                </a:solidFill>
                <a:latin typeface="Alegreya Sans"/>
                <a:ea typeface="Alegreya Sans"/>
                <a:cs typeface="Alegreya Sans"/>
                <a:sym typeface="Alegreya Sans"/>
              </a:rPr>
              <a:t>and overcoming my own struggles…</a:t>
            </a:r>
            <a:endParaRPr/>
          </a:p>
          <a:p>
            <a:pPr indent="0" lvl="0" marL="0" marR="0" rtl="0" algn="ctr">
              <a:spcBef>
                <a:spcPts val="1800"/>
              </a:spcBef>
              <a:spcAft>
                <a:spcPts val="0"/>
              </a:spcAft>
              <a:buNone/>
            </a:pPr>
            <a:r>
              <a:rPr b="1" i="1" lang="en-GB" sz="2200" u="none" cap="none" strike="noStrike">
                <a:solidFill>
                  <a:srgbClr val="F79F83"/>
                </a:solidFill>
                <a:latin typeface="Libre Baskerville"/>
                <a:ea typeface="Libre Baskerville"/>
                <a:cs typeface="Libre Baskerville"/>
                <a:sym typeface="Libre Baskerville"/>
              </a:rPr>
              <a:t>here's what actually gets </a:t>
            </a:r>
            <a:r>
              <a:rPr b="1" i="1" lang="en-GB" sz="2200">
                <a:solidFill>
                  <a:srgbClr val="F79F83"/>
                </a:solidFill>
                <a:latin typeface="Libre Baskerville"/>
                <a:ea typeface="Libre Baskerville"/>
                <a:cs typeface="Libre Baskerville"/>
                <a:sym typeface="Libre Baskerville"/>
              </a:rPr>
              <a:t>women 45+</a:t>
            </a:r>
            <a:r>
              <a:rPr b="1" i="1" lang="en-GB" sz="2200" u="none" cap="none" strike="noStrike">
                <a:solidFill>
                  <a:srgbClr val="F79F83"/>
                </a:solidFill>
                <a:latin typeface="Libre Baskerville"/>
                <a:ea typeface="Libre Baskerville"/>
                <a:cs typeface="Libre Baskerville"/>
                <a:sym typeface="Libre Baskerville"/>
              </a:rPr>
              <a:t> the BEST results.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179" name="Shape 179"/>
        <p:cNvGrpSpPr/>
        <p:nvPr/>
      </p:nvGrpSpPr>
      <p:grpSpPr>
        <a:xfrm>
          <a:off x="0" y="0"/>
          <a:ext cx="0" cy="0"/>
          <a:chOff x="0" y="0"/>
          <a:chExt cx="0" cy="0"/>
        </a:xfrm>
      </p:grpSpPr>
      <p:sp>
        <p:nvSpPr>
          <p:cNvPr id="180" name="TextBox 179"/>
          <p:cNvSpPr txBox="1"/>
          <p:nvPr/>
        </p:nvSpPr>
        <p:spPr>
          <a:xfrm>
            <a:off x="457200" y="1700000"/>
            <a:ext cx="8229600" cy="1800000"/>
          </a:xfrm>
          <a:prstGeom prst="rect">
            <a:avLst/>
          </a:prstGeom>
          <a:noFill/>
        </p:spPr>
        <p:txBody>
          <a:bodyPr wrap="square" lIns="0" rIns="0" tIns="0" bIns="0" anchor="ctr"/>
          <a:lstStyle/>
          <a:p>
            <a:pPr algn="ctr">
              <a:spcAft>
                <a:spcPts val="1400"/>
              </a:spcAft>
            </a:pPr>
            <a:r>
              <a:rPr sz="4000" b="1" i="0">
                <a:solidFill>
                  <a:srgbClr val="003060"/>
                </a:solidFill>
                <a:latin typeface="Libre Baskerville"/>
              </a:rPr>
              <a:t>The Simple Fat Loss Formula</a:t>
            </a:r>
          </a:p>
          <a:p>
            <a:pPr algn="ctr"/>
            <a:r>
              <a:rPr sz="2400" b="1" i="1">
                <a:solidFill>
                  <a:srgbClr val="F79F83"/>
                </a:solidFill>
                <a:latin typeface="Libre Baskerville"/>
              </a:rPr>
              <a:t>Helping Women 45+ Lose Weight</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185" name="Shape 185"/>
        <p:cNvGrpSpPr/>
        <p:nvPr/>
      </p:nvGrpSpPr>
      <p:grpSpPr>
        <a:xfrm>
          <a:off x="0" y="0"/>
          <a:ext cx="0" cy="0"/>
          <a:chOff x="0" y="0"/>
          <a:chExt cx="0" cy="0"/>
        </a:xfrm>
      </p:grpSpPr>
      <p:sp>
        <p:nvSpPr>
          <p:cNvPr id="186" name="TextBox 185"/>
          <p:cNvSpPr txBox="1"/>
          <p:nvPr/>
        </p:nvSpPr>
        <p:spPr>
          <a:xfrm>
            <a:off x="457200" y="280000"/>
            <a:ext cx="8229600" cy="610000"/>
          </a:xfrm>
          <a:prstGeom prst="rect">
            <a:avLst/>
          </a:prstGeom>
          <a:noFill/>
        </p:spPr>
        <p:txBody>
          <a:bodyPr wrap="square" lIns="0" rIns="0" tIns="0" bIns="0" anchor="t"/>
          <a:lstStyle/>
          <a:p>
            <a:pPr algn="ctr"/>
            <a:r>
              <a:rPr sz="2800" b="1" i="0">
                <a:solidFill>
                  <a:srgbClr val="003060"/>
                </a:solidFill>
                <a:latin typeface="Libre Baskerville"/>
              </a:rPr>
              <a:t>My Background</a:t>
            </a:r>
          </a:p>
        </p:txBody>
      </p:sp>
      <p:sp>
        <p:nvSpPr>
          <p:cNvPr id="187" name="TextBox 186"/>
          <p:cNvSpPr txBox="1"/>
          <p:nvPr/>
        </p:nvSpPr>
        <p:spPr>
          <a:xfrm>
            <a:off x="457200" y="960000"/>
            <a:ext cx="8229600" cy="4003500"/>
          </a:xfrm>
          <a:prstGeom prst="rect">
            <a:avLst/>
          </a:prstGeom>
          <a:noFill/>
        </p:spPr>
        <p:txBody>
          <a:bodyPr wrap="square" lIns="0" rIns="0" tIns="0" bIns="0" anchor="ctr"/>
          <a:lstStyle/>
          <a:p>
            <a:pPr algn="ctr">
              <a:lnSpc>
                <a:spcPct val="130000"/>
              </a:lnSpc>
              <a:spcAft>
                <a:spcPts val="400"/>
              </a:spcAft>
            </a:pPr>
            <a:r>
              <a:rPr sz="1800" b="0" i="0">
                <a:solidFill>
                  <a:srgbClr val="003060"/>
                </a:solidFill>
                <a:latin typeface="Alegreya Sans"/>
              </a:rPr>
              <a:t>I did a 4-year degree at university, and a one-year internship</a:t>
            </a:r>
          </a:p>
          <a:p>
            <a:pPr algn="ctr">
              <a:lnSpc>
                <a:spcPct val="130000"/>
              </a:lnSpc>
              <a:spcAft>
                <a:spcPts val="2200"/>
              </a:spcAft>
            </a:pPr>
            <a:r>
              <a:rPr sz="1800" b="0" i="0">
                <a:solidFill>
                  <a:srgbClr val="003060"/>
                </a:solidFill>
                <a:latin typeface="Alegreya Sans"/>
              </a:rPr>
              <a:t>at The Institute For Public Health and the Environment in The Netherlands.</a:t>
            </a:r>
          </a:p>
          <a:p>
            <a:pPr algn="ctr">
              <a:spcAft>
                <a:spcPts val="600"/>
              </a:spcAft>
            </a:pPr>
            <a:r>
              <a:rPr sz="1800" b="0" i="1">
                <a:solidFill>
                  <a:srgbClr val="003060"/>
                </a:solidFill>
                <a:latin typeface="Alegreya Sans"/>
              </a:rPr>
              <a:t>Rather than staying in the corporate world,</a:t>
            </a:r>
          </a:p>
          <a:p>
            <a:pPr algn="ctr">
              <a:spcAft>
                <a:spcPts val="400"/>
              </a:spcAft>
            </a:pPr>
            <a:r>
              <a:rPr sz="2100" b="1" i="1">
                <a:solidFill>
                  <a:srgbClr val="F79F83"/>
                </a:solidFill>
                <a:latin typeface="Libre Baskerville"/>
              </a:rPr>
              <a:t>I decided I wanted to help clients achieve what I had done</a:t>
            </a:r>
          </a:p>
          <a:p>
            <a:pPr algn="ctr"/>
            <a:r>
              <a:rPr sz="2100" b="1" i="1">
                <a:solidFill>
                  <a:srgbClr val="F79F83"/>
                </a:solidFill>
                <a:latin typeface="Libre Baskerville"/>
              </a:rPr>
              <a:t>— without doing unrealistic diets that don't work anyway.</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191" name="Shape 191"/>
        <p:cNvGrpSpPr/>
        <p:nvPr/>
      </p:nvGrpSpPr>
      <p:grpSpPr>
        <a:xfrm>
          <a:off x="0" y="0"/>
          <a:ext cx="0" cy="0"/>
          <a:chOff x="0" y="0"/>
          <a:chExt cx="0" cy="0"/>
        </a:xfrm>
      </p:grpSpPr>
      <p:sp>
        <p:nvSpPr>
          <p:cNvPr id="192" name="TextBox 191"/>
          <p:cNvSpPr txBox="1"/>
          <p:nvPr/>
        </p:nvSpPr>
        <p:spPr>
          <a:xfrm>
            <a:off x="457200" y="280000"/>
            <a:ext cx="8229600" cy="610000"/>
          </a:xfrm>
          <a:prstGeom prst="rect">
            <a:avLst/>
          </a:prstGeom>
          <a:noFill/>
        </p:spPr>
        <p:txBody>
          <a:bodyPr wrap="square" lIns="0" rIns="0" tIns="0" bIns="0" anchor="t"/>
          <a:lstStyle/>
          <a:p>
            <a:pPr algn="ctr"/>
            <a:r>
              <a:rPr sz="2800" b="1" i="0">
                <a:solidFill>
                  <a:srgbClr val="003060"/>
                </a:solidFill>
                <a:latin typeface="Libre Baskerville"/>
              </a:rPr>
              <a:t>Enter The WLA Nutrition Formula</a:t>
            </a:r>
          </a:p>
        </p:txBody>
      </p:sp>
      <p:sp>
        <p:nvSpPr>
          <p:cNvPr id="193" name="TextBox 192"/>
          <p:cNvSpPr txBox="1"/>
          <p:nvPr/>
        </p:nvSpPr>
        <p:spPr>
          <a:xfrm>
            <a:off x="457200" y="960000"/>
            <a:ext cx="8229600" cy="4003500"/>
          </a:xfrm>
          <a:prstGeom prst="rect">
            <a:avLst/>
          </a:prstGeom>
          <a:noFill/>
        </p:spPr>
        <p:txBody>
          <a:bodyPr wrap="square" lIns="0" rIns="0" tIns="0" bIns="0" anchor="ctr"/>
          <a:lstStyle/>
          <a:p>
            <a:pPr algn="ctr">
              <a:lnSpc>
                <a:spcPct val="130000"/>
              </a:lnSpc>
              <a:spcAft>
                <a:spcPts val="1800"/>
              </a:spcAft>
            </a:pPr>
            <a:r>
              <a:rPr sz="1900" b="0" i="0">
                <a:solidFill>
                  <a:srgbClr val="003060"/>
                </a:solidFill>
                <a:latin typeface="Alegreya Sans"/>
              </a:rPr>
              <a:t>But I needed a way to explain to my clients what I had learned myself.</a:t>
            </a:r>
          </a:p>
          <a:p>
            <a:pPr algn="ctr">
              <a:spcAft>
                <a:spcPts val="400"/>
              </a:spcAft>
            </a:pPr>
            <a:r>
              <a:rPr sz="2000" b="1" i="1">
                <a:solidFill>
                  <a:srgbClr val="F79F83"/>
                </a:solidFill>
                <a:latin typeface="Libre Baskerville"/>
              </a:rPr>
              <a:t>How could I teach my clients about the nutrition that got me to my goal,</a:t>
            </a:r>
          </a:p>
          <a:p>
            <a:pPr algn="ctr"/>
            <a:r>
              <a:rPr sz="2000" b="1" i="1">
                <a:solidFill>
                  <a:srgbClr val="F79F83"/>
                </a:solidFill>
                <a:latin typeface="Libre Baskerville"/>
              </a:rPr>
              <a:t>so they can reach theirs?</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197" name="Shape 197"/>
        <p:cNvGrpSpPr/>
        <p:nvPr/>
      </p:nvGrpSpPr>
      <p:grpSpPr>
        <a:xfrm>
          <a:off x="0" y="0"/>
          <a:ext cx="0" cy="0"/>
          <a:chOff x="0" y="0"/>
          <a:chExt cx="0" cy="0"/>
        </a:xfrm>
      </p:grpSpPr>
      <p:sp>
        <p:nvSpPr>
          <p:cNvPr id="198" name="TextBox 197"/>
          <p:cNvSpPr txBox="1"/>
          <p:nvPr/>
        </p:nvSpPr>
        <p:spPr>
          <a:xfrm>
            <a:off x="457200" y="280000"/>
            <a:ext cx="8229600" cy="610000"/>
          </a:xfrm>
          <a:prstGeom prst="rect">
            <a:avLst/>
          </a:prstGeom>
          <a:noFill/>
        </p:spPr>
        <p:txBody>
          <a:bodyPr wrap="square" lIns="0" rIns="0" tIns="0" bIns="0" anchor="t"/>
          <a:lstStyle/>
          <a:p>
            <a:pPr algn="ctr"/>
            <a:r>
              <a:rPr sz="2800" b="1" i="0">
                <a:solidFill>
                  <a:srgbClr val="003060"/>
                </a:solidFill>
                <a:latin typeface="Libre Baskerville"/>
              </a:rPr>
              <a:t>What Is The WLA Nutrition Formula</a:t>
            </a:r>
          </a:p>
        </p:txBody>
      </p:sp>
      <p:sp>
        <p:nvSpPr>
          <p:cNvPr id="199" name="TextBox 198"/>
          <p:cNvSpPr txBox="1"/>
          <p:nvPr/>
        </p:nvSpPr>
        <p:spPr>
          <a:xfrm>
            <a:off x="457200" y="960000"/>
            <a:ext cx="8229600" cy="4003500"/>
          </a:xfrm>
          <a:prstGeom prst="rect">
            <a:avLst/>
          </a:prstGeom>
          <a:noFill/>
        </p:spPr>
        <p:txBody>
          <a:bodyPr wrap="square" lIns="0" rIns="0" tIns="0" bIns="0" anchor="ctr"/>
          <a:lstStyle/>
          <a:p>
            <a:pPr algn="ctr">
              <a:spcAft>
                <a:spcPts val="1800"/>
              </a:spcAft>
            </a:pPr>
            <a:r>
              <a:rPr sz="1600" b="0" i="1">
                <a:solidFill>
                  <a:srgbClr val="003060"/>
                </a:solidFill>
                <a:latin typeface="Alegreya Sans"/>
              </a:rPr>
              <a:t>At university I learned how to create meal guides using recommended portion sizes.</a:t>
            </a:r>
          </a:p>
          <a:p>
            <a:pPr algn="ctr">
              <a:spcAft>
                <a:spcPts val="800"/>
              </a:spcAft>
            </a:pPr>
            <a:r>
              <a:rPr sz="1600" b="0" i="0">
                <a:solidFill>
                  <a:srgbClr val="003060"/>
                </a:solidFill>
                <a:latin typeface="Alegreya Sans"/>
              </a:rPr>
              <a:t>✦  Most people are eating too much food — portions are the problem</a:t>
            </a:r>
          </a:p>
          <a:p>
            <a:pPr algn="ctr">
              <a:spcAft>
                <a:spcPts val="800"/>
              </a:spcAft>
            </a:pPr>
            <a:r>
              <a:rPr sz="1600" b="0" i="0">
                <a:solidFill>
                  <a:srgbClr val="003060"/>
                </a:solidFill>
                <a:latin typeface="Alegreya Sans"/>
              </a:rPr>
              <a:t>✦  Portion food properly</a:t>
            </a:r>
          </a:p>
          <a:p>
            <a:pPr algn="ctr">
              <a:spcAft>
                <a:spcPts val="800"/>
              </a:spcAft>
            </a:pPr>
            <a:r>
              <a:rPr sz="1600" b="0" i="0">
                <a:solidFill>
                  <a:srgbClr val="003060"/>
                </a:solidFill>
                <a:latin typeface="Alegreya Sans"/>
              </a:rPr>
              <a:t>✦  Balance meals effectively — don't have a sandwich for lunch AND pasta for dinner</a:t>
            </a:r>
          </a:p>
          <a:p>
            <a:pPr algn="ctr">
              <a:spcAft>
                <a:spcPts val="800"/>
              </a:spcAft>
            </a:pPr>
            <a:r>
              <a:rPr sz="1600" b="0" i="0">
                <a:solidFill>
                  <a:srgbClr val="003060"/>
                </a:solidFill>
                <a:latin typeface="Alegreya Sans"/>
              </a:rPr>
              <a:t>✦  Ensure each meal has a protein element</a:t>
            </a:r>
          </a:p>
          <a:p>
            <a:pPr algn="ctr">
              <a:spcAft>
                <a:spcPts val="800"/>
              </a:spcAft>
            </a:pPr>
            <a:r>
              <a:rPr sz="1600" b="0" i="0">
                <a:solidFill>
                  <a:srgbClr val="003060"/>
                </a:solidFill>
                <a:latin typeface="Alegreya Sans"/>
              </a:rPr>
              <a:t>✦  Bulk up meals with high-fibre foods</a:t>
            </a:r>
          </a:p>
          <a:p>
            <a:pPr algn="ctr"/>
            <a:r>
              <a:rPr sz="1600" b="0" i="0">
                <a:solidFill>
                  <a:srgbClr val="003060"/>
                </a:solidFill>
                <a:latin typeface="Alegreya Sans"/>
              </a:rPr>
              <a:t>✦  Aim for 80% consistency, allow a weekly indulgence</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204" name="Shape 204"/>
        <p:cNvGrpSpPr/>
        <p:nvPr/>
      </p:nvGrpSpPr>
      <p:grpSpPr>
        <a:xfrm>
          <a:off x="0" y="0"/>
          <a:ext cx="0" cy="0"/>
          <a:chOff x="0" y="0"/>
          <a:chExt cx="0" cy="0"/>
        </a:xfrm>
      </p:grpSpPr>
      <p:sp>
        <p:nvSpPr>
          <p:cNvPr id="205" name="TextBox 204"/>
          <p:cNvSpPr txBox="1"/>
          <p:nvPr/>
        </p:nvSpPr>
        <p:spPr>
          <a:xfrm>
            <a:off x="457200" y="280000"/>
            <a:ext cx="8229600" cy="610000"/>
          </a:xfrm>
          <a:prstGeom prst="rect">
            <a:avLst/>
          </a:prstGeom>
          <a:noFill/>
        </p:spPr>
        <p:txBody>
          <a:bodyPr wrap="square" lIns="0" rIns="0" tIns="0" bIns="0" anchor="t"/>
          <a:lstStyle/>
          <a:p>
            <a:pPr algn="ctr"/>
            <a:r>
              <a:rPr sz="2800" b="1" i="0">
                <a:solidFill>
                  <a:srgbClr val="003060"/>
                </a:solidFill>
                <a:latin typeface="Libre Baskerville"/>
              </a:rPr>
              <a:t>The WLA Nutrition Formula</a:t>
            </a:r>
          </a:p>
        </p:txBody>
      </p:sp>
      <p:graphicFrame>
        <p:nvGraphicFramePr>
          <p:cNvPr id="206" name="Table 205"/>
          <p:cNvGraphicFramePr>
            <a:graphicFrameLocks noGrp="1"/>
          </p:cNvGraphicFramePr>
          <p:nvPr/>
        </p:nvGraphicFramePr>
        <p:xfrm>
          <a:off x="457200" y="1100000"/>
          <a:ext cx="8229600" cy="2400000"/>
        </p:xfrm>
        <a:graphic>
          <a:graphicData uri="http://schemas.openxmlformats.org/drawingml/2006/table">
            <a:tbl>
              <a:tblPr firstRow="1" bandRow="1">
                <a:tableStyleId>{5C22544A-7EE6-4342-B048-85BDC9FD1C3A}</a:tableStyleId>
              </a:tblPr>
              <a:tblGrid>
                <a:gridCol w="1175657"/>
                <a:gridCol w="1175657"/>
                <a:gridCol w="1175657"/>
                <a:gridCol w="1175657"/>
                <a:gridCol w="1175657"/>
                <a:gridCol w="1175657"/>
                <a:gridCol w="1175658"/>
              </a:tblGrid>
              <a:tr h="600000">
                <a:tc>
                  <a:txBody>
                    <a:bodyPr wrap="square"/>
                    <a:lstStyle/>
                    <a:p>
                      <a:pPr algn="ctr"/>
                      <a:r>
                        <a:rPr sz="1200" b="1">
                          <a:solidFill>
                            <a:srgbClr val="FFFFFF"/>
                          </a:solidFill>
                          <a:latin typeface="Libre Baskerville"/>
                        </a:rPr>
                        <a:t>Mon</a:t>
                      </a:r>
                    </a:p>
                  </a:txBody>
                  <a:tcPr marL="76200" marR="76200" marT="50800" marB="50800">
                    <a:solidFill>
                      <a:srgbClr val="003060"/>
                    </a:solidFill>
                  </a:tcPr>
                </a:tc>
                <a:tc>
                  <a:txBody>
                    <a:bodyPr wrap="square"/>
                    <a:lstStyle/>
                    <a:p>
                      <a:pPr algn="ctr"/>
                      <a:r>
                        <a:rPr sz="1200" b="1">
                          <a:solidFill>
                            <a:srgbClr val="FFFFFF"/>
                          </a:solidFill>
                          <a:latin typeface="Libre Baskerville"/>
                        </a:rPr>
                        <a:t>Tue</a:t>
                      </a:r>
                    </a:p>
                  </a:txBody>
                  <a:tcPr marL="76200" marR="76200" marT="50800" marB="50800">
                    <a:solidFill>
                      <a:srgbClr val="003060"/>
                    </a:solidFill>
                  </a:tcPr>
                </a:tc>
                <a:tc>
                  <a:txBody>
                    <a:bodyPr wrap="square"/>
                    <a:lstStyle/>
                    <a:p>
                      <a:pPr algn="ctr"/>
                      <a:r>
                        <a:rPr sz="1200" b="1">
                          <a:solidFill>
                            <a:srgbClr val="FFFFFF"/>
                          </a:solidFill>
                          <a:latin typeface="Libre Baskerville"/>
                        </a:rPr>
                        <a:t>Wed</a:t>
                      </a:r>
                    </a:p>
                  </a:txBody>
                  <a:tcPr marL="76200" marR="76200" marT="50800" marB="50800">
                    <a:solidFill>
                      <a:srgbClr val="003060"/>
                    </a:solidFill>
                  </a:tcPr>
                </a:tc>
                <a:tc>
                  <a:txBody>
                    <a:bodyPr wrap="square"/>
                    <a:lstStyle/>
                    <a:p>
                      <a:pPr algn="ctr"/>
                      <a:r>
                        <a:rPr sz="1200" b="1">
                          <a:solidFill>
                            <a:srgbClr val="FFFFFF"/>
                          </a:solidFill>
                          <a:latin typeface="Libre Baskerville"/>
                        </a:rPr>
                        <a:t>Thu</a:t>
                      </a:r>
                    </a:p>
                  </a:txBody>
                  <a:tcPr marL="76200" marR="76200" marT="50800" marB="50800">
                    <a:solidFill>
                      <a:srgbClr val="003060"/>
                    </a:solidFill>
                  </a:tcPr>
                </a:tc>
                <a:tc>
                  <a:txBody>
                    <a:bodyPr wrap="square"/>
                    <a:lstStyle/>
                    <a:p>
                      <a:pPr algn="ctr"/>
                      <a:r>
                        <a:rPr sz="1200" b="1">
                          <a:solidFill>
                            <a:srgbClr val="FFFFFF"/>
                          </a:solidFill>
                          <a:latin typeface="Libre Baskerville"/>
                        </a:rPr>
                        <a:t>Fri</a:t>
                      </a:r>
                    </a:p>
                  </a:txBody>
                  <a:tcPr marL="76200" marR="76200" marT="50800" marB="50800">
                    <a:solidFill>
                      <a:srgbClr val="003060"/>
                    </a:solidFill>
                  </a:tcPr>
                </a:tc>
                <a:tc>
                  <a:txBody>
                    <a:bodyPr wrap="square"/>
                    <a:lstStyle/>
                    <a:p>
                      <a:pPr algn="ctr"/>
                      <a:r>
                        <a:rPr sz="1200" b="1">
                          <a:solidFill>
                            <a:srgbClr val="FFFFFF"/>
                          </a:solidFill>
                          <a:latin typeface="Libre Baskerville"/>
                        </a:rPr>
                        <a:t>Sat</a:t>
                      </a:r>
                    </a:p>
                  </a:txBody>
                  <a:tcPr marL="76200" marR="76200" marT="50800" marB="50800">
                    <a:solidFill>
                      <a:srgbClr val="003060"/>
                    </a:solidFill>
                  </a:tcPr>
                </a:tc>
                <a:tc>
                  <a:txBody>
                    <a:bodyPr wrap="square"/>
                    <a:lstStyle/>
                    <a:p>
                      <a:pPr algn="ctr"/>
                      <a:r>
                        <a:rPr sz="1200" b="1">
                          <a:solidFill>
                            <a:srgbClr val="FFFFFF"/>
                          </a:solidFill>
                          <a:latin typeface="Libre Baskerville"/>
                        </a:rPr>
                        <a:t>Sun</a:t>
                      </a:r>
                    </a:p>
                  </a:txBody>
                  <a:tcPr marL="76200" marR="76200" marT="50800" marB="50800">
                    <a:solidFill>
                      <a:srgbClr val="003060"/>
                    </a:solidFill>
                  </a:tcPr>
                </a:tc>
              </a:tr>
              <a:tr h="600000">
                <a:tc>
                  <a:txBody>
                    <a:bodyPr wrap="square"/>
                    <a:lstStyle/>
                    <a:p>
                      <a:pPr algn="l"/>
                      <a:r>
                        <a:rPr sz="1100">
                          <a:solidFill>
                            <a:srgbClr val="003060"/>
                          </a:solidFill>
                          <a:latin typeface="Alegreya Sans"/>
                        </a:rPr>
                        <a:t>LC or HC</a:t>
                      </a:r>
                    </a:p>
                  </a:txBody>
                  <a:tcPr marL="76200" marR="76200" marT="50800" marB="50800">
                    <a:solidFill>
                      <a:srgbClr val="FFFFFF"/>
                    </a:solidFill>
                  </a:tcPr>
                </a:tc>
                <a:tc>
                  <a:txBody>
                    <a:bodyPr wrap="square"/>
                    <a:lstStyle/>
                    <a:p>
                      <a:pPr algn="ctr"/>
                      <a:r>
                        <a:rPr sz="1100">
                          <a:solidFill>
                            <a:srgbClr val="003060"/>
                          </a:solidFill>
                          <a:latin typeface="Alegreya Sans"/>
                        </a:rPr>
                        <a:t>LC or HC</a:t>
                      </a:r>
                    </a:p>
                  </a:txBody>
                  <a:tcPr marL="76200" marR="76200" marT="50800" marB="50800">
                    <a:solidFill>
                      <a:srgbClr val="FFFFFF"/>
                    </a:solidFill>
                  </a:tcPr>
                </a:tc>
                <a:tc>
                  <a:txBody>
                    <a:bodyPr wrap="square"/>
                    <a:lstStyle/>
                    <a:p>
                      <a:pPr algn="ctr"/>
                      <a:r>
                        <a:rPr sz="1100">
                          <a:solidFill>
                            <a:srgbClr val="003060"/>
                          </a:solidFill>
                          <a:latin typeface="Alegreya Sans"/>
                        </a:rPr>
                        <a:t>LC or HC</a:t>
                      </a:r>
                    </a:p>
                  </a:txBody>
                  <a:tcPr marL="76200" marR="76200" marT="50800" marB="50800">
                    <a:solidFill>
                      <a:srgbClr val="FFFFFF"/>
                    </a:solidFill>
                  </a:tcPr>
                </a:tc>
                <a:tc>
                  <a:txBody>
                    <a:bodyPr wrap="square"/>
                    <a:lstStyle/>
                    <a:p>
                      <a:pPr algn="ctr"/>
                      <a:r>
                        <a:rPr sz="1100">
                          <a:solidFill>
                            <a:srgbClr val="003060"/>
                          </a:solidFill>
                          <a:latin typeface="Alegreya Sans"/>
                        </a:rPr>
                        <a:t>LC or HC</a:t>
                      </a:r>
                    </a:p>
                  </a:txBody>
                  <a:tcPr marL="76200" marR="76200" marT="50800" marB="50800">
                    <a:solidFill>
                      <a:srgbClr val="FFFFFF"/>
                    </a:solidFill>
                  </a:tcPr>
                </a:tc>
                <a:tc>
                  <a:txBody>
                    <a:bodyPr wrap="square"/>
                    <a:lstStyle/>
                    <a:p>
                      <a:pPr algn="ctr"/>
                      <a:r>
                        <a:rPr sz="1100">
                          <a:solidFill>
                            <a:srgbClr val="003060"/>
                          </a:solidFill>
                          <a:latin typeface="Alegreya Sans"/>
                        </a:rPr>
                        <a:t>LC or HC</a:t>
                      </a:r>
                    </a:p>
                  </a:txBody>
                  <a:tcPr marL="76200" marR="76200" marT="50800" marB="50800">
                    <a:solidFill>
                      <a:srgbClr val="FFFFFF"/>
                    </a:solidFill>
                  </a:tcPr>
                </a:tc>
                <a:tc>
                  <a:txBody>
                    <a:bodyPr wrap="square"/>
                    <a:lstStyle/>
                    <a:p>
                      <a:pPr algn="ctr"/>
                      <a:r>
                        <a:rPr sz="1100">
                          <a:solidFill>
                            <a:srgbClr val="003060"/>
                          </a:solidFill>
                          <a:latin typeface="Alegreya Sans"/>
                        </a:rPr>
                        <a:t>LC or HC</a:t>
                      </a:r>
                    </a:p>
                  </a:txBody>
                  <a:tcPr marL="76200" marR="76200" marT="50800" marB="50800">
                    <a:solidFill>
                      <a:srgbClr val="FFFFFF"/>
                    </a:solidFill>
                  </a:tcPr>
                </a:tc>
                <a:tc>
                  <a:txBody>
                    <a:bodyPr wrap="square"/>
                    <a:lstStyle/>
                    <a:p>
                      <a:pPr algn="ctr"/>
                      <a:r>
                        <a:rPr sz="1100">
                          <a:solidFill>
                            <a:srgbClr val="003060"/>
                          </a:solidFill>
                          <a:latin typeface="Alegreya Sans"/>
                        </a:rPr>
                        <a:t>LC or HC</a:t>
                      </a:r>
                    </a:p>
                  </a:txBody>
                  <a:tcPr marL="76200" marR="76200" marT="50800" marB="50800">
                    <a:solidFill>
                      <a:srgbClr val="FFFFFF"/>
                    </a:solidFill>
                  </a:tcPr>
                </a:tc>
              </a:tr>
              <a:tr h="600000">
                <a:tc>
                  <a:txBody>
                    <a:bodyPr wrap="square"/>
                    <a:lstStyle/>
                    <a:p>
                      <a:pPr algn="l"/>
                      <a:r>
                        <a:rPr sz="1100">
                          <a:solidFill>
                            <a:srgbClr val="003060"/>
                          </a:solidFill>
                          <a:latin typeface="Alegreya Sans"/>
                        </a:rPr>
                        <a:t>Low Carb</a:t>
                      </a:r>
                    </a:p>
                  </a:txBody>
                  <a:tcPr marL="76200" marR="76200" marT="50800" marB="50800">
                    <a:solidFill>
                      <a:srgbClr val="FDEEE7"/>
                    </a:solidFill>
                  </a:tcPr>
                </a:tc>
                <a:tc>
                  <a:txBody>
                    <a:bodyPr wrap="square"/>
                    <a:lstStyle/>
                    <a:p>
                      <a:pPr algn="ctr"/>
                      <a:r>
                        <a:rPr sz="1100">
                          <a:solidFill>
                            <a:srgbClr val="003060"/>
                          </a:solidFill>
                          <a:latin typeface="Alegreya Sans"/>
                        </a:rPr>
                        <a:t>Low Carb</a:t>
                      </a:r>
                    </a:p>
                  </a:txBody>
                  <a:tcPr marL="76200" marR="76200" marT="50800" marB="50800">
                    <a:solidFill>
                      <a:srgbClr val="FDEEE7"/>
                    </a:solidFill>
                  </a:tcPr>
                </a:tc>
                <a:tc>
                  <a:txBody>
                    <a:bodyPr wrap="square"/>
                    <a:lstStyle/>
                    <a:p>
                      <a:pPr algn="ctr"/>
                      <a:r>
                        <a:rPr sz="1100">
                          <a:solidFill>
                            <a:srgbClr val="003060"/>
                          </a:solidFill>
                          <a:latin typeface="Alegreya Sans"/>
                        </a:rPr>
                        <a:t>Low Carb</a:t>
                      </a:r>
                    </a:p>
                  </a:txBody>
                  <a:tcPr marL="76200" marR="76200" marT="50800" marB="50800">
                    <a:solidFill>
                      <a:srgbClr val="FDEEE7"/>
                    </a:solidFill>
                  </a:tcPr>
                </a:tc>
                <a:tc>
                  <a:txBody>
                    <a:bodyPr wrap="square"/>
                    <a:lstStyle/>
                    <a:p>
                      <a:pPr algn="ctr"/>
                      <a:r>
                        <a:rPr sz="1100">
                          <a:solidFill>
                            <a:srgbClr val="003060"/>
                          </a:solidFill>
                          <a:latin typeface="Alegreya Sans"/>
                        </a:rPr>
                        <a:t>Low Carb</a:t>
                      </a:r>
                    </a:p>
                  </a:txBody>
                  <a:tcPr marL="76200" marR="76200" marT="50800" marB="50800">
                    <a:solidFill>
                      <a:srgbClr val="FDEEE7"/>
                    </a:solidFill>
                  </a:tcPr>
                </a:tc>
                <a:tc>
                  <a:txBody>
                    <a:bodyPr wrap="square"/>
                    <a:lstStyle/>
                    <a:p>
                      <a:pPr algn="ctr"/>
                      <a:r>
                        <a:rPr sz="1100">
                          <a:solidFill>
                            <a:srgbClr val="003060"/>
                          </a:solidFill>
                          <a:latin typeface="Alegreya Sans"/>
                        </a:rPr>
                        <a:t>Low Carb</a:t>
                      </a:r>
                    </a:p>
                  </a:txBody>
                  <a:tcPr marL="76200" marR="76200" marT="50800" marB="50800">
                    <a:solidFill>
                      <a:srgbClr val="FDEEE7"/>
                    </a:solidFill>
                  </a:tcPr>
                </a:tc>
                <a:tc>
                  <a:txBody>
                    <a:bodyPr wrap="square"/>
                    <a:lstStyle/>
                    <a:p>
                      <a:pPr algn="ctr"/>
                      <a:r>
                        <a:rPr sz="1100">
                          <a:solidFill>
                            <a:srgbClr val="003060"/>
                          </a:solidFill>
                          <a:latin typeface="Alegreya Sans"/>
                        </a:rPr>
                        <a:t>Low Carb</a:t>
                      </a:r>
                    </a:p>
                  </a:txBody>
                  <a:tcPr marL="76200" marR="76200" marT="50800" marB="50800">
                    <a:solidFill>
                      <a:srgbClr val="FDEEE7"/>
                    </a:solidFill>
                  </a:tcPr>
                </a:tc>
                <a:tc>
                  <a:txBody>
                    <a:bodyPr wrap="square"/>
                    <a:lstStyle/>
                    <a:p>
                      <a:pPr algn="ctr"/>
                      <a:r>
                        <a:rPr sz="1100">
                          <a:solidFill>
                            <a:srgbClr val="003060"/>
                          </a:solidFill>
                          <a:latin typeface="Alegreya Sans"/>
                        </a:rPr>
                        <a:t>Low Carb</a:t>
                      </a:r>
                    </a:p>
                  </a:txBody>
                  <a:tcPr marL="76200" marR="76200" marT="50800" marB="50800">
                    <a:solidFill>
                      <a:srgbClr val="FDEEE7"/>
                    </a:solidFill>
                  </a:tcPr>
                </a:tc>
              </a:tr>
              <a:tr h="600000">
                <a:tc>
                  <a:txBody>
                    <a:bodyPr wrap="square"/>
                    <a:lstStyle/>
                    <a:p>
                      <a:pPr algn="l"/>
                      <a:r>
                        <a:rPr sz="1100">
                          <a:solidFill>
                            <a:srgbClr val="003060"/>
                          </a:solidFill>
                          <a:latin typeface="Alegreya Sans"/>
                        </a:rPr>
                        <a:t>High Carb</a:t>
                      </a:r>
                    </a:p>
                  </a:txBody>
                  <a:tcPr marL="76200" marR="76200" marT="50800" marB="50800">
                    <a:solidFill>
                      <a:srgbClr val="FFFFFF"/>
                    </a:solidFill>
                  </a:tcPr>
                </a:tc>
                <a:tc>
                  <a:txBody>
                    <a:bodyPr wrap="square"/>
                    <a:lstStyle/>
                    <a:p>
                      <a:pPr algn="ctr"/>
                      <a:r>
                        <a:rPr sz="1100">
                          <a:solidFill>
                            <a:srgbClr val="003060"/>
                          </a:solidFill>
                          <a:latin typeface="Alegreya Sans"/>
                        </a:rPr>
                        <a:t>High Carb</a:t>
                      </a:r>
                    </a:p>
                  </a:txBody>
                  <a:tcPr marL="76200" marR="76200" marT="50800" marB="50800">
                    <a:solidFill>
                      <a:srgbClr val="FFFFFF"/>
                    </a:solidFill>
                  </a:tcPr>
                </a:tc>
                <a:tc>
                  <a:txBody>
                    <a:bodyPr wrap="square"/>
                    <a:lstStyle/>
                    <a:p>
                      <a:pPr algn="ctr"/>
                      <a:r>
                        <a:rPr sz="1100">
                          <a:solidFill>
                            <a:srgbClr val="003060"/>
                          </a:solidFill>
                          <a:latin typeface="Alegreya Sans"/>
                        </a:rPr>
                        <a:t>High Carb</a:t>
                      </a:r>
                    </a:p>
                  </a:txBody>
                  <a:tcPr marL="76200" marR="76200" marT="50800" marB="50800">
                    <a:solidFill>
                      <a:srgbClr val="FFFFFF"/>
                    </a:solidFill>
                  </a:tcPr>
                </a:tc>
                <a:tc>
                  <a:txBody>
                    <a:bodyPr wrap="square"/>
                    <a:lstStyle/>
                    <a:p>
                      <a:pPr algn="ctr"/>
                      <a:r>
                        <a:rPr sz="1100">
                          <a:solidFill>
                            <a:srgbClr val="003060"/>
                          </a:solidFill>
                          <a:latin typeface="Alegreya Sans"/>
                        </a:rPr>
                        <a:t>High Carb</a:t>
                      </a:r>
                    </a:p>
                  </a:txBody>
                  <a:tcPr marL="76200" marR="76200" marT="50800" marB="50800">
                    <a:solidFill>
                      <a:srgbClr val="FFFFFF"/>
                    </a:solidFill>
                  </a:tcPr>
                </a:tc>
                <a:tc>
                  <a:txBody>
                    <a:bodyPr wrap="square"/>
                    <a:lstStyle/>
                    <a:p>
                      <a:pPr algn="ctr"/>
                      <a:r>
                        <a:rPr sz="1100">
                          <a:solidFill>
                            <a:srgbClr val="003060"/>
                          </a:solidFill>
                          <a:latin typeface="Alegreya Sans"/>
                        </a:rPr>
                        <a:t>High Carb</a:t>
                      </a:r>
                    </a:p>
                  </a:txBody>
                  <a:tcPr marL="76200" marR="76200" marT="50800" marB="50800">
                    <a:solidFill>
                      <a:srgbClr val="FFFFFF"/>
                    </a:solidFill>
                  </a:tcPr>
                </a:tc>
                <a:tc>
                  <a:txBody>
                    <a:bodyPr wrap="square"/>
                    <a:lstStyle/>
                    <a:p>
                      <a:pPr algn="ctr"/>
                      <a:r>
                        <a:rPr sz="1100">
                          <a:solidFill>
                            <a:srgbClr val="003060"/>
                          </a:solidFill>
                          <a:latin typeface="Alegreya Sans"/>
                        </a:rPr>
                        <a:t>High Carb</a:t>
                      </a:r>
                    </a:p>
                  </a:txBody>
                  <a:tcPr marL="76200" marR="76200" marT="50800" marB="50800">
                    <a:solidFill>
                      <a:srgbClr val="FFFFFF"/>
                    </a:solidFill>
                  </a:tcPr>
                </a:tc>
                <a:tc>
                  <a:txBody>
                    <a:bodyPr wrap="square"/>
                    <a:lstStyle/>
                    <a:p>
                      <a:pPr algn="ctr"/>
                      <a:r>
                        <a:rPr sz="1100">
                          <a:solidFill>
                            <a:srgbClr val="003060"/>
                          </a:solidFill>
                          <a:latin typeface="Alegreya Sans"/>
                        </a:rPr>
                        <a:t>High Carb</a:t>
                      </a:r>
                    </a:p>
                  </a:txBody>
                  <a:tcPr marL="76200" marR="76200" marT="50800" marB="50800">
                    <a:solidFill>
                      <a:srgbClr val="FFFFFF"/>
                    </a:solidFill>
                  </a:tcPr>
                </a:tc>
              </a:tr>
            </a:tbl>
          </a:graphicData>
        </a:graphic>
      </p:graphicFrame>
      <p:sp>
        <p:nvSpPr>
          <p:cNvPr id="207" name="TextBox 206"/>
          <p:cNvSpPr txBox="1"/>
          <p:nvPr/>
        </p:nvSpPr>
        <p:spPr>
          <a:xfrm>
            <a:off x="457200" y="3700000"/>
            <a:ext cx="8229600" cy="1100000"/>
          </a:xfrm>
          <a:prstGeom prst="rect">
            <a:avLst/>
          </a:prstGeom>
          <a:noFill/>
        </p:spPr>
        <p:txBody>
          <a:bodyPr wrap="square" lIns="0" rIns="0" tIns="0" bIns="0" anchor="t"/>
          <a:lstStyle/>
          <a:p>
            <a:pPr algn="ctr">
              <a:spcAft>
                <a:spcPts val="400"/>
              </a:spcAft>
            </a:pPr>
            <a:r>
              <a:rPr sz="1400" b="1" i="1">
                <a:solidFill>
                  <a:srgbClr val="F79F83"/>
                </a:solidFill>
                <a:latin typeface="Libre Baskerville"/>
              </a:rPr>
              <a:t>** LC or HC – Breakfast</a:t>
            </a:r>
            <a:r>
              <a:rPr sz="1400" b="0" i="0">
                <a:solidFill>
                  <a:srgbClr val="003060"/>
                </a:solidFill>
                <a:latin typeface="Alegreya Sans"/>
              </a:rPr>
              <a:t> — Smoothie or Porridge</a:t>
            </a:r>
          </a:p>
          <a:p>
            <a:pPr algn="ctr">
              <a:spcAft>
                <a:spcPts val="400"/>
              </a:spcAft>
            </a:pPr>
            <a:r>
              <a:rPr sz="1400" b="1" i="1">
                <a:solidFill>
                  <a:srgbClr val="F79F83"/>
                </a:solidFill>
                <a:latin typeface="Libre Baskerville"/>
              </a:rPr>
              <a:t>** Low Carb / High Protein</a:t>
            </a:r>
            <a:r>
              <a:rPr sz="1400" b="0" i="0">
                <a:solidFill>
                  <a:srgbClr val="003060"/>
                </a:solidFill>
                <a:latin typeface="Alegreya Sans"/>
              </a:rPr>
              <a:t> — Omelette / Salad</a:t>
            </a:r>
          </a:p>
          <a:p>
            <a:pPr algn="ctr"/>
            <a:r>
              <a:rPr sz="1400" b="1" i="1">
                <a:solidFill>
                  <a:srgbClr val="F79F83"/>
                </a:solidFill>
                <a:latin typeface="Libre Baskerville"/>
              </a:rPr>
              <a:t>** High Carb</a:t>
            </a:r>
            <a:r>
              <a:rPr sz="1400" b="0" i="0">
                <a:solidFill>
                  <a:srgbClr val="003060"/>
                </a:solidFill>
                <a:latin typeface="Alegreya Sans"/>
              </a:rPr>
              <a:t> — Pasta / Rice / Roast</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a:effectLst/>
      </p:bgPr>
    </p:bg>
    <p:spTree>
      <p:nvGrpSpPr>
        <p:cNvPr id="212" name="Shape 212"/>
        <p:cNvGrpSpPr/>
        <p:nvPr/>
      </p:nvGrpSpPr>
      <p:grpSpPr>
        <a:xfrm>
          <a:off x="0" y="0"/>
          <a:ext cx="0" cy="0"/>
          <a:chOff x="0" y="0"/>
          <a:chExt cx="0" cy="0"/>
        </a:xfrm>
      </p:grpSpPr>
      <p:sp>
        <p:nvSpPr>
          <p:cNvPr id="213" name="TextBox 212"/>
          <p:cNvSpPr txBox="1"/>
          <p:nvPr/>
        </p:nvSpPr>
        <p:spPr>
          <a:xfrm>
            <a:off x="457200" y="280000"/>
            <a:ext cx="8229600" cy="610000"/>
          </a:xfrm>
          <a:prstGeom prst="rect">
            <a:avLst/>
          </a:prstGeom>
          <a:noFill/>
        </p:spPr>
        <p:txBody>
          <a:bodyPr wrap="square" lIns="0" rIns="0" tIns="0" bIns="0" anchor="t"/>
          <a:lstStyle/>
          <a:p>
            <a:pPr algn="ctr"/>
            <a:r>
              <a:rPr sz="2800" b="1" i="0">
                <a:solidFill>
                  <a:srgbClr val="003060"/>
                </a:solidFill>
                <a:latin typeface="Libre Baskerville"/>
              </a:rPr>
              <a:t>Overall Nutrition + Weekend Solution</a:t>
            </a:r>
          </a:p>
        </p:txBody>
      </p:sp>
      <p:graphicFrame>
        <p:nvGraphicFramePr>
          <p:cNvPr id="214" name="Table 213"/>
          <p:cNvGraphicFramePr>
            <a:graphicFrameLocks noGrp="1"/>
          </p:cNvGraphicFramePr>
          <p:nvPr/>
        </p:nvGraphicFramePr>
        <p:xfrm>
          <a:off x="300000" y="1100000"/>
          <a:ext cx="8544000" cy="3700000"/>
        </p:xfrm>
        <a:graphic>
          <a:graphicData uri="http://schemas.openxmlformats.org/drawingml/2006/table">
            <a:tbl>
              <a:tblPr firstRow="1" bandRow="1">
                <a:tableStyleId>{5C22544A-7EE6-4342-B048-85BDC9FD1C3A}</a:tableStyleId>
              </a:tblPr>
              <a:tblGrid>
                <a:gridCol w="1220571"/>
                <a:gridCol w="1220571"/>
                <a:gridCol w="1220571"/>
                <a:gridCol w="1220571"/>
                <a:gridCol w="1220571"/>
                <a:gridCol w="1220571"/>
                <a:gridCol w="1220574"/>
              </a:tblGrid>
              <a:tr h="925000">
                <a:tc>
                  <a:txBody>
                    <a:bodyPr wrap="square"/>
                    <a:lstStyle/>
                    <a:p>
                      <a:pPr algn="ctr"/>
                      <a:r>
                        <a:rPr sz="1100" b="1">
                          <a:solidFill>
                            <a:srgbClr val="FFFFFF"/>
                          </a:solidFill>
                          <a:latin typeface="Libre Baskerville"/>
                        </a:rPr>
                        <a:t>Mon</a:t>
                      </a:r>
                    </a:p>
                  </a:txBody>
                  <a:tcPr marL="76200" marR="76200" marT="50800" marB="50800">
                    <a:solidFill>
                      <a:srgbClr val="003060"/>
                    </a:solidFill>
                  </a:tcPr>
                </a:tc>
                <a:tc>
                  <a:txBody>
                    <a:bodyPr wrap="square"/>
                    <a:lstStyle/>
                    <a:p>
                      <a:pPr algn="ctr"/>
                      <a:r>
                        <a:rPr sz="1100" b="1">
                          <a:solidFill>
                            <a:srgbClr val="FFFFFF"/>
                          </a:solidFill>
                          <a:latin typeface="Libre Baskerville"/>
                        </a:rPr>
                        <a:t>Tue</a:t>
                      </a:r>
                    </a:p>
                  </a:txBody>
                  <a:tcPr marL="76200" marR="76200" marT="50800" marB="50800">
                    <a:solidFill>
                      <a:srgbClr val="003060"/>
                    </a:solidFill>
                  </a:tcPr>
                </a:tc>
                <a:tc>
                  <a:txBody>
                    <a:bodyPr wrap="square"/>
                    <a:lstStyle/>
                    <a:p>
                      <a:pPr algn="ctr"/>
                      <a:r>
                        <a:rPr sz="1100" b="1">
                          <a:solidFill>
                            <a:srgbClr val="FFFFFF"/>
                          </a:solidFill>
                          <a:latin typeface="Libre Baskerville"/>
                        </a:rPr>
                        <a:t>Wed</a:t>
                      </a:r>
                    </a:p>
                  </a:txBody>
                  <a:tcPr marL="76200" marR="76200" marT="50800" marB="50800">
                    <a:solidFill>
                      <a:srgbClr val="003060"/>
                    </a:solidFill>
                  </a:tcPr>
                </a:tc>
                <a:tc>
                  <a:txBody>
                    <a:bodyPr wrap="square"/>
                    <a:lstStyle/>
                    <a:p>
                      <a:pPr algn="ctr"/>
                      <a:r>
                        <a:rPr sz="1100" b="1">
                          <a:solidFill>
                            <a:srgbClr val="FFFFFF"/>
                          </a:solidFill>
                          <a:latin typeface="Libre Baskerville"/>
                        </a:rPr>
                        <a:t>Thu</a:t>
                      </a:r>
                    </a:p>
                  </a:txBody>
                  <a:tcPr marL="76200" marR="76200" marT="50800" marB="50800">
                    <a:solidFill>
                      <a:srgbClr val="003060"/>
                    </a:solidFill>
                  </a:tcPr>
                </a:tc>
                <a:tc>
                  <a:txBody>
                    <a:bodyPr wrap="square"/>
                    <a:lstStyle/>
                    <a:p>
                      <a:pPr algn="ctr"/>
                      <a:r>
                        <a:rPr sz="1100" b="1">
                          <a:solidFill>
                            <a:srgbClr val="FFFFFF"/>
                          </a:solidFill>
                          <a:latin typeface="Libre Baskerville"/>
                        </a:rPr>
                        <a:t>Fri</a:t>
                      </a:r>
                    </a:p>
                  </a:txBody>
                  <a:tcPr marL="76200" marR="76200" marT="50800" marB="50800">
                    <a:solidFill>
                      <a:srgbClr val="003060"/>
                    </a:solidFill>
                  </a:tcPr>
                </a:tc>
                <a:tc>
                  <a:txBody>
                    <a:bodyPr wrap="square"/>
                    <a:lstStyle/>
                    <a:p>
                      <a:pPr algn="ctr"/>
                      <a:r>
                        <a:rPr sz="1100" b="1">
                          <a:solidFill>
                            <a:srgbClr val="FFFFFF"/>
                          </a:solidFill>
                          <a:latin typeface="Libre Baskerville"/>
                        </a:rPr>
                        <a:t>Sat</a:t>
                      </a:r>
                    </a:p>
                  </a:txBody>
                  <a:tcPr marL="76200" marR="76200" marT="50800" marB="50800">
                    <a:solidFill>
                      <a:srgbClr val="003060"/>
                    </a:solidFill>
                  </a:tcPr>
                </a:tc>
                <a:tc>
                  <a:txBody>
                    <a:bodyPr wrap="square"/>
                    <a:lstStyle/>
                    <a:p>
                      <a:pPr algn="ctr"/>
                      <a:r>
                        <a:rPr sz="1100" b="1">
                          <a:solidFill>
                            <a:srgbClr val="FFFFFF"/>
                          </a:solidFill>
                          <a:latin typeface="Libre Baskerville"/>
                        </a:rPr>
                        <a:t>Sun</a:t>
                      </a:r>
                    </a:p>
                  </a:txBody>
                  <a:tcPr marL="76200" marR="76200" marT="50800" marB="50800">
                    <a:solidFill>
                      <a:srgbClr val="003060"/>
                    </a:solidFill>
                  </a:tcPr>
                </a:tc>
              </a:tr>
              <a:tr h="925000">
                <a:tc>
                  <a:txBody>
                    <a:bodyPr wrap="square"/>
                    <a:lstStyle/>
                    <a:p>
                      <a:pPr algn="l"/>
                      <a:r>
                        <a:rPr sz="900">
                          <a:solidFill>
                            <a:srgbClr val="003060"/>
                          </a:solidFill>
                          <a:latin typeface="Alegreya Sans"/>
                        </a:rPr>
                        <a:t>Porridge / Yoghurt / Cereal / Smoothie</a:t>
                      </a:r>
                    </a:p>
                  </a:txBody>
                  <a:tcPr marL="76200" marR="76200" marT="50800" marB="50800">
                    <a:solidFill>
                      <a:srgbClr val="FFFFFF"/>
                    </a:solidFill>
                  </a:tcPr>
                </a:tc>
                <a:tc>
                  <a:txBody>
                    <a:bodyPr wrap="square"/>
                    <a:lstStyle/>
                    <a:p>
                      <a:pPr algn="ctr"/>
                      <a:r>
                        <a:rPr sz="900">
                          <a:solidFill>
                            <a:srgbClr val="003060"/>
                          </a:solidFill>
                          <a:latin typeface="Alegreya Sans"/>
                        </a:rPr>
                        <a:t>Porridge / Yoghurt / Cereal / Smoothie</a:t>
                      </a:r>
                    </a:p>
                  </a:txBody>
                  <a:tcPr marL="76200" marR="76200" marT="50800" marB="50800">
                    <a:solidFill>
                      <a:srgbClr val="FFFFFF"/>
                    </a:solidFill>
                  </a:tcPr>
                </a:tc>
                <a:tc>
                  <a:txBody>
                    <a:bodyPr wrap="square"/>
                    <a:lstStyle/>
                    <a:p>
                      <a:pPr algn="ctr"/>
                      <a:r>
                        <a:rPr sz="900">
                          <a:solidFill>
                            <a:srgbClr val="003060"/>
                          </a:solidFill>
                          <a:latin typeface="Alegreya Sans"/>
                        </a:rPr>
                        <a:t>Porridge / Yoghurt / Cereal / Smoothie</a:t>
                      </a:r>
                    </a:p>
                  </a:txBody>
                  <a:tcPr marL="76200" marR="76200" marT="50800" marB="50800">
                    <a:solidFill>
                      <a:srgbClr val="FFFFFF"/>
                    </a:solidFill>
                  </a:tcPr>
                </a:tc>
                <a:tc>
                  <a:txBody>
                    <a:bodyPr wrap="square"/>
                    <a:lstStyle/>
                    <a:p>
                      <a:pPr algn="ctr"/>
                      <a:r>
                        <a:rPr sz="900">
                          <a:solidFill>
                            <a:srgbClr val="003060"/>
                          </a:solidFill>
                          <a:latin typeface="Alegreya Sans"/>
                        </a:rPr>
                        <a:t>Porridge / Yoghurt / Cereal / Smoothie</a:t>
                      </a:r>
                    </a:p>
                  </a:txBody>
                  <a:tcPr marL="76200" marR="76200" marT="50800" marB="50800">
                    <a:solidFill>
                      <a:srgbClr val="FFFFFF"/>
                    </a:solidFill>
                  </a:tcPr>
                </a:tc>
                <a:tc>
                  <a:txBody>
                    <a:bodyPr wrap="square"/>
                    <a:lstStyle/>
                    <a:p>
                      <a:pPr algn="ctr"/>
                      <a:r>
                        <a:rPr sz="900">
                          <a:solidFill>
                            <a:srgbClr val="003060"/>
                          </a:solidFill>
                          <a:latin typeface="Alegreya Sans"/>
                        </a:rPr>
                        <a:t>Porridge / Yoghurt / Cereal / Smoothie</a:t>
                      </a:r>
                    </a:p>
                  </a:txBody>
                  <a:tcPr marL="76200" marR="76200" marT="50800" marB="50800">
                    <a:solidFill>
                      <a:srgbClr val="FFFFFF"/>
                    </a:solidFill>
                  </a:tcPr>
                </a:tc>
                <a:tc>
                  <a:txBody>
                    <a:bodyPr wrap="square"/>
                    <a:lstStyle/>
                    <a:p>
                      <a:pPr algn="ctr"/>
                      <a:r>
                        <a:rPr sz="900">
                          <a:solidFill>
                            <a:srgbClr val="003060"/>
                          </a:solidFill>
                          <a:latin typeface="Alegreya Sans"/>
                        </a:rPr>
                        <a:t>Smoothie</a:t>
                      </a:r>
                    </a:p>
                  </a:txBody>
                  <a:tcPr marL="76200" marR="76200" marT="50800" marB="50800">
                    <a:solidFill>
                      <a:srgbClr val="FFFFFF"/>
                    </a:solidFill>
                  </a:tcPr>
                </a:tc>
                <a:tc>
                  <a:txBody>
                    <a:bodyPr wrap="square"/>
                    <a:lstStyle/>
                    <a:p>
                      <a:pPr algn="ctr"/>
                      <a:r>
                        <a:rPr sz="900">
                          <a:solidFill>
                            <a:srgbClr val="003060"/>
                          </a:solidFill>
                          <a:latin typeface="Alegreya Sans"/>
                        </a:rPr>
                        <a:t>Smoothie</a:t>
                      </a:r>
                    </a:p>
                  </a:txBody>
                  <a:tcPr marL="76200" marR="76200" marT="50800" marB="50800">
                    <a:solidFill>
                      <a:srgbClr val="FFFFFF"/>
                    </a:solidFill>
                  </a:tcPr>
                </a:tc>
              </a:tr>
              <a:tr h="925000">
                <a:tc>
                  <a:txBody>
                    <a:bodyPr wrap="square"/>
                    <a:lstStyle/>
                    <a:p>
                      <a:pPr algn="l"/>
                      <a:r>
                        <a:rPr sz="900">
                          <a:solidFill>
                            <a:srgbClr val="003060"/>
                          </a:solidFill>
                          <a:latin typeface="Alegreya Sans"/>
                        </a:rPr>
                        <a:t>Salad + Protein / Omelette / Wraps / Bento Box (LC)</a:t>
                      </a:r>
                    </a:p>
                  </a:txBody>
                  <a:tcPr marL="76200" marR="76200" marT="50800" marB="50800">
                    <a:solidFill>
                      <a:srgbClr val="FDEEE7"/>
                    </a:solidFill>
                  </a:tcPr>
                </a:tc>
                <a:tc>
                  <a:txBody>
                    <a:bodyPr wrap="square"/>
                    <a:lstStyle/>
                    <a:p>
                      <a:pPr algn="ctr"/>
                      <a:r>
                        <a:rPr sz="900">
                          <a:solidFill>
                            <a:srgbClr val="003060"/>
                          </a:solidFill>
                          <a:latin typeface="Alegreya Sans"/>
                        </a:rPr>
                        <a:t>Salad + Protein / Omelette / Wraps / Bento Box (LC)</a:t>
                      </a:r>
                    </a:p>
                  </a:txBody>
                  <a:tcPr marL="76200" marR="76200" marT="50800" marB="50800">
                    <a:solidFill>
                      <a:srgbClr val="FDEEE7"/>
                    </a:solidFill>
                  </a:tcPr>
                </a:tc>
                <a:tc>
                  <a:txBody>
                    <a:bodyPr wrap="square"/>
                    <a:lstStyle/>
                    <a:p>
                      <a:pPr algn="ctr"/>
                      <a:r>
                        <a:rPr sz="900">
                          <a:solidFill>
                            <a:srgbClr val="003060"/>
                          </a:solidFill>
                          <a:latin typeface="Alegreya Sans"/>
                        </a:rPr>
                        <a:t>Salad + Protein / Omelette / Wraps / Bento Box (LC)</a:t>
                      </a:r>
                    </a:p>
                  </a:txBody>
                  <a:tcPr marL="76200" marR="76200" marT="50800" marB="50800">
                    <a:solidFill>
                      <a:srgbClr val="FDEEE7"/>
                    </a:solidFill>
                  </a:tcPr>
                </a:tc>
                <a:tc>
                  <a:txBody>
                    <a:bodyPr wrap="square"/>
                    <a:lstStyle/>
                    <a:p>
                      <a:pPr algn="ctr"/>
                      <a:r>
                        <a:rPr sz="900">
                          <a:solidFill>
                            <a:srgbClr val="003060"/>
                          </a:solidFill>
                          <a:latin typeface="Alegreya Sans"/>
                        </a:rPr>
                        <a:t>Salad + Protein / Omelette / Wraps / Bento Box (LC)</a:t>
                      </a:r>
                    </a:p>
                  </a:txBody>
                  <a:tcPr marL="76200" marR="76200" marT="50800" marB="50800">
                    <a:solidFill>
                      <a:srgbClr val="FDEEE7"/>
                    </a:solidFill>
                  </a:tcPr>
                </a:tc>
                <a:tc>
                  <a:txBody>
                    <a:bodyPr wrap="square"/>
                    <a:lstStyle/>
                    <a:p>
                      <a:pPr algn="ctr"/>
                      <a:r>
                        <a:rPr sz="900">
                          <a:solidFill>
                            <a:srgbClr val="003060"/>
                          </a:solidFill>
                          <a:latin typeface="Alegreya Sans"/>
                        </a:rPr>
                        <a:t>Salad + Protein / Omelette / Wraps / Bento Box (LC)</a:t>
                      </a:r>
                    </a:p>
                  </a:txBody>
                  <a:tcPr marL="76200" marR="76200" marT="50800" marB="50800">
                    <a:solidFill>
                      <a:srgbClr val="FDEEE7"/>
                    </a:solidFill>
                  </a:tcPr>
                </a:tc>
                <a:tc>
                  <a:txBody>
                    <a:bodyPr wrap="square"/>
                    <a:lstStyle/>
                    <a:p>
                      <a:pPr algn="ctr"/>
                      <a:r>
                        <a:rPr sz="900">
                          <a:solidFill>
                            <a:srgbClr val="003060"/>
                          </a:solidFill>
                          <a:latin typeface="Alegreya Sans"/>
                        </a:rPr>
                        <a:t>Sausages, Eggs, Avo, Mushrooms (LC)</a:t>
                      </a:r>
                    </a:p>
                  </a:txBody>
                  <a:tcPr marL="76200" marR="76200" marT="50800" marB="50800">
                    <a:solidFill>
                      <a:srgbClr val="FDEEE7"/>
                    </a:solidFill>
                  </a:tcPr>
                </a:tc>
                <a:tc>
                  <a:txBody>
                    <a:bodyPr wrap="square"/>
                    <a:lstStyle/>
                    <a:p>
                      <a:pPr algn="ctr"/>
                      <a:r>
                        <a:rPr sz="900">
                          <a:solidFill>
                            <a:srgbClr val="003060"/>
                          </a:solidFill>
                          <a:latin typeface="Alegreya Sans"/>
                        </a:rPr>
                        <a:t>Sausages, Eggs, Avo, Mushrooms (LC)</a:t>
                      </a:r>
                    </a:p>
                  </a:txBody>
                  <a:tcPr marL="76200" marR="76200" marT="50800" marB="50800">
                    <a:solidFill>
                      <a:srgbClr val="FDEEE7"/>
                    </a:solidFill>
                  </a:tcPr>
                </a:tc>
              </a:tr>
              <a:tr h="925000">
                <a:tc>
                  <a:txBody>
                    <a:bodyPr wrap="square"/>
                    <a:lstStyle/>
                    <a:p>
                      <a:pPr algn="l"/>
                      <a:r>
                        <a:rPr sz="900">
                          <a:solidFill>
                            <a:srgbClr val="003060"/>
                          </a:solidFill>
                          <a:latin typeface="Alegreya Sans"/>
                        </a:rPr>
                        <a:t>Chicken Curry + Rice (HC)</a:t>
                      </a:r>
                    </a:p>
                  </a:txBody>
                  <a:tcPr marL="76200" marR="76200" marT="50800" marB="50800">
                    <a:solidFill>
                      <a:srgbClr val="FFFFFF"/>
                    </a:solidFill>
                  </a:tcPr>
                </a:tc>
                <a:tc>
                  <a:txBody>
                    <a:bodyPr wrap="square"/>
                    <a:lstStyle/>
                    <a:p>
                      <a:pPr algn="ctr"/>
                      <a:r>
                        <a:rPr sz="900">
                          <a:solidFill>
                            <a:srgbClr val="003060"/>
                          </a:solidFill>
                          <a:latin typeface="Alegreya Sans"/>
                        </a:rPr>
                        <a:t>Chicken Curry + Naan (HC)</a:t>
                      </a:r>
                    </a:p>
                  </a:txBody>
                  <a:tcPr marL="76200" marR="76200" marT="50800" marB="50800">
                    <a:solidFill>
                      <a:srgbClr val="FFFFFF"/>
                    </a:solidFill>
                  </a:tcPr>
                </a:tc>
                <a:tc>
                  <a:txBody>
                    <a:bodyPr wrap="square"/>
                    <a:lstStyle/>
                    <a:p>
                      <a:pPr algn="ctr"/>
                      <a:r>
                        <a:rPr sz="900">
                          <a:solidFill>
                            <a:srgbClr val="003060"/>
                          </a:solidFill>
                          <a:latin typeface="Alegreya Sans"/>
                        </a:rPr>
                        <a:t>Pesto Pasta (HC)</a:t>
                      </a:r>
                    </a:p>
                  </a:txBody>
                  <a:tcPr marL="76200" marR="76200" marT="50800" marB="50800">
                    <a:solidFill>
                      <a:srgbClr val="FFFFFF"/>
                    </a:solidFill>
                  </a:tcPr>
                </a:tc>
                <a:tc>
                  <a:txBody>
                    <a:bodyPr wrap="square"/>
                    <a:lstStyle/>
                    <a:p>
                      <a:pPr algn="ctr"/>
                      <a:r>
                        <a:rPr sz="900">
                          <a:solidFill>
                            <a:srgbClr val="003060"/>
                          </a:solidFill>
                          <a:latin typeface="Alegreya Sans"/>
                        </a:rPr>
                        <a:t>Freezer Dinner (HC)</a:t>
                      </a:r>
                    </a:p>
                  </a:txBody>
                  <a:tcPr marL="76200" marR="76200" marT="50800" marB="50800">
                    <a:solidFill>
                      <a:srgbClr val="FFFFFF"/>
                    </a:solidFill>
                  </a:tcPr>
                </a:tc>
                <a:tc>
                  <a:txBody>
                    <a:bodyPr wrap="square"/>
                    <a:lstStyle/>
                    <a:p>
                      <a:pPr algn="ctr"/>
                      <a:r>
                        <a:rPr sz="900">
                          <a:solidFill>
                            <a:srgbClr val="003060"/>
                          </a:solidFill>
                          <a:latin typeface="Alegreya Sans"/>
                        </a:rPr>
                        <a:t>Wrap Pizza (HC)</a:t>
                      </a:r>
                    </a:p>
                  </a:txBody>
                  <a:tcPr marL="76200" marR="76200" marT="50800" marB="50800">
                    <a:solidFill>
                      <a:srgbClr val="FFFFFF"/>
                    </a:solidFill>
                  </a:tcPr>
                </a:tc>
                <a:tc>
                  <a:txBody>
                    <a:bodyPr wrap="square"/>
                    <a:lstStyle/>
                    <a:p>
                      <a:pPr algn="ctr"/>
                      <a:r>
                        <a:rPr sz="900">
                          <a:solidFill>
                            <a:srgbClr val="003060"/>
                          </a:solidFill>
                          <a:latin typeface="Alegreya Sans"/>
                        </a:rPr>
                        <a:t>Take Away (Indulgence)</a:t>
                      </a:r>
                    </a:p>
                  </a:txBody>
                  <a:tcPr marL="76200" marR="76200" marT="50800" marB="50800">
                    <a:solidFill>
                      <a:srgbClr val="FFFFFF"/>
                    </a:solidFill>
                  </a:tcPr>
                </a:tc>
                <a:tc>
                  <a:txBody>
                    <a:bodyPr wrap="square"/>
                    <a:lstStyle/>
                    <a:p>
                      <a:pPr algn="ctr"/>
                      <a:r>
                        <a:rPr sz="900">
                          <a:solidFill>
                            <a:srgbClr val="003060"/>
                          </a:solidFill>
                          <a:latin typeface="Alegreya Sans"/>
                        </a:rPr>
                        <a:t>Sunday Roast (HC)</a:t>
                      </a:r>
                    </a:p>
                  </a:txBody>
                  <a:tcPr marL="76200" marR="76200" marT="50800" marB="50800">
                    <a:solidFill>
                      <a:srgbClr val="FFFFFF"/>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a:effectLst/>
      </p:bgPr>
    </p:bg>
    <p:spTree>
      <p:nvGrpSpPr>
        <p:cNvPr id="219" name="Shape 219"/>
        <p:cNvGrpSpPr/>
        <p:nvPr/>
      </p:nvGrpSpPr>
      <p:grpSpPr>
        <a:xfrm>
          <a:off x="0" y="0"/>
          <a:ext cx="0" cy="0"/>
          <a:chOff x="0" y="0"/>
          <a:chExt cx="0" cy="0"/>
        </a:xfrm>
      </p:grpSpPr>
      <p:sp>
        <p:nvSpPr>
          <p:cNvPr id="220" name="TextBox 219"/>
          <p:cNvSpPr txBox="1"/>
          <p:nvPr/>
        </p:nvSpPr>
        <p:spPr>
          <a:xfrm>
            <a:off x="457200" y="280000"/>
            <a:ext cx="8229600" cy="610000"/>
          </a:xfrm>
          <a:prstGeom prst="rect">
            <a:avLst/>
          </a:prstGeom>
          <a:noFill/>
        </p:spPr>
        <p:txBody>
          <a:bodyPr wrap="square" lIns="0" rIns="0" tIns="0" bIns="0" anchor="t"/>
          <a:lstStyle/>
          <a:p>
            <a:pPr algn="ctr"/>
            <a:r>
              <a:rPr sz="2800" b="1" i="0">
                <a:solidFill>
                  <a:srgbClr val="003060"/>
                </a:solidFill>
                <a:latin typeface="Libre Baskerville"/>
              </a:rPr>
              <a:t>Same Formula + Busy Week Solution</a:t>
            </a:r>
          </a:p>
        </p:txBody>
      </p:sp>
      <p:graphicFrame>
        <p:nvGraphicFramePr>
          <p:cNvPr id="221" name="Table 220"/>
          <p:cNvGraphicFramePr>
            <a:graphicFrameLocks noGrp="1"/>
          </p:cNvGraphicFramePr>
          <p:nvPr/>
        </p:nvGraphicFramePr>
        <p:xfrm>
          <a:off x="300000" y="1100000"/>
          <a:ext cx="8544000" cy="3700000"/>
        </p:xfrm>
        <a:graphic>
          <a:graphicData uri="http://schemas.openxmlformats.org/drawingml/2006/table">
            <a:tbl>
              <a:tblPr firstRow="1" bandRow="1">
                <a:tableStyleId>{5C22544A-7EE6-4342-B048-85BDC9FD1C3A}</a:tableStyleId>
              </a:tblPr>
              <a:tblGrid>
                <a:gridCol w="1220571"/>
                <a:gridCol w="1220571"/>
                <a:gridCol w="1220571"/>
                <a:gridCol w="1220571"/>
                <a:gridCol w="1220571"/>
                <a:gridCol w="1220571"/>
                <a:gridCol w="1220574"/>
              </a:tblGrid>
              <a:tr h="925000">
                <a:tc>
                  <a:txBody>
                    <a:bodyPr wrap="square"/>
                    <a:lstStyle/>
                    <a:p>
                      <a:pPr algn="ctr"/>
                      <a:r>
                        <a:rPr sz="1100" b="1">
                          <a:solidFill>
                            <a:srgbClr val="FFFFFF"/>
                          </a:solidFill>
                          <a:latin typeface="Libre Baskerville"/>
                        </a:rPr>
                        <a:t>Mon</a:t>
                      </a:r>
                    </a:p>
                  </a:txBody>
                  <a:tcPr marL="76200" marR="76200" marT="50800" marB="50800">
                    <a:solidFill>
                      <a:srgbClr val="003060"/>
                    </a:solidFill>
                  </a:tcPr>
                </a:tc>
                <a:tc>
                  <a:txBody>
                    <a:bodyPr wrap="square"/>
                    <a:lstStyle/>
                    <a:p>
                      <a:pPr algn="ctr"/>
                      <a:r>
                        <a:rPr sz="1100" b="1">
                          <a:solidFill>
                            <a:srgbClr val="FFFFFF"/>
                          </a:solidFill>
                          <a:latin typeface="Libre Baskerville"/>
                        </a:rPr>
                        <a:t>Tue</a:t>
                      </a:r>
                    </a:p>
                  </a:txBody>
                  <a:tcPr marL="76200" marR="76200" marT="50800" marB="50800">
                    <a:solidFill>
                      <a:srgbClr val="003060"/>
                    </a:solidFill>
                  </a:tcPr>
                </a:tc>
                <a:tc>
                  <a:txBody>
                    <a:bodyPr wrap="square"/>
                    <a:lstStyle/>
                    <a:p>
                      <a:pPr algn="ctr"/>
                      <a:r>
                        <a:rPr sz="1100" b="1">
                          <a:solidFill>
                            <a:srgbClr val="FFFFFF"/>
                          </a:solidFill>
                          <a:latin typeface="Libre Baskerville"/>
                        </a:rPr>
                        <a:t>Wed</a:t>
                      </a:r>
                    </a:p>
                  </a:txBody>
                  <a:tcPr marL="76200" marR="76200" marT="50800" marB="50800">
                    <a:solidFill>
                      <a:srgbClr val="003060"/>
                    </a:solidFill>
                  </a:tcPr>
                </a:tc>
                <a:tc>
                  <a:txBody>
                    <a:bodyPr wrap="square"/>
                    <a:lstStyle/>
                    <a:p>
                      <a:pPr algn="ctr"/>
                      <a:r>
                        <a:rPr sz="1100" b="1">
                          <a:solidFill>
                            <a:srgbClr val="FFFFFF"/>
                          </a:solidFill>
                          <a:latin typeface="Libre Baskerville"/>
                        </a:rPr>
                        <a:t>Thu</a:t>
                      </a:r>
                    </a:p>
                  </a:txBody>
                  <a:tcPr marL="76200" marR="76200" marT="50800" marB="50800">
                    <a:solidFill>
                      <a:srgbClr val="003060"/>
                    </a:solidFill>
                  </a:tcPr>
                </a:tc>
                <a:tc>
                  <a:txBody>
                    <a:bodyPr wrap="square"/>
                    <a:lstStyle/>
                    <a:p>
                      <a:pPr algn="ctr"/>
                      <a:r>
                        <a:rPr sz="1100" b="1">
                          <a:solidFill>
                            <a:srgbClr val="FFFFFF"/>
                          </a:solidFill>
                          <a:latin typeface="Libre Baskerville"/>
                        </a:rPr>
                        <a:t>Fri</a:t>
                      </a:r>
                    </a:p>
                  </a:txBody>
                  <a:tcPr marL="76200" marR="76200" marT="50800" marB="50800">
                    <a:solidFill>
                      <a:srgbClr val="003060"/>
                    </a:solidFill>
                  </a:tcPr>
                </a:tc>
                <a:tc>
                  <a:txBody>
                    <a:bodyPr wrap="square"/>
                    <a:lstStyle/>
                    <a:p>
                      <a:pPr algn="ctr"/>
                      <a:r>
                        <a:rPr sz="1100" b="1">
                          <a:solidFill>
                            <a:srgbClr val="FFFFFF"/>
                          </a:solidFill>
                          <a:latin typeface="Libre Baskerville"/>
                        </a:rPr>
                        <a:t>Sat</a:t>
                      </a:r>
                    </a:p>
                  </a:txBody>
                  <a:tcPr marL="76200" marR="76200" marT="50800" marB="50800">
                    <a:solidFill>
                      <a:srgbClr val="003060"/>
                    </a:solidFill>
                  </a:tcPr>
                </a:tc>
                <a:tc>
                  <a:txBody>
                    <a:bodyPr wrap="square"/>
                    <a:lstStyle/>
                    <a:p>
                      <a:pPr algn="ctr"/>
                      <a:r>
                        <a:rPr sz="1100" b="1">
                          <a:solidFill>
                            <a:srgbClr val="FFFFFF"/>
                          </a:solidFill>
                          <a:latin typeface="Libre Baskerville"/>
                        </a:rPr>
                        <a:t>Sun</a:t>
                      </a:r>
                    </a:p>
                  </a:txBody>
                  <a:tcPr marL="76200" marR="76200" marT="50800" marB="50800">
                    <a:solidFill>
                      <a:srgbClr val="003060"/>
                    </a:solidFill>
                  </a:tcPr>
                </a:tc>
              </a:tr>
              <a:tr h="925000">
                <a:tc>
                  <a:txBody>
                    <a:bodyPr wrap="square"/>
                    <a:lstStyle/>
                    <a:p>
                      <a:pPr algn="l"/>
                      <a:r>
                        <a:rPr sz="900">
                          <a:solidFill>
                            <a:srgbClr val="003060"/>
                          </a:solidFill>
                          <a:latin typeface="Alegreya Sans"/>
                        </a:rPr>
                        <a:t>Cereal</a:t>
                      </a:r>
                    </a:p>
                  </a:txBody>
                  <a:tcPr marL="76200" marR="76200" marT="50800" marB="50800">
                    <a:solidFill>
                      <a:srgbClr val="FFFFFF"/>
                    </a:solidFill>
                  </a:tcPr>
                </a:tc>
                <a:tc>
                  <a:txBody>
                    <a:bodyPr wrap="square"/>
                    <a:lstStyle/>
                    <a:p>
                      <a:pPr algn="ctr"/>
                      <a:r>
                        <a:rPr sz="900">
                          <a:solidFill>
                            <a:srgbClr val="003060"/>
                          </a:solidFill>
                          <a:latin typeface="Alegreya Sans"/>
                        </a:rPr>
                        <a:t>Cereal</a:t>
                      </a:r>
                    </a:p>
                  </a:txBody>
                  <a:tcPr marL="76200" marR="76200" marT="50800" marB="50800">
                    <a:solidFill>
                      <a:srgbClr val="FFFFFF"/>
                    </a:solidFill>
                  </a:tcPr>
                </a:tc>
                <a:tc>
                  <a:txBody>
                    <a:bodyPr wrap="square"/>
                    <a:lstStyle/>
                    <a:p>
                      <a:pPr algn="ctr"/>
                      <a:r>
                        <a:rPr sz="900">
                          <a:solidFill>
                            <a:srgbClr val="003060"/>
                          </a:solidFill>
                          <a:latin typeface="Alegreya Sans"/>
                        </a:rPr>
                        <a:t>Cereal</a:t>
                      </a:r>
                    </a:p>
                  </a:txBody>
                  <a:tcPr marL="76200" marR="76200" marT="50800" marB="50800">
                    <a:solidFill>
                      <a:srgbClr val="FFFFFF"/>
                    </a:solidFill>
                  </a:tcPr>
                </a:tc>
                <a:tc>
                  <a:txBody>
                    <a:bodyPr wrap="square"/>
                    <a:lstStyle/>
                    <a:p>
                      <a:pPr algn="ctr"/>
                      <a:r>
                        <a:rPr sz="900">
                          <a:solidFill>
                            <a:srgbClr val="003060"/>
                          </a:solidFill>
                          <a:latin typeface="Alegreya Sans"/>
                        </a:rPr>
                        <a:t>Cereal</a:t>
                      </a:r>
                    </a:p>
                  </a:txBody>
                  <a:tcPr marL="76200" marR="76200" marT="50800" marB="50800">
                    <a:solidFill>
                      <a:srgbClr val="FFFFFF"/>
                    </a:solidFill>
                  </a:tcPr>
                </a:tc>
                <a:tc>
                  <a:txBody>
                    <a:bodyPr wrap="square"/>
                    <a:lstStyle/>
                    <a:p>
                      <a:pPr algn="ctr"/>
                      <a:r>
                        <a:rPr sz="900">
                          <a:solidFill>
                            <a:srgbClr val="003060"/>
                          </a:solidFill>
                          <a:latin typeface="Alegreya Sans"/>
                        </a:rPr>
                        <a:t>Cereal</a:t>
                      </a:r>
                    </a:p>
                  </a:txBody>
                  <a:tcPr marL="76200" marR="76200" marT="50800" marB="50800">
                    <a:solidFill>
                      <a:srgbClr val="FFFFFF"/>
                    </a:solidFill>
                  </a:tcPr>
                </a:tc>
                <a:tc>
                  <a:txBody>
                    <a:bodyPr wrap="square"/>
                    <a:lstStyle/>
                    <a:p>
                      <a:pPr algn="ctr"/>
                      <a:r>
                        <a:rPr sz="900">
                          <a:solidFill>
                            <a:srgbClr val="003060"/>
                          </a:solidFill>
                          <a:latin typeface="Alegreya Sans"/>
                        </a:rPr>
                        <a:t>Smoothie</a:t>
                      </a:r>
                    </a:p>
                  </a:txBody>
                  <a:tcPr marL="76200" marR="76200" marT="50800" marB="50800">
                    <a:solidFill>
                      <a:srgbClr val="FFFFFF"/>
                    </a:solidFill>
                  </a:tcPr>
                </a:tc>
                <a:tc>
                  <a:txBody>
                    <a:bodyPr wrap="square"/>
                    <a:lstStyle/>
                    <a:p>
                      <a:pPr algn="ctr"/>
                      <a:r>
                        <a:rPr sz="900">
                          <a:solidFill>
                            <a:srgbClr val="003060"/>
                          </a:solidFill>
                          <a:latin typeface="Alegreya Sans"/>
                        </a:rPr>
                        <a:t>Smoothie</a:t>
                      </a:r>
                    </a:p>
                  </a:txBody>
                  <a:tcPr marL="76200" marR="76200" marT="50800" marB="50800">
                    <a:solidFill>
                      <a:srgbClr val="FFFFFF"/>
                    </a:solidFill>
                  </a:tcPr>
                </a:tc>
              </a:tr>
              <a:tr h="925000">
                <a:tc>
                  <a:txBody>
                    <a:bodyPr wrap="square"/>
                    <a:lstStyle/>
                    <a:p>
                      <a:pPr algn="l"/>
                      <a:r>
                        <a:rPr sz="900">
                          <a:solidFill>
                            <a:srgbClr val="003060"/>
                          </a:solidFill>
                          <a:latin typeface="Alegreya Sans"/>
                        </a:rPr>
                        <a:t>Shop-bought salad / soup (LC)</a:t>
                      </a:r>
                    </a:p>
                  </a:txBody>
                  <a:tcPr marL="76200" marR="76200" marT="50800" marB="50800">
                    <a:solidFill>
                      <a:srgbClr val="FDEEE7"/>
                    </a:solidFill>
                  </a:tcPr>
                </a:tc>
                <a:tc>
                  <a:txBody>
                    <a:bodyPr wrap="square"/>
                    <a:lstStyle/>
                    <a:p>
                      <a:pPr algn="ctr"/>
                      <a:r>
                        <a:rPr sz="900">
                          <a:solidFill>
                            <a:srgbClr val="003060"/>
                          </a:solidFill>
                          <a:latin typeface="Alegreya Sans"/>
                        </a:rPr>
                        <a:t>Shop-bought salad / soup (LC)</a:t>
                      </a:r>
                    </a:p>
                  </a:txBody>
                  <a:tcPr marL="76200" marR="76200" marT="50800" marB="50800">
                    <a:solidFill>
                      <a:srgbClr val="FDEEE7"/>
                    </a:solidFill>
                  </a:tcPr>
                </a:tc>
                <a:tc>
                  <a:txBody>
                    <a:bodyPr wrap="square"/>
                    <a:lstStyle/>
                    <a:p>
                      <a:pPr algn="ctr"/>
                      <a:r>
                        <a:rPr sz="900">
                          <a:solidFill>
                            <a:srgbClr val="003060"/>
                          </a:solidFill>
                          <a:latin typeface="Alegreya Sans"/>
                        </a:rPr>
                        <a:t>Shop-bought salad / soup (LC)</a:t>
                      </a:r>
                    </a:p>
                  </a:txBody>
                  <a:tcPr marL="76200" marR="76200" marT="50800" marB="50800">
                    <a:solidFill>
                      <a:srgbClr val="FDEEE7"/>
                    </a:solidFill>
                  </a:tcPr>
                </a:tc>
                <a:tc>
                  <a:txBody>
                    <a:bodyPr wrap="square"/>
                    <a:lstStyle/>
                    <a:p>
                      <a:pPr algn="ctr"/>
                      <a:r>
                        <a:rPr sz="900">
                          <a:solidFill>
                            <a:srgbClr val="003060"/>
                          </a:solidFill>
                          <a:latin typeface="Alegreya Sans"/>
                        </a:rPr>
                        <a:t>Shop-bought salad / soup (LC)</a:t>
                      </a:r>
                    </a:p>
                  </a:txBody>
                  <a:tcPr marL="76200" marR="76200" marT="50800" marB="50800">
                    <a:solidFill>
                      <a:srgbClr val="FDEEE7"/>
                    </a:solidFill>
                  </a:tcPr>
                </a:tc>
                <a:tc>
                  <a:txBody>
                    <a:bodyPr wrap="square"/>
                    <a:lstStyle/>
                    <a:p>
                      <a:pPr algn="ctr"/>
                      <a:r>
                        <a:rPr sz="900">
                          <a:solidFill>
                            <a:srgbClr val="003060"/>
                          </a:solidFill>
                          <a:latin typeface="Alegreya Sans"/>
                        </a:rPr>
                        <a:t>Shop-bought salad / soup (LC)</a:t>
                      </a:r>
                    </a:p>
                  </a:txBody>
                  <a:tcPr marL="76200" marR="76200" marT="50800" marB="50800">
                    <a:solidFill>
                      <a:srgbClr val="FDEEE7"/>
                    </a:solidFill>
                  </a:tcPr>
                </a:tc>
                <a:tc>
                  <a:txBody>
                    <a:bodyPr wrap="square"/>
                    <a:lstStyle/>
                    <a:p>
                      <a:pPr algn="ctr"/>
                      <a:r>
                        <a:rPr sz="900">
                          <a:solidFill>
                            <a:srgbClr val="003060"/>
                          </a:solidFill>
                          <a:latin typeface="Alegreya Sans"/>
                        </a:rPr>
                        <a:t>Sausages, Eggs, Avo, Mushrooms (LC)</a:t>
                      </a:r>
                    </a:p>
                  </a:txBody>
                  <a:tcPr marL="76200" marR="76200" marT="50800" marB="50800">
                    <a:solidFill>
                      <a:srgbClr val="FDEEE7"/>
                    </a:solidFill>
                  </a:tcPr>
                </a:tc>
                <a:tc>
                  <a:txBody>
                    <a:bodyPr wrap="square"/>
                    <a:lstStyle/>
                    <a:p>
                      <a:pPr algn="ctr"/>
                      <a:r>
                        <a:rPr sz="900">
                          <a:solidFill>
                            <a:srgbClr val="003060"/>
                          </a:solidFill>
                          <a:latin typeface="Alegreya Sans"/>
                        </a:rPr>
                        <a:t>Sausages, Eggs, Avo, Mushrooms (LC)</a:t>
                      </a:r>
                    </a:p>
                  </a:txBody>
                  <a:tcPr marL="76200" marR="76200" marT="50800" marB="50800">
                    <a:solidFill>
                      <a:srgbClr val="FDEEE7"/>
                    </a:solidFill>
                  </a:tcPr>
                </a:tc>
              </a:tr>
              <a:tr h="925000">
                <a:tc>
                  <a:txBody>
                    <a:bodyPr wrap="square"/>
                    <a:lstStyle/>
                    <a:p>
                      <a:pPr algn="l"/>
                      <a:r>
                        <a:rPr sz="900">
                          <a:solidFill>
                            <a:srgbClr val="003060"/>
                          </a:solidFill>
                          <a:latin typeface="Alegreya Sans"/>
                        </a:rPr>
                        <a:t>Pesto Pasta (HC)</a:t>
                      </a:r>
                    </a:p>
                  </a:txBody>
                  <a:tcPr marL="76200" marR="76200" marT="50800" marB="50800">
                    <a:solidFill>
                      <a:srgbClr val="FFFFFF"/>
                    </a:solidFill>
                  </a:tcPr>
                </a:tc>
                <a:tc>
                  <a:txBody>
                    <a:bodyPr wrap="square"/>
                    <a:lstStyle/>
                    <a:p>
                      <a:pPr algn="ctr"/>
                      <a:r>
                        <a:rPr sz="900">
                          <a:solidFill>
                            <a:srgbClr val="003060"/>
                          </a:solidFill>
                          <a:latin typeface="Alegreya Sans"/>
                        </a:rPr>
                        <a:t>Pesto Pasta (HC)</a:t>
                      </a:r>
                    </a:p>
                  </a:txBody>
                  <a:tcPr marL="76200" marR="76200" marT="50800" marB="50800">
                    <a:solidFill>
                      <a:srgbClr val="FFFFFF"/>
                    </a:solidFill>
                  </a:tcPr>
                </a:tc>
                <a:tc>
                  <a:txBody>
                    <a:bodyPr wrap="square"/>
                    <a:lstStyle/>
                    <a:p>
                      <a:pPr algn="ctr"/>
                      <a:r>
                        <a:rPr sz="900">
                          <a:solidFill>
                            <a:srgbClr val="003060"/>
                          </a:solidFill>
                          <a:latin typeface="Alegreya Sans"/>
                        </a:rPr>
                        <a:t>Freezer (HC)</a:t>
                      </a:r>
                    </a:p>
                  </a:txBody>
                  <a:tcPr marL="76200" marR="76200" marT="50800" marB="50800">
                    <a:solidFill>
                      <a:srgbClr val="FFFFFF"/>
                    </a:solidFill>
                  </a:tcPr>
                </a:tc>
                <a:tc>
                  <a:txBody>
                    <a:bodyPr wrap="square"/>
                    <a:lstStyle/>
                    <a:p>
                      <a:pPr algn="ctr"/>
                      <a:r>
                        <a:rPr sz="900">
                          <a:solidFill>
                            <a:srgbClr val="003060"/>
                          </a:solidFill>
                          <a:latin typeface="Alegreya Sans"/>
                        </a:rPr>
                        <a:t>Freezer Dinner (HC)</a:t>
                      </a:r>
                    </a:p>
                  </a:txBody>
                  <a:tcPr marL="76200" marR="76200" marT="50800" marB="50800">
                    <a:solidFill>
                      <a:srgbClr val="FFFFFF"/>
                    </a:solidFill>
                  </a:tcPr>
                </a:tc>
                <a:tc>
                  <a:txBody>
                    <a:bodyPr wrap="square"/>
                    <a:lstStyle/>
                    <a:p>
                      <a:pPr algn="ctr"/>
                      <a:r>
                        <a:rPr sz="900">
                          <a:solidFill>
                            <a:srgbClr val="003060"/>
                          </a:solidFill>
                          <a:latin typeface="Alegreya Sans"/>
                        </a:rPr>
                        <a:t>Chicken Goujons Wrap (HC)</a:t>
                      </a:r>
                    </a:p>
                  </a:txBody>
                  <a:tcPr marL="76200" marR="76200" marT="50800" marB="50800">
                    <a:solidFill>
                      <a:srgbClr val="FFFFFF"/>
                    </a:solidFill>
                  </a:tcPr>
                </a:tc>
                <a:tc>
                  <a:txBody>
                    <a:bodyPr wrap="square"/>
                    <a:lstStyle/>
                    <a:p>
                      <a:pPr algn="ctr"/>
                      <a:r>
                        <a:rPr sz="900">
                          <a:solidFill>
                            <a:srgbClr val="003060"/>
                          </a:solidFill>
                          <a:latin typeface="Alegreya Sans"/>
                        </a:rPr>
                        <a:t>Take Away (Indulgence)</a:t>
                      </a:r>
                    </a:p>
                  </a:txBody>
                  <a:tcPr marL="76200" marR="76200" marT="50800" marB="50800">
                    <a:solidFill>
                      <a:srgbClr val="FFFFFF"/>
                    </a:solidFill>
                  </a:tcPr>
                </a:tc>
                <a:tc>
                  <a:txBody>
                    <a:bodyPr wrap="square"/>
                    <a:lstStyle/>
                    <a:p>
                      <a:pPr algn="ctr"/>
                      <a:r>
                        <a:rPr sz="900">
                          <a:solidFill>
                            <a:srgbClr val="003060"/>
                          </a:solidFill>
                          <a:latin typeface="Alegreya Sans"/>
                        </a:rPr>
                        <a:t>Sunday Roast (HC)</a:t>
                      </a:r>
                    </a:p>
                  </a:txBody>
                  <a:tcPr marL="76200" marR="76200" marT="50800" marB="50800">
                    <a:solidFill>
                      <a:srgbClr val="FFFFFF"/>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a:effectLst/>
      </p:bgPr>
    </p:bg>
    <p:spTree>
      <p:nvGrpSpPr>
        <p:cNvPr id="226" name="Shape 226"/>
        <p:cNvGrpSpPr/>
        <p:nvPr/>
      </p:nvGrpSpPr>
      <p:grpSpPr>
        <a:xfrm>
          <a:off x="0" y="0"/>
          <a:ext cx="0" cy="0"/>
          <a:chOff x="0" y="0"/>
          <a:chExt cx="0" cy="0"/>
        </a:xfrm>
      </p:grpSpPr>
      <p:sp>
        <p:nvSpPr>
          <p:cNvPr id="227" name="TextBox 226"/>
          <p:cNvSpPr txBox="1"/>
          <p:nvPr/>
        </p:nvSpPr>
        <p:spPr>
          <a:xfrm>
            <a:off x="457200" y="280000"/>
            <a:ext cx="8229600" cy="610000"/>
          </a:xfrm>
          <a:prstGeom prst="rect">
            <a:avLst/>
          </a:prstGeom>
          <a:noFill/>
        </p:spPr>
        <p:txBody>
          <a:bodyPr wrap="square" lIns="0" rIns="0" tIns="0" bIns="0" anchor="t"/>
          <a:lstStyle/>
          <a:p>
            <a:pPr algn="ctr"/>
            <a:r>
              <a:rPr sz="2800" b="1" i="0">
                <a:solidFill>
                  <a:srgbClr val="003060"/>
                </a:solidFill>
                <a:latin typeface="Libre Baskerville"/>
              </a:rPr>
              <a:t>Busy Day Nutrition Solution</a:t>
            </a:r>
          </a:p>
        </p:txBody>
      </p:sp>
      <p:sp>
        <p:nvSpPr>
          <p:cNvPr id="228" name="TextBox 227"/>
          <p:cNvSpPr txBox="1"/>
          <p:nvPr/>
        </p:nvSpPr>
        <p:spPr>
          <a:xfrm>
            <a:off x="457200" y="960000"/>
            <a:ext cx="8229600" cy="4003500"/>
          </a:xfrm>
          <a:prstGeom prst="rect">
            <a:avLst/>
          </a:prstGeom>
          <a:noFill/>
        </p:spPr>
        <p:txBody>
          <a:bodyPr wrap="square" lIns="0" rIns="0" tIns="0" bIns="0" anchor="ctr"/>
          <a:lstStyle/>
          <a:p>
            <a:pPr algn="ctr">
              <a:spcAft>
                <a:spcPts val="1200"/>
              </a:spcAft>
            </a:pPr>
            <a:r>
              <a:rPr sz="1600" b="0" i="0">
                <a:solidFill>
                  <a:srgbClr val="003060"/>
                </a:solidFill>
                <a:latin typeface="Alegreya Sans"/>
              </a:rPr>
              <a:t>✦  Does your nutrition have freezer-food options for busy days?</a:t>
            </a:r>
          </a:p>
          <a:p>
            <a:pPr algn="ctr">
              <a:spcAft>
                <a:spcPts val="1200"/>
              </a:spcAft>
            </a:pPr>
            <a:r>
              <a:rPr sz="1600" b="0" i="0">
                <a:solidFill>
                  <a:srgbClr val="003060"/>
                </a:solidFill>
                <a:latin typeface="Alegreya Sans"/>
              </a:rPr>
              <a:t>✦  Do you know which pre-made foods support fat loss?</a:t>
            </a:r>
          </a:p>
          <a:p>
            <a:pPr algn="ctr">
              <a:spcAft>
                <a:spcPts val="2600"/>
              </a:spcAft>
            </a:pPr>
            <a:r>
              <a:rPr sz="1600" b="0" i="0">
                <a:solidFill>
                  <a:srgbClr val="003060"/>
                </a:solidFill>
                <a:latin typeface="Alegreya Sans"/>
              </a:rPr>
              <a:t>✦  Which grab-and-go items can you pick up at the shop?</a:t>
            </a:r>
          </a:p>
          <a:p>
            <a:pPr algn="ctr">
              <a:spcAft>
                <a:spcPts val="400"/>
              </a:spcAft>
            </a:pPr>
            <a:r>
              <a:rPr sz="1900" b="1" i="1">
                <a:solidFill>
                  <a:srgbClr val="F79F83"/>
                </a:solidFill>
                <a:latin typeface="Libre Baskerville"/>
              </a:rPr>
              <a:t>You need solutions for when you can't or don't want to cook.</a:t>
            </a:r>
          </a:p>
          <a:p>
            <a:pPr algn="ctr"/>
            <a:r>
              <a:rPr sz="1700" b="1" i="0">
                <a:solidFill>
                  <a:srgbClr val="003060"/>
                </a:solidFill>
                <a:latin typeface="Alegreya Sans"/>
              </a:rPr>
              <a:t>Life is busy. You need an easy solution.</a:t>
            </a: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a:effectLst/>
      </p:bgPr>
    </p:bg>
    <p:spTree>
      <p:nvGrpSpPr>
        <p:cNvPr id="234" name="Shape 234"/>
        <p:cNvGrpSpPr/>
        <p:nvPr/>
      </p:nvGrpSpPr>
      <p:grpSpPr>
        <a:xfrm>
          <a:off x="0" y="0"/>
          <a:ext cx="0" cy="0"/>
          <a:chOff x="0" y="0"/>
          <a:chExt cx="0" cy="0"/>
        </a:xfrm>
      </p:grpSpPr>
      <p:sp>
        <p:nvSpPr>
          <p:cNvPr id="235" name="TextBox 234"/>
          <p:cNvSpPr txBox="1"/>
          <p:nvPr/>
        </p:nvSpPr>
        <p:spPr>
          <a:xfrm>
            <a:off x="457200" y="280000"/>
            <a:ext cx="8229600" cy="610000"/>
          </a:xfrm>
          <a:prstGeom prst="rect">
            <a:avLst/>
          </a:prstGeom>
          <a:noFill/>
        </p:spPr>
        <p:txBody>
          <a:bodyPr wrap="square" lIns="0" rIns="0" tIns="0" bIns="0" anchor="t"/>
          <a:lstStyle/>
          <a:p>
            <a:pPr algn="ctr"/>
            <a:r>
              <a:rPr sz="2800" b="1" i="0">
                <a:solidFill>
                  <a:srgbClr val="003060"/>
                </a:solidFill>
                <a:latin typeface="Libre Baskerville"/>
              </a:rPr>
              <a:t>Weekend Nutrition Solution</a:t>
            </a:r>
          </a:p>
        </p:txBody>
      </p:sp>
      <p:sp>
        <p:nvSpPr>
          <p:cNvPr id="236" name="TextBox 235"/>
          <p:cNvSpPr txBox="1"/>
          <p:nvPr/>
        </p:nvSpPr>
        <p:spPr>
          <a:xfrm>
            <a:off x="457200" y="960000"/>
            <a:ext cx="8229600" cy="4003500"/>
          </a:xfrm>
          <a:prstGeom prst="rect">
            <a:avLst/>
          </a:prstGeom>
          <a:noFill/>
        </p:spPr>
        <p:txBody>
          <a:bodyPr wrap="square" lIns="0" rIns="0" tIns="0" bIns="0" anchor="ctr"/>
          <a:lstStyle/>
          <a:p>
            <a:pPr algn="ctr">
              <a:spcAft>
                <a:spcPts val="1200"/>
              </a:spcAft>
            </a:pPr>
            <a:r>
              <a:rPr sz="1600" b="0" i="0">
                <a:solidFill>
                  <a:srgbClr val="003060"/>
                </a:solidFill>
                <a:latin typeface="Alegreya Sans"/>
              </a:rPr>
              <a:t>✦  Do you try to limit social events while trying to lose weight?</a:t>
            </a:r>
          </a:p>
          <a:p>
            <a:pPr algn="ctr">
              <a:spcAft>
                <a:spcPts val="2200"/>
              </a:spcAft>
            </a:pPr>
            <a:r>
              <a:rPr sz="1600" b="0" i="0">
                <a:solidFill>
                  <a:srgbClr val="003060"/>
                </a:solidFill>
                <a:latin typeface="Alegreya Sans"/>
              </a:rPr>
              <a:t>✦  Do you know how to balance meals at the weekend for fat loss?</a:t>
            </a:r>
          </a:p>
          <a:p>
            <a:pPr algn="ctr">
              <a:spcAft>
                <a:spcPts val="400"/>
              </a:spcAft>
            </a:pPr>
            <a:r>
              <a:rPr sz="1600" b="0" i="0">
                <a:solidFill>
                  <a:srgbClr val="003060"/>
                </a:solidFill>
                <a:latin typeface="Alegreya Sans"/>
              </a:rPr>
              <a:t>If you "do well" Mon–Fri lunch but then go off track at the weekend,</a:t>
            </a:r>
          </a:p>
          <a:p>
            <a:pPr algn="ctr">
              <a:spcAft>
                <a:spcPts val="2200"/>
              </a:spcAft>
            </a:pPr>
            <a:r>
              <a:rPr sz="2000" b="1" i="1">
                <a:solidFill>
                  <a:srgbClr val="F79F83"/>
                </a:solidFill>
                <a:latin typeface="Libre Baskerville"/>
              </a:rPr>
              <a:t>you won't reach your goal before summer.</a:t>
            </a:r>
          </a:p>
          <a:p>
            <a:pPr algn="ctr">
              <a:spcAft>
                <a:spcPts val="400"/>
              </a:spcAft>
            </a:pPr>
            <a:r>
              <a:rPr sz="1700" b="1" i="0">
                <a:solidFill>
                  <a:srgbClr val="003060"/>
                </a:solidFill>
                <a:latin typeface="Alegreya Sans"/>
              </a:rPr>
              <a:t>The weekend is a large part of the week.</a:t>
            </a:r>
          </a:p>
          <a:p>
            <a:pPr algn="ctr"/>
            <a:r>
              <a:rPr sz="1800" b="1" i="1">
                <a:solidFill>
                  <a:srgbClr val="F79F83"/>
                </a:solidFill>
                <a:latin typeface="Libre Baskerville"/>
              </a:rPr>
              <a:t>You need a strategy that lets you live your life and get results.</a:t>
            </a: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241" name="Shape 241"/>
        <p:cNvGrpSpPr/>
        <p:nvPr/>
      </p:nvGrpSpPr>
      <p:grpSpPr>
        <a:xfrm>
          <a:off x="0" y="0"/>
          <a:ext cx="0" cy="0"/>
          <a:chOff x="0" y="0"/>
          <a:chExt cx="0" cy="0"/>
        </a:xfrm>
      </p:grpSpPr>
      <p:sp>
        <p:nvSpPr>
          <p:cNvPr id="242" name="TextBox 241"/>
          <p:cNvSpPr txBox="1"/>
          <p:nvPr/>
        </p:nvSpPr>
        <p:spPr>
          <a:xfrm>
            <a:off x="457200" y="280000"/>
            <a:ext cx="8229600" cy="610000"/>
          </a:xfrm>
          <a:prstGeom prst="rect">
            <a:avLst/>
          </a:prstGeom>
          <a:noFill/>
        </p:spPr>
        <p:txBody>
          <a:bodyPr wrap="square" lIns="0" rIns="0" tIns="0" bIns="0" anchor="t"/>
          <a:lstStyle/>
          <a:p>
            <a:pPr algn="ctr"/>
            <a:r>
              <a:rPr sz="2800" b="1" i="0">
                <a:solidFill>
                  <a:srgbClr val="003060"/>
                </a:solidFill>
                <a:latin typeface="Libre Baskerville"/>
              </a:rPr>
              <a:t>Why The Formula Is A Game Changer</a:t>
            </a:r>
          </a:p>
        </p:txBody>
      </p:sp>
      <p:sp>
        <p:nvSpPr>
          <p:cNvPr id="243" name="TextBox 242"/>
          <p:cNvSpPr txBox="1"/>
          <p:nvPr/>
        </p:nvSpPr>
        <p:spPr>
          <a:xfrm>
            <a:off x="700000" y="1010000"/>
            <a:ext cx="3872000" cy="2400000"/>
          </a:xfrm>
          <a:prstGeom prst="rect">
            <a:avLst/>
          </a:prstGeom>
          <a:noFill/>
        </p:spPr>
        <p:txBody>
          <a:bodyPr wrap="square" lIns="0" rIns="0" tIns="0" bIns="0" anchor="t"/>
          <a:lstStyle/>
          <a:p>
            <a:pPr algn="l">
              <a:spcAft>
                <a:spcPts val="1000"/>
              </a:spcAft>
            </a:pPr>
            <a:r>
              <a:rPr sz="1700" b="0" i="0">
                <a:solidFill>
                  <a:srgbClr val="003060"/>
                </a:solidFill>
                <a:latin typeface="Alegreya Sans"/>
              </a:rPr>
              <a:t>✔  Freedom over foods</a:t>
            </a:r>
          </a:p>
          <a:p>
            <a:pPr algn="l">
              <a:spcAft>
                <a:spcPts val="1000"/>
              </a:spcAft>
            </a:pPr>
            <a:r>
              <a:rPr sz="1700" b="0" i="0">
                <a:solidFill>
                  <a:srgbClr val="003060"/>
                </a:solidFill>
                <a:latin typeface="Alegreya Sans"/>
              </a:rPr>
              <a:t>✔  No foods excluded</a:t>
            </a:r>
          </a:p>
          <a:p>
            <a:pPr algn="l">
              <a:spcAft>
                <a:spcPts val="1000"/>
              </a:spcAft>
            </a:pPr>
            <a:r>
              <a:rPr sz="1700" b="0" i="0">
                <a:solidFill>
                  <a:srgbClr val="003060"/>
                </a:solidFill>
                <a:latin typeface="Alegreya Sans"/>
              </a:rPr>
              <a:t>✔  Fuels fat loss</a:t>
            </a:r>
          </a:p>
          <a:p>
            <a:pPr algn="l">
              <a:spcAft>
                <a:spcPts val="1000"/>
              </a:spcAft>
            </a:pPr>
            <a:r>
              <a:rPr sz="1700" b="0" i="0">
                <a:solidFill>
                  <a:srgbClr val="003060"/>
                </a:solidFill>
                <a:latin typeface="Alegreya Sans"/>
              </a:rPr>
              <a:t>✔  Portion control</a:t>
            </a:r>
          </a:p>
          <a:p>
            <a:pPr algn="l">
              <a:spcAft>
                <a:spcPts val="1000"/>
              </a:spcAft>
            </a:pPr>
            <a:r>
              <a:rPr sz="1700" b="0" i="0">
                <a:solidFill>
                  <a:srgbClr val="003060"/>
                </a:solidFill>
                <a:latin typeface="Alegreya Sans"/>
              </a:rPr>
              <a:t>✔  Eat the same as family</a:t>
            </a:r>
          </a:p>
        </p:txBody>
      </p:sp>
      <p:sp>
        <p:nvSpPr>
          <p:cNvPr id="244" name="TextBox 243"/>
          <p:cNvSpPr txBox="1"/>
          <p:nvPr/>
        </p:nvSpPr>
        <p:spPr>
          <a:xfrm>
            <a:off x="4572000" y="1010000"/>
            <a:ext cx="3872000" cy="2400000"/>
          </a:xfrm>
          <a:prstGeom prst="rect">
            <a:avLst/>
          </a:prstGeom>
          <a:noFill/>
        </p:spPr>
        <p:txBody>
          <a:bodyPr wrap="square" lIns="0" rIns="0" tIns="0" bIns="0" anchor="t"/>
          <a:lstStyle/>
          <a:p>
            <a:pPr algn="l">
              <a:spcAft>
                <a:spcPts val="1000"/>
              </a:spcAft>
            </a:pPr>
            <a:r>
              <a:rPr sz="1700" b="0" i="0">
                <a:solidFill>
                  <a:srgbClr val="003060"/>
                </a:solidFill>
                <a:latin typeface="Alegreya Sans"/>
              </a:rPr>
              <a:t>✔  Eat out and socialise</a:t>
            </a:r>
          </a:p>
          <a:p>
            <a:pPr algn="l">
              <a:spcAft>
                <a:spcPts val="1000"/>
              </a:spcAft>
            </a:pPr>
            <a:r>
              <a:rPr sz="1700" b="0" i="0">
                <a:solidFill>
                  <a:srgbClr val="003060"/>
                </a:solidFill>
                <a:latin typeface="Alegreya Sans"/>
              </a:rPr>
              <a:t>✔  Works for maintenance</a:t>
            </a:r>
          </a:p>
          <a:p>
            <a:pPr algn="l">
              <a:spcAft>
                <a:spcPts val="1000"/>
              </a:spcAft>
            </a:pPr>
            <a:r>
              <a:rPr sz="1700" b="0" i="0">
                <a:solidFill>
                  <a:srgbClr val="003060"/>
                </a:solidFill>
                <a:latin typeface="Alegreya Sans"/>
              </a:rPr>
              <a:t>✔  Works on holiday</a:t>
            </a:r>
          </a:p>
          <a:p>
            <a:pPr algn="l">
              <a:spcAft>
                <a:spcPts val="1000"/>
              </a:spcAft>
            </a:pPr>
            <a:r>
              <a:rPr sz="1700" b="0" i="0">
                <a:solidFill>
                  <a:srgbClr val="003060"/>
                </a:solidFill>
                <a:latin typeface="Alegreya Sans"/>
              </a:rPr>
              <a:t>✔  Balance of meals</a:t>
            </a:r>
          </a:p>
          <a:p>
            <a:pPr algn="l">
              <a:spcAft>
                <a:spcPts val="1000"/>
              </a:spcAft>
            </a:pPr>
            <a:r>
              <a:rPr sz="1700" b="0" i="0">
                <a:solidFill>
                  <a:srgbClr val="003060"/>
                </a:solidFill>
                <a:latin typeface="Alegreya Sans"/>
              </a:rPr>
              <a:t>✔  No calorie counting</a:t>
            </a:r>
          </a:p>
        </p:txBody>
      </p:sp>
      <p:sp>
        <p:nvSpPr>
          <p:cNvPr id="245" name="TextBox 244"/>
          <p:cNvSpPr txBox="1"/>
          <p:nvPr/>
        </p:nvSpPr>
        <p:spPr>
          <a:xfrm>
            <a:off x="457200" y="3600000"/>
            <a:ext cx="8229600" cy="1200000"/>
          </a:xfrm>
          <a:prstGeom prst="rect">
            <a:avLst/>
          </a:prstGeom>
          <a:noFill/>
        </p:spPr>
        <p:txBody>
          <a:bodyPr wrap="square" lIns="0" rIns="0" tIns="0" bIns="0" anchor="t"/>
          <a:lstStyle/>
          <a:p>
            <a:pPr algn="ctr">
              <a:spcAft>
                <a:spcPts val="400"/>
              </a:spcAft>
            </a:pPr>
            <a:r>
              <a:rPr sz="1500" b="1" i="0">
                <a:solidFill>
                  <a:srgbClr val="003060"/>
                </a:solidFill>
                <a:latin typeface="Alegreya Sans"/>
              </a:rPr>
              <a:t>Biggest problems I see:</a:t>
            </a:r>
          </a:p>
          <a:p>
            <a:pPr algn="ctr">
              <a:spcAft>
                <a:spcPts val="1400"/>
              </a:spcAft>
            </a:pPr>
            <a:r>
              <a:rPr sz="1500" b="0" i="1">
                <a:solidFill>
                  <a:srgbClr val="003060"/>
                </a:solidFill>
                <a:latin typeface="Alegreya Sans"/>
              </a:rPr>
              <a:t>over-consuming carbs · low-quality foods that increase appetite</a:t>
            </a:r>
          </a:p>
          <a:p>
            <a:pPr algn="ctr"/>
            <a:r>
              <a:rPr sz="1900" b="1" i="1">
                <a:solidFill>
                  <a:srgbClr val="F79F83"/>
                </a:solidFill>
                <a:latin typeface="Libre Baskerville"/>
              </a:rPr>
              <a:t>The formula addresses these problems head on.</a:t>
            </a: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249" name="Shape 249"/>
        <p:cNvGrpSpPr/>
        <p:nvPr/>
      </p:nvGrpSpPr>
      <p:grpSpPr>
        <a:xfrm>
          <a:off x="0" y="0"/>
          <a:ext cx="0" cy="0"/>
          <a:chOff x="0" y="0"/>
          <a:chExt cx="0" cy="0"/>
        </a:xfrm>
      </p:grpSpPr>
      <p:sp>
        <p:nvSpPr>
          <p:cNvPr id="250" name="TextBox 249"/>
          <p:cNvSpPr txBox="1"/>
          <p:nvPr/>
        </p:nvSpPr>
        <p:spPr>
          <a:xfrm>
            <a:off x="457200" y="280000"/>
            <a:ext cx="8229600" cy="610000"/>
          </a:xfrm>
          <a:prstGeom prst="rect">
            <a:avLst/>
          </a:prstGeom>
          <a:noFill/>
        </p:spPr>
        <p:txBody>
          <a:bodyPr wrap="square" lIns="0" rIns="0" tIns="0" bIns="0" anchor="t"/>
          <a:lstStyle/>
          <a:p>
            <a:pPr algn="ctr"/>
            <a:r>
              <a:rPr sz="2800" b="1" i="0">
                <a:solidFill>
                  <a:srgbClr val="003060"/>
                </a:solidFill>
                <a:latin typeface="Libre Baskerville"/>
              </a:rPr>
              <a:t>What Will Support 2 Stone Loss In 12 Weeks</a:t>
            </a:r>
          </a:p>
        </p:txBody>
      </p:sp>
      <p:sp>
        <p:nvSpPr>
          <p:cNvPr id="251" name="TextBox 250"/>
          <p:cNvSpPr txBox="1"/>
          <p:nvPr/>
        </p:nvSpPr>
        <p:spPr>
          <a:xfrm>
            <a:off x="457200" y="960000"/>
            <a:ext cx="8229600" cy="4003500"/>
          </a:xfrm>
          <a:prstGeom prst="rect">
            <a:avLst/>
          </a:prstGeom>
          <a:noFill/>
        </p:spPr>
        <p:txBody>
          <a:bodyPr wrap="square" lIns="0" rIns="0" tIns="0" bIns="0" anchor="ctr"/>
          <a:lstStyle/>
          <a:p>
            <a:pPr algn="ctr">
              <a:spcAft>
                <a:spcPts val="700"/>
              </a:spcAft>
            </a:pPr>
            <a:r>
              <a:rPr sz="1500" b="0" i="0">
                <a:solidFill>
                  <a:srgbClr val="003060"/>
                </a:solidFill>
                <a:latin typeface="Alegreya Sans"/>
              </a:rPr>
              <a:t>✔  Glass of water upon waking</a:t>
            </a:r>
          </a:p>
          <a:p>
            <a:pPr algn="ctr">
              <a:spcAft>
                <a:spcPts val="700"/>
              </a:spcAft>
            </a:pPr>
            <a:r>
              <a:rPr sz="1500" b="0" i="0">
                <a:solidFill>
                  <a:srgbClr val="003060"/>
                </a:solidFill>
                <a:latin typeface="Alegreya Sans"/>
              </a:rPr>
              <a:t>✔  3 meals per day (using The WLA Formula)</a:t>
            </a:r>
          </a:p>
          <a:p>
            <a:pPr algn="ctr">
              <a:spcAft>
                <a:spcPts val="700"/>
              </a:spcAft>
            </a:pPr>
            <a:r>
              <a:rPr sz="1500" b="0" i="0">
                <a:solidFill>
                  <a:srgbClr val="003060"/>
                </a:solidFill>
                <a:latin typeface="Alegreya Sans"/>
              </a:rPr>
              <a:t>✔  Healthy snacking in between based on hunger</a:t>
            </a:r>
          </a:p>
          <a:p>
            <a:pPr algn="ctr">
              <a:spcAft>
                <a:spcPts val="700"/>
              </a:spcAft>
            </a:pPr>
            <a:r>
              <a:rPr sz="1500" b="0" i="0">
                <a:solidFill>
                  <a:srgbClr val="003060"/>
                </a:solidFill>
                <a:latin typeface="Alegreya Sans"/>
              </a:rPr>
              <a:t>✔  Balance between meals (carb balancing)</a:t>
            </a:r>
          </a:p>
          <a:p>
            <a:pPr algn="ctr">
              <a:spcAft>
                <a:spcPts val="700"/>
              </a:spcAft>
            </a:pPr>
            <a:r>
              <a:rPr sz="1500" b="0" i="0">
                <a:solidFill>
                  <a:srgbClr val="003060"/>
                </a:solidFill>
                <a:latin typeface="Alegreya Sans"/>
              </a:rPr>
              <a:t>✔  Protein included in each meal</a:t>
            </a:r>
          </a:p>
          <a:p>
            <a:pPr algn="ctr">
              <a:spcAft>
                <a:spcPts val="700"/>
              </a:spcAft>
            </a:pPr>
            <a:r>
              <a:rPr sz="1500" b="0" i="0">
                <a:solidFill>
                  <a:srgbClr val="003060"/>
                </a:solidFill>
                <a:latin typeface="Alegreya Sans"/>
              </a:rPr>
              <a:t>✔  High-fibre meals</a:t>
            </a:r>
          </a:p>
          <a:p>
            <a:pPr algn="ctr">
              <a:spcAft>
                <a:spcPts val="700"/>
              </a:spcAft>
            </a:pPr>
            <a:r>
              <a:rPr sz="1500" b="0" i="0">
                <a:solidFill>
                  <a:srgbClr val="003060"/>
                </a:solidFill>
                <a:latin typeface="Alegreya Sans"/>
              </a:rPr>
              <a:t>✔  ~8 glasses of water per day</a:t>
            </a:r>
          </a:p>
          <a:p>
            <a:pPr algn="ctr">
              <a:spcAft>
                <a:spcPts val="700"/>
              </a:spcAft>
            </a:pPr>
            <a:r>
              <a:rPr sz="1500" b="0" i="0">
                <a:solidFill>
                  <a:srgbClr val="003060"/>
                </a:solidFill>
                <a:latin typeface="Alegreya Sans"/>
              </a:rPr>
              <a:t>✔  1 milky coffee per day (in fat-loss phase)</a:t>
            </a:r>
          </a:p>
          <a:p>
            <a:pPr algn="ctr">
              <a:spcAft>
                <a:spcPts val="1800"/>
              </a:spcAft>
            </a:pPr>
            <a:r>
              <a:rPr sz="1500" b="0" i="0">
                <a:solidFill>
                  <a:srgbClr val="003060"/>
                </a:solidFill>
                <a:latin typeface="Alegreya Sans"/>
              </a:rPr>
              <a:t>✔  Alcohol consideration · indulgences · steps · evening snacking</a:t>
            </a:r>
          </a:p>
          <a:p>
            <a:pPr algn="ctr"/>
            <a:r>
              <a:rPr sz="1800" b="1" i="1">
                <a:solidFill>
                  <a:srgbClr val="F79F83"/>
                </a:solidFill>
                <a:latin typeface="Libre Baskerville"/>
              </a:rPr>
              <a:t>These are the foundations — aim is SIMPLICITY.</a:t>
            </a: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a:effectLst/>
      </p:bgPr>
    </p:bg>
    <p:spTree>
      <p:nvGrpSpPr>
        <p:cNvPr id="256" name="Shape 256"/>
        <p:cNvGrpSpPr/>
        <p:nvPr/>
      </p:nvGrpSpPr>
      <p:grpSpPr>
        <a:xfrm>
          <a:off x="0" y="0"/>
          <a:ext cx="0" cy="0"/>
          <a:chOff x="0" y="0"/>
          <a:chExt cx="0" cy="0"/>
        </a:xfrm>
      </p:grpSpPr>
      <p:sp>
        <p:nvSpPr>
          <p:cNvPr id="257" name="TextBox 256"/>
          <p:cNvSpPr txBox="1"/>
          <p:nvPr/>
        </p:nvSpPr>
        <p:spPr>
          <a:xfrm>
            <a:off x="457200" y="280000"/>
            <a:ext cx="8229600" cy="610000"/>
          </a:xfrm>
          <a:prstGeom prst="rect">
            <a:avLst/>
          </a:prstGeom>
          <a:noFill/>
        </p:spPr>
        <p:txBody>
          <a:bodyPr wrap="square" lIns="0" rIns="0" tIns="0" bIns="0" anchor="t"/>
          <a:lstStyle/>
          <a:p>
            <a:pPr algn="ctr"/>
            <a:r>
              <a:rPr sz="2800" b="1" i="0">
                <a:solidFill>
                  <a:srgbClr val="003060"/>
                </a:solidFill>
                <a:latin typeface="Libre Baskerville"/>
              </a:rPr>
              <a:t>The Key To Best Results</a:t>
            </a:r>
          </a:p>
        </p:txBody>
      </p:sp>
      <p:sp>
        <p:nvSpPr>
          <p:cNvPr id="258" name="TextBox 257"/>
          <p:cNvSpPr txBox="1"/>
          <p:nvPr/>
        </p:nvSpPr>
        <p:spPr>
          <a:xfrm>
            <a:off x="457200" y="960000"/>
            <a:ext cx="8229600" cy="4003500"/>
          </a:xfrm>
          <a:prstGeom prst="rect">
            <a:avLst/>
          </a:prstGeom>
          <a:noFill/>
        </p:spPr>
        <p:txBody>
          <a:bodyPr wrap="square" lIns="0" rIns="0" tIns="0" bIns="0" anchor="ctr"/>
          <a:lstStyle/>
          <a:p>
            <a:pPr algn="ctr">
              <a:spcAft>
                <a:spcPts val="1400"/>
              </a:spcAft>
            </a:pPr>
            <a:r>
              <a:rPr sz="1900" b="1" i="0">
                <a:solidFill>
                  <a:srgbClr val="003060"/>
                </a:solidFill>
                <a:latin typeface="Alegreya Sans"/>
              </a:rPr>
              <a:t>A nutrition strategy that works anywhere.</a:t>
            </a:r>
          </a:p>
          <a:p>
            <a:pPr algn="ctr">
              <a:spcAft>
                <a:spcPts val="2200"/>
              </a:spcAft>
            </a:pPr>
            <a:r>
              <a:rPr sz="1700" b="0" i="1">
                <a:solidFill>
                  <a:srgbClr val="003060"/>
                </a:solidFill>
                <a:latin typeface="Alegreya Sans"/>
              </a:rPr>
              <a:t>At home, on the road, busy days, no time to cook.</a:t>
            </a:r>
          </a:p>
          <a:p>
            <a:pPr algn="ctr">
              <a:spcAft>
                <a:spcPts val="2200"/>
              </a:spcAft>
            </a:pPr>
            <a:r>
              <a:rPr sz="2000" b="1" i="1">
                <a:solidFill>
                  <a:srgbClr val="F79F83"/>
                </a:solidFill>
                <a:latin typeface="Libre Baskerville"/>
              </a:rPr>
              <a:t>You need a strategy that's easy to be consistent with.</a:t>
            </a:r>
          </a:p>
          <a:p>
            <a:pPr algn="ctr">
              <a:spcAft>
                <a:spcPts val="400"/>
              </a:spcAft>
            </a:pPr>
            <a:r>
              <a:rPr sz="1700" b="0" i="0">
                <a:solidFill>
                  <a:srgbClr val="003060"/>
                </a:solidFill>
                <a:latin typeface="Alegreya Sans"/>
              </a:rPr>
              <a:t>Most diets feel impossible to stick with long term —</a:t>
            </a:r>
          </a:p>
          <a:p>
            <a:pPr algn="ctr"/>
            <a:r>
              <a:rPr sz="1700" b="1" i="0">
                <a:solidFill>
                  <a:srgbClr val="003060"/>
                </a:solidFill>
                <a:latin typeface="Alegreya Sans"/>
              </a:rPr>
              <a:t>that's why you give up.</a:t>
            </a: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a:effectLst/>
      </p:bgPr>
    </p:bg>
    <p:spTree>
      <p:nvGrpSpPr>
        <p:cNvPr id="263" name="Shape 263"/>
        <p:cNvGrpSpPr/>
        <p:nvPr/>
      </p:nvGrpSpPr>
      <p:grpSpPr>
        <a:xfrm>
          <a:off x="0" y="0"/>
          <a:ext cx="0" cy="0"/>
          <a:chOff x="0" y="0"/>
          <a:chExt cx="0" cy="0"/>
        </a:xfrm>
      </p:grpSpPr>
      <p:sp>
        <p:nvSpPr>
          <p:cNvPr id="264" name="TextBox 263"/>
          <p:cNvSpPr txBox="1"/>
          <p:nvPr/>
        </p:nvSpPr>
        <p:spPr>
          <a:xfrm>
            <a:off x="457200" y="280000"/>
            <a:ext cx="8229600" cy="610000"/>
          </a:xfrm>
          <a:prstGeom prst="rect">
            <a:avLst/>
          </a:prstGeom>
          <a:noFill/>
        </p:spPr>
        <p:txBody>
          <a:bodyPr wrap="square" lIns="0" rIns="0" tIns="0" bIns="0" anchor="t"/>
          <a:lstStyle/>
          <a:p>
            <a:pPr algn="ctr"/>
            <a:r>
              <a:rPr sz="2800" b="1" i="0">
                <a:solidFill>
                  <a:srgbClr val="003060"/>
                </a:solidFill>
                <a:latin typeface="Libre Baskerville"/>
              </a:rPr>
              <a:t>One Size Doesn't Fit All</a:t>
            </a:r>
          </a:p>
        </p:txBody>
      </p:sp>
      <p:sp>
        <p:nvSpPr>
          <p:cNvPr id="265" name="TextBox 264"/>
          <p:cNvSpPr txBox="1"/>
          <p:nvPr/>
        </p:nvSpPr>
        <p:spPr>
          <a:xfrm>
            <a:off x="457200" y="960000"/>
            <a:ext cx="8229600" cy="4003500"/>
          </a:xfrm>
          <a:prstGeom prst="rect">
            <a:avLst/>
          </a:prstGeom>
          <a:noFill/>
        </p:spPr>
        <p:txBody>
          <a:bodyPr wrap="square" lIns="0" rIns="0" tIns="0" bIns="0" anchor="ctr"/>
          <a:lstStyle/>
          <a:p>
            <a:pPr algn="ctr">
              <a:lnSpc>
                <a:spcPct val="130000"/>
              </a:lnSpc>
              <a:spcAft>
                <a:spcPts val="1400"/>
              </a:spcAft>
            </a:pPr>
            <a:r>
              <a:rPr sz="1600" b="0" i="0">
                <a:solidFill>
                  <a:srgbClr val="003060"/>
                </a:solidFill>
                <a:latin typeface="Alegreya Sans"/>
              </a:rPr>
              <a:t>The dieting industry tells us we can all follow the same nutrition strategy —</a:t>
            </a:r>
          </a:p>
          <a:p>
            <a:pPr algn="ctr">
              <a:spcAft>
                <a:spcPts val="400"/>
              </a:spcAft>
            </a:pPr>
            <a:r>
              <a:rPr sz="1700" b="1" i="1">
                <a:solidFill>
                  <a:srgbClr val="F79F83"/>
                </a:solidFill>
                <a:latin typeface="Libre Baskerville"/>
              </a:rPr>
              <a:t>but a 45-year-old woman with 3 kids needs a different strategy</a:t>
            </a:r>
          </a:p>
          <a:p>
            <a:pPr algn="ctr">
              <a:spcAft>
                <a:spcPts val="1400"/>
              </a:spcAft>
            </a:pPr>
            <a:r>
              <a:rPr sz="1700" b="1" i="1">
                <a:solidFill>
                  <a:srgbClr val="F79F83"/>
                </a:solidFill>
                <a:latin typeface="Libre Baskerville"/>
              </a:rPr>
              <a:t>to a woman that's retired.</a:t>
            </a:r>
          </a:p>
          <a:p>
            <a:pPr algn="ctr">
              <a:spcAft>
                <a:spcPts val="400"/>
              </a:spcAft>
            </a:pPr>
            <a:r>
              <a:rPr sz="1700" b="1" i="1">
                <a:solidFill>
                  <a:srgbClr val="F79F83"/>
                </a:solidFill>
                <a:latin typeface="Libre Baskerville"/>
              </a:rPr>
              <a:t>Someone who doesn't like cooking needs a different strategy</a:t>
            </a:r>
          </a:p>
          <a:p>
            <a:pPr algn="ctr">
              <a:spcAft>
                <a:spcPts val="2200"/>
              </a:spcAft>
            </a:pPr>
            <a:r>
              <a:rPr sz="1700" b="1" i="1">
                <a:solidFill>
                  <a:srgbClr val="F79F83"/>
                </a:solidFill>
                <a:latin typeface="Libre Baskerville"/>
              </a:rPr>
              <a:t>to someone who enjoys cooking.</a:t>
            </a:r>
          </a:p>
          <a:p>
            <a:pPr algn="ctr">
              <a:spcAft>
                <a:spcPts val="600"/>
              </a:spcAft>
            </a:pPr>
            <a:r>
              <a:rPr sz="1800" b="1" i="0">
                <a:solidFill>
                  <a:srgbClr val="003060"/>
                </a:solidFill>
                <a:latin typeface="Alegreya Sans"/>
              </a:rPr>
              <a:t>You need a formula you can personalise.</a:t>
            </a:r>
          </a:p>
          <a:p>
            <a:pPr algn="ctr"/>
            <a:r>
              <a:rPr sz="2200" b="1" i="1">
                <a:solidFill>
                  <a:srgbClr val="F79F83"/>
                </a:solidFill>
                <a:latin typeface="Libre Baskerville"/>
              </a:rPr>
              <a:t>Only then can you be consistent.</a:t>
            </a: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269" name="Shape 269"/>
        <p:cNvGrpSpPr/>
        <p:nvPr/>
      </p:nvGrpSpPr>
      <p:grpSpPr>
        <a:xfrm>
          <a:off x="0" y="0"/>
          <a:ext cx="0" cy="0"/>
          <a:chOff x="0" y="0"/>
          <a:chExt cx="0" cy="0"/>
        </a:xfrm>
      </p:grpSpPr>
      <p:sp>
        <p:nvSpPr>
          <p:cNvPr id="270" name="Google Shape;270;p49"/>
          <p:cNvSpPr txBox="1"/>
          <p:nvPr/>
        </p:nvSpPr>
        <p:spPr>
          <a:xfrm>
            <a:off x="457200" y="304800"/>
            <a:ext cx="8229600" cy="7000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GB" sz="2800" u="none" cap="none" strike="noStrike">
                <a:solidFill>
                  <a:srgbClr val="003060"/>
                </a:solidFill>
                <a:latin typeface="Libre Baskerville"/>
                <a:ea typeface="Libre Baskerville"/>
                <a:cs typeface="Libre Baskerville"/>
                <a:sym typeface="Libre Baskerville"/>
              </a:rPr>
              <a:t>Still Using The Formula Today For Maintenance,</a:t>
            </a:r>
            <a:endParaRPr/>
          </a:p>
          <a:p>
            <a:pPr indent="0" lvl="0" marL="0" marR="0" rtl="0" algn="ctr">
              <a:spcBef>
                <a:spcPts val="400"/>
              </a:spcBef>
              <a:spcAft>
                <a:spcPts val="0"/>
              </a:spcAft>
              <a:buNone/>
            </a:pPr>
            <a:r>
              <a:rPr b="1" i="1" lang="en-GB" sz="2200" u="none" cap="none" strike="noStrike">
                <a:solidFill>
                  <a:srgbClr val="F79F83"/>
                </a:solidFill>
                <a:latin typeface="Libre Baskerville"/>
                <a:ea typeface="Libre Baskerville"/>
                <a:cs typeface="Libre Baskerville"/>
                <a:sym typeface="Libre Baskerville"/>
              </a:rPr>
              <a:t>Used Before Pregnancy And After</a:t>
            </a:r>
            <a:endParaRPr/>
          </a:p>
        </p:txBody>
      </p:sp>
      <p:pic>
        <p:nvPicPr>
          <p:cNvPr id="271" name="Google Shape;271;p49" title="1. Anna Before and After.png"/>
          <p:cNvPicPr preferRelativeResize="0"/>
          <p:nvPr/>
        </p:nvPicPr>
        <p:blipFill>
          <a:blip r:embed="rId3">
            <a:alphaModFix/>
          </a:blip>
          <a:stretch>
            <a:fillRect/>
          </a:stretch>
        </p:blipFill>
        <p:spPr>
          <a:xfrm>
            <a:off x="2735475" y="1294400"/>
            <a:ext cx="3673050" cy="3673050"/>
          </a:xfrm>
          <a:prstGeom prst="rect">
            <a:avLst/>
          </a:prstGeom>
          <a:solidFill>
            <a:srgbClr val="ECE7DE"/>
          </a:solidFill>
          <a:ln cap="flat" cmpd="sng" w="19050">
            <a:solidFill>
              <a:srgbClr val="D9CDB6"/>
            </a:solidFill>
            <a:prstDash val="solid"/>
            <a:round/>
            <a:headEnd len="sm" w="sm" type="none"/>
            <a:tailEnd len="sm" w="sm" type="none"/>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275" name="Shape 275"/>
        <p:cNvGrpSpPr/>
        <p:nvPr/>
      </p:nvGrpSpPr>
      <p:grpSpPr>
        <a:xfrm>
          <a:off x="0" y="0"/>
          <a:ext cx="0" cy="0"/>
          <a:chOff x="0" y="0"/>
          <a:chExt cx="0" cy="0"/>
        </a:xfrm>
      </p:grpSpPr>
      <p:sp>
        <p:nvSpPr>
          <p:cNvPr id="276" name="Google Shape;276;p50"/>
          <p:cNvSpPr txBox="1"/>
          <p:nvPr/>
        </p:nvSpPr>
        <p:spPr>
          <a:xfrm>
            <a:off x="457200" y="304800"/>
            <a:ext cx="8229600" cy="6100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GB" sz="2800" u="none" cap="none" strike="noStrike">
                <a:solidFill>
                  <a:srgbClr val="003060"/>
                </a:solidFill>
                <a:latin typeface="Libre Baskerville"/>
                <a:ea typeface="Libre Baskerville"/>
                <a:cs typeface="Libre Baskerville"/>
                <a:sym typeface="Libre Baskerville"/>
              </a:rPr>
              <a:t>And My WLA Clients Are Using The Formula, Getting Incredible Results</a:t>
            </a:r>
            <a:endParaRPr/>
          </a:p>
        </p:txBody>
      </p:sp>
      <p:pic>
        <p:nvPicPr>
          <p:cNvPr id="277" name="Google Shape;277;p50" title="lucy before and after.jpg"/>
          <p:cNvPicPr preferRelativeResize="0"/>
          <p:nvPr/>
        </p:nvPicPr>
        <p:blipFill>
          <a:blip r:embed="rId3">
            <a:alphaModFix/>
          </a:blip>
          <a:stretch>
            <a:fillRect/>
          </a:stretch>
        </p:blipFill>
        <p:spPr>
          <a:xfrm>
            <a:off x="254350" y="1276350"/>
            <a:ext cx="3637550" cy="3637550"/>
          </a:xfrm>
          <a:prstGeom prst="rect">
            <a:avLst/>
          </a:prstGeom>
          <a:noFill/>
          <a:ln>
            <a:noFill/>
          </a:ln>
        </p:spPr>
      </p:pic>
      <p:pic>
        <p:nvPicPr>
          <p:cNvPr id="278" name="Google Shape;278;p50" title="VIP Maddy Evans.SBS - From size 18 to 14. png.png"/>
          <p:cNvPicPr preferRelativeResize="0"/>
          <p:nvPr/>
        </p:nvPicPr>
        <p:blipFill>
          <a:blip r:embed="rId4">
            <a:alphaModFix/>
          </a:blip>
          <a:stretch>
            <a:fillRect/>
          </a:stretch>
        </p:blipFill>
        <p:spPr>
          <a:xfrm>
            <a:off x="4918900" y="1237750"/>
            <a:ext cx="3725139" cy="37147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282" name="Shape 282"/>
        <p:cNvGrpSpPr/>
        <p:nvPr/>
      </p:nvGrpSpPr>
      <p:grpSpPr>
        <a:xfrm>
          <a:off x="0" y="0"/>
          <a:ext cx="0" cy="0"/>
          <a:chOff x="0" y="0"/>
          <a:chExt cx="0" cy="0"/>
        </a:xfrm>
      </p:grpSpPr>
      <p:sp>
        <p:nvSpPr>
          <p:cNvPr id="283" name="Google Shape;283;p51"/>
          <p:cNvSpPr txBox="1"/>
          <p:nvPr>
            <p:ph type="title"/>
          </p:nvPr>
        </p:nvSpPr>
        <p:spPr>
          <a:xfrm>
            <a:off x="311700" y="988675"/>
            <a:ext cx="8520600" cy="2854800"/>
          </a:xfrm>
          <a:prstGeom prst="rect">
            <a:avLst/>
          </a:prstGeom>
        </p:spPr>
        <p:txBody>
          <a:bodyPr anchorCtr="0" anchor="ctr" bIns="45700" lIns="91425" spcFirstLastPara="1" rIns="91425" wrap="square" tIns="45700">
            <a:noAutofit/>
          </a:bodyPr>
          <a:lstStyle/>
          <a:p>
            <a:pPr indent="0" lvl="0" marL="0" rtl="0" algn="ctr">
              <a:lnSpc>
                <a:spcPct val="115000"/>
              </a:lnSpc>
              <a:spcBef>
                <a:spcPts val="0"/>
              </a:spcBef>
              <a:spcAft>
                <a:spcPts val="0"/>
              </a:spcAft>
              <a:buNone/>
            </a:pPr>
            <a:r>
              <a:rPr lang="en-GB" sz="3000" b="1">
                <a:solidFill>
                  <a:srgbClr val="003060"/>
                </a:solidFill>
                <a:latin typeface="Libre Baskerville"/>
                <a:ea typeface="Lato"/>
                <a:cs typeface="Lato"/>
                <a:sym typeface="Lato"/>
              </a:rPr>
              <a:t>The Power Of A Clear Roadmap </a:t>
            </a:r>
            <a:endParaRPr sz="3000">
              <a:solidFill>
                <a:srgbClr val="434343"/>
              </a:solidFill>
              <a:latin typeface="Lato"/>
              <a:ea typeface="Lato"/>
              <a:cs typeface="Lato"/>
              <a:sym typeface="Lato"/>
            </a:endParaRPr>
          </a:p>
          <a:p>
            <a:pPr indent="0" lvl="0" marL="0" rtl="0" algn="ctr">
              <a:lnSpc>
                <a:spcPct val="115000"/>
              </a:lnSpc>
              <a:spcBef>
                <a:spcPts val="0"/>
              </a:spcBef>
              <a:spcAft>
                <a:spcPts val="0"/>
              </a:spcAft>
              <a:buNone/>
            </a:pPr>
            <a:r>
              <a:rPr lang="en-GB" sz="3000" b="1">
                <a:solidFill>
                  <a:srgbClr val="003060"/>
                </a:solidFill>
                <a:latin typeface="Libre Baskerville"/>
                <a:ea typeface="Lato"/>
                <a:cs typeface="Lato"/>
                <a:sym typeface="Lato"/>
              </a:rPr>
              <a:t>&amp; Monthly Focus</a:t>
            </a:r>
            <a:endParaRPr sz="3000">
              <a:solidFill>
                <a:srgbClr val="434343"/>
              </a:solidFill>
              <a:latin typeface="Lato"/>
              <a:ea typeface="Lato"/>
              <a:cs typeface="Lato"/>
              <a:sym typeface="Lat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288" name="Shape 288"/>
        <p:cNvGrpSpPr/>
        <p:nvPr/>
      </p:nvGrpSpPr>
      <p:grpSpPr>
        <a:xfrm>
          <a:off x="0" y="0"/>
          <a:ext cx="0" cy="0"/>
          <a:chOff x="0" y="0"/>
          <a:chExt cx="0" cy="0"/>
        </a:xfrm>
      </p:grpSpPr>
      <p:sp>
        <p:nvSpPr>
          <p:cNvPr id="289" name="TextBox 288"/>
          <p:cNvSpPr txBox="1"/>
          <p:nvPr/>
        </p:nvSpPr>
        <p:spPr>
          <a:xfrm>
            <a:off x="457200" y="280000"/>
            <a:ext cx="8229600" cy="610000"/>
          </a:xfrm>
          <a:prstGeom prst="rect">
            <a:avLst/>
          </a:prstGeom>
          <a:noFill/>
        </p:spPr>
        <p:txBody>
          <a:bodyPr wrap="square" lIns="0" rIns="0" tIns="0" bIns="0" anchor="t"/>
          <a:lstStyle/>
          <a:p>
            <a:pPr algn="ctr"/>
            <a:r>
              <a:rPr sz="2800" b="1" i="0">
                <a:solidFill>
                  <a:srgbClr val="003060"/>
                </a:solidFill>
                <a:latin typeface="Libre Baskerville"/>
              </a:rPr>
              <a:t>Get The BEST Results</a:t>
            </a:r>
          </a:p>
        </p:txBody>
      </p:sp>
      <p:sp>
        <p:nvSpPr>
          <p:cNvPr id="290" name="TextBox 289"/>
          <p:cNvSpPr txBox="1"/>
          <p:nvPr/>
        </p:nvSpPr>
        <p:spPr>
          <a:xfrm>
            <a:off x="457200" y="960000"/>
            <a:ext cx="8229600" cy="4003500"/>
          </a:xfrm>
          <a:prstGeom prst="rect">
            <a:avLst/>
          </a:prstGeom>
          <a:noFill/>
        </p:spPr>
        <p:txBody>
          <a:bodyPr wrap="square" lIns="0" rIns="0" tIns="0" bIns="0" anchor="ctr"/>
          <a:lstStyle/>
          <a:p>
            <a:pPr algn="ctr">
              <a:spcAft>
                <a:spcPts val="2000"/>
              </a:spcAft>
            </a:pPr>
            <a:r>
              <a:rPr sz="1900" b="0" i="0">
                <a:solidFill>
                  <a:srgbClr val="003060"/>
                </a:solidFill>
                <a:latin typeface="Alegreya Sans"/>
              </a:rPr>
              <a:t>The women who get the BEST results usually don't just "try to eat healthy".</a:t>
            </a:r>
          </a:p>
          <a:p>
            <a:pPr algn="ctr">
              <a:spcAft>
                <a:spcPts val="1000"/>
              </a:spcAft>
            </a:pPr>
            <a:r>
              <a:rPr sz="1800" b="1" i="0">
                <a:solidFill>
                  <a:srgbClr val="003060"/>
                </a:solidFill>
                <a:latin typeface="Alegreya Sans"/>
              </a:rPr>
              <a:t>They have:</a:t>
            </a:r>
          </a:p>
          <a:p>
            <a:pPr algn="ctr">
              <a:spcAft>
                <a:spcPts val="600"/>
              </a:spcAft>
            </a:pPr>
            <a:r>
              <a:rPr sz="1800" b="0" i="0">
                <a:solidFill>
                  <a:srgbClr val="003060"/>
                </a:solidFill>
                <a:latin typeface="Alegreya Sans"/>
              </a:rPr>
              <a:t>✔  A clear goal</a:t>
            </a:r>
          </a:p>
          <a:p>
            <a:pPr algn="ctr">
              <a:spcAft>
                <a:spcPts val="600"/>
              </a:spcAft>
            </a:pPr>
            <a:r>
              <a:rPr sz="1800" b="0" i="0">
                <a:solidFill>
                  <a:srgbClr val="003060"/>
                </a:solidFill>
                <a:latin typeface="Alegreya Sans"/>
              </a:rPr>
              <a:t>✔  A clear timeline</a:t>
            </a:r>
          </a:p>
          <a:p>
            <a:pPr algn="ctr">
              <a:spcAft>
                <a:spcPts val="600"/>
              </a:spcAft>
            </a:pPr>
            <a:r>
              <a:rPr sz="1800" b="0" i="0">
                <a:solidFill>
                  <a:srgbClr val="003060"/>
                </a:solidFill>
                <a:latin typeface="Alegreya Sans"/>
              </a:rPr>
              <a:t>✔  A clear focus</a:t>
            </a:r>
          </a:p>
          <a:p>
            <a:pPr algn="ctr">
              <a:spcAft>
                <a:spcPts val="2200"/>
              </a:spcAft>
            </a:pPr>
            <a:r>
              <a:rPr sz="1800" b="0" i="0">
                <a:solidFill>
                  <a:srgbClr val="003060"/>
                </a:solidFill>
                <a:latin typeface="Alegreya Sans"/>
              </a:rPr>
              <a:t>✔  A plan they can actually follow</a:t>
            </a:r>
          </a:p>
          <a:p>
            <a:pPr algn="ctr">
              <a:spcAft>
                <a:spcPts val="400"/>
              </a:spcAft>
            </a:pPr>
            <a:r>
              <a:rPr sz="1700" b="0" i="1">
                <a:solidFill>
                  <a:srgbClr val="003060"/>
                </a:solidFill>
                <a:latin typeface="Alegreya Sans"/>
              </a:rPr>
              <a:t>Because without that…</a:t>
            </a:r>
          </a:p>
          <a:p>
            <a:pPr algn="ctr"/>
            <a:r>
              <a:rPr sz="2200" b="1" i="1">
                <a:solidFill>
                  <a:srgbClr val="F79F83"/>
                </a:solidFill>
                <a:latin typeface="Libre Baskerville"/>
              </a:rPr>
              <a:t>You lose direction.</a:t>
            </a: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294" name="Shape 294"/>
        <p:cNvGrpSpPr/>
        <p:nvPr/>
      </p:nvGrpSpPr>
      <p:grpSpPr>
        <a:xfrm>
          <a:off x="0" y="0"/>
          <a:ext cx="0" cy="0"/>
          <a:chOff x="0" y="0"/>
          <a:chExt cx="0" cy="0"/>
        </a:xfrm>
      </p:grpSpPr>
      <p:sp>
        <p:nvSpPr>
          <p:cNvPr id="295" name="TextBox 294"/>
          <p:cNvSpPr txBox="1"/>
          <p:nvPr/>
        </p:nvSpPr>
        <p:spPr>
          <a:xfrm>
            <a:off x="457200" y="280000"/>
            <a:ext cx="8229600" cy="610000"/>
          </a:xfrm>
          <a:prstGeom prst="rect">
            <a:avLst/>
          </a:prstGeom>
          <a:noFill/>
        </p:spPr>
        <p:txBody>
          <a:bodyPr wrap="square" lIns="0" rIns="0" tIns="0" bIns="0" anchor="t"/>
          <a:lstStyle/>
          <a:p>
            <a:pPr algn="ctr"/>
            <a:r>
              <a:rPr sz="2800" b="1" i="0">
                <a:solidFill>
                  <a:srgbClr val="003060"/>
                </a:solidFill>
                <a:latin typeface="Libre Baskerville"/>
              </a:rPr>
              <a:t>Without A Plan…</a:t>
            </a:r>
          </a:p>
        </p:txBody>
      </p:sp>
      <p:sp>
        <p:nvSpPr>
          <p:cNvPr id="296" name="TextBox 295"/>
          <p:cNvSpPr txBox="1"/>
          <p:nvPr/>
        </p:nvSpPr>
        <p:spPr>
          <a:xfrm>
            <a:off x="457200" y="960000"/>
            <a:ext cx="8229600" cy="4003500"/>
          </a:xfrm>
          <a:prstGeom prst="rect">
            <a:avLst/>
          </a:prstGeom>
          <a:noFill/>
        </p:spPr>
        <p:txBody>
          <a:bodyPr wrap="square" lIns="0" rIns="0" tIns="0" bIns="0" anchor="ctr"/>
          <a:lstStyle/>
          <a:p>
            <a:pPr algn="ctr">
              <a:spcAft>
                <a:spcPts val="1200"/>
              </a:spcAft>
            </a:pPr>
            <a:r>
              <a:rPr sz="1900" b="0" i="0">
                <a:solidFill>
                  <a:srgbClr val="003060"/>
                </a:solidFill>
                <a:latin typeface="Alegreya Sans"/>
              </a:rPr>
              <a:t>You don't know what you're aiming for.</a:t>
            </a:r>
          </a:p>
          <a:p>
            <a:pPr algn="ctr">
              <a:spcAft>
                <a:spcPts val="1200"/>
              </a:spcAft>
            </a:pPr>
            <a:r>
              <a:rPr sz="1900" b="0" i="0">
                <a:solidFill>
                  <a:srgbClr val="003060"/>
                </a:solidFill>
                <a:latin typeface="Alegreya Sans"/>
              </a:rPr>
              <a:t>You try to change everything at once.</a:t>
            </a:r>
          </a:p>
          <a:p>
            <a:pPr algn="ctr">
              <a:spcAft>
                <a:spcPts val="1200"/>
              </a:spcAft>
            </a:pPr>
            <a:r>
              <a:rPr sz="1900" b="0" i="0">
                <a:solidFill>
                  <a:srgbClr val="003060"/>
                </a:solidFill>
                <a:latin typeface="Alegreya Sans"/>
              </a:rPr>
              <a:t>You lose focus when life gets busy.</a:t>
            </a:r>
          </a:p>
          <a:p>
            <a:pPr algn="ctr">
              <a:spcAft>
                <a:spcPts val="2800"/>
              </a:spcAft>
            </a:pPr>
            <a:r>
              <a:rPr sz="1900" b="0" i="0">
                <a:solidFill>
                  <a:srgbClr val="003060"/>
                </a:solidFill>
                <a:latin typeface="Alegreya Sans"/>
              </a:rPr>
              <a:t>You stop tracking progress.</a:t>
            </a:r>
          </a:p>
          <a:p>
            <a:pPr algn="ctr"/>
            <a:r>
              <a:rPr sz="2400" b="1" i="1">
                <a:solidFill>
                  <a:srgbClr val="F79F83"/>
                </a:solidFill>
                <a:latin typeface="Libre Baskerville"/>
              </a:rPr>
              <a:t>And eventually… you give up.</a:t>
            </a: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300" name="Shape 300"/>
        <p:cNvGrpSpPr/>
        <p:nvPr/>
      </p:nvGrpSpPr>
      <p:grpSpPr>
        <a:xfrm>
          <a:off x="0" y="0"/>
          <a:ext cx="0" cy="0"/>
          <a:chOff x="0" y="0"/>
          <a:chExt cx="0" cy="0"/>
        </a:xfrm>
      </p:grpSpPr>
      <p:sp>
        <p:nvSpPr>
          <p:cNvPr id="301" name="TextBox 300"/>
          <p:cNvSpPr txBox="1"/>
          <p:nvPr/>
        </p:nvSpPr>
        <p:spPr>
          <a:xfrm>
            <a:off x="457200" y="280000"/>
            <a:ext cx="8229600" cy="610000"/>
          </a:xfrm>
          <a:prstGeom prst="rect">
            <a:avLst/>
          </a:prstGeom>
          <a:noFill/>
        </p:spPr>
        <p:txBody>
          <a:bodyPr wrap="square" lIns="0" rIns="0" tIns="0" bIns="0" anchor="t"/>
          <a:lstStyle/>
          <a:p>
            <a:pPr algn="ctr"/>
            <a:r>
              <a:rPr sz="2800" b="1" i="0">
                <a:solidFill>
                  <a:srgbClr val="003060"/>
                </a:solidFill>
                <a:latin typeface="Libre Baskerville"/>
              </a:rPr>
              <a:t>But When You Have…</a:t>
            </a:r>
          </a:p>
        </p:txBody>
      </p:sp>
      <p:sp>
        <p:nvSpPr>
          <p:cNvPr id="302" name="TextBox 301"/>
          <p:cNvSpPr txBox="1"/>
          <p:nvPr/>
        </p:nvSpPr>
        <p:spPr>
          <a:xfrm>
            <a:off x="457200" y="960000"/>
            <a:ext cx="8229600" cy="4003500"/>
          </a:xfrm>
          <a:prstGeom prst="rect">
            <a:avLst/>
          </a:prstGeom>
          <a:noFill/>
        </p:spPr>
        <p:txBody>
          <a:bodyPr wrap="square" lIns="0" rIns="0" tIns="0" bIns="0" anchor="ctr"/>
          <a:lstStyle/>
          <a:p>
            <a:pPr algn="ctr">
              <a:spcAft>
                <a:spcPts val="1200"/>
              </a:spcAft>
            </a:pPr>
            <a:r>
              <a:rPr sz="2200" b="0" i="0">
                <a:solidFill>
                  <a:srgbClr val="003060"/>
                </a:solidFill>
                <a:latin typeface="Alegreya Sans"/>
              </a:rPr>
              <a:t>✔  A start date</a:t>
            </a:r>
          </a:p>
          <a:p>
            <a:pPr algn="ctr">
              <a:spcAft>
                <a:spcPts val="1200"/>
              </a:spcAft>
            </a:pPr>
            <a:r>
              <a:rPr sz="2200" b="0" i="0">
                <a:solidFill>
                  <a:srgbClr val="003060"/>
                </a:solidFill>
                <a:latin typeface="Alegreya Sans"/>
              </a:rPr>
              <a:t>✔  An end goal</a:t>
            </a:r>
          </a:p>
          <a:p>
            <a:pPr algn="ctr">
              <a:spcAft>
                <a:spcPts val="1200"/>
              </a:spcAft>
            </a:pPr>
            <a:r>
              <a:rPr sz="2200" b="0" i="0">
                <a:solidFill>
                  <a:srgbClr val="003060"/>
                </a:solidFill>
                <a:latin typeface="Alegreya Sans"/>
              </a:rPr>
              <a:t>✔  Monthly focus points</a:t>
            </a:r>
          </a:p>
          <a:p>
            <a:pPr algn="ctr">
              <a:spcAft>
                <a:spcPts val="3200"/>
              </a:spcAft>
            </a:pPr>
            <a:r>
              <a:rPr sz="2200" b="0" i="0">
                <a:solidFill>
                  <a:srgbClr val="003060"/>
                </a:solidFill>
                <a:latin typeface="Alegreya Sans"/>
              </a:rPr>
              <a:t>✔  Action steps to work on</a:t>
            </a:r>
          </a:p>
          <a:p>
            <a:pPr algn="ctr"/>
            <a:r>
              <a:rPr sz="3000" b="1" i="1">
                <a:solidFill>
                  <a:srgbClr val="F79F83"/>
                </a:solidFill>
                <a:latin typeface="Libre Baskerville"/>
              </a:rPr>
              <a:t>Everything changes.</a:t>
            </a: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306" name="Shape 306"/>
        <p:cNvGrpSpPr/>
        <p:nvPr/>
      </p:nvGrpSpPr>
      <p:grpSpPr>
        <a:xfrm>
          <a:off x="0" y="0"/>
          <a:ext cx="0" cy="0"/>
          <a:chOff x="0" y="0"/>
          <a:chExt cx="0" cy="0"/>
        </a:xfrm>
      </p:grpSpPr>
      <p:sp>
        <p:nvSpPr>
          <p:cNvPr id="307" name="TextBox 306"/>
          <p:cNvSpPr txBox="1"/>
          <p:nvPr/>
        </p:nvSpPr>
        <p:spPr>
          <a:xfrm>
            <a:off x="457200" y="280000"/>
            <a:ext cx="8229600" cy="610000"/>
          </a:xfrm>
          <a:prstGeom prst="rect">
            <a:avLst/>
          </a:prstGeom>
          <a:noFill/>
        </p:spPr>
        <p:txBody>
          <a:bodyPr wrap="square" lIns="0" rIns="0" tIns="0" bIns="0" anchor="t"/>
          <a:lstStyle/>
          <a:p>
            <a:pPr algn="ctr"/>
            <a:r>
              <a:rPr sz="2800" b="1" i="0">
                <a:solidFill>
                  <a:srgbClr val="003060"/>
                </a:solidFill>
                <a:latin typeface="Libre Baskerville"/>
              </a:rPr>
              <a:t>Structure Beats Motivation</a:t>
            </a:r>
          </a:p>
        </p:txBody>
      </p:sp>
      <p:sp>
        <p:nvSpPr>
          <p:cNvPr id="308" name="TextBox 307"/>
          <p:cNvSpPr txBox="1"/>
          <p:nvPr/>
        </p:nvSpPr>
        <p:spPr>
          <a:xfrm>
            <a:off x="457200" y="960000"/>
            <a:ext cx="8229600" cy="4003500"/>
          </a:xfrm>
          <a:prstGeom prst="rect">
            <a:avLst/>
          </a:prstGeom>
          <a:noFill/>
        </p:spPr>
        <p:txBody>
          <a:bodyPr wrap="square" lIns="0" rIns="0" tIns="0" bIns="0" anchor="ctr"/>
          <a:lstStyle/>
          <a:p>
            <a:pPr algn="ctr">
              <a:spcAft>
                <a:spcPts val="800"/>
              </a:spcAft>
            </a:pPr>
            <a:r>
              <a:rPr sz="1900" b="0" i="1">
                <a:solidFill>
                  <a:srgbClr val="003060"/>
                </a:solidFill>
                <a:latin typeface="Alegreya Sans"/>
              </a:rPr>
              <a:t>Instead of relying on motivation…</a:t>
            </a:r>
          </a:p>
          <a:p>
            <a:pPr algn="ctr">
              <a:spcAft>
                <a:spcPts val="3200"/>
              </a:spcAft>
            </a:pPr>
            <a:r>
              <a:rPr sz="2600" b="1" i="1">
                <a:solidFill>
                  <a:srgbClr val="F79F83"/>
                </a:solidFill>
                <a:latin typeface="Libre Baskerville"/>
              </a:rPr>
              <a:t>You have structure.</a:t>
            </a:r>
          </a:p>
          <a:p>
            <a:pPr algn="ctr">
              <a:spcAft>
                <a:spcPts val="800"/>
              </a:spcAft>
            </a:pPr>
            <a:r>
              <a:rPr sz="1900" b="0" i="1">
                <a:solidFill>
                  <a:srgbClr val="003060"/>
                </a:solidFill>
                <a:latin typeface="Alegreya Sans"/>
              </a:rPr>
              <a:t>Instead of feeling overwhelmed trying to "be perfect"…</a:t>
            </a:r>
          </a:p>
          <a:p>
            <a:pPr algn="ctr"/>
            <a:r>
              <a:rPr sz="2400" b="1" i="1">
                <a:solidFill>
                  <a:srgbClr val="F79F83"/>
                </a:solidFill>
                <a:latin typeface="Libre Baskerville"/>
              </a:rPr>
              <a:t>You focus on improving ONE thing at a time.</a:t>
            </a: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312" name="Shape 312"/>
        <p:cNvGrpSpPr/>
        <p:nvPr/>
      </p:nvGrpSpPr>
      <p:grpSpPr>
        <a:xfrm>
          <a:off x="0" y="0"/>
          <a:ext cx="0" cy="0"/>
          <a:chOff x="0" y="0"/>
          <a:chExt cx="0" cy="0"/>
        </a:xfrm>
      </p:grpSpPr>
      <p:sp>
        <p:nvSpPr>
          <p:cNvPr id="313" name="TextBox 312"/>
          <p:cNvSpPr txBox="1"/>
          <p:nvPr/>
        </p:nvSpPr>
        <p:spPr>
          <a:xfrm>
            <a:off x="457200" y="280000"/>
            <a:ext cx="8229600" cy="610000"/>
          </a:xfrm>
          <a:prstGeom prst="rect">
            <a:avLst/>
          </a:prstGeom>
          <a:noFill/>
        </p:spPr>
        <p:txBody>
          <a:bodyPr wrap="square" lIns="0" rIns="0" tIns="0" bIns="0" anchor="t"/>
          <a:lstStyle/>
          <a:p>
            <a:pPr algn="ctr"/>
            <a:r>
              <a:rPr sz="2800" b="1" i="0">
                <a:solidFill>
                  <a:srgbClr val="003060"/>
                </a:solidFill>
                <a:latin typeface="Libre Baskerville"/>
              </a:rPr>
              <a:t>Wish vs Plan</a:t>
            </a:r>
          </a:p>
        </p:txBody>
      </p:sp>
      <p:sp>
        <p:nvSpPr>
          <p:cNvPr id="314" name="TextBox 313"/>
          <p:cNvSpPr txBox="1"/>
          <p:nvPr/>
        </p:nvSpPr>
        <p:spPr>
          <a:xfrm>
            <a:off x="457200" y="960000"/>
            <a:ext cx="8229600" cy="4003500"/>
          </a:xfrm>
          <a:prstGeom prst="rect">
            <a:avLst/>
          </a:prstGeom>
          <a:noFill/>
        </p:spPr>
        <p:txBody>
          <a:bodyPr wrap="square" lIns="0" rIns="0" tIns="0" bIns="0" anchor="ctr"/>
          <a:lstStyle/>
          <a:p>
            <a:pPr algn="ctr">
              <a:spcAft>
                <a:spcPts val="200"/>
              </a:spcAft>
            </a:pPr>
            <a:r>
              <a:rPr sz="1900" b="0" i="0">
                <a:solidFill>
                  <a:srgbClr val="003060"/>
                </a:solidFill>
                <a:latin typeface="Alegreya Sans"/>
              </a:rPr>
              <a:t>Most women have a weight loss WISH.</a:t>
            </a:r>
          </a:p>
          <a:p>
            <a:pPr algn="ctr">
              <a:spcAft>
                <a:spcPts val="1800"/>
              </a:spcAft>
            </a:pPr>
            <a:r>
              <a:rPr sz="1900" b="1" i="0">
                <a:solidFill>
                  <a:srgbClr val="003060"/>
                </a:solidFill>
                <a:latin typeface="Alegreya Sans"/>
              </a:rPr>
              <a:t>Very few have a weight loss PLAN.</a:t>
            </a:r>
          </a:p>
          <a:p>
            <a:pPr algn="ctr">
              <a:spcAft>
                <a:spcPts val="400"/>
              </a:spcAft>
            </a:pPr>
            <a:r>
              <a:rPr sz="1700" b="0" i="1">
                <a:solidFill>
                  <a:srgbClr val="F79F83"/>
                </a:solidFill>
                <a:latin typeface="Libre Baskerville"/>
              </a:rPr>
              <a:t>"I want to lose weight this summer…"</a:t>
            </a:r>
          </a:p>
          <a:p>
            <a:pPr algn="ctr">
              <a:spcAft>
                <a:spcPts val="400"/>
              </a:spcAft>
            </a:pPr>
            <a:r>
              <a:rPr sz="1400" b="0" i="1">
                <a:solidFill>
                  <a:srgbClr val="003060"/>
                </a:solidFill>
                <a:latin typeface="Alegreya Sans"/>
              </a:rPr>
              <a:t>vs</a:t>
            </a:r>
          </a:p>
          <a:p>
            <a:pPr algn="ctr">
              <a:spcAft>
                <a:spcPts val="2200"/>
              </a:spcAft>
            </a:pPr>
            <a:r>
              <a:rPr sz="1600" b="0" i="1">
                <a:solidFill>
                  <a:srgbClr val="F79F83"/>
                </a:solidFill>
                <a:latin typeface="Libre Baskerville"/>
              </a:rPr>
              <a:t>"I'm going to lose 2 stone over the next 12 weeks and this month I'm focusing on consistency, reducing snacking and increasing my steps."</a:t>
            </a:r>
          </a:p>
          <a:p>
            <a:pPr algn="ctr">
              <a:spcAft>
                <a:spcPts val="400"/>
              </a:spcAft>
            </a:pPr>
            <a:r>
              <a:rPr sz="1700" b="0" i="0">
                <a:solidFill>
                  <a:srgbClr val="003060"/>
                </a:solidFill>
                <a:latin typeface="Alegreya Sans"/>
              </a:rPr>
              <a:t>One is a vague hope.</a:t>
            </a:r>
          </a:p>
          <a:p>
            <a:pPr algn="ctr"/>
            <a:r>
              <a:rPr sz="2000" b="1" i="1">
                <a:solidFill>
                  <a:srgbClr val="F79F83"/>
                </a:solidFill>
                <a:latin typeface="Libre Baskerville"/>
              </a:rPr>
              <a:t>The other creates direction, focus and action.</a:t>
            </a: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318" name="Shape 318"/>
        <p:cNvGrpSpPr/>
        <p:nvPr/>
      </p:nvGrpSpPr>
      <p:grpSpPr>
        <a:xfrm>
          <a:off x="0" y="0"/>
          <a:ext cx="0" cy="0"/>
          <a:chOff x="0" y="0"/>
          <a:chExt cx="0" cy="0"/>
        </a:xfrm>
      </p:grpSpPr>
      <p:sp>
        <p:nvSpPr>
          <p:cNvPr id="319" name="TextBox 318"/>
          <p:cNvSpPr txBox="1"/>
          <p:nvPr/>
        </p:nvSpPr>
        <p:spPr>
          <a:xfrm>
            <a:off x="457200" y="1700000"/>
            <a:ext cx="8229600" cy="1800000"/>
          </a:xfrm>
          <a:prstGeom prst="rect">
            <a:avLst/>
          </a:prstGeom>
          <a:noFill/>
        </p:spPr>
        <p:txBody>
          <a:bodyPr wrap="square" lIns="0" rIns="0" tIns="0" bIns="0" anchor="ctr"/>
          <a:lstStyle/>
          <a:p>
            <a:pPr algn="ctr">
              <a:spcAft>
                <a:spcPts val="1400"/>
              </a:spcAft>
            </a:pPr>
            <a:r>
              <a:rPr sz="4200" b="1" i="0">
                <a:solidFill>
                  <a:srgbClr val="003060"/>
                </a:solidFill>
                <a:latin typeface="Libre Baskerville"/>
              </a:rPr>
              <a:t>Accountability &amp; Support</a:t>
            </a:r>
          </a:p>
          <a:p>
            <a:pPr algn="ctr"/>
            <a:r>
              <a:rPr sz="2600" b="1" i="1">
                <a:solidFill>
                  <a:srgbClr val="F79F83"/>
                </a:solidFill>
                <a:latin typeface="Libre Baskerville"/>
              </a:rPr>
              <a:t>That Keeps You Consistent</a:t>
            </a: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324" name="Shape 324"/>
        <p:cNvGrpSpPr/>
        <p:nvPr/>
      </p:nvGrpSpPr>
      <p:grpSpPr>
        <a:xfrm>
          <a:off x="0" y="0"/>
          <a:ext cx="0" cy="0"/>
          <a:chOff x="0" y="0"/>
          <a:chExt cx="0" cy="0"/>
        </a:xfrm>
      </p:grpSpPr>
      <p:sp>
        <p:nvSpPr>
          <p:cNvPr id="325" name="TextBox 324"/>
          <p:cNvSpPr txBox="1"/>
          <p:nvPr/>
        </p:nvSpPr>
        <p:spPr>
          <a:xfrm>
            <a:off x="457200" y="280000"/>
            <a:ext cx="8229600" cy="610000"/>
          </a:xfrm>
          <a:prstGeom prst="rect">
            <a:avLst/>
          </a:prstGeom>
          <a:noFill/>
        </p:spPr>
        <p:txBody>
          <a:bodyPr wrap="square" lIns="0" rIns="0" tIns="0" bIns="0" anchor="t"/>
          <a:lstStyle/>
          <a:p>
            <a:pPr algn="ctr"/>
            <a:r>
              <a:rPr sz="2800" b="1" i="0">
                <a:solidFill>
                  <a:srgbClr val="003060"/>
                </a:solidFill>
                <a:latin typeface="Libre Baskerville"/>
              </a:rPr>
              <a:t>What I've Learned In 11 Years</a:t>
            </a:r>
          </a:p>
        </p:txBody>
      </p:sp>
      <p:sp>
        <p:nvSpPr>
          <p:cNvPr id="326" name="TextBox 325"/>
          <p:cNvSpPr txBox="1"/>
          <p:nvPr/>
        </p:nvSpPr>
        <p:spPr>
          <a:xfrm>
            <a:off x="457200" y="960000"/>
            <a:ext cx="8229600" cy="4003500"/>
          </a:xfrm>
          <a:prstGeom prst="rect">
            <a:avLst/>
          </a:prstGeom>
          <a:noFill/>
        </p:spPr>
        <p:txBody>
          <a:bodyPr wrap="square" lIns="0" rIns="0" tIns="0" bIns="0" anchor="ctr"/>
          <a:lstStyle/>
          <a:p>
            <a:pPr algn="ctr">
              <a:lnSpc>
                <a:spcPct val="130000"/>
              </a:lnSpc>
              <a:spcAft>
                <a:spcPts val="1400"/>
              </a:spcAft>
            </a:pPr>
            <a:r>
              <a:rPr sz="1800" b="0" i="0">
                <a:solidFill>
                  <a:srgbClr val="003060"/>
                </a:solidFill>
                <a:latin typeface="Alegreya Sans"/>
              </a:rPr>
              <a:t>After working with clients for over 11 years I realised that MOST struggle with consistency.</a:t>
            </a:r>
          </a:p>
          <a:p>
            <a:pPr algn="ctr">
              <a:lnSpc>
                <a:spcPct val="130000"/>
              </a:lnSpc>
              <a:spcAft>
                <a:spcPts val="1400"/>
              </a:spcAft>
            </a:pPr>
            <a:r>
              <a:rPr sz="1800" b="0" i="0">
                <a:solidFill>
                  <a:srgbClr val="003060"/>
                </a:solidFill>
                <a:latin typeface="Alegreya Sans"/>
              </a:rPr>
              <a:t>They give up shortly after starting. They fall off the wagon. They are not self-accountable.</a:t>
            </a:r>
          </a:p>
          <a:p>
            <a:pPr algn="ctr">
              <a:spcAft>
                <a:spcPts val="2200"/>
              </a:spcAft>
            </a:pPr>
            <a:r>
              <a:rPr sz="1800" b="1" i="0">
                <a:solidFill>
                  <a:srgbClr val="003060"/>
                </a:solidFill>
                <a:latin typeface="Alegreya Sans"/>
              </a:rPr>
              <a:t>This is a recurring pattern.</a:t>
            </a:r>
          </a:p>
          <a:p>
            <a:pPr algn="ctr"/>
            <a:r>
              <a:rPr sz="2200" b="1" i="1">
                <a:solidFill>
                  <a:srgbClr val="F79F83"/>
                </a:solidFill>
                <a:latin typeface="Libre Baskerville"/>
              </a:rPr>
              <a:t>People need help with cementing new habits and routines.</a:t>
            </a: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330" name="Shape 330"/>
        <p:cNvGrpSpPr/>
        <p:nvPr/>
      </p:nvGrpSpPr>
      <p:grpSpPr>
        <a:xfrm>
          <a:off x="0" y="0"/>
          <a:ext cx="0" cy="0"/>
          <a:chOff x="0" y="0"/>
          <a:chExt cx="0" cy="0"/>
        </a:xfrm>
      </p:grpSpPr>
      <p:sp>
        <p:nvSpPr>
          <p:cNvPr id="331" name="TextBox 330"/>
          <p:cNvSpPr txBox="1"/>
          <p:nvPr/>
        </p:nvSpPr>
        <p:spPr>
          <a:xfrm>
            <a:off x="457200" y="280000"/>
            <a:ext cx="8229600" cy="610000"/>
          </a:xfrm>
          <a:prstGeom prst="rect">
            <a:avLst/>
          </a:prstGeom>
          <a:noFill/>
        </p:spPr>
        <p:txBody>
          <a:bodyPr wrap="square" lIns="0" rIns="0" tIns="0" bIns="0" anchor="t"/>
          <a:lstStyle/>
          <a:p>
            <a:pPr algn="ctr"/>
            <a:r>
              <a:rPr sz="2800" b="1" i="0">
                <a:solidFill>
                  <a:srgbClr val="003060"/>
                </a:solidFill>
                <a:latin typeface="Libre Baskerville"/>
              </a:rPr>
              <a:t>The Power Of Coaching</a:t>
            </a:r>
          </a:p>
        </p:txBody>
      </p:sp>
      <p:sp>
        <p:nvSpPr>
          <p:cNvPr id="332" name="TextBox 331"/>
          <p:cNvSpPr txBox="1"/>
          <p:nvPr/>
        </p:nvSpPr>
        <p:spPr>
          <a:xfrm>
            <a:off x="457200" y="960000"/>
            <a:ext cx="8229600" cy="4003500"/>
          </a:xfrm>
          <a:prstGeom prst="rect">
            <a:avLst/>
          </a:prstGeom>
          <a:noFill/>
        </p:spPr>
        <p:txBody>
          <a:bodyPr wrap="square" lIns="0" rIns="0" tIns="0" bIns="0" anchor="ctr"/>
          <a:lstStyle/>
          <a:p>
            <a:pPr algn="ctr">
              <a:lnSpc>
                <a:spcPct val="130000"/>
              </a:lnSpc>
              <a:spcAft>
                <a:spcPts val="800"/>
              </a:spcAft>
            </a:pPr>
            <a:r>
              <a:rPr sz="1900" b="0" i="0">
                <a:solidFill>
                  <a:srgbClr val="003060"/>
                </a:solidFill>
                <a:latin typeface="Alegreya Sans"/>
              </a:rPr>
              <a:t>People underestimate the power of coaching and accountability.</a:t>
            </a:r>
          </a:p>
          <a:p>
            <a:pPr algn="ctr">
              <a:spcAft>
                <a:spcPts val="2600"/>
              </a:spcAft>
            </a:pPr>
            <a:r>
              <a:rPr sz="2200" b="1" i="1">
                <a:solidFill>
                  <a:srgbClr val="F79F83"/>
                </a:solidFill>
                <a:latin typeface="Libre Baskerville"/>
              </a:rPr>
              <a:t>This is what really keeps people focused, motivated and consistent.</a:t>
            </a:r>
          </a:p>
          <a:p>
            <a:pPr algn="ctr">
              <a:spcAft>
                <a:spcPts val="400"/>
              </a:spcAft>
            </a:pPr>
            <a:r>
              <a:rPr sz="1800" b="0" i="0">
                <a:solidFill>
                  <a:srgbClr val="003060"/>
                </a:solidFill>
                <a:latin typeface="Alegreya Sans"/>
              </a:rPr>
              <a:t>Because without it, people let themselves off the hook,</a:t>
            </a:r>
          </a:p>
          <a:p>
            <a:pPr algn="ctr"/>
            <a:r>
              <a:rPr sz="1800" b="0" i="0">
                <a:solidFill>
                  <a:srgbClr val="003060"/>
                </a:solidFill>
                <a:latin typeface="Alegreya Sans"/>
              </a:rPr>
              <a:t>give up quickly, and give in to negative mindsets.</a:t>
            </a: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336" name="Shape 336"/>
        <p:cNvGrpSpPr/>
        <p:nvPr/>
      </p:nvGrpSpPr>
      <p:grpSpPr>
        <a:xfrm>
          <a:off x="0" y="0"/>
          <a:ext cx="0" cy="0"/>
          <a:chOff x="0" y="0"/>
          <a:chExt cx="0" cy="0"/>
        </a:xfrm>
      </p:grpSpPr>
      <p:sp>
        <p:nvSpPr>
          <p:cNvPr id="337" name="Google Shape;337;p60"/>
          <p:cNvSpPr txBox="1"/>
          <p:nvPr>
            <p:ph type="title"/>
          </p:nvPr>
        </p:nvSpPr>
        <p:spPr>
          <a:xfrm>
            <a:off x="457200" y="274000"/>
            <a:ext cx="8229600" cy="6200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b="1" lang="en-GB" sz="2800">
                <a:solidFill>
                  <a:srgbClr val="003060"/>
                </a:solidFill>
                <a:latin typeface="Libre Baskerville"/>
                <a:ea typeface="Lato"/>
                <a:cs typeface="Lato"/>
                <a:sym typeface="Lato"/>
              </a:rPr>
              <a:t>Do You Do This?</a:t>
            </a:r>
            <a:endParaRPr b="1">
              <a:solidFill>
                <a:srgbClr val="434343"/>
              </a:solidFill>
              <a:latin typeface="Lato"/>
              <a:ea typeface="Lato"/>
              <a:cs typeface="Lato"/>
              <a:sym typeface="Lato"/>
            </a:endParaRPr>
          </a:p>
        </p:txBody>
      </p:sp>
      <p:sp>
        <p:nvSpPr>
          <p:cNvPr id="338" name="Google Shape;338;p60"/>
          <p:cNvSpPr txBox="1"/>
          <p:nvPr>
            <p:ph idx="1" type="body"/>
          </p:nvPr>
        </p:nvSpPr>
        <p:spPr>
          <a:xfrm>
            <a:off x="311700" y="919725"/>
            <a:ext cx="8520600" cy="3754200"/>
          </a:xfrm>
          <a:prstGeom prst="rect">
            <a:avLst/>
          </a:prstGeom>
        </p:spPr>
        <p:txBody>
          <a:bodyPr anchorCtr="0" anchor="t" bIns="45700" lIns="91425" spcFirstLastPara="1" rIns="91425" wrap="square" tIns="45700">
            <a:noAutofit/>
          </a:bodyPr>
          <a:lstStyle/>
          <a:p>
            <a:pPr indent="-323850" lvl="0" marL="457200" rtl="0" algn="l">
              <a:spcBef>
                <a:spcPts val="640"/>
              </a:spcBef>
              <a:spcAft>
                <a:spcPts val="0"/>
              </a:spcAft>
              <a:buClr>
                <a:srgbClr val="434343"/>
              </a:buClr>
              <a:buSzPts val="1500"/>
              <a:buFont typeface="Lato"/>
              <a:buChar char="•"/>
            </a:pPr>
            <a:r>
              <a:rPr lang="en-GB" sz="1500">
                <a:solidFill>
                  <a:srgbClr val="003060"/>
                </a:solidFill>
                <a:latin typeface="Alegreya Sans"/>
                <a:ea typeface="Lato"/>
                <a:cs typeface="Lato"/>
                <a:sym typeface="Lato"/>
              </a:rPr>
              <a:t>Start your weight loss journey but then stop within days or maybe sometimes weeks?</a:t>
            </a:r>
            <a:br>
              <a:rPr lang="en-GB" sz="1500">
                <a:solidFill>
                  <a:srgbClr val="434343"/>
                </a:solidFill>
                <a:latin typeface="Lato"/>
                <a:ea typeface="Lato"/>
                <a:cs typeface="Lato"/>
                <a:sym typeface="Lato"/>
              </a:rPr>
            </a:br>
            <a:endParaRPr sz="1500">
              <a:solidFill>
                <a:srgbClr val="434343"/>
              </a:solidFill>
              <a:latin typeface="Lato"/>
              <a:ea typeface="Lato"/>
              <a:cs typeface="Lato"/>
              <a:sym typeface="Lato"/>
            </a:endParaRPr>
          </a:p>
          <a:p>
            <a:pPr indent="-323850" lvl="0" marL="457200" rtl="0" algn="l">
              <a:spcBef>
                <a:spcPts val="640"/>
              </a:spcBef>
              <a:spcAft>
                <a:spcPts val="0"/>
              </a:spcAft>
              <a:buClr>
                <a:srgbClr val="434343"/>
              </a:buClr>
              <a:buSzPts val="1500"/>
              <a:buFont typeface="Lato"/>
              <a:buChar char="•"/>
            </a:pPr>
            <a:r>
              <a:rPr lang="en-GB" sz="1500">
                <a:solidFill>
                  <a:srgbClr val="003060"/>
                </a:solidFill>
                <a:latin typeface="Alegreya Sans"/>
                <a:ea typeface="Lato"/>
                <a:cs typeface="Lato"/>
                <a:sym typeface="Lato"/>
              </a:rPr>
              <a:t>Give up too quickly?</a:t>
            </a:r>
            <a:br>
              <a:rPr lang="en-GB" sz="1500">
                <a:solidFill>
                  <a:srgbClr val="434343"/>
                </a:solidFill>
                <a:latin typeface="Lato"/>
                <a:ea typeface="Lato"/>
                <a:cs typeface="Lato"/>
                <a:sym typeface="Lato"/>
              </a:rPr>
            </a:br>
            <a:endParaRPr sz="1500">
              <a:solidFill>
                <a:srgbClr val="434343"/>
              </a:solidFill>
              <a:latin typeface="Lato"/>
              <a:ea typeface="Lato"/>
              <a:cs typeface="Lato"/>
              <a:sym typeface="Lato"/>
            </a:endParaRPr>
          </a:p>
          <a:p>
            <a:pPr indent="-323850" lvl="0" marL="457200" rtl="0" algn="l">
              <a:spcBef>
                <a:spcPts val="640"/>
              </a:spcBef>
              <a:spcAft>
                <a:spcPts val="0"/>
              </a:spcAft>
              <a:buClr>
                <a:srgbClr val="434343"/>
              </a:buClr>
              <a:buSzPts val="1500"/>
              <a:buFont typeface="Lato"/>
              <a:buChar char="•"/>
            </a:pPr>
            <a:r>
              <a:rPr lang="en-GB" sz="1500">
                <a:solidFill>
                  <a:srgbClr val="003060"/>
                </a:solidFill>
                <a:latin typeface="Alegreya Sans"/>
                <a:ea typeface="Lato"/>
                <a:cs typeface="Lato"/>
                <a:sym typeface="Lato"/>
              </a:rPr>
              <a:t>Can’t get yourself to take action consistently?</a:t>
            </a:r>
            <a:br>
              <a:rPr lang="en-GB" sz="1500">
                <a:solidFill>
                  <a:srgbClr val="434343"/>
                </a:solidFill>
                <a:latin typeface="Lato"/>
                <a:ea typeface="Lato"/>
                <a:cs typeface="Lato"/>
                <a:sym typeface="Lato"/>
              </a:rPr>
            </a:br>
            <a:endParaRPr sz="1500">
              <a:solidFill>
                <a:srgbClr val="434343"/>
              </a:solidFill>
              <a:latin typeface="Lato"/>
              <a:ea typeface="Lato"/>
              <a:cs typeface="Lato"/>
              <a:sym typeface="Lato"/>
            </a:endParaRPr>
          </a:p>
          <a:p>
            <a:pPr indent="-323850" lvl="0" marL="457200" rtl="0" algn="l">
              <a:spcBef>
                <a:spcPts val="640"/>
              </a:spcBef>
              <a:spcAft>
                <a:spcPts val="0"/>
              </a:spcAft>
              <a:buClr>
                <a:srgbClr val="434343"/>
              </a:buClr>
              <a:buSzPts val="1500"/>
              <a:buFont typeface="Lato"/>
              <a:buChar char="•"/>
            </a:pPr>
            <a:r>
              <a:rPr lang="en-GB" sz="1500">
                <a:solidFill>
                  <a:srgbClr val="003060"/>
                </a:solidFill>
                <a:latin typeface="Alegreya Sans"/>
                <a:ea typeface="Lato"/>
                <a:cs typeface="Lato"/>
                <a:sym typeface="Lato"/>
              </a:rPr>
              <a:t>Lose and gain the same weight over and over?</a:t>
            </a:r>
            <a:br>
              <a:rPr lang="en-GB" sz="1500">
                <a:solidFill>
                  <a:srgbClr val="434343"/>
                </a:solidFill>
                <a:latin typeface="Lato"/>
                <a:ea typeface="Lato"/>
                <a:cs typeface="Lato"/>
                <a:sym typeface="Lato"/>
              </a:rPr>
            </a:br>
            <a:endParaRPr sz="1500">
              <a:solidFill>
                <a:srgbClr val="434343"/>
              </a:solidFill>
              <a:latin typeface="Lato"/>
              <a:ea typeface="Lato"/>
              <a:cs typeface="Lato"/>
              <a:sym typeface="Lato"/>
            </a:endParaRPr>
          </a:p>
          <a:p>
            <a:pPr indent="-323850" lvl="0" marL="457200" rtl="0" algn="l">
              <a:spcBef>
                <a:spcPts val="640"/>
              </a:spcBef>
              <a:spcAft>
                <a:spcPts val="0"/>
              </a:spcAft>
              <a:buClr>
                <a:srgbClr val="434343"/>
              </a:buClr>
              <a:buSzPts val="1500"/>
              <a:buFont typeface="Lato"/>
              <a:buChar char="•"/>
            </a:pPr>
            <a:r>
              <a:rPr lang="en-GB" sz="1500">
                <a:solidFill>
                  <a:srgbClr val="003060"/>
                </a:solidFill>
                <a:latin typeface="Alegreya Sans"/>
                <a:ea typeface="Lato"/>
                <a:cs typeface="Lato"/>
                <a:sym typeface="Lato"/>
              </a:rPr>
              <a:t>Have all the cookbooks in the world but are not at your goal?</a:t>
            </a:r>
            <a:endParaRPr sz="1500">
              <a:solidFill>
                <a:srgbClr val="434343"/>
              </a:solidFill>
              <a:latin typeface="Lato"/>
              <a:ea typeface="Lato"/>
              <a:cs typeface="Lato"/>
              <a:sym typeface="Lato"/>
            </a:endParaRPr>
          </a:p>
          <a:p>
            <a:pPr indent="0" lvl="0" marL="0" rtl="0" algn="l">
              <a:spcBef>
                <a:spcPts val="640"/>
              </a:spcBef>
              <a:spcAft>
                <a:spcPts val="0"/>
              </a:spcAft>
              <a:buNone/>
            </a:pPr>
            <a:r>
              <a:rPr>
                <a:solidFill>
                  <a:srgbClr val="003060"/>
                </a:solidFill>
                <a:latin typeface="Alegreya Sans"/>
              </a:rPr>
              <a:t/>
            </a:r>
            <a:endParaRPr sz="1500">
              <a:solidFill>
                <a:srgbClr val="434343"/>
              </a:solidFill>
              <a:latin typeface="Lato"/>
              <a:ea typeface="Lato"/>
              <a:cs typeface="Lato"/>
              <a:sym typeface="Lato"/>
            </a:endParaRPr>
          </a:p>
          <a:p>
            <a:pPr indent="0" lvl="0" marL="0" rtl="0" algn="l">
              <a:spcBef>
                <a:spcPts val="640"/>
              </a:spcBef>
              <a:spcAft>
                <a:spcPts val="0"/>
              </a:spcAft>
              <a:buNone/>
            </a:pPr>
            <a:r>
              <a:rPr lang="en-GB" sz="1500">
                <a:solidFill>
                  <a:srgbClr val="003060"/>
                </a:solidFill>
                <a:latin typeface="Alegreya Sans"/>
                <a:ea typeface="Lato"/>
                <a:cs typeface="Lato"/>
                <a:sym typeface="Lato"/>
              </a:rPr>
              <a:t>If this is you…. you have an action, accountability, application and implementation problem and this is why high accountability would make you take action!!</a:t>
            </a:r>
            <a:endParaRPr sz="1500">
              <a:solidFill>
                <a:srgbClr val="434343"/>
              </a:solidFill>
              <a:latin typeface="Lato"/>
              <a:ea typeface="Lato"/>
              <a:cs typeface="Lato"/>
              <a:sym typeface="Lato"/>
            </a:endParaRPr>
          </a:p>
          <a:p>
            <a:pPr indent="0" lvl="0" marL="457200" rtl="0" algn="l">
              <a:spcBef>
                <a:spcPts val="640"/>
              </a:spcBef>
              <a:spcAft>
                <a:spcPts val="0"/>
              </a:spcAft>
              <a:buNone/>
            </a:pPr>
            <a:r>
              <a:rPr>
                <a:solidFill>
                  <a:srgbClr val="003060"/>
                </a:solidFill>
                <a:latin typeface="Alegreya Sans"/>
              </a:rPr>
              <a:t/>
            </a:r>
            <a:endParaRPr sz="1500">
              <a:solidFill>
                <a:srgbClr val="434343"/>
              </a:solidFill>
              <a:latin typeface="Lato"/>
              <a:ea typeface="Lato"/>
              <a:cs typeface="Lato"/>
              <a:sym typeface="Lato"/>
            </a:endParaRPr>
          </a:p>
          <a:p>
            <a:pPr indent="0" lvl="0" marL="457200" rtl="0" algn="l">
              <a:spcBef>
                <a:spcPts val="640"/>
              </a:spcBef>
              <a:spcAft>
                <a:spcPts val="0"/>
              </a:spcAft>
              <a:buNone/>
            </a:pPr>
            <a:r>
              <a:rPr>
                <a:solidFill>
                  <a:srgbClr val="003060"/>
                </a:solidFill>
                <a:latin typeface="Alegreya Sans"/>
              </a:rPr>
              <a:t/>
            </a:r>
            <a:endParaRPr sz="1500">
              <a:solidFill>
                <a:srgbClr val="434343"/>
              </a:solidFill>
              <a:latin typeface="Lato"/>
              <a:ea typeface="Lato"/>
              <a:cs typeface="Lato"/>
              <a:sym typeface="Lato"/>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343" name="Shape 343"/>
        <p:cNvGrpSpPr/>
        <p:nvPr/>
      </p:nvGrpSpPr>
      <p:grpSpPr>
        <a:xfrm>
          <a:off x="0" y="0"/>
          <a:ext cx="0" cy="0"/>
          <a:chOff x="0" y="0"/>
          <a:chExt cx="0" cy="0"/>
        </a:xfrm>
      </p:grpSpPr>
      <p:sp>
        <p:nvSpPr>
          <p:cNvPr id="344" name="Google Shape;344;p61"/>
          <p:cNvSpPr txBox="1"/>
          <p:nvPr>
            <p:ph type="title"/>
          </p:nvPr>
        </p:nvSpPr>
        <p:spPr>
          <a:xfrm>
            <a:off x="457200" y="274000"/>
            <a:ext cx="8229600" cy="6200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SzPts val="990"/>
              <a:buNone/>
            </a:pPr>
            <a:r>
              <a:rPr b="1" lang="en-GB" sz="2800">
                <a:solidFill>
                  <a:srgbClr val="003060"/>
                </a:solidFill>
                <a:latin typeface="Libre Baskerville"/>
                <a:ea typeface="Lato"/>
                <a:cs typeface="Lato"/>
                <a:sym typeface="Lato"/>
              </a:rPr>
              <a:t>Accountability Is The Secret To Great Results</a:t>
            </a:r>
            <a:endParaRPr b="1" sz="3260">
              <a:solidFill>
                <a:srgbClr val="434343"/>
              </a:solidFill>
              <a:latin typeface="Lato"/>
              <a:ea typeface="Lato"/>
              <a:cs typeface="Lato"/>
              <a:sym typeface="Lato"/>
            </a:endParaRPr>
          </a:p>
        </p:txBody>
      </p:sp>
      <p:sp>
        <p:nvSpPr>
          <p:cNvPr id="345" name="Google Shape;345;p61"/>
          <p:cNvSpPr txBox="1"/>
          <p:nvPr>
            <p:ph idx="1" type="body"/>
          </p:nvPr>
        </p:nvSpPr>
        <p:spPr>
          <a:xfrm>
            <a:off x="311700" y="1042950"/>
            <a:ext cx="8520600" cy="3066600"/>
          </a:xfrm>
          <a:prstGeom prst="rect">
            <a:avLst/>
          </a:prstGeom>
        </p:spPr>
        <p:txBody>
          <a:bodyPr anchorCtr="0" anchor="t" bIns="45700" lIns="91425" spcFirstLastPara="1" rIns="91425" wrap="square" tIns="45700">
            <a:noAutofit/>
          </a:bodyPr>
          <a:lstStyle/>
          <a:p>
            <a:pPr indent="-323850" lvl="0" marL="457200" rtl="0" algn="l">
              <a:spcBef>
                <a:spcPts val="640"/>
              </a:spcBef>
              <a:spcAft>
                <a:spcPts val="0"/>
              </a:spcAft>
              <a:buClr>
                <a:srgbClr val="434343"/>
              </a:buClr>
              <a:buSzPts val="1500"/>
              <a:buFont typeface="Lato"/>
              <a:buChar char="•"/>
            </a:pPr>
            <a:r>
              <a:rPr b="1" lang="en-GB" sz="1500">
                <a:solidFill>
                  <a:srgbClr val="003060"/>
                </a:solidFill>
                <a:latin typeface="Alegreya Sans"/>
                <a:ea typeface="Lato"/>
                <a:cs typeface="Lato"/>
                <a:sym typeface="Lato"/>
              </a:rPr>
              <a:t>Consistent Support:</a:t>
            </a:r>
            <a:r>
              <a:rPr lang="en-GB" sz="1500">
                <a:solidFill>
                  <a:srgbClr val="003060"/>
                </a:solidFill>
                <a:latin typeface="Alegreya Sans"/>
                <a:ea typeface="Lato"/>
                <a:cs typeface="Lato"/>
                <a:sym typeface="Lato"/>
              </a:rPr>
              <a:t> Regular check-ins keep individuals motivated and on track. When setbacks occur, we can navigate challenges and prevents a spiral back into old habits.</a:t>
            </a:r>
            <a:br>
              <a:rPr lang="en-GB" sz="1500">
                <a:solidFill>
                  <a:srgbClr val="434343"/>
                </a:solidFill>
                <a:latin typeface="Lato"/>
                <a:ea typeface="Lato"/>
                <a:cs typeface="Lato"/>
                <a:sym typeface="Lato"/>
              </a:rPr>
            </a:br>
            <a:endParaRPr sz="1500">
              <a:solidFill>
                <a:srgbClr val="434343"/>
              </a:solidFill>
              <a:latin typeface="Lato"/>
              <a:ea typeface="Lato"/>
              <a:cs typeface="Lato"/>
              <a:sym typeface="Lato"/>
            </a:endParaRPr>
          </a:p>
          <a:p>
            <a:pPr indent="-323850" lvl="0" marL="457200" rtl="0" algn="l">
              <a:spcBef>
                <a:spcPts val="640"/>
              </a:spcBef>
              <a:spcAft>
                <a:spcPts val="0"/>
              </a:spcAft>
              <a:buClr>
                <a:srgbClr val="434343"/>
              </a:buClr>
              <a:buSzPts val="1500"/>
              <a:buFont typeface="Lato"/>
              <a:buChar char="•"/>
            </a:pPr>
            <a:r>
              <a:rPr b="1" lang="en-GB" sz="1500">
                <a:solidFill>
                  <a:srgbClr val="003060"/>
                </a:solidFill>
                <a:latin typeface="Alegreya Sans"/>
                <a:ea typeface="Lato"/>
                <a:cs typeface="Lato"/>
                <a:sym typeface="Lato"/>
              </a:rPr>
              <a:t>Accountability Increases Commitment: </a:t>
            </a:r>
            <a:r>
              <a:rPr lang="en-GB" sz="1500">
                <a:solidFill>
                  <a:srgbClr val="003060"/>
                </a:solidFill>
                <a:latin typeface="Alegreya Sans"/>
                <a:ea typeface="Lato"/>
                <a:cs typeface="Lato"/>
                <a:sym typeface="Lato"/>
              </a:rPr>
              <a:t>Knowing that someone else is monitoring progress motivates individuals to stay committed to their goals. This accountability reduces the likelihood of quitting when motivation wanes or when temptations arise.</a:t>
            </a:r>
            <a:br>
              <a:rPr lang="en-GB" sz="1500">
                <a:solidFill>
                  <a:srgbClr val="434343"/>
                </a:solidFill>
                <a:latin typeface="Lato"/>
                <a:ea typeface="Lato"/>
                <a:cs typeface="Lato"/>
                <a:sym typeface="Lato"/>
              </a:rPr>
            </a:br>
            <a:endParaRPr sz="1500">
              <a:solidFill>
                <a:srgbClr val="434343"/>
              </a:solidFill>
              <a:latin typeface="Lato"/>
              <a:ea typeface="Lato"/>
              <a:cs typeface="Lato"/>
              <a:sym typeface="Lato"/>
            </a:endParaRPr>
          </a:p>
          <a:p>
            <a:pPr indent="-323850" lvl="0" marL="457200" rtl="0" algn="l">
              <a:spcBef>
                <a:spcPts val="640"/>
              </a:spcBef>
              <a:spcAft>
                <a:spcPts val="0"/>
              </a:spcAft>
              <a:buClr>
                <a:srgbClr val="434343"/>
              </a:buClr>
              <a:buSzPts val="1500"/>
              <a:buFont typeface="Lato"/>
              <a:buChar char="•"/>
            </a:pPr>
            <a:r>
              <a:rPr b="1" lang="en-GB" sz="1500">
                <a:solidFill>
                  <a:srgbClr val="003060"/>
                </a:solidFill>
                <a:latin typeface="Alegreya Sans"/>
                <a:ea typeface="Lato"/>
                <a:cs typeface="Lato"/>
                <a:sym typeface="Lato"/>
              </a:rPr>
              <a:t>Encourages Action: </a:t>
            </a:r>
            <a:r>
              <a:rPr lang="en-GB" sz="1500">
                <a:solidFill>
                  <a:srgbClr val="003060"/>
                </a:solidFill>
                <a:latin typeface="Alegreya Sans"/>
                <a:ea typeface="Lato"/>
                <a:cs typeface="Lato"/>
                <a:sym typeface="Lato"/>
              </a:rPr>
              <a:t>Accountability creates a sense of responsibility to take consistent action, turning intentions into concrete results. This constant action over time leads to sustainable weight loss rather than temporary success.</a:t>
            </a:r>
            <a:endParaRPr sz="1500">
              <a:solidFill>
                <a:srgbClr val="434343"/>
              </a:solidFill>
              <a:latin typeface="Lato"/>
              <a:ea typeface="Lato"/>
              <a:cs typeface="Lato"/>
              <a:sym typeface="Lato"/>
            </a:endParaRPr>
          </a:p>
          <a:p>
            <a:pPr indent="0" lvl="0" marL="457200" rtl="0" algn="l">
              <a:spcBef>
                <a:spcPts val="640"/>
              </a:spcBef>
              <a:spcAft>
                <a:spcPts val="0"/>
              </a:spcAft>
              <a:buNone/>
            </a:pPr>
            <a:r>
              <a:rPr>
                <a:solidFill>
                  <a:srgbClr val="003060"/>
                </a:solidFill>
                <a:latin typeface="Alegreya Sans"/>
              </a:rPr>
              <a:t/>
            </a:r>
            <a:endParaRPr sz="1500">
              <a:solidFill>
                <a:srgbClr val="434343"/>
              </a:solidFill>
              <a:latin typeface="Lato"/>
              <a:ea typeface="Lato"/>
              <a:cs typeface="Lato"/>
              <a:sym typeface="Lato"/>
            </a:endParaRPr>
          </a:p>
          <a:p>
            <a:pPr indent="0" lvl="0" marL="457200" rtl="0" algn="l">
              <a:spcBef>
                <a:spcPts val="640"/>
              </a:spcBef>
              <a:spcAft>
                <a:spcPts val="0"/>
              </a:spcAft>
              <a:buNone/>
            </a:pPr>
            <a:r>
              <a:rPr>
                <a:solidFill>
                  <a:srgbClr val="003060"/>
                </a:solidFill>
                <a:latin typeface="Alegreya Sans"/>
              </a:rPr>
              <a:t/>
            </a:r>
            <a:endParaRPr sz="1500">
              <a:solidFill>
                <a:srgbClr val="434343"/>
              </a:solidFill>
              <a:latin typeface="Lato"/>
              <a:ea typeface="Lato"/>
              <a:cs typeface="Lato"/>
              <a:sym typeface="Lato"/>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350" name="Shape 350"/>
        <p:cNvGrpSpPr/>
        <p:nvPr/>
      </p:nvGrpSpPr>
      <p:grpSpPr>
        <a:xfrm>
          <a:off x="0" y="0"/>
          <a:ext cx="0" cy="0"/>
          <a:chOff x="0" y="0"/>
          <a:chExt cx="0" cy="0"/>
        </a:xfrm>
      </p:grpSpPr>
      <p:sp>
        <p:nvSpPr>
          <p:cNvPr id="351" name="TextBox 350"/>
          <p:cNvSpPr txBox="1"/>
          <p:nvPr/>
        </p:nvSpPr>
        <p:spPr>
          <a:xfrm>
            <a:off x="457200" y="280000"/>
            <a:ext cx="8229600" cy="610000"/>
          </a:xfrm>
          <a:prstGeom prst="rect">
            <a:avLst/>
          </a:prstGeom>
          <a:noFill/>
        </p:spPr>
        <p:txBody>
          <a:bodyPr wrap="square" lIns="0" rIns="0" tIns="0" bIns="0" anchor="t"/>
          <a:lstStyle/>
          <a:p>
            <a:pPr algn="ctr"/>
            <a:r>
              <a:rPr sz="2800" b="1" i="0">
                <a:solidFill>
                  <a:srgbClr val="003060"/>
                </a:solidFill>
                <a:latin typeface="Libre Baskerville"/>
              </a:rPr>
              <a:t>How Do You Be Consistent?</a:t>
            </a:r>
          </a:p>
        </p:txBody>
      </p:sp>
      <p:sp>
        <p:nvSpPr>
          <p:cNvPr id="352" name="TextBox 351"/>
          <p:cNvSpPr txBox="1"/>
          <p:nvPr/>
        </p:nvSpPr>
        <p:spPr>
          <a:xfrm>
            <a:off x="457200" y="960000"/>
            <a:ext cx="8229600" cy="4003500"/>
          </a:xfrm>
          <a:prstGeom prst="rect">
            <a:avLst/>
          </a:prstGeom>
          <a:noFill/>
        </p:spPr>
        <p:txBody>
          <a:bodyPr wrap="square" lIns="0" rIns="0" tIns="0" bIns="0" anchor="ctr"/>
          <a:lstStyle/>
          <a:p>
            <a:pPr algn="ctr">
              <a:spcAft>
                <a:spcPts val="2600"/>
              </a:spcAft>
            </a:pPr>
            <a:r>
              <a:rPr sz="2200" b="1" i="1">
                <a:solidFill>
                  <a:srgbClr val="F79F83"/>
                </a:solidFill>
                <a:latin typeface="Libre Baskerville"/>
              </a:rPr>
              <a:t>If you can't be consistent on your own…</a:t>
            </a:r>
          </a:p>
          <a:p>
            <a:pPr algn="ctr"/>
            <a:r>
              <a:rPr sz="2000" b="1" i="0">
                <a:solidFill>
                  <a:srgbClr val="003060"/>
                </a:solidFill>
                <a:latin typeface="Alegreya Sans"/>
              </a:rPr>
              <a:t>Get accountability and support so you stay consistent.</a:t>
            </a: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356" name="Shape 356"/>
        <p:cNvGrpSpPr/>
        <p:nvPr/>
      </p:nvGrpSpPr>
      <p:grpSpPr>
        <a:xfrm>
          <a:off x="0" y="0"/>
          <a:ext cx="0" cy="0"/>
          <a:chOff x="0" y="0"/>
          <a:chExt cx="0" cy="0"/>
        </a:xfrm>
      </p:grpSpPr>
      <p:sp>
        <p:nvSpPr>
          <p:cNvPr id="357" name="TextBox 356"/>
          <p:cNvSpPr txBox="1"/>
          <p:nvPr/>
        </p:nvSpPr>
        <p:spPr>
          <a:xfrm>
            <a:off x="457200" y="280000"/>
            <a:ext cx="8229600" cy="610000"/>
          </a:xfrm>
          <a:prstGeom prst="rect">
            <a:avLst/>
          </a:prstGeom>
          <a:noFill/>
        </p:spPr>
        <p:txBody>
          <a:bodyPr wrap="square" lIns="0" rIns="0" tIns="0" bIns="0" anchor="t"/>
          <a:lstStyle/>
          <a:p>
            <a:pPr algn="ctr"/>
            <a:r>
              <a:rPr sz="2800" b="1" i="0">
                <a:solidFill>
                  <a:srgbClr val="003060"/>
                </a:solidFill>
                <a:latin typeface="Libre Baskerville"/>
              </a:rPr>
              <a:t>Even Athletes Have Coaches</a:t>
            </a:r>
          </a:p>
        </p:txBody>
      </p:sp>
      <p:sp>
        <p:nvSpPr>
          <p:cNvPr id="358" name="TextBox 357"/>
          <p:cNvSpPr txBox="1"/>
          <p:nvPr/>
        </p:nvSpPr>
        <p:spPr>
          <a:xfrm>
            <a:off x="457200" y="960000"/>
            <a:ext cx="8229600" cy="4003500"/>
          </a:xfrm>
          <a:prstGeom prst="rect">
            <a:avLst/>
          </a:prstGeom>
          <a:noFill/>
        </p:spPr>
        <p:txBody>
          <a:bodyPr wrap="square" lIns="0" rIns="0" tIns="0" bIns="0" anchor="ctr"/>
          <a:lstStyle/>
          <a:p>
            <a:pPr algn="ctr">
              <a:spcAft>
                <a:spcPts val="400"/>
              </a:spcAft>
            </a:pPr>
            <a:r>
              <a:rPr sz="1800" b="0" i="0">
                <a:solidFill>
                  <a:srgbClr val="003060"/>
                </a:solidFill>
                <a:latin typeface="Alegreya Sans"/>
              </a:rPr>
              <a:t>If an athlete performs better with a coach and accountability</a:t>
            </a:r>
          </a:p>
          <a:p>
            <a:pPr algn="ctr">
              <a:spcAft>
                <a:spcPts val="2600"/>
              </a:spcAft>
            </a:pPr>
            <a:r>
              <a:rPr sz="1800" b="0" i="1">
                <a:solidFill>
                  <a:srgbClr val="003060"/>
                </a:solidFill>
                <a:latin typeface="Alegreya Sans"/>
              </a:rPr>
              <a:t>in a skill that they are already a professional in…</a:t>
            </a:r>
          </a:p>
          <a:p>
            <a:pPr algn="ctr">
              <a:spcAft>
                <a:spcPts val="400"/>
              </a:spcAft>
            </a:pPr>
            <a:r>
              <a:rPr sz="2100" b="1" i="1">
                <a:solidFill>
                  <a:srgbClr val="F79F83"/>
                </a:solidFill>
                <a:latin typeface="Libre Baskerville"/>
              </a:rPr>
              <a:t>Imagine what the right accountability could do for you</a:t>
            </a:r>
          </a:p>
          <a:p>
            <a:pPr algn="ctr"/>
            <a:r>
              <a:rPr sz="2100" b="1" i="1">
                <a:solidFill>
                  <a:srgbClr val="F79F83"/>
                </a:solidFill>
                <a:latin typeface="Libre Baskerville"/>
              </a:rPr>
              <a:t>with something you struggle with.</a:t>
            </a: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362" name="Shape 362"/>
        <p:cNvGrpSpPr/>
        <p:nvPr/>
      </p:nvGrpSpPr>
      <p:grpSpPr>
        <a:xfrm>
          <a:off x="0" y="0"/>
          <a:ext cx="0" cy="0"/>
          <a:chOff x="0" y="0"/>
          <a:chExt cx="0" cy="0"/>
        </a:xfrm>
      </p:grpSpPr>
      <p:sp>
        <p:nvSpPr>
          <p:cNvPr id="363" name="TextBox 362"/>
          <p:cNvSpPr txBox="1"/>
          <p:nvPr/>
        </p:nvSpPr>
        <p:spPr>
          <a:xfrm>
            <a:off x="457200" y="280000"/>
            <a:ext cx="8229600" cy="610000"/>
          </a:xfrm>
          <a:prstGeom prst="rect">
            <a:avLst/>
          </a:prstGeom>
          <a:noFill/>
        </p:spPr>
        <p:txBody>
          <a:bodyPr wrap="square" lIns="0" rIns="0" tIns="0" bIns="0" anchor="t"/>
          <a:lstStyle/>
          <a:p>
            <a:pPr algn="ctr"/>
            <a:r>
              <a:rPr sz="2800" b="1" i="0">
                <a:solidFill>
                  <a:srgbClr val="003060"/>
                </a:solidFill>
                <a:latin typeface="Libre Baskerville"/>
              </a:rPr>
              <a:t>Lapse  →  Relapse  →  Collapse</a:t>
            </a:r>
          </a:p>
        </p:txBody>
      </p:sp>
      <p:sp>
        <p:nvSpPr>
          <p:cNvPr id="364" name="TextBox 363"/>
          <p:cNvSpPr txBox="1"/>
          <p:nvPr/>
        </p:nvSpPr>
        <p:spPr>
          <a:xfrm>
            <a:off x="457200" y="960000"/>
            <a:ext cx="8229600" cy="4003500"/>
          </a:xfrm>
          <a:prstGeom prst="rect">
            <a:avLst/>
          </a:prstGeom>
          <a:noFill/>
        </p:spPr>
        <p:txBody>
          <a:bodyPr wrap="square" lIns="0" rIns="0" tIns="0" bIns="0" anchor="ctr"/>
          <a:lstStyle/>
          <a:p>
            <a:pPr algn="ctr">
              <a:spcAft>
                <a:spcPts val="600"/>
              </a:spcAft>
            </a:pPr>
            <a:r>
              <a:rPr sz="2600" b="1" i="0">
                <a:solidFill>
                  <a:srgbClr val="003060"/>
                </a:solidFill>
                <a:latin typeface="Libre Baskerville"/>
              </a:rPr>
              <a:t>Lapse  </a:t>
            </a:r>
            <a:r>
              <a:rPr sz="1700" b="0" i="1">
                <a:solidFill>
                  <a:srgbClr val="F79F83"/>
                </a:solidFill>
                <a:latin typeface="Libre Baskerville"/>
              </a:rPr>
              <a:t>— I feel guilty</a:t>
            </a:r>
          </a:p>
          <a:p>
            <a:pPr algn="ctr">
              <a:spcAft>
                <a:spcPts val="600"/>
              </a:spcAft>
            </a:pPr>
            <a:r>
              <a:rPr sz="2000" b="1" i="0">
                <a:solidFill>
                  <a:srgbClr val="F79F83"/>
                </a:solidFill>
                <a:latin typeface="Alegreya Sans"/>
              </a:rPr>
              <a:t>↓</a:t>
            </a:r>
          </a:p>
          <a:p>
            <a:pPr algn="ctr">
              <a:spcAft>
                <a:spcPts val="600"/>
              </a:spcAft>
            </a:pPr>
            <a:r>
              <a:rPr sz="2600" b="1" i="0">
                <a:solidFill>
                  <a:srgbClr val="003060"/>
                </a:solidFill>
                <a:latin typeface="Libre Baskerville"/>
              </a:rPr>
              <a:t>Relapse  </a:t>
            </a:r>
            <a:r>
              <a:rPr sz="1700" b="0" i="1">
                <a:solidFill>
                  <a:srgbClr val="F79F83"/>
                </a:solidFill>
                <a:latin typeface="Libre Baskerville"/>
              </a:rPr>
              <a:t>— fall off the wagon</a:t>
            </a:r>
          </a:p>
          <a:p>
            <a:pPr algn="ctr">
              <a:spcAft>
                <a:spcPts val="600"/>
              </a:spcAft>
            </a:pPr>
            <a:r>
              <a:rPr sz="2000" b="1" i="0">
                <a:solidFill>
                  <a:srgbClr val="F79F83"/>
                </a:solidFill>
                <a:latin typeface="Alegreya Sans"/>
              </a:rPr>
              <a:t>↓</a:t>
            </a:r>
          </a:p>
          <a:p>
            <a:pPr algn="ctr">
              <a:spcAft>
                <a:spcPts val="2200"/>
              </a:spcAft>
            </a:pPr>
            <a:r>
              <a:rPr sz="2600" b="1" i="0">
                <a:solidFill>
                  <a:srgbClr val="003060"/>
                </a:solidFill>
                <a:latin typeface="Libre Baskerville"/>
              </a:rPr>
              <a:t>Collapse  </a:t>
            </a:r>
            <a:r>
              <a:rPr sz="1700" b="0" i="1">
                <a:solidFill>
                  <a:srgbClr val="F79F83"/>
                </a:solidFill>
                <a:latin typeface="Libre Baskerville"/>
              </a:rPr>
              <a:t>— gain all weight back</a:t>
            </a:r>
          </a:p>
          <a:p>
            <a:pPr algn="ctr"/>
            <a:r>
              <a:rPr sz="2000" b="1" i="1">
                <a:solidFill>
                  <a:srgbClr val="F79F83"/>
                </a:solidFill>
                <a:latin typeface="Libre Baskerville"/>
              </a:rPr>
              <a:t>This is why coaching is fundamental.</a:t>
            </a: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368" name="Shape 368"/>
        <p:cNvGrpSpPr/>
        <p:nvPr/>
      </p:nvGrpSpPr>
      <p:grpSpPr>
        <a:xfrm>
          <a:off x="0" y="0"/>
          <a:ext cx="0" cy="0"/>
          <a:chOff x="0" y="0"/>
          <a:chExt cx="0" cy="0"/>
        </a:xfrm>
      </p:grpSpPr>
      <p:sp>
        <p:nvSpPr>
          <p:cNvPr id="369" name="TextBox 368"/>
          <p:cNvSpPr txBox="1"/>
          <p:nvPr/>
        </p:nvSpPr>
        <p:spPr>
          <a:xfrm>
            <a:off x="457200" y="280000"/>
            <a:ext cx="8229600" cy="610000"/>
          </a:xfrm>
          <a:prstGeom prst="rect">
            <a:avLst/>
          </a:prstGeom>
          <a:noFill/>
        </p:spPr>
        <p:txBody>
          <a:bodyPr wrap="square" lIns="0" rIns="0" tIns="0" bIns="0" anchor="t"/>
          <a:lstStyle/>
          <a:p>
            <a:pPr algn="ctr"/>
            <a:r>
              <a:rPr sz="2800" b="1" i="0">
                <a:solidFill>
                  <a:srgbClr val="003060"/>
                </a:solidFill>
                <a:latin typeface="Libre Baskerville"/>
              </a:rPr>
              <a:t>Want To Lose Up To 2 Stone Over The Summer?</a:t>
            </a:r>
          </a:p>
        </p:txBody>
      </p:sp>
      <p:sp>
        <p:nvSpPr>
          <p:cNvPr id="370" name="TextBox 369"/>
          <p:cNvSpPr txBox="1"/>
          <p:nvPr/>
        </p:nvSpPr>
        <p:spPr>
          <a:xfrm>
            <a:off x="457200" y="960000"/>
            <a:ext cx="8229600" cy="4003500"/>
          </a:xfrm>
          <a:prstGeom prst="rect">
            <a:avLst/>
          </a:prstGeom>
          <a:noFill/>
        </p:spPr>
        <p:txBody>
          <a:bodyPr wrap="square" lIns="0" rIns="0" tIns="0" bIns="0" anchor="ctr"/>
          <a:lstStyle/>
          <a:p>
            <a:pPr algn="ctr">
              <a:spcAft>
                <a:spcPts val="3000"/>
              </a:spcAft>
            </a:pPr>
            <a:r>
              <a:rPr sz="1900" b="1" i="1">
                <a:solidFill>
                  <a:srgbClr val="F79F83"/>
                </a:solidFill>
                <a:latin typeface="Libre Baskerville"/>
              </a:rPr>
              <a:t>The Simple Fat Loss Formula Helping Women 45+ Lose Weight</a:t>
            </a:r>
          </a:p>
          <a:p>
            <a:pPr algn="ctr">
              <a:spcAft>
                <a:spcPts val="1400"/>
              </a:spcAft>
            </a:pPr>
            <a:r>
              <a:rPr sz="2000" b="0" i="0">
                <a:solidFill>
                  <a:srgbClr val="003060"/>
                </a:solidFill>
                <a:latin typeface="Alegreya Sans"/>
              </a:rPr>
              <a:t>✦  The Simple Fat Loss Formula</a:t>
            </a:r>
          </a:p>
          <a:p>
            <a:pPr algn="ctr">
              <a:spcAft>
                <a:spcPts val="1400"/>
              </a:spcAft>
            </a:pPr>
            <a:r>
              <a:rPr sz="2000" b="0" i="0">
                <a:solidFill>
                  <a:srgbClr val="003060"/>
                </a:solidFill>
                <a:latin typeface="Alegreya Sans"/>
              </a:rPr>
              <a:t>✦  The Power Of A Clear Roadmap &amp; Monthly Focus</a:t>
            </a:r>
          </a:p>
          <a:p>
            <a:pPr algn="ctr"/>
            <a:r>
              <a:rPr sz="2000" b="0" i="0">
                <a:solidFill>
                  <a:srgbClr val="003060"/>
                </a:solidFill>
                <a:latin typeface="Alegreya Sans"/>
              </a:rPr>
              <a:t>✦  Accountability &amp; Support That Keeps You Consistent</a:t>
            </a: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374" name="Shape 374"/>
        <p:cNvGrpSpPr/>
        <p:nvPr/>
      </p:nvGrpSpPr>
      <p:grpSpPr>
        <a:xfrm>
          <a:off x="0" y="0"/>
          <a:ext cx="0" cy="0"/>
          <a:chOff x="0" y="0"/>
          <a:chExt cx="0" cy="0"/>
        </a:xfrm>
      </p:grpSpPr>
      <p:sp>
        <p:nvSpPr>
          <p:cNvPr id="375" name="TextBox 374"/>
          <p:cNvSpPr txBox="1"/>
          <p:nvPr/>
        </p:nvSpPr>
        <p:spPr>
          <a:xfrm>
            <a:off x="457200" y="1900000"/>
            <a:ext cx="8229600" cy="1600000"/>
          </a:xfrm>
          <a:prstGeom prst="rect">
            <a:avLst/>
          </a:prstGeom>
          <a:noFill/>
        </p:spPr>
        <p:txBody>
          <a:bodyPr wrap="square" lIns="0" rIns="0" tIns="0" bIns="0" anchor="ctr"/>
          <a:lstStyle/>
          <a:p>
            <a:pPr algn="ctr">
              <a:spcAft>
                <a:spcPts val="1400"/>
              </a:spcAft>
            </a:pPr>
            <a:r>
              <a:rPr sz="4000" b="1" i="0">
                <a:solidFill>
                  <a:srgbClr val="003060"/>
                </a:solidFill>
                <a:latin typeface="Libre Baskerville"/>
              </a:rPr>
              <a:t>In Reality You Have 3 Options</a:t>
            </a:r>
          </a:p>
          <a:p>
            <a:pPr algn="ctr"/>
            <a:r>
              <a:rPr sz="2400" b="1" i="1">
                <a:solidFill>
                  <a:srgbClr val="F79F83"/>
                </a:solidFill>
                <a:latin typeface="Libre Baskerville"/>
              </a:rPr>
              <a:t>Moving Forward</a:t>
            </a: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380" name="Shape 380"/>
        <p:cNvGrpSpPr/>
        <p:nvPr/>
      </p:nvGrpSpPr>
      <p:grpSpPr>
        <a:xfrm>
          <a:off x="0" y="0"/>
          <a:ext cx="0" cy="0"/>
          <a:chOff x="0" y="0"/>
          <a:chExt cx="0" cy="0"/>
        </a:xfrm>
      </p:grpSpPr>
      <p:sp>
        <p:nvSpPr>
          <p:cNvPr id="381" name="TextBox 380"/>
          <p:cNvSpPr txBox="1"/>
          <p:nvPr/>
        </p:nvSpPr>
        <p:spPr>
          <a:xfrm>
            <a:off x="457200" y="450000"/>
            <a:ext cx="8229600" cy="560000"/>
          </a:xfrm>
          <a:prstGeom prst="rect">
            <a:avLst/>
          </a:prstGeom>
          <a:noFill/>
        </p:spPr>
        <p:txBody>
          <a:bodyPr wrap="square" lIns="0" rIns="0" tIns="0" bIns="0" anchor="t"/>
          <a:lstStyle/>
          <a:p>
            <a:pPr algn="ctr"/>
            <a:r>
              <a:rPr sz="1600" b="1" i="0">
                <a:solidFill>
                  <a:srgbClr val="F79F83"/>
                </a:solidFill>
                <a:latin typeface="Alegreya Sans"/>
              </a:rPr>
              <a:t>OPTION #1</a:t>
            </a:r>
          </a:p>
        </p:txBody>
      </p:sp>
      <p:sp>
        <p:nvSpPr>
          <p:cNvPr id="382" name="TextBox 381"/>
          <p:cNvSpPr txBox="1"/>
          <p:nvPr/>
        </p:nvSpPr>
        <p:spPr>
          <a:xfrm>
            <a:off x="457200" y="1500000"/>
            <a:ext cx="8229600" cy="2500000"/>
          </a:xfrm>
          <a:prstGeom prst="rect">
            <a:avLst/>
          </a:prstGeom>
          <a:noFill/>
        </p:spPr>
        <p:txBody>
          <a:bodyPr wrap="square" lIns="0" rIns="0" tIns="0" bIns="0" anchor="ctr"/>
          <a:lstStyle/>
          <a:p>
            <a:pPr algn="ctr">
              <a:spcAft>
                <a:spcPts val="3000"/>
              </a:spcAft>
            </a:pPr>
            <a:r>
              <a:rPr sz="3000" b="1" i="0">
                <a:solidFill>
                  <a:srgbClr val="003060"/>
                </a:solidFill>
                <a:latin typeface="Libre Baskerville"/>
              </a:rPr>
              <a:t>Continue on after the reset on your own.</a:t>
            </a:r>
          </a:p>
          <a:p>
            <a:pPr algn="ctr"/>
            <a:r>
              <a:rPr sz="2600" b="1" i="1">
                <a:solidFill>
                  <a:srgbClr val="F79F83"/>
                </a:solidFill>
                <a:latin typeface="Libre Baskerville"/>
              </a:rPr>
              <a:t>But will you stay consistent?</a:t>
            </a: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386" name="Shape 386"/>
        <p:cNvGrpSpPr/>
        <p:nvPr/>
      </p:nvGrpSpPr>
      <p:grpSpPr>
        <a:xfrm>
          <a:off x="0" y="0"/>
          <a:ext cx="0" cy="0"/>
          <a:chOff x="0" y="0"/>
          <a:chExt cx="0" cy="0"/>
        </a:xfrm>
      </p:grpSpPr>
      <p:sp>
        <p:nvSpPr>
          <p:cNvPr id="387" name="TextBox 386"/>
          <p:cNvSpPr txBox="1"/>
          <p:nvPr/>
        </p:nvSpPr>
        <p:spPr>
          <a:xfrm>
            <a:off x="457200" y="450000"/>
            <a:ext cx="8229600" cy="560000"/>
          </a:xfrm>
          <a:prstGeom prst="rect">
            <a:avLst/>
          </a:prstGeom>
          <a:noFill/>
        </p:spPr>
        <p:txBody>
          <a:bodyPr wrap="square" lIns="0" rIns="0" tIns="0" bIns="0" anchor="t"/>
          <a:lstStyle/>
          <a:p>
            <a:pPr algn="ctr"/>
            <a:r>
              <a:rPr sz="1600" b="1" i="0">
                <a:solidFill>
                  <a:srgbClr val="F79F83"/>
                </a:solidFill>
                <a:latin typeface="Alegreya Sans"/>
              </a:rPr>
              <a:t>OPTION #2</a:t>
            </a:r>
          </a:p>
        </p:txBody>
      </p:sp>
      <p:sp>
        <p:nvSpPr>
          <p:cNvPr id="388" name="TextBox 387"/>
          <p:cNvSpPr txBox="1"/>
          <p:nvPr/>
        </p:nvSpPr>
        <p:spPr>
          <a:xfrm>
            <a:off x="457200" y="1400000"/>
            <a:ext cx="8229600" cy="2700000"/>
          </a:xfrm>
          <a:prstGeom prst="rect">
            <a:avLst/>
          </a:prstGeom>
          <a:noFill/>
        </p:spPr>
        <p:txBody>
          <a:bodyPr wrap="square" lIns="0" rIns="0" tIns="0" bIns="0" anchor="ctr"/>
          <a:lstStyle/>
          <a:p>
            <a:pPr algn="ctr">
              <a:spcAft>
                <a:spcPts val="2600"/>
              </a:spcAft>
            </a:pPr>
            <a:r>
              <a:rPr sz="3000" b="1" i="0">
                <a:solidFill>
                  <a:srgbClr val="003060"/>
                </a:solidFill>
                <a:latin typeface="Libre Baskerville"/>
              </a:rPr>
              <a:t>Do an expensive detox.</a:t>
            </a:r>
          </a:p>
          <a:p>
            <a:pPr algn="ctr">
              <a:spcAft>
                <a:spcPts val="400"/>
              </a:spcAft>
            </a:pPr>
            <a:r>
              <a:rPr sz="2200" b="1" i="0">
                <a:solidFill>
                  <a:srgbClr val="003060"/>
                </a:solidFill>
                <a:latin typeface="Alegreya Sans"/>
              </a:rPr>
              <a:t>Lose weight…</a:t>
            </a:r>
          </a:p>
          <a:p>
            <a:pPr algn="ctr"/>
            <a:r>
              <a:rPr sz="2200" b="1" i="1">
                <a:solidFill>
                  <a:srgbClr val="F79F83"/>
                </a:solidFill>
                <a:latin typeface="Libre Baskerville"/>
              </a:rPr>
              <a:t>and gain it back once you start eating normally again.</a:t>
            </a: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392" name="Shape 392"/>
        <p:cNvGrpSpPr/>
        <p:nvPr/>
      </p:nvGrpSpPr>
      <p:grpSpPr>
        <a:xfrm>
          <a:off x="0" y="0"/>
          <a:ext cx="0" cy="0"/>
          <a:chOff x="0" y="0"/>
          <a:chExt cx="0" cy="0"/>
        </a:xfrm>
      </p:grpSpPr>
      <p:sp>
        <p:nvSpPr>
          <p:cNvPr id="393" name="TextBox 392"/>
          <p:cNvSpPr txBox="1"/>
          <p:nvPr/>
        </p:nvSpPr>
        <p:spPr>
          <a:xfrm>
            <a:off x="457200" y="450000"/>
            <a:ext cx="8229600" cy="560000"/>
          </a:xfrm>
          <a:prstGeom prst="rect">
            <a:avLst/>
          </a:prstGeom>
          <a:noFill/>
        </p:spPr>
        <p:txBody>
          <a:bodyPr wrap="square" lIns="0" rIns="0" tIns="0" bIns="0" anchor="t"/>
          <a:lstStyle/>
          <a:p>
            <a:pPr algn="ctr"/>
            <a:r>
              <a:rPr sz="1600" b="1" i="0">
                <a:solidFill>
                  <a:srgbClr val="F79F83"/>
                </a:solidFill>
                <a:latin typeface="Alegreya Sans"/>
              </a:rPr>
              <a:t>OPTION #3</a:t>
            </a:r>
          </a:p>
        </p:txBody>
      </p:sp>
      <p:sp>
        <p:nvSpPr>
          <p:cNvPr id="394" name="TextBox 393"/>
          <p:cNvSpPr txBox="1"/>
          <p:nvPr/>
        </p:nvSpPr>
        <p:spPr>
          <a:xfrm>
            <a:off x="457200" y="1300000"/>
            <a:ext cx="8229600" cy="2900000"/>
          </a:xfrm>
          <a:prstGeom prst="rect">
            <a:avLst/>
          </a:prstGeom>
          <a:noFill/>
        </p:spPr>
        <p:txBody>
          <a:bodyPr wrap="square" lIns="0" rIns="0" tIns="0" bIns="0" anchor="ctr"/>
          <a:lstStyle/>
          <a:p>
            <a:pPr algn="ctr">
              <a:spcAft>
                <a:spcPts val="200"/>
              </a:spcAft>
            </a:pPr>
            <a:r>
              <a:rPr sz="2400" b="1" i="0">
                <a:solidFill>
                  <a:srgbClr val="003060"/>
                </a:solidFill>
                <a:latin typeface="Libre Baskerville"/>
              </a:rPr>
              <a:t>Invest and join our brand new</a:t>
            </a:r>
          </a:p>
          <a:p>
            <a:pPr algn="ctr">
              <a:spcAft>
                <a:spcPts val="3000"/>
              </a:spcAft>
            </a:pPr>
            <a:r>
              <a:rPr sz="3200" b="1" i="1">
                <a:solidFill>
                  <a:srgbClr val="F79F83"/>
                </a:solidFill>
                <a:latin typeface="Libre Baskerville"/>
              </a:rPr>
              <a:t>WLA Summer Challenge.</a:t>
            </a:r>
          </a:p>
          <a:p>
            <a:pPr algn="ctr">
              <a:spcAft>
                <a:spcPts val="400"/>
              </a:spcAft>
            </a:pPr>
            <a:r>
              <a:rPr sz="1900" b="0" i="0">
                <a:solidFill>
                  <a:srgbClr val="003060"/>
                </a:solidFill>
                <a:latin typeface="Alegreya Sans"/>
              </a:rPr>
              <a:t>Get every single tool needed to lose up to</a:t>
            </a:r>
          </a:p>
          <a:p>
            <a:pPr algn="ctr"/>
            <a:r>
              <a:rPr sz="2400" b="1" i="1">
                <a:solidFill>
                  <a:srgbClr val="F79F83"/>
                </a:solidFill>
                <a:latin typeface="Libre Baskerville"/>
              </a:rPr>
              <a:t>2 stone in 12 weeks.</a:t>
            </a: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398" name="Shape 398"/>
        <p:cNvGrpSpPr/>
        <p:nvPr/>
      </p:nvGrpSpPr>
      <p:grpSpPr>
        <a:xfrm>
          <a:off x="0" y="0"/>
          <a:ext cx="0" cy="0"/>
          <a:chOff x="0" y="0"/>
          <a:chExt cx="0" cy="0"/>
        </a:xfrm>
      </p:grpSpPr>
      <p:sp>
        <p:nvSpPr>
          <p:cNvPr id="399" name="Google Shape;399;p70"/>
          <p:cNvSpPr txBox="1"/>
          <p:nvPr/>
        </p:nvSpPr>
        <p:spPr>
          <a:xfrm>
            <a:off x="457200" y="361950"/>
            <a:ext cx="8229600" cy="44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GB" sz="1700" u="none" cap="none" strike="noStrike">
                <a:solidFill>
                  <a:srgbClr val="003060"/>
                </a:solidFill>
                <a:latin typeface="Alegreya Sans"/>
                <a:ea typeface="Alegreya Sans"/>
                <a:cs typeface="Alegreya Sans"/>
                <a:sym typeface="Alegreya Sans"/>
              </a:rPr>
              <a:t>Today I want to </a:t>
            </a:r>
            <a:r>
              <a:rPr lang="en-GB" sz="1700">
                <a:solidFill>
                  <a:srgbClr val="003060"/>
                </a:solidFill>
                <a:latin typeface="Alegreya Sans"/>
                <a:ea typeface="Alegreya Sans"/>
                <a:cs typeface="Alegreya Sans"/>
                <a:sym typeface="Alegreya Sans"/>
              </a:rPr>
              <a:t>invite</a:t>
            </a:r>
            <a:r>
              <a:rPr lang="en-GB" sz="1700">
                <a:solidFill>
                  <a:srgbClr val="003060"/>
                </a:solidFill>
                <a:latin typeface="Alegreya Sans"/>
                <a:ea typeface="Alegreya Sans"/>
                <a:cs typeface="Alegreya Sans"/>
                <a:sym typeface="Alegreya Sans"/>
              </a:rPr>
              <a:t> to our brand new</a:t>
            </a:r>
            <a:endParaRPr/>
          </a:p>
          <a:p>
            <a:pPr indent="0" lvl="0" marL="0" marR="0" rtl="0" algn="ctr">
              <a:spcBef>
                <a:spcPts val="1400"/>
              </a:spcBef>
              <a:spcAft>
                <a:spcPts val="0"/>
              </a:spcAft>
              <a:buNone/>
            </a:pPr>
            <a:r>
              <a:rPr b="1" i="1" lang="en-GB" sz="2600">
                <a:solidFill>
                  <a:srgbClr val="F79F83"/>
                </a:solidFill>
                <a:latin typeface="Libre Baskerville"/>
                <a:ea typeface="Libre Baskerville"/>
                <a:cs typeface="Libre Baskerville"/>
                <a:sym typeface="Libre Baskerville"/>
              </a:rPr>
              <a:t>The WLA 12 Week Summer Challenge</a:t>
            </a:r>
            <a:endParaRPr/>
          </a:p>
          <a:p>
            <a:pPr indent="0" lvl="0" marL="0" marR="0" rtl="0" algn="ctr">
              <a:spcBef>
                <a:spcPts val="400"/>
              </a:spcBef>
              <a:spcAft>
                <a:spcPts val="0"/>
              </a:spcAft>
              <a:buNone/>
            </a:pPr>
            <a:r>
              <a:rPr b="0" i="1" lang="en-GB" sz="1600" u="none" cap="none" strike="noStrike">
                <a:solidFill>
                  <a:srgbClr val="F79F83"/>
                </a:solidFill>
                <a:latin typeface="Libre Baskerville"/>
                <a:ea typeface="Libre Baskerville"/>
                <a:cs typeface="Libre Baskerville"/>
                <a:sym typeface="Libre Baskerville"/>
              </a:rPr>
              <a:t>(The WLA's new game-changing 12-week weight loss program)</a:t>
            </a:r>
            <a:br>
              <a:rPr b="0" i="1" lang="en-GB" sz="1600" u="none" cap="none" strike="noStrike">
                <a:solidFill>
                  <a:srgbClr val="F79F83"/>
                </a:solidFill>
                <a:latin typeface="Libre Baskerville"/>
                <a:ea typeface="Libre Baskerville"/>
                <a:cs typeface="Libre Baskerville"/>
                <a:sym typeface="Libre Baskerville"/>
              </a:rPr>
            </a:br>
            <a:endParaRPr b="0" i="1" sz="1600" u="none" cap="none" strike="noStrike">
              <a:solidFill>
                <a:srgbClr val="F79F83"/>
              </a:solidFill>
              <a:latin typeface="Libre Baskerville"/>
              <a:ea typeface="Libre Baskerville"/>
              <a:cs typeface="Libre Baskerville"/>
              <a:sym typeface="Libre Baskerville"/>
            </a:endParaRPr>
          </a:p>
          <a:p>
            <a:pPr indent="0" lvl="0" marL="0" marR="0" rtl="0" algn="ctr">
              <a:spcBef>
                <a:spcPts val="400"/>
              </a:spcBef>
              <a:spcAft>
                <a:spcPts val="0"/>
              </a:spcAft>
              <a:buNone/>
            </a:pPr>
            <a:r>
              <a:rPr i="1" lang="en-GB" sz="1600">
                <a:solidFill>
                  <a:srgbClr val="F79F83"/>
                </a:solidFill>
                <a:latin typeface="Libre Baskerville"/>
                <a:ea typeface="Libre Baskerville"/>
                <a:cs typeface="Libre Baskerville"/>
                <a:sym typeface="Libre Baskerville"/>
              </a:rPr>
              <a:t>Kick off Monday 8th June</a:t>
            </a:r>
            <a:endParaRPr i="1" sz="1600">
              <a:solidFill>
                <a:srgbClr val="F79F83"/>
              </a:solidFill>
              <a:latin typeface="Libre Baskerville"/>
              <a:ea typeface="Libre Baskerville"/>
              <a:cs typeface="Libre Baskerville"/>
              <a:sym typeface="Libre Baskerville"/>
            </a:endParaRPr>
          </a:p>
          <a:p>
            <a:pPr indent="0" lvl="0" marL="0" marR="0" rtl="0" algn="ctr">
              <a:spcBef>
                <a:spcPts val="400"/>
              </a:spcBef>
              <a:spcAft>
                <a:spcPts val="0"/>
              </a:spcAft>
              <a:buNone/>
            </a:pPr>
            <a:r>
              <a:rPr>
                <a:solidFill/>
              </a:rPr>
              <a:t/>
            </a:r>
            <a:endParaRPr sz="1800">
              <a:solidFill>
                <a:srgbClr val="003060"/>
              </a:solidFill>
              <a:latin typeface="Alegreya Sans"/>
              <a:ea typeface="Alegreya Sans"/>
              <a:cs typeface="Alegreya Sans"/>
              <a:sym typeface="Alegreya Sans"/>
            </a:endParaRPr>
          </a:p>
          <a:p>
            <a:pPr indent="0" lvl="0" marL="0" marR="0" rtl="0" algn="ctr">
              <a:spcBef>
                <a:spcPts val="400"/>
              </a:spcBef>
              <a:spcAft>
                <a:spcPts val="0"/>
              </a:spcAft>
              <a:buNone/>
            </a:pPr>
            <a:r>
              <a:rPr lang="en-GB" sz="1800">
                <a:solidFill>
                  <a:srgbClr val="003060"/>
                </a:solidFill>
                <a:latin typeface="Alegreya Sans"/>
                <a:ea typeface="Alegreya Sans"/>
                <a:cs typeface="Alegreya Sans"/>
                <a:sym typeface="Alegreya Sans"/>
              </a:rPr>
              <a:t>Lose up to 2 stone this summer</a:t>
            </a:r>
            <a:endParaRPr sz="1800">
              <a:solidFill>
                <a:srgbClr val="003060"/>
              </a:solidFill>
              <a:latin typeface="Alegreya Sans"/>
              <a:ea typeface="Alegreya Sans"/>
              <a:cs typeface="Alegreya Sans"/>
              <a:sym typeface="Alegreya Sans"/>
            </a:endParaRPr>
          </a:p>
          <a:p>
            <a:pPr indent="0" lvl="0" marL="0" marR="0" rtl="0" algn="ctr">
              <a:spcBef>
                <a:spcPts val="400"/>
              </a:spcBef>
              <a:spcAft>
                <a:spcPts val="0"/>
              </a:spcAft>
              <a:buNone/>
            </a:pPr>
            <a:r>
              <a:rPr>
                <a:solidFill/>
              </a:rPr>
              <a:t/>
            </a:r>
            <a:endParaRPr sz="1800">
              <a:solidFill>
                <a:srgbClr val="003060"/>
              </a:solidFill>
              <a:latin typeface="Alegreya Sans"/>
              <a:ea typeface="Alegreya Sans"/>
              <a:cs typeface="Alegreya Sans"/>
              <a:sym typeface="Alegreya Sans"/>
            </a:endParaRPr>
          </a:p>
          <a:p>
            <a:pPr indent="0" lvl="0" marL="0" marR="0" rtl="0" algn="ctr">
              <a:spcBef>
                <a:spcPts val="400"/>
              </a:spcBef>
              <a:spcAft>
                <a:spcPts val="0"/>
              </a:spcAft>
              <a:buNone/>
            </a:pPr>
            <a:r>
              <a:rPr lang="en-GB" sz="1800">
                <a:solidFill>
                  <a:srgbClr val="003060"/>
                </a:solidFill>
                <a:latin typeface="Alegreya Sans"/>
                <a:ea typeface="Alegreya Sans"/>
                <a:cs typeface="Alegreya Sans"/>
                <a:sym typeface="Alegreya Sans"/>
              </a:rPr>
              <a:t>Feel confident in your clothes again</a:t>
            </a:r>
            <a:endParaRPr sz="1800">
              <a:solidFill>
                <a:srgbClr val="003060"/>
              </a:solidFill>
              <a:latin typeface="Alegreya Sans"/>
              <a:ea typeface="Alegreya Sans"/>
              <a:cs typeface="Alegreya Sans"/>
              <a:sym typeface="Alegreya Sans"/>
            </a:endParaRPr>
          </a:p>
          <a:p>
            <a:pPr indent="0" lvl="0" marL="0" marR="0" rtl="0" algn="ctr">
              <a:spcBef>
                <a:spcPts val="400"/>
              </a:spcBef>
              <a:spcAft>
                <a:spcPts val="0"/>
              </a:spcAft>
              <a:buNone/>
            </a:pPr>
            <a:br>
              <a:rPr lang="en-GB" sz="1800">
                <a:solidFill>
                  <a:srgbClr val="003060"/>
                </a:solidFill>
                <a:latin typeface="Alegreya Sans"/>
                <a:ea typeface="Alegreya Sans"/>
                <a:cs typeface="Alegreya Sans"/>
                <a:sym typeface="Alegreya Sans"/>
              </a:rPr>
            </a:br>
            <a:r>
              <a:rPr lang="en-GB" sz="1800">
                <a:solidFill>
                  <a:srgbClr val="003060"/>
                </a:solidFill>
                <a:latin typeface="Alegreya Sans"/>
                <a:ea typeface="Alegreya Sans"/>
                <a:cs typeface="Alegreya Sans"/>
                <a:sym typeface="Alegreya Sans"/>
              </a:rPr>
              <a:t>Take back control around food without miserable diets</a:t>
            </a:r>
            <a:endParaRPr sz="1800">
              <a:solidFill>
                <a:srgbClr val="003060"/>
              </a:solidFill>
              <a:latin typeface="Alegreya Sans"/>
              <a:ea typeface="Alegreya Sans"/>
              <a:cs typeface="Alegreya Sans"/>
              <a:sym typeface="Alegreya Sans"/>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403" name="Shape 403"/>
        <p:cNvGrpSpPr/>
        <p:nvPr/>
      </p:nvGrpSpPr>
      <p:grpSpPr>
        <a:xfrm>
          <a:off x="0" y="0"/>
          <a:ext cx="0" cy="0"/>
          <a:chOff x="0" y="0"/>
          <a:chExt cx="0" cy="0"/>
        </a:xfrm>
      </p:grpSpPr>
      <p:sp>
        <p:nvSpPr>
          <p:cNvPr id="404" name="Google Shape;404;p71"/>
          <p:cNvSpPr txBox="1"/>
          <p:nvPr/>
        </p:nvSpPr>
        <p:spPr>
          <a:xfrm>
            <a:off x="457200" y="361950"/>
            <a:ext cx="8229600" cy="4419600"/>
          </a:xfrm>
          <a:prstGeom prst="rect">
            <a:avLst/>
          </a:prstGeom>
          <a:noFill/>
          <a:ln>
            <a:noFill/>
          </a:ln>
        </p:spPr>
        <p:txBody>
          <a:bodyPr anchorCtr="0" anchor="ctr" bIns="0" lIns="0" spcFirstLastPara="1" rIns="0" wrap="square" tIns="0">
            <a:noAutofit/>
          </a:bodyPr>
          <a:lstStyle/>
          <a:p>
            <a:pPr indent="0" lvl="0" marL="0" marR="0" rtl="0" algn="ctr">
              <a:spcBef>
                <a:spcPts val="1400"/>
              </a:spcBef>
              <a:spcAft>
                <a:spcPts val="0"/>
              </a:spcAft>
              <a:buNone/>
            </a:pPr>
            <a:r>
              <a:rPr b="1" i="1" lang="en-GB" sz="2600">
                <a:solidFill>
                  <a:srgbClr val="F79F83"/>
                </a:solidFill>
                <a:latin typeface="Libre Baskerville"/>
                <a:ea typeface="Libre Baskerville"/>
                <a:cs typeface="Libre Baskerville"/>
                <a:sym typeface="Libre Baskerville"/>
              </a:rPr>
              <a:t>BIGGEST BONUS OF THE YEAR</a:t>
            </a:r>
            <a:br>
              <a:rPr b="1" i="1" lang="en-GB" sz="2600">
                <a:solidFill>
                  <a:srgbClr val="F79F83"/>
                </a:solidFill>
                <a:latin typeface="Libre Baskerville"/>
                <a:ea typeface="Libre Baskerville"/>
                <a:cs typeface="Libre Baskerville"/>
                <a:sym typeface="Libre Baskerville"/>
              </a:rPr>
            </a:br>
            <a:endParaRPr/>
          </a:p>
          <a:p>
            <a:pPr indent="0" lvl="0" marL="0" marR="0" rtl="0" algn="ctr">
              <a:spcBef>
                <a:spcPts val="400"/>
              </a:spcBef>
              <a:spcAft>
                <a:spcPts val="0"/>
              </a:spcAft>
              <a:buNone/>
            </a:pPr>
            <a:r>
              <a:rPr b="1" lang="en-GB" sz="1600">
                <a:solidFill>
                  <a:schemeClr val="dk2"/>
                </a:solidFill>
                <a:latin typeface="Libre Baskerville"/>
                <a:ea typeface="Libre Baskerville"/>
                <a:cs typeface="Libre Baskerville"/>
                <a:sym typeface="Libre Baskerville"/>
              </a:rPr>
              <a:t>Join our brand new WLA 12 Week Summer Challenge </a:t>
            </a:r>
            <a:endParaRPr b="1" sz="1600">
              <a:solidFill>
                <a:schemeClr val="dk2"/>
              </a:solidFill>
              <a:latin typeface="Libre Baskerville"/>
              <a:ea typeface="Libre Baskerville"/>
              <a:cs typeface="Libre Baskerville"/>
              <a:sym typeface="Libre Baskerville"/>
            </a:endParaRPr>
          </a:p>
          <a:p>
            <a:pPr indent="0" lvl="0" marL="0" marR="0" rtl="0" algn="ctr">
              <a:spcBef>
                <a:spcPts val="400"/>
              </a:spcBef>
              <a:spcAft>
                <a:spcPts val="0"/>
              </a:spcAft>
              <a:buNone/>
            </a:pPr>
            <a:r>
              <a:rPr b="1" lang="en-GB" sz="1600">
                <a:solidFill>
                  <a:schemeClr val="dk2"/>
                </a:solidFill>
                <a:latin typeface="Libre Baskerville"/>
                <a:ea typeface="Libre Baskerville"/>
                <a:cs typeface="Libre Baskerville"/>
                <a:sym typeface="Libre Baskerville"/>
              </a:rPr>
              <a:t>+ get a whole year of coaching INCLUDED for FREE</a:t>
            </a:r>
            <a:endParaRPr b="1" sz="1800">
              <a:solidFill>
                <a:schemeClr val="dk2"/>
              </a:solidFill>
              <a:latin typeface="Alegreya Sans"/>
              <a:ea typeface="Alegreya Sans"/>
              <a:cs typeface="Alegreya Sans"/>
              <a:sym typeface="Alegreya Sans"/>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408" name="Shape 408"/>
        <p:cNvGrpSpPr/>
        <p:nvPr/>
      </p:nvGrpSpPr>
      <p:grpSpPr>
        <a:xfrm>
          <a:off x="0" y="0"/>
          <a:ext cx="0" cy="0"/>
          <a:chOff x="0" y="0"/>
          <a:chExt cx="0" cy="0"/>
        </a:xfrm>
      </p:grpSpPr>
      <p:sp>
        <p:nvSpPr>
          <p:cNvPr id="409" name="Google Shape;409;p72"/>
          <p:cNvSpPr txBox="1"/>
          <p:nvPr/>
        </p:nvSpPr>
        <p:spPr>
          <a:xfrm>
            <a:off x="457200" y="361950"/>
            <a:ext cx="8229600" cy="4419600"/>
          </a:xfrm>
          <a:prstGeom prst="rect">
            <a:avLst/>
          </a:prstGeom>
          <a:noFill/>
          <a:ln>
            <a:noFill/>
          </a:ln>
        </p:spPr>
        <p:txBody>
          <a:bodyPr anchorCtr="0" anchor="ctr" bIns="0" lIns="0" spcFirstLastPara="1" rIns="0" wrap="square" tIns="0">
            <a:noAutofit/>
          </a:bodyPr>
          <a:lstStyle/>
          <a:p>
            <a:pPr indent="0" lvl="0" marL="0" marR="0" rtl="0" algn="ctr">
              <a:spcBef>
                <a:spcPts val="400"/>
              </a:spcBef>
              <a:spcAft>
                <a:spcPts val="0"/>
              </a:spcAft>
              <a:buNone/>
            </a:pPr>
            <a:r>
              <a:rPr>
                <a:solidFill/>
              </a:rPr>
              <a:t/>
            </a:r>
            <a:endParaRPr sz="1800">
              <a:solidFill>
                <a:srgbClr val="003060"/>
              </a:solidFill>
              <a:latin typeface="Alegreya Sans"/>
              <a:ea typeface="Alegreya Sans"/>
              <a:cs typeface="Alegreya Sans"/>
              <a:sym typeface="Alegreya Sans"/>
            </a:endParaRPr>
          </a:p>
        </p:txBody>
      </p:sp>
      <p:pic>
        <p:nvPicPr>
          <p:cNvPr id="410" name="Google Shape;410;p72" title="Screenshot 2026-06-04 at 15.48.55.png"/>
          <p:cNvPicPr preferRelativeResize="0"/>
          <p:nvPr/>
        </p:nvPicPr>
        <p:blipFill>
          <a:blip r:embed="rId3">
            <a:alphaModFix/>
          </a:blip>
          <a:stretch>
            <a:fillRect/>
          </a:stretch>
        </p:blipFill>
        <p:spPr>
          <a:xfrm>
            <a:off x="0" y="677439"/>
            <a:ext cx="9144000" cy="3788621"/>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414" name="Shape 414"/>
        <p:cNvGrpSpPr/>
        <p:nvPr/>
      </p:nvGrpSpPr>
      <p:grpSpPr>
        <a:xfrm>
          <a:off x="0" y="0"/>
          <a:ext cx="0" cy="0"/>
          <a:chOff x="0" y="0"/>
          <a:chExt cx="0" cy="0"/>
        </a:xfrm>
      </p:grpSpPr>
      <p:sp>
        <p:nvSpPr>
          <p:cNvPr id="415" name="Google Shape;415;p73"/>
          <p:cNvSpPr txBox="1"/>
          <p:nvPr/>
        </p:nvSpPr>
        <p:spPr>
          <a:xfrm>
            <a:off x="457200" y="304800"/>
            <a:ext cx="8229600" cy="6100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GB" sz="2800">
                <a:solidFill>
                  <a:srgbClr val="003060"/>
                </a:solidFill>
                <a:latin typeface="Libre Baskerville"/>
                <a:ea typeface="Libre Baskerville"/>
                <a:cs typeface="Libre Baskerville"/>
                <a:sym typeface="Libre Baskerville"/>
              </a:rPr>
              <a:t>The WLA Summer Challenge </a:t>
            </a:r>
            <a:endParaRPr/>
          </a:p>
          <a:p>
            <a:pPr indent="0" lvl="0" marL="0" marR="0" rtl="0" algn="ctr">
              <a:spcBef>
                <a:spcPts val="400"/>
              </a:spcBef>
              <a:spcAft>
                <a:spcPts val="0"/>
              </a:spcAft>
              <a:buNone/>
            </a:pPr>
            <a:r>
              <a:rPr b="1" i="1" lang="en-GB" sz="1800">
                <a:solidFill>
                  <a:srgbClr val="F79F83"/>
                </a:solidFill>
                <a:latin typeface="Libre Baskerville"/>
                <a:ea typeface="Libre Baskerville"/>
                <a:cs typeface="Libre Baskerville"/>
                <a:sym typeface="Libre Baskerville"/>
              </a:rPr>
              <a:t>To help you lose up to 2 stone</a:t>
            </a:r>
            <a:endParaRPr/>
          </a:p>
        </p:txBody>
      </p:sp>
      <p:sp>
        <p:nvSpPr>
          <p:cNvPr id="416" name="Google Shape;416;p73"/>
          <p:cNvSpPr/>
          <p:nvPr/>
        </p:nvSpPr>
        <p:spPr>
          <a:xfrm>
            <a:off x="652000" y="1300000"/>
            <a:ext cx="2499900" cy="3264900"/>
          </a:xfrm>
          <a:prstGeom prst="roundRect">
            <a:avLst>
              <a:gd fmla="val 16667" name="adj"/>
            </a:avLst>
          </a:prstGeom>
          <a:solidFill>
            <a:srgbClr val="EFE6DE"/>
          </a:solidFill>
          <a:ln cap="flat" cmpd="sng" w="19050">
            <a:solidFill>
              <a:srgbClr val="F79F83"/>
            </a:solidFill>
            <a:prstDash val="solid"/>
            <a:round/>
            <a:headEnd len="sm" w="sm" type="none"/>
            <a:tailEnd len="sm" w="sm" type="none"/>
          </a:ln>
        </p:spPr>
        <p:txBody>
          <a:bodyPr anchorCtr="0" anchor="t" bIns="203200" lIns="203200" spcFirstLastPara="1" rIns="203200" wrap="square" tIns="203200">
            <a:noAutofit/>
          </a:bodyPr>
          <a:lstStyle/>
          <a:p>
            <a:pPr indent="0" lvl="0" marL="0" marR="0" rtl="0" algn="ctr">
              <a:spcBef>
                <a:spcPts val="0"/>
              </a:spcBef>
              <a:spcAft>
                <a:spcPts val="0"/>
              </a:spcAft>
              <a:buNone/>
            </a:pPr>
            <a:r>
              <a:rPr b="1" i="0" lang="en-GB" sz="1400" u="none" cap="none" strike="noStrike">
                <a:solidFill>
                  <a:srgbClr val="F79F83"/>
                </a:solidFill>
                <a:latin typeface="Alegreya Sans"/>
                <a:ea typeface="Alegreya Sans"/>
                <a:cs typeface="Alegreya Sans"/>
                <a:sym typeface="Alegreya Sans"/>
              </a:rPr>
              <a:t>Step 1</a:t>
            </a:r>
            <a:endParaRPr/>
          </a:p>
          <a:p>
            <a:pPr indent="0" lvl="0" marL="0" marR="0" rtl="0" algn="ctr">
              <a:spcBef>
                <a:spcPts val="600"/>
              </a:spcBef>
              <a:spcAft>
                <a:spcPts val="0"/>
              </a:spcAft>
              <a:buNone/>
            </a:pPr>
            <a:r>
              <a:rPr b="1" i="0" lang="en-GB" sz="1700" u="none" cap="none" strike="noStrike">
                <a:solidFill>
                  <a:srgbClr val="003060"/>
                </a:solidFill>
                <a:latin typeface="Libre Baskerville"/>
                <a:ea typeface="Libre Baskerville"/>
                <a:cs typeface="Libre Baskerville"/>
                <a:sym typeface="Libre Baskerville"/>
              </a:rPr>
              <a:t>The WLA Nutrition Formula</a:t>
            </a:r>
            <a:endParaRPr/>
          </a:p>
          <a:p>
            <a:pPr indent="0" lvl="0" marL="0" marR="0" rtl="0" algn="ctr">
              <a:spcBef>
                <a:spcPts val="1200"/>
              </a:spcBef>
              <a:spcAft>
                <a:spcPts val="0"/>
              </a:spcAft>
              <a:buNone/>
            </a:pPr>
            <a:r>
              <a:rPr b="0" i="0" lang="en-GB" sz="1400" u="none" cap="none" strike="noStrike">
                <a:solidFill>
                  <a:srgbClr val="003060"/>
                </a:solidFill>
                <a:latin typeface="Alegreya Sans"/>
                <a:ea typeface="Alegreya Sans"/>
                <a:cs typeface="Alegreya Sans"/>
                <a:sym typeface="Alegreya Sans"/>
              </a:rPr>
              <a:t>Flexible approach to nutrition with everyday foods. No foods excluded</a:t>
            </a:r>
            <a:r>
              <a:rPr lang="en-GB" sz="1400">
                <a:solidFill>
                  <a:srgbClr val="003060"/>
                </a:solidFill>
                <a:latin typeface="Alegreya Sans"/>
                <a:ea typeface="Alegreya Sans"/>
                <a:cs typeface="Alegreya Sans"/>
                <a:sym typeface="Alegreya Sans"/>
              </a:rPr>
              <a:t>. W</a:t>
            </a:r>
            <a:r>
              <a:rPr b="0" i="0" lang="en-GB" sz="1400" u="none" cap="none" strike="noStrike">
                <a:solidFill>
                  <a:srgbClr val="003060"/>
                </a:solidFill>
                <a:latin typeface="Alegreya Sans"/>
                <a:ea typeface="Alegreya Sans"/>
                <a:cs typeface="Alegreya Sans"/>
                <a:sym typeface="Alegreya Sans"/>
              </a:rPr>
              <a:t>e balance for results and enjoyment. Feel lighter within days, lose weight consistently, increase energy and say goodbye to fad diets.</a:t>
            </a:r>
            <a:endParaRPr/>
          </a:p>
        </p:txBody>
      </p:sp>
      <p:sp>
        <p:nvSpPr>
          <p:cNvPr id="417" name="Google Shape;417;p73"/>
          <p:cNvSpPr/>
          <p:nvPr/>
        </p:nvSpPr>
        <p:spPr>
          <a:xfrm>
            <a:off x="3322000" y="1300000"/>
            <a:ext cx="2499900" cy="3264900"/>
          </a:xfrm>
          <a:prstGeom prst="roundRect">
            <a:avLst>
              <a:gd fmla="val 16667" name="adj"/>
            </a:avLst>
          </a:prstGeom>
          <a:solidFill>
            <a:srgbClr val="EFE6DE"/>
          </a:solidFill>
          <a:ln cap="flat" cmpd="sng" w="19050">
            <a:solidFill>
              <a:srgbClr val="F79F83"/>
            </a:solidFill>
            <a:prstDash val="solid"/>
            <a:round/>
            <a:headEnd len="sm" w="sm" type="none"/>
            <a:tailEnd len="sm" w="sm" type="none"/>
          </a:ln>
        </p:spPr>
        <p:txBody>
          <a:bodyPr anchorCtr="0" anchor="t" bIns="203200" lIns="203200" spcFirstLastPara="1" rIns="203200" wrap="square" tIns="203200">
            <a:noAutofit/>
          </a:bodyPr>
          <a:lstStyle/>
          <a:p>
            <a:pPr indent="0" lvl="0" marL="0" marR="0" rtl="0" algn="ctr">
              <a:spcBef>
                <a:spcPts val="0"/>
              </a:spcBef>
              <a:spcAft>
                <a:spcPts val="0"/>
              </a:spcAft>
              <a:buNone/>
            </a:pPr>
            <a:r>
              <a:rPr b="1" i="0" lang="en-GB" sz="1400" u="none" cap="none" strike="noStrike">
                <a:solidFill>
                  <a:srgbClr val="F79F83"/>
                </a:solidFill>
                <a:latin typeface="Alegreya Sans"/>
                <a:ea typeface="Alegreya Sans"/>
                <a:cs typeface="Alegreya Sans"/>
                <a:sym typeface="Alegreya Sans"/>
              </a:rPr>
              <a:t>Step 2</a:t>
            </a:r>
            <a:endParaRPr/>
          </a:p>
          <a:p>
            <a:pPr indent="0" lvl="0" marL="0" marR="0" rtl="0" algn="ctr">
              <a:spcBef>
                <a:spcPts val="600"/>
              </a:spcBef>
              <a:spcAft>
                <a:spcPts val="0"/>
              </a:spcAft>
              <a:buNone/>
            </a:pPr>
            <a:r>
              <a:rPr b="1" lang="en-GB" sz="1700">
                <a:solidFill>
                  <a:srgbClr val="003060"/>
                </a:solidFill>
                <a:latin typeface="Libre Baskerville"/>
                <a:ea typeface="Libre Baskerville"/>
                <a:cs typeface="Libre Baskerville"/>
                <a:sym typeface="Libre Baskerville"/>
              </a:rPr>
              <a:t>12 Week Weight Loss Roadmap + </a:t>
            </a:r>
            <a:r>
              <a:rPr b="1" lang="en-GB" sz="1700">
                <a:solidFill>
                  <a:srgbClr val="003060"/>
                </a:solidFill>
                <a:latin typeface="Libre Baskerville"/>
                <a:ea typeface="Libre Baskerville"/>
                <a:cs typeface="Libre Baskerville"/>
                <a:sym typeface="Libre Baskerville"/>
              </a:rPr>
              <a:t>Monthly Focus</a:t>
            </a:r>
            <a:endParaRPr/>
          </a:p>
          <a:p>
            <a:pPr indent="0" lvl="0" marL="0" marR="0" rtl="0" algn="ctr">
              <a:spcBef>
                <a:spcPts val="1200"/>
              </a:spcBef>
              <a:spcAft>
                <a:spcPts val="0"/>
              </a:spcAft>
              <a:buNone/>
            </a:pPr>
            <a:r>
              <a:rPr lang="en-GB" sz="1400">
                <a:solidFill>
                  <a:srgbClr val="003060"/>
                </a:solidFill>
                <a:latin typeface="Alegreya Sans"/>
                <a:ea typeface="Alegreya Sans"/>
                <a:cs typeface="Alegreya Sans"/>
                <a:sym typeface="Alegreya Sans"/>
              </a:rPr>
              <a:t>Have a clear start date, a goal to work towards and a roadmap that keeps you focused instead of constantly “starting again”. Track your monthly progress and stay accountable to your goals.</a:t>
            </a:r>
            <a:endParaRPr sz="1300">
              <a:solidFill>
                <a:srgbClr val="003060"/>
              </a:solidFill>
              <a:latin typeface="Alegreya Sans"/>
              <a:ea typeface="Alegreya Sans"/>
              <a:cs typeface="Alegreya Sans"/>
              <a:sym typeface="Alegreya Sans"/>
            </a:endParaRPr>
          </a:p>
        </p:txBody>
      </p:sp>
      <p:sp>
        <p:nvSpPr>
          <p:cNvPr id="418" name="Google Shape;418;p73"/>
          <p:cNvSpPr/>
          <p:nvPr/>
        </p:nvSpPr>
        <p:spPr>
          <a:xfrm>
            <a:off x="5992000" y="1300000"/>
            <a:ext cx="2499900" cy="3264900"/>
          </a:xfrm>
          <a:prstGeom prst="roundRect">
            <a:avLst>
              <a:gd fmla="val 16667" name="adj"/>
            </a:avLst>
          </a:prstGeom>
          <a:solidFill>
            <a:srgbClr val="EFE6DE"/>
          </a:solidFill>
          <a:ln cap="flat" cmpd="sng" w="19050">
            <a:solidFill>
              <a:srgbClr val="F79F83"/>
            </a:solidFill>
            <a:prstDash val="solid"/>
            <a:round/>
            <a:headEnd len="sm" w="sm" type="none"/>
            <a:tailEnd len="sm" w="sm" type="none"/>
          </a:ln>
        </p:spPr>
        <p:txBody>
          <a:bodyPr anchorCtr="0" anchor="t" bIns="203200" lIns="203200" spcFirstLastPara="1" rIns="203200" wrap="square" tIns="203200">
            <a:noAutofit/>
          </a:bodyPr>
          <a:lstStyle/>
          <a:p>
            <a:pPr indent="0" lvl="0" marL="0" marR="0" rtl="0" algn="ctr">
              <a:spcBef>
                <a:spcPts val="0"/>
              </a:spcBef>
              <a:spcAft>
                <a:spcPts val="0"/>
              </a:spcAft>
              <a:buNone/>
            </a:pPr>
            <a:r>
              <a:rPr b="1" i="0" lang="en-GB" sz="1400" u="none" cap="none" strike="noStrike">
                <a:solidFill>
                  <a:srgbClr val="F79F83"/>
                </a:solidFill>
                <a:latin typeface="Alegreya Sans"/>
                <a:ea typeface="Alegreya Sans"/>
                <a:cs typeface="Alegreya Sans"/>
                <a:sym typeface="Alegreya Sans"/>
              </a:rPr>
              <a:t>Step 3</a:t>
            </a:r>
            <a:endParaRPr/>
          </a:p>
          <a:p>
            <a:pPr indent="0" lvl="0" marL="0" marR="0" rtl="0" algn="ctr">
              <a:spcBef>
                <a:spcPts val="600"/>
              </a:spcBef>
              <a:spcAft>
                <a:spcPts val="0"/>
              </a:spcAft>
              <a:buNone/>
            </a:pPr>
            <a:r>
              <a:rPr b="1" i="0" lang="en-GB" sz="1700" u="none" cap="none" strike="noStrike">
                <a:solidFill>
                  <a:srgbClr val="003060"/>
                </a:solidFill>
                <a:latin typeface="Libre Baskerville"/>
                <a:ea typeface="Libre Baskerville"/>
                <a:cs typeface="Libre Baskerville"/>
                <a:sym typeface="Libre Baskerville"/>
              </a:rPr>
              <a:t>Expert Coaching &amp; High A</a:t>
            </a:r>
            <a:r>
              <a:rPr b="1" lang="en-GB" sz="1700">
                <a:solidFill>
                  <a:srgbClr val="003060"/>
                </a:solidFill>
                <a:latin typeface="Libre Baskerville"/>
                <a:ea typeface="Libre Baskerville"/>
                <a:cs typeface="Libre Baskerville"/>
                <a:sym typeface="Libre Baskerville"/>
              </a:rPr>
              <a:t>ccountability</a:t>
            </a:r>
            <a:endParaRPr/>
          </a:p>
          <a:p>
            <a:pPr indent="0" lvl="0" marL="0" marR="0" rtl="0" algn="ctr">
              <a:spcBef>
                <a:spcPts val="1200"/>
              </a:spcBef>
              <a:spcAft>
                <a:spcPts val="0"/>
              </a:spcAft>
              <a:buNone/>
            </a:pPr>
            <a:r>
              <a:rPr b="0" i="0" lang="en-GB" sz="1400" u="none" cap="none" strike="noStrike">
                <a:solidFill>
                  <a:srgbClr val="003060"/>
                </a:solidFill>
                <a:latin typeface="Alegreya Sans"/>
                <a:ea typeface="Alegreya Sans"/>
                <a:cs typeface="Alegreya Sans"/>
                <a:sym typeface="Alegreya Sans"/>
              </a:rPr>
              <a:t>High-level coaching and accountability so you keep showing up</a:t>
            </a:r>
            <a:r>
              <a:rPr lang="en-GB" sz="1400">
                <a:solidFill>
                  <a:srgbClr val="003060"/>
                </a:solidFill>
                <a:latin typeface="Alegreya Sans"/>
                <a:ea typeface="Alegreya Sans"/>
                <a:cs typeface="Alegreya Sans"/>
                <a:sym typeface="Alegreya Sans"/>
              </a:rPr>
              <a:t>, </a:t>
            </a:r>
            <a:r>
              <a:rPr b="0" i="0" lang="en-GB" sz="1400" u="none" cap="none" strike="noStrike">
                <a:solidFill>
                  <a:srgbClr val="003060"/>
                </a:solidFill>
                <a:latin typeface="Alegreya Sans"/>
                <a:ea typeface="Alegreya Sans"/>
                <a:cs typeface="Alegreya Sans"/>
                <a:sym typeface="Alegreya Sans"/>
              </a:rPr>
              <a:t>even on the harder days. Expert coaching to help you stay consistent, make better decisions and achieve better results.</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422" name="Shape 422"/>
        <p:cNvGrpSpPr/>
        <p:nvPr/>
      </p:nvGrpSpPr>
      <p:grpSpPr>
        <a:xfrm>
          <a:off x="0" y="0"/>
          <a:ext cx="0" cy="0"/>
          <a:chOff x="0" y="0"/>
          <a:chExt cx="0" cy="0"/>
        </a:xfrm>
      </p:grpSpPr>
      <p:sp>
        <p:nvSpPr>
          <p:cNvPr id="423" name="Google Shape;423;p74"/>
          <p:cNvSpPr txBox="1"/>
          <p:nvPr/>
        </p:nvSpPr>
        <p:spPr>
          <a:xfrm>
            <a:off x="457200" y="300000"/>
            <a:ext cx="8229600" cy="7000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GB" sz="2800" u="none" cap="none" strike="noStrike">
                <a:solidFill>
                  <a:srgbClr val="003060"/>
                </a:solidFill>
                <a:latin typeface="Libre Baskerville"/>
                <a:ea typeface="Libre Baskerville"/>
                <a:cs typeface="Libre Baskerville"/>
                <a:sym typeface="Libre Baskerville"/>
              </a:rPr>
              <a:t>What's Included</a:t>
            </a:r>
            <a:endParaRPr/>
          </a:p>
        </p:txBody>
      </p:sp>
      <p:sp>
        <p:nvSpPr>
          <p:cNvPr id="424" name="Google Shape;424;p74"/>
          <p:cNvSpPr txBox="1"/>
          <p:nvPr/>
        </p:nvSpPr>
        <p:spPr>
          <a:xfrm>
            <a:off x="600000" y="1180000"/>
            <a:ext cx="3792000" cy="37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GB" sz="1400" u="none" cap="none" strike="noStrike">
                <a:solidFill>
                  <a:srgbClr val="F79F83"/>
                </a:solidFill>
                <a:latin typeface="Alegreya Sans"/>
                <a:ea typeface="Alegreya Sans"/>
                <a:cs typeface="Alegreya Sans"/>
                <a:sym typeface="Alegreya Sans"/>
              </a:rPr>
              <a:t>✦  </a:t>
            </a:r>
            <a:r>
              <a:rPr b="0" i="0" lang="en-GB" sz="1400" u="none" cap="none" strike="noStrike">
                <a:solidFill>
                  <a:srgbClr val="003060"/>
                </a:solidFill>
                <a:latin typeface="Alegreya Sans"/>
                <a:ea typeface="Alegreya Sans"/>
                <a:cs typeface="Alegreya Sans"/>
                <a:sym typeface="Alegreya Sans"/>
              </a:rPr>
              <a:t>The 12 Week WLA Summer Challenge</a:t>
            </a:r>
            <a:endParaRPr/>
          </a:p>
          <a:p>
            <a:pPr indent="0" lvl="0" marL="0" marR="0" rtl="0" algn="l">
              <a:spcBef>
                <a:spcPts val="1000"/>
              </a:spcBef>
              <a:spcAft>
                <a:spcPts val="0"/>
              </a:spcAft>
              <a:buNone/>
            </a:pPr>
            <a:r>
              <a:rPr b="1" i="0" lang="en-GB" sz="1400" u="none" cap="none" strike="noStrike">
                <a:solidFill>
                  <a:srgbClr val="F79F83"/>
                </a:solidFill>
                <a:latin typeface="Alegreya Sans"/>
                <a:ea typeface="Alegreya Sans"/>
                <a:cs typeface="Alegreya Sans"/>
                <a:sym typeface="Alegreya Sans"/>
              </a:rPr>
              <a:t>✦  </a:t>
            </a:r>
            <a:r>
              <a:rPr b="0" i="0" lang="en-GB" sz="1400" u="none" cap="none" strike="noStrike">
                <a:solidFill>
                  <a:srgbClr val="003060"/>
                </a:solidFill>
                <a:latin typeface="Alegreya Sans"/>
                <a:ea typeface="Alegreya Sans"/>
                <a:cs typeface="Alegreya Sans"/>
                <a:sym typeface="Alegreya Sans"/>
              </a:rPr>
              <a:t>Monthly Accountability + Results Tracker</a:t>
            </a:r>
            <a:endParaRPr/>
          </a:p>
          <a:p>
            <a:pPr indent="0" lvl="0" marL="0" marR="0" rtl="0" algn="l">
              <a:spcBef>
                <a:spcPts val="1000"/>
              </a:spcBef>
              <a:spcAft>
                <a:spcPts val="0"/>
              </a:spcAft>
              <a:buNone/>
            </a:pPr>
            <a:r>
              <a:rPr b="1" i="0" lang="en-GB" sz="1400" u="none" cap="none" strike="noStrike">
                <a:solidFill>
                  <a:srgbClr val="F79F83"/>
                </a:solidFill>
                <a:latin typeface="Alegreya Sans"/>
                <a:ea typeface="Alegreya Sans"/>
                <a:cs typeface="Alegreya Sans"/>
                <a:sym typeface="Alegreya Sans"/>
              </a:rPr>
              <a:t>✦  </a:t>
            </a:r>
            <a:r>
              <a:rPr b="0" i="0" lang="en-GB" sz="1400" u="none" cap="none" strike="noStrike">
                <a:solidFill>
                  <a:srgbClr val="003060"/>
                </a:solidFill>
                <a:latin typeface="Alegreya Sans"/>
                <a:ea typeface="Alegreya Sans"/>
                <a:cs typeface="Alegreya Sans"/>
                <a:sym typeface="Alegreya Sans"/>
              </a:rPr>
              <a:t>Weekly LIVE Zoom Coaching Sessions With Anna</a:t>
            </a:r>
            <a:endParaRPr/>
          </a:p>
          <a:p>
            <a:pPr indent="0" lvl="0" marL="0" marR="0" rtl="0" algn="l">
              <a:spcBef>
                <a:spcPts val="1000"/>
              </a:spcBef>
              <a:spcAft>
                <a:spcPts val="0"/>
              </a:spcAft>
              <a:buNone/>
            </a:pPr>
            <a:r>
              <a:rPr b="1" i="0" lang="en-GB" sz="1400" u="none" cap="none" strike="noStrike">
                <a:solidFill>
                  <a:srgbClr val="F79F83"/>
                </a:solidFill>
                <a:latin typeface="Alegreya Sans"/>
                <a:ea typeface="Alegreya Sans"/>
                <a:cs typeface="Alegreya Sans"/>
                <a:sym typeface="Alegreya Sans"/>
              </a:rPr>
              <a:t>✦  </a:t>
            </a:r>
            <a:r>
              <a:rPr b="0" i="0" lang="en-GB" sz="1400" u="none" cap="none" strike="noStrike">
                <a:solidFill>
                  <a:srgbClr val="003060"/>
                </a:solidFill>
                <a:latin typeface="Alegreya Sans"/>
                <a:ea typeface="Alegreya Sans"/>
                <a:cs typeface="Alegreya Sans"/>
                <a:sym typeface="Alegreya Sans"/>
              </a:rPr>
              <a:t>New recipes added every week</a:t>
            </a:r>
            <a:endParaRPr/>
          </a:p>
          <a:p>
            <a:pPr indent="0" lvl="0" marL="0" marR="0" rtl="0" algn="l">
              <a:spcBef>
                <a:spcPts val="1000"/>
              </a:spcBef>
              <a:spcAft>
                <a:spcPts val="0"/>
              </a:spcAft>
              <a:buNone/>
            </a:pPr>
            <a:r>
              <a:rPr b="1" i="0" lang="en-GB" sz="1400" u="none" cap="none" strike="noStrike">
                <a:solidFill>
                  <a:srgbClr val="F79F83"/>
                </a:solidFill>
                <a:latin typeface="Alegreya Sans"/>
                <a:ea typeface="Alegreya Sans"/>
                <a:cs typeface="Alegreya Sans"/>
                <a:sym typeface="Alegreya Sans"/>
              </a:rPr>
              <a:t>✦  </a:t>
            </a:r>
            <a:r>
              <a:rPr b="0" i="0" lang="en-GB" sz="1400" u="none" cap="none" strike="noStrike">
                <a:solidFill>
                  <a:srgbClr val="003060"/>
                </a:solidFill>
                <a:latin typeface="Alegreya Sans"/>
                <a:ea typeface="Alegreya Sans"/>
                <a:cs typeface="Alegreya Sans"/>
                <a:sym typeface="Alegreya Sans"/>
              </a:rPr>
              <a:t>New fat loss meal guide dropped every Friday</a:t>
            </a:r>
            <a:endParaRPr/>
          </a:p>
          <a:p>
            <a:pPr indent="0" lvl="0" marL="0" marR="0" rtl="0" algn="l">
              <a:spcBef>
                <a:spcPts val="1000"/>
              </a:spcBef>
              <a:spcAft>
                <a:spcPts val="0"/>
              </a:spcAft>
              <a:buNone/>
            </a:pPr>
            <a:r>
              <a:rPr b="1" i="0" lang="en-GB" sz="1400" u="none" cap="none" strike="noStrike">
                <a:solidFill>
                  <a:srgbClr val="F79F83"/>
                </a:solidFill>
                <a:latin typeface="Alegreya Sans"/>
                <a:ea typeface="Alegreya Sans"/>
                <a:cs typeface="Alegreya Sans"/>
                <a:sym typeface="Alegreya Sans"/>
              </a:rPr>
              <a:t>✦  </a:t>
            </a:r>
            <a:r>
              <a:rPr b="0" i="0" lang="en-GB" sz="1400" u="none" cap="none" strike="noStrike">
                <a:solidFill>
                  <a:srgbClr val="003060"/>
                </a:solidFill>
                <a:latin typeface="Alegreya Sans"/>
                <a:ea typeface="Alegreya Sans"/>
                <a:cs typeface="Alegreya Sans"/>
                <a:sym typeface="Alegreya Sans"/>
              </a:rPr>
              <a:t>Daily Coaching &amp; Accountability Support</a:t>
            </a:r>
            <a:endParaRPr/>
          </a:p>
          <a:p>
            <a:pPr indent="0" lvl="0" marL="0" marR="0" rtl="0" algn="l">
              <a:spcBef>
                <a:spcPts val="1000"/>
              </a:spcBef>
              <a:spcAft>
                <a:spcPts val="0"/>
              </a:spcAft>
              <a:buNone/>
            </a:pPr>
            <a:r>
              <a:rPr b="1" i="0" lang="en-GB" sz="1400" u="none" cap="none" strike="noStrike">
                <a:solidFill>
                  <a:srgbClr val="F79F83"/>
                </a:solidFill>
                <a:latin typeface="Alegreya Sans"/>
                <a:ea typeface="Alegreya Sans"/>
                <a:cs typeface="Alegreya Sans"/>
                <a:sym typeface="Alegreya Sans"/>
              </a:rPr>
              <a:t>✦  </a:t>
            </a:r>
            <a:r>
              <a:rPr b="0" i="0" lang="en-GB" sz="1400" u="none" cap="none" strike="noStrike">
                <a:solidFill>
                  <a:srgbClr val="003060"/>
                </a:solidFill>
                <a:latin typeface="Alegreya Sans"/>
                <a:ea typeface="Alegreya Sans"/>
                <a:cs typeface="Alegreya Sans"/>
                <a:sym typeface="Alegreya Sans"/>
              </a:rPr>
              <a:t>Female-Only Coaching Community</a:t>
            </a:r>
            <a:endParaRPr/>
          </a:p>
        </p:txBody>
      </p:sp>
      <p:sp>
        <p:nvSpPr>
          <p:cNvPr id="425" name="Google Shape;425;p74"/>
          <p:cNvSpPr txBox="1"/>
          <p:nvPr/>
        </p:nvSpPr>
        <p:spPr>
          <a:xfrm>
            <a:off x="4752000" y="1180000"/>
            <a:ext cx="4051200" cy="3699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GB" sz="1400" u="none" cap="none" strike="noStrike">
                <a:solidFill>
                  <a:srgbClr val="F79F83"/>
                </a:solidFill>
                <a:latin typeface="Alegreya Sans"/>
                <a:ea typeface="Alegreya Sans"/>
                <a:cs typeface="Alegreya Sans"/>
                <a:sym typeface="Alegreya Sans"/>
              </a:rPr>
              <a:t>✦  </a:t>
            </a:r>
            <a:r>
              <a:rPr b="0" i="0" lang="en-GB" sz="1400" u="none" cap="none" strike="noStrike">
                <a:solidFill>
                  <a:srgbClr val="003060"/>
                </a:solidFill>
                <a:latin typeface="Alegreya Sans"/>
                <a:ea typeface="Alegreya Sans"/>
                <a:cs typeface="Alegreya Sans"/>
                <a:sym typeface="Alegreya Sans"/>
              </a:rPr>
              <a:t>Access To ALL WLA Challenges + Resets For 12 Months</a:t>
            </a:r>
            <a:endParaRPr/>
          </a:p>
          <a:p>
            <a:pPr indent="0" lvl="0" marL="0" marR="0" rtl="0" algn="l">
              <a:spcBef>
                <a:spcPts val="1000"/>
              </a:spcBef>
              <a:spcAft>
                <a:spcPts val="0"/>
              </a:spcAft>
              <a:buNone/>
            </a:pPr>
            <a:r>
              <a:rPr b="1" i="0" lang="en-GB" sz="1400" u="none" cap="none" strike="noStrike">
                <a:solidFill>
                  <a:srgbClr val="F79F83"/>
                </a:solidFill>
                <a:latin typeface="Alegreya Sans"/>
                <a:ea typeface="Alegreya Sans"/>
                <a:cs typeface="Alegreya Sans"/>
                <a:sym typeface="Alegreya Sans"/>
              </a:rPr>
              <a:t>✦  </a:t>
            </a:r>
            <a:r>
              <a:rPr b="0" i="0" lang="en-GB" sz="1400" u="none" cap="none" strike="noStrike">
                <a:solidFill>
                  <a:srgbClr val="003060"/>
                </a:solidFill>
                <a:latin typeface="Alegreya Sans"/>
                <a:ea typeface="Alegreya Sans"/>
                <a:cs typeface="Alegreya Sans"/>
                <a:sym typeface="Alegreya Sans"/>
              </a:rPr>
              <a:t>The WLA Nutrition Formula Masterclass</a:t>
            </a:r>
            <a:endParaRPr/>
          </a:p>
          <a:p>
            <a:pPr indent="0" lvl="0" marL="0" marR="0" rtl="0" algn="l">
              <a:spcBef>
                <a:spcPts val="1000"/>
              </a:spcBef>
              <a:spcAft>
                <a:spcPts val="0"/>
              </a:spcAft>
              <a:buNone/>
            </a:pPr>
            <a:r>
              <a:rPr b="1" i="0" lang="en-GB" sz="1400" u="none" cap="none" strike="noStrike">
                <a:solidFill>
                  <a:srgbClr val="F79F83"/>
                </a:solidFill>
                <a:latin typeface="Alegreya Sans"/>
                <a:ea typeface="Alegreya Sans"/>
                <a:cs typeface="Alegreya Sans"/>
                <a:sym typeface="Alegreya Sans"/>
              </a:rPr>
              <a:t>✦  </a:t>
            </a:r>
            <a:r>
              <a:rPr b="0" i="0" lang="en-GB" sz="1400" u="none" cap="none" strike="noStrike">
                <a:solidFill>
                  <a:srgbClr val="003060"/>
                </a:solidFill>
                <a:latin typeface="Alegreya Sans"/>
                <a:ea typeface="Alegreya Sans"/>
                <a:cs typeface="Alegreya Sans"/>
                <a:sym typeface="Alegreya Sans"/>
              </a:rPr>
              <a:t>Access To The WLA Recipe Collection with 500+ recipes</a:t>
            </a:r>
            <a:endParaRPr/>
          </a:p>
          <a:p>
            <a:pPr indent="0" lvl="0" marL="0" marR="0" rtl="0" algn="l">
              <a:spcBef>
                <a:spcPts val="1000"/>
              </a:spcBef>
              <a:spcAft>
                <a:spcPts val="0"/>
              </a:spcAft>
              <a:buNone/>
            </a:pPr>
            <a:r>
              <a:rPr b="1" i="0" lang="en-GB" sz="1400" u="none" cap="none" strike="noStrike">
                <a:solidFill>
                  <a:srgbClr val="F79F83"/>
                </a:solidFill>
                <a:latin typeface="Alegreya Sans"/>
                <a:ea typeface="Alegreya Sans"/>
                <a:cs typeface="Alegreya Sans"/>
                <a:sym typeface="Alegreya Sans"/>
              </a:rPr>
              <a:t>✦  </a:t>
            </a:r>
            <a:r>
              <a:rPr b="0" i="0" lang="en-GB" sz="1400" u="none" cap="none" strike="noStrike">
                <a:solidFill>
                  <a:srgbClr val="003060"/>
                </a:solidFill>
                <a:latin typeface="Alegreya Sans"/>
                <a:ea typeface="Alegreya Sans"/>
                <a:cs typeface="Alegreya Sans"/>
                <a:sym typeface="Alegreya Sans"/>
              </a:rPr>
              <a:t>WLA Movement Classes With Linda</a:t>
            </a:r>
            <a:endParaRPr/>
          </a:p>
          <a:p>
            <a:pPr indent="0" lvl="0" marL="0" marR="0" rtl="0" algn="l">
              <a:spcBef>
                <a:spcPts val="1000"/>
              </a:spcBef>
              <a:spcAft>
                <a:spcPts val="0"/>
              </a:spcAft>
              <a:buNone/>
            </a:pPr>
            <a:r>
              <a:rPr b="1" i="0" lang="en-GB" sz="1400" u="none" cap="none" strike="noStrike">
                <a:solidFill>
                  <a:srgbClr val="F79F83"/>
                </a:solidFill>
                <a:latin typeface="Alegreya Sans"/>
                <a:ea typeface="Alegreya Sans"/>
                <a:cs typeface="Alegreya Sans"/>
                <a:sym typeface="Alegreya Sans"/>
              </a:rPr>
              <a:t>✦  </a:t>
            </a:r>
            <a:r>
              <a:rPr b="0" i="0" lang="en-GB" sz="1400" u="none" cap="none" strike="noStrike">
                <a:solidFill>
                  <a:srgbClr val="003060"/>
                </a:solidFill>
                <a:latin typeface="Alegreya Sans"/>
                <a:ea typeface="Alegreya Sans"/>
                <a:cs typeface="Alegreya Sans"/>
                <a:sym typeface="Alegreya Sans"/>
              </a:rPr>
              <a:t>WLA Nutrition &amp; Lifestyle Guides</a:t>
            </a:r>
            <a:endParaRPr/>
          </a:p>
          <a:p>
            <a:pPr indent="0" lvl="0" marL="0" marR="0" rtl="0" algn="l">
              <a:spcBef>
                <a:spcPts val="1000"/>
              </a:spcBef>
              <a:spcAft>
                <a:spcPts val="0"/>
              </a:spcAft>
              <a:buNone/>
            </a:pPr>
            <a:r>
              <a:rPr b="1" i="0" lang="en-GB" sz="1400" u="none" cap="none" strike="noStrike">
                <a:solidFill>
                  <a:srgbClr val="F79F83"/>
                </a:solidFill>
                <a:latin typeface="Alegreya Sans"/>
                <a:ea typeface="Alegreya Sans"/>
                <a:cs typeface="Alegreya Sans"/>
                <a:sym typeface="Alegreya Sans"/>
              </a:rPr>
              <a:t>✦  </a:t>
            </a:r>
            <a:r>
              <a:rPr b="0" i="0" lang="en-GB" sz="1400" u="none" cap="none" strike="noStrike">
                <a:solidFill>
                  <a:srgbClr val="003060"/>
                </a:solidFill>
                <a:latin typeface="Alegreya Sans"/>
                <a:ea typeface="Alegreya Sans"/>
                <a:cs typeface="Alegreya Sans"/>
                <a:sym typeface="Alegreya Sans"/>
              </a:rPr>
              <a:t>Access To The Brand New Tools (including new app once released)</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429" name="Shape 429"/>
        <p:cNvGrpSpPr/>
        <p:nvPr/>
      </p:nvGrpSpPr>
      <p:grpSpPr>
        <a:xfrm>
          <a:off x="0" y="0"/>
          <a:ext cx="0" cy="0"/>
          <a:chOff x="0" y="0"/>
          <a:chExt cx="0" cy="0"/>
        </a:xfrm>
      </p:grpSpPr>
      <p:sp>
        <p:nvSpPr>
          <p:cNvPr id="430" name="Google Shape;430;p75"/>
          <p:cNvSpPr txBox="1"/>
          <p:nvPr/>
        </p:nvSpPr>
        <p:spPr>
          <a:xfrm>
            <a:off x="457200" y="280000"/>
            <a:ext cx="8229600" cy="4500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GB" sz="1400" u="none" cap="none" strike="noStrike">
                <a:solidFill>
                  <a:srgbClr val="F79F83"/>
                </a:solidFill>
                <a:latin typeface="Alegreya Sans"/>
                <a:ea typeface="Alegreya Sans"/>
                <a:cs typeface="Alegreya Sans"/>
                <a:sym typeface="Alegreya Sans"/>
              </a:rPr>
              <a:t>SPECIAL ONE-OFF BONUS</a:t>
            </a:r>
            <a:endParaRPr/>
          </a:p>
        </p:txBody>
      </p:sp>
      <p:sp>
        <p:nvSpPr>
          <p:cNvPr id="431" name="Google Shape;431;p75"/>
          <p:cNvSpPr txBox="1"/>
          <p:nvPr/>
        </p:nvSpPr>
        <p:spPr>
          <a:xfrm>
            <a:off x="457200" y="750000"/>
            <a:ext cx="8229600" cy="14000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GB" sz="2800" u="none" cap="none" strike="noStrike">
                <a:solidFill>
                  <a:srgbClr val="003060"/>
                </a:solidFill>
                <a:latin typeface="Libre Baskerville"/>
                <a:ea typeface="Libre Baskerville"/>
                <a:cs typeface="Libre Baskerville"/>
                <a:sym typeface="Libre Baskerville"/>
              </a:rPr>
              <a:t>Join the 12 Week Summer Challenge</a:t>
            </a:r>
            <a:endParaRPr/>
          </a:p>
          <a:p>
            <a:pPr indent="0" lvl="0" marL="0" marR="0" rtl="0" algn="ctr">
              <a:spcBef>
                <a:spcPts val="600"/>
              </a:spcBef>
              <a:spcAft>
                <a:spcPts val="0"/>
              </a:spcAft>
              <a:buNone/>
            </a:pPr>
            <a:r>
              <a:rPr b="1" i="1" lang="en-GB" sz="2400" u="none" cap="none" strike="noStrike">
                <a:solidFill>
                  <a:srgbClr val="F79F83"/>
                </a:solidFill>
                <a:latin typeface="Libre Baskerville"/>
                <a:ea typeface="Libre Baskerville"/>
                <a:cs typeface="Libre Baskerville"/>
                <a:sym typeface="Libre Baskerville"/>
              </a:rPr>
              <a:t>+ get the whole year of coaching for FREE</a:t>
            </a:r>
            <a:endParaRPr/>
          </a:p>
        </p:txBody>
      </p:sp>
      <p:sp>
        <p:nvSpPr>
          <p:cNvPr id="432" name="Google Shape;432;p75"/>
          <p:cNvSpPr/>
          <p:nvPr/>
        </p:nvSpPr>
        <p:spPr>
          <a:xfrm>
            <a:off x="1500000" y="2200000"/>
            <a:ext cx="6144000" cy="2600000"/>
          </a:xfrm>
          <a:prstGeom prst="roundRect">
            <a:avLst>
              <a:gd fmla="val 16667" name="adj"/>
            </a:avLst>
          </a:prstGeom>
          <a:solidFill>
            <a:srgbClr val="FDEEE7"/>
          </a:solidFill>
          <a:ln cap="flat" cmpd="sng" w="19050">
            <a:solidFill>
              <a:srgbClr val="F79F8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a:solidFill/>
              </a:rPr>
              <a:t/>
            </a:r>
            <a:endParaRPr b="0" i="0" sz="1800" u="none" cap="none" strike="noStrike">
              <a:solidFill>
                <a:schemeClr val="dk1"/>
              </a:solidFill>
              <a:latin typeface="Calibri"/>
              <a:ea typeface="Calibri"/>
              <a:cs typeface="Calibri"/>
              <a:sym typeface="Calibri"/>
            </a:endParaRPr>
          </a:p>
        </p:txBody>
      </p:sp>
      <p:sp>
        <p:nvSpPr>
          <p:cNvPr id="433" name="Google Shape;433;p75"/>
          <p:cNvSpPr txBox="1"/>
          <p:nvPr/>
        </p:nvSpPr>
        <p:spPr>
          <a:xfrm>
            <a:off x="1900000" y="2420000"/>
            <a:ext cx="5344000" cy="21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GB" sz="1700" u="none" cap="none" strike="noStrike">
                <a:solidFill>
                  <a:srgbClr val="F79F83"/>
                </a:solidFill>
                <a:latin typeface="Alegreya Sans"/>
                <a:ea typeface="Alegreya Sans"/>
                <a:cs typeface="Alegreya Sans"/>
                <a:sym typeface="Alegreya Sans"/>
              </a:rPr>
              <a:t>✦  </a:t>
            </a:r>
            <a:r>
              <a:rPr b="0" i="0" lang="en-GB" sz="1700" u="none" cap="none" strike="noStrike">
                <a:solidFill>
                  <a:srgbClr val="003060"/>
                </a:solidFill>
                <a:latin typeface="Alegreya Sans"/>
                <a:ea typeface="Alegreya Sans"/>
                <a:cs typeface="Alegreya Sans"/>
                <a:sym typeface="Alegreya Sans"/>
              </a:rPr>
              <a:t>52 Weekly Fat Loss Meal Guides</a:t>
            </a:r>
            <a:endParaRPr/>
          </a:p>
          <a:p>
            <a:pPr indent="0" lvl="0" marL="0" marR="0" rtl="0" algn="l">
              <a:spcBef>
                <a:spcPts val="1200"/>
              </a:spcBef>
              <a:spcAft>
                <a:spcPts val="0"/>
              </a:spcAft>
              <a:buNone/>
            </a:pPr>
            <a:r>
              <a:rPr b="1" i="0" lang="en-GB" sz="1700" u="none" cap="none" strike="noStrike">
                <a:solidFill>
                  <a:srgbClr val="F79F83"/>
                </a:solidFill>
                <a:latin typeface="Alegreya Sans"/>
                <a:ea typeface="Alegreya Sans"/>
                <a:cs typeface="Alegreya Sans"/>
                <a:sym typeface="Alegreya Sans"/>
              </a:rPr>
              <a:t>✦  </a:t>
            </a:r>
            <a:r>
              <a:rPr b="0" i="0" lang="en-GB" sz="1700" u="none" cap="none" strike="noStrike">
                <a:solidFill>
                  <a:srgbClr val="003060"/>
                </a:solidFill>
                <a:latin typeface="Alegreya Sans"/>
                <a:ea typeface="Alegreya Sans"/>
                <a:cs typeface="Alegreya Sans"/>
                <a:sym typeface="Alegreya Sans"/>
              </a:rPr>
              <a:t>200+ Fresh Weekly Recipes</a:t>
            </a:r>
            <a:endParaRPr/>
          </a:p>
          <a:p>
            <a:pPr indent="0" lvl="0" marL="0" marR="0" rtl="0" algn="l">
              <a:spcBef>
                <a:spcPts val="1200"/>
              </a:spcBef>
              <a:spcAft>
                <a:spcPts val="0"/>
              </a:spcAft>
              <a:buNone/>
            </a:pPr>
            <a:r>
              <a:rPr b="1" i="0" lang="en-GB" sz="1700" u="none" cap="none" strike="noStrike">
                <a:solidFill>
                  <a:srgbClr val="F79F83"/>
                </a:solidFill>
                <a:latin typeface="Alegreya Sans"/>
                <a:ea typeface="Alegreya Sans"/>
                <a:cs typeface="Alegreya Sans"/>
                <a:sym typeface="Alegreya Sans"/>
              </a:rPr>
              <a:t>✦  </a:t>
            </a:r>
            <a:r>
              <a:rPr b="0" i="0" lang="en-GB" sz="1700" u="none" cap="none" strike="noStrike">
                <a:solidFill>
                  <a:srgbClr val="003060"/>
                </a:solidFill>
                <a:latin typeface="Alegreya Sans"/>
                <a:ea typeface="Alegreya Sans"/>
                <a:cs typeface="Alegreya Sans"/>
                <a:sym typeface="Alegreya Sans"/>
              </a:rPr>
              <a:t>12 Monthly Sprint Challenges</a:t>
            </a:r>
            <a:endParaRPr/>
          </a:p>
          <a:p>
            <a:pPr indent="0" lvl="0" marL="0" marR="0" rtl="0" algn="l">
              <a:spcBef>
                <a:spcPts val="1200"/>
              </a:spcBef>
              <a:spcAft>
                <a:spcPts val="0"/>
              </a:spcAft>
              <a:buNone/>
            </a:pPr>
            <a:r>
              <a:rPr b="1" i="0" lang="en-GB" sz="1700" u="none" cap="none" strike="noStrike">
                <a:solidFill>
                  <a:srgbClr val="F79F83"/>
                </a:solidFill>
                <a:latin typeface="Alegreya Sans"/>
                <a:ea typeface="Alegreya Sans"/>
                <a:cs typeface="Alegreya Sans"/>
                <a:sym typeface="Alegreya Sans"/>
              </a:rPr>
              <a:t>✦  </a:t>
            </a:r>
            <a:r>
              <a:rPr b="0" i="0" lang="en-GB" sz="1700" u="none" cap="none" strike="noStrike">
                <a:solidFill>
                  <a:srgbClr val="003060"/>
                </a:solidFill>
                <a:latin typeface="Alegreya Sans"/>
                <a:ea typeface="Alegreya Sans"/>
                <a:cs typeface="Alegreya Sans"/>
                <a:sym typeface="Alegreya Sans"/>
              </a:rPr>
              <a:t>52 Weekly LIVE Coaching Zooms with Anna</a:t>
            </a:r>
            <a:endParaRPr/>
          </a:p>
          <a:p>
            <a:pPr indent="0" lvl="0" marL="0" marR="0" rtl="0" algn="l">
              <a:spcBef>
                <a:spcPts val="1200"/>
              </a:spcBef>
              <a:spcAft>
                <a:spcPts val="0"/>
              </a:spcAft>
              <a:buNone/>
            </a:pPr>
            <a:r>
              <a:rPr b="1" i="0" lang="en-GB" sz="1700" u="none" cap="none" strike="noStrike">
                <a:solidFill>
                  <a:srgbClr val="F79F83"/>
                </a:solidFill>
                <a:latin typeface="Alegreya Sans"/>
                <a:ea typeface="Alegreya Sans"/>
                <a:cs typeface="Alegreya Sans"/>
                <a:sym typeface="Alegreya Sans"/>
              </a:rPr>
              <a:t>✦  </a:t>
            </a:r>
            <a:r>
              <a:rPr b="0" i="0" lang="en-GB" sz="1700" u="none" cap="none" strike="noStrike">
                <a:solidFill>
                  <a:srgbClr val="003060"/>
                </a:solidFill>
                <a:latin typeface="Alegreya Sans"/>
                <a:ea typeface="Alegreya Sans"/>
                <a:cs typeface="Alegreya Sans"/>
                <a:sym typeface="Alegreya Sans"/>
              </a:rPr>
              <a:t>365 Days of Daily Coaching &amp; Support</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437" name="Shape 437"/>
        <p:cNvGrpSpPr/>
        <p:nvPr/>
      </p:nvGrpSpPr>
      <p:grpSpPr>
        <a:xfrm>
          <a:off x="0" y="0"/>
          <a:ext cx="0" cy="0"/>
          <a:chOff x="0" y="0"/>
          <a:chExt cx="0" cy="0"/>
        </a:xfrm>
      </p:grpSpPr>
      <p:sp>
        <p:nvSpPr>
          <p:cNvPr id="438" name="Google Shape;438;p76"/>
          <p:cNvSpPr txBox="1"/>
          <p:nvPr/>
        </p:nvSpPr>
        <p:spPr>
          <a:xfrm>
            <a:off x="457200" y="304800"/>
            <a:ext cx="8229600" cy="6100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GB" sz="2800">
                <a:solidFill>
                  <a:srgbClr val="003060"/>
                </a:solidFill>
                <a:latin typeface="Libre Baskerville"/>
                <a:ea typeface="Libre Baskerville"/>
                <a:cs typeface="Libre Baskerville"/>
                <a:sym typeface="Libre Baskerville"/>
              </a:rPr>
              <a:t>Get Access To Our Members Area </a:t>
            </a:r>
            <a:endParaRPr/>
          </a:p>
        </p:txBody>
      </p:sp>
      <p:pic>
        <p:nvPicPr>
          <p:cNvPr id="439" name="Google Shape;439;p76" title="Screenshot 2026-06-04 at 16.08.00.png"/>
          <p:cNvPicPr preferRelativeResize="0"/>
          <p:nvPr/>
        </p:nvPicPr>
        <p:blipFill>
          <a:blip r:embed="rId3">
            <a:alphaModFix/>
          </a:blip>
          <a:stretch>
            <a:fillRect/>
          </a:stretch>
        </p:blipFill>
        <p:spPr>
          <a:xfrm>
            <a:off x="413769" y="914800"/>
            <a:ext cx="8388480" cy="3923901"/>
          </a:xfrm>
          <a:prstGeom prst="rect">
            <a:avLst/>
          </a:prstGeom>
          <a:noFill/>
          <a:ln>
            <a:noFill/>
          </a:ln>
        </p:spPr>
      </p:pic>
      <p:pic>
        <p:nvPicPr>
          <p:cNvPr id="440" name="Google Shape;440;p76" title="Screenshot 2026-06-04 at 16.08.00.png"/>
          <p:cNvPicPr preferRelativeResize="0"/>
          <p:nvPr/>
        </p:nvPicPr>
        <p:blipFill>
          <a:blip r:embed="rId3">
            <a:alphaModFix/>
          </a:blip>
          <a:stretch>
            <a:fillRect/>
          </a:stretch>
        </p:blipFill>
        <p:spPr>
          <a:xfrm>
            <a:off x="135350" y="914800"/>
            <a:ext cx="8388526" cy="3923901"/>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444" name="Shape 444"/>
        <p:cNvGrpSpPr/>
        <p:nvPr/>
      </p:nvGrpSpPr>
      <p:grpSpPr>
        <a:xfrm>
          <a:off x="0" y="0"/>
          <a:ext cx="0" cy="0"/>
          <a:chOff x="0" y="0"/>
          <a:chExt cx="0" cy="0"/>
        </a:xfrm>
      </p:grpSpPr>
      <p:sp>
        <p:nvSpPr>
          <p:cNvPr id="445" name="Google Shape;445;p77"/>
          <p:cNvSpPr txBox="1"/>
          <p:nvPr/>
        </p:nvSpPr>
        <p:spPr>
          <a:xfrm>
            <a:off x="457200" y="304800"/>
            <a:ext cx="8229600" cy="609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GB" sz="2800">
                <a:solidFill>
                  <a:srgbClr val="003060"/>
                </a:solidFill>
                <a:latin typeface="Libre Baskerville"/>
                <a:ea typeface="Libre Baskerville"/>
                <a:cs typeface="Libre Baskerville"/>
                <a:sym typeface="Libre Baskerville"/>
              </a:rPr>
              <a:t>Brand New Fat Loss Meal Guide Every Week</a:t>
            </a:r>
            <a:endParaRPr sz="1300"/>
          </a:p>
        </p:txBody>
      </p:sp>
      <p:pic>
        <p:nvPicPr>
          <p:cNvPr id="446" name="Google Shape;446;p77" title="Screenshot 2026-06-04 at 16.10.05.png"/>
          <p:cNvPicPr preferRelativeResize="0"/>
          <p:nvPr/>
        </p:nvPicPr>
        <p:blipFill rotWithShape="1">
          <a:blip r:embed="rId3">
            <a:alphaModFix/>
          </a:blip>
          <a:srcRect b="0" l="872" r="0" t="0"/>
          <a:stretch/>
        </p:blipFill>
        <p:spPr>
          <a:xfrm>
            <a:off x="457200" y="844675"/>
            <a:ext cx="8391773" cy="3923999"/>
          </a:xfrm>
          <a:prstGeom prst="rect">
            <a:avLst/>
          </a:prstGeom>
          <a:noFill/>
          <a:ln>
            <a:noFill/>
          </a:ln>
        </p:spPr>
      </p:pic>
      <p:pic>
        <p:nvPicPr>
          <p:cNvPr id="447" name="Google Shape;447;p77" title="Screenshot 2026-06-04 at 16.10.05.png"/>
          <p:cNvPicPr preferRelativeResize="0"/>
          <p:nvPr/>
        </p:nvPicPr>
        <p:blipFill>
          <a:blip r:embed="rId3">
            <a:alphaModFix/>
          </a:blip>
          <a:stretch>
            <a:fillRect/>
          </a:stretch>
        </p:blipFill>
        <p:spPr>
          <a:xfrm>
            <a:off x="395650" y="899463"/>
            <a:ext cx="8229602" cy="3814424"/>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451" name="Shape 451"/>
        <p:cNvGrpSpPr/>
        <p:nvPr/>
      </p:nvGrpSpPr>
      <p:grpSpPr>
        <a:xfrm>
          <a:off x="0" y="0"/>
          <a:ext cx="0" cy="0"/>
          <a:chOff x="0" y="0"/>
          <a:chExt cx="0" cy="0"/>
        </a:xfrm>
      </p:grpSpPr>
      <p:sp>
        <p:nvSpPr>
          <p:cNvPr id="452" name="Google Shape;452;p78"/>
          <p:cNvSpPr txBox="1"/>
          <p:nvPr/>
        </p:nvSpPr>
        <p:spPr>
          <a:xfrm>
            <a:off x="457200" y="304800"/>
            <a:ext cx="8229600" cy="609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GB" sz="2800">
                <a:solidFill>
                  <a:srgbClr val="003060"/>
                </a:solidFill>
                <a:latin typeface="Libre Baskerville"/>
                <a:ea typeface="Libre Baskerville"/>
                <a:cs typeface="Libre Baskerville"/>
                <a:sym typeface="Libre Baskerville"/>
              </a:rPr>
              <a:t>Get Hands on Personalised Advice </a:t>
            </a:r>
            <a:endParaRPr/>
          </a:p>
        </p:txBody>
      </p:sp>
      <p:pic>
        <p:nvPicPr>
          <p:cNvPr id="453" name="Google Shape;453;p78" title="Screenshot 2026-06-04 at 16.09.06.png"/>
          <p:cNvPicPr preferRelativeResize="0"/>
          <p:nvPr/>
        </p:nvPicPr>
        <p:blipFill>
          <a:blip r:embed="rId3">
            <a:alphaModFix/>
          </a:blip>
          <a:stretch>
            <a:fillRect/>
          </a:stretch>
        </p:blipFill>
        <p:spPr>
          <a:xfrm>
            <a:off x="152400" y="1067100"/>
            <a:ext cx="8839204" cy="3655667"/>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457" name="Shape 457"/>
        <p:cNvGrpSpPr/>
        <p:nvPr/>
      </p:nvGrpSpPr>
      <p:grpSpPr>
        <a:xfrm>
          <a:off x="0" y="0"/>
          <a:ext cx="0" cy="0"/>
          <a:chOff x="0" y="0"/>
          <a:chExt cx="0" cy="0"/>
        </a:xfrm>
      </p:grpSpPr>
      <p:sp>
        <p:nvSpPr>
          <p:cNvPr id="458" name="Google Shape;458;p79"/>
          <p:cNvSpPr txBox="1"/>
          <p:nvPr/>
        </p:nvSpPr>
        <p:spPr>
          <a:xfrm>
            <a:off x="457200" y="304800"/>
            <a:ext cx="8229600" cy="609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GB" sz="2800">
                <a:solidFill>
                  <a:srgbClr val="003060"/>
                </a:solidFill>
                <a:latin typeface="Libre Baskerville"/>
                <a:ea typeface="Libre Baskerville"/>
                <a:cs typeface="Libre Baskerville"/>
                <a:sym typeface="Libre Baskerville"/>
              </a:rPr>
              <a:t>The WLA Nutrition Formula Tools </a:t>
            </a:r>
            <a:endParaRPr/>
          </a:p>
        </p:txBody>
      </p:sp>
      <p:pic>
        <p:nvPicPr>
          <p:cNvPr id="459" name="Google Shape;459;p79" title="Screenshot 2026-06-04 at 16.11.48.png"/>
          <p:cNvPicPr preferRelativeResize="0"/>
          <p:nvPr/>
        </p:nvPicPr>
        <p:blipFill>
          <a:blip r:embed="rId3">
            <a:alphaModFix/>
          </a:blip>
          <a:stretch>
            <a:fillRect/>
          </a:stretch>
        </p:blipFill>
        <p:spPr>
          <a:xfrm>
            <a:off x="152400" y="1067100"/>
            <a:ext cx="8839204" cy="3418286"/>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8F3"/>
        </a:solidFill>
      </p:bgPr>
    </p:bg>
    <p:spTree>
      <p:nvGrpSpPr>
        <p:cNvPr id="463" name="Shape 463"/>
        <p:cNvGrpSpPr/>
        <p:nvPr/>
      </p:nvGrpSpPr>
      <p:grpSpPr>
        <a:xfrm>
          <a:off x="0" y="0"/>
          <a:ext cx="0" cy="0"/>
          <a:chOff x="0" y="0"/>
          <a:chExt cx="0" cy="0"/>
        </a:xfrm>
      </p:grpSpPr>
      <p:sp>
        <p:nvSpPr>
          <p:cNvPr id="464" name="Google Shape;464;p80"/>
          <p:cNvSpPr txBox="1"/>
          <p:nvPr/>
        </p:nvSpPr>
        <p:spPr>
          <a:xfrm>
            <a:off x="360825" y="503925"/>
            <a:ext cx="5344800" cy="4155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GB" sz="2700">
                <a:solidFill>
                  <a:srgbClr val="003060"/>
                </a:solidFill>
                <a:latin typeface="Libre Baskerville"/>
                <a:ea typeface="Libre Baskerville"/>
                <a:cs typeface="Libre Baskerville"/>
                <a:sym typeface="Libre Baskerville"/>
              </a:rPr>
              <a:t>EXTRA FREE BONUS </a:t>
            </a:r>
            <a:endParaRPr sz="1100">
              <a:solidFill>
                <a:srgbClr val="003060"/>
              </a:solidFill>
            </a:endParaRPr>
          </a:p>
        </p:txBody>
      </p:sp>
      <p:sp>
        <p:nvSpPr>
          <p:cNvPr id="465" name="Google Shape;465;p80"/>
          <p:cNvSpPr txBox="1"/>
          <p:nvPr/>
        </p:nvSpPr>
        <p:spPr>
          <a:xfrm>
            <a:off x="360825" y="1311402"/>
            <a:ext cx="5417700" cy="2616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i="1" lang="en-GB" sz="1700">
                <a:solidFill>
                  <a:srgbClr val="0E2746"/>
                </a:solidFill>
                <a:latin typeface="Libre Baskerville"/>
                <a:ea typeface="Libre Baskerville"/>
                <a:cs typeface="Libre Baskerville"/>
                <a:sym typeface="Libre Baskerville"/>
              </a:rPr>
              <a:t>Access To The New WLA App (once it launches)</a:t>
            </a:r>
            <a:endParaRPr i="1" sz="1700">
              <a:solidFill>
                <a:srgbClr val="0E2746"/>
              </a:solidFill>
              <a:latin typeface="Libre Baskerville"/>
              <a:ea typeface="Libre Baskerville"/>
              <a:cs typeface="Libre Baskerville"/>
              <a:sym typeface="Libre Baskerville"/>
            </a:endParaRPr>
          </a:p>
        </p:txBody>
      </p:sp>
      <p:sp>
        <p:nvSpPr>
          <p:cNvPr id="466" name="Google Shape;466;p80"/>
          <p:cNvSpPr/>
          <p:nvPr/>
        </p:nvSpPr>
        <p:spPr>
          <a:xfrm>
            <a:off x="411961" y="2047093"/>
            <a:ext cx="89100" cy="89100"/>
          </a:xfrm>
          <a:prstGeom prst="ellipse">
            <a:avLst/>
          </a:prstGeom>
          <a:solidFill>
            <a:srgbClr val="D9775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a:solidFill/>
              </a:rPr>
              <a:t/>
            </a:r>
            <a:endParaRPr b="0" i="0" sz="1400" u="none" cap="none" strike="noStrike">
              <a:solidFill>
                <a:schemeClr val="dk1"/>
              </a:solidFill>
              <a:latin typeface="Calibri"/>
              <a:ea typeface="Calibri"/>
              <a:cs typeface="Calibri"/>
              <a:sym typeface="Calibri"/>
            </a:endParaRPr>
          </a:p>
        </p:txBody>
      </p:sp>
      <p:sp>
        <p:nvSpPr>
          <p:cNvPr id="467" name="Google Shape;467;p80"/>
          <p:cNvSpPr txBox="1"/>
          <p:nvPr/>
        </p:nvSpPr>
        <p:spPr>
          <a:xfrm>
            <a:off x="645144" y="1987081"/>
            <a:ext cx="3312300" cy="215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GB" sz="1400" u="none" cap="none" strike="noStrike">
                <a:solidFill>
                  <a:srgbClr val="0E2746"/>
                </a:solidFill>
                <a:latin typeface="Libre Baskerville"/>
                <a:ea typeface="Libre Baskerville"/>
                <a:cs typeface="Libre Baskerville"/>
                <a:sym typeface="Libre Baskerville"/>
              </a:rPr>
              <a:t>Advanced daily tracking</a:t>
            </a:r>
            <a:endParaRPr sz="1100"/>
          </a:p>
        </p:txBody>
      </p:sp>
      <p:sp>
        <p:nvSpPr>
          <p:cNvPr id="468" name="Google Shape;468;p80"/>
          <p:cNvSpPr/>
          <p:nvPr/>
        </p:nvSpPr>
        <p:spPr>
          <a:xfrm>
            <a:off x="411961" y="2389993"/>
            <a:ext cx="89100" cy="89100"/>
          </a:xfrm>
          <a:prstGeom prst="ellipse">
            <a:avLst/>
          </a:prstGeom>
          <a:solidFill>
            <a:srgbClr val="D9775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a:solidFill/>
              </a:rPr>
              <a:t/>
            </a:r>
            <a:endParaRPr b="0" i="0" sz="1400" u="none" cap="none" strike="noStrike">
              <a:solidFill>
                <a:schemeClr val="dk1"/>
              </a:solidFill>
              <a:latin typeface="Calibri"/>
              <a:ea typeface="Calibri"/>
              <a:cs typeface="Calibri"/>
              <a:sym typeface="Calibri"/>
            </a:endParaRPr>
          </a:p>
        </p:txBody>
      </p:sp>
      <p:sp>
        <p:nvSpPr>
          <p:cNvPr id="469" name="Google Shape;469;p80"/>
          <p:cNvSpPr txBox="1"/>
          <p:nvPr/>
        </p:nvSpPr>
        <p:spPr>
          <a:xfrm>
            <a:off x="645145" y="2312831"/>
            <a:ext cx="3950400" cy="215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GB" sz="1400" u="none" cap="none" strike="noStrike">
                <a:solidFill>
                  <a:srgbClr val="0E2746"/>
                </a:solidFill>
                <a:latin typeface="Libre Baskerville"/>
                <a:ea typeface="Libre Baskerville"/>
                <a:cs typeface="Libre Baskerville"/>
                <a:sym typeface="Libre Baskerville"/>
              </a:rPr>
              <a:t>Lifestyle tracking</a:t>
            </a:r>
            <a:endParaRPr sz="1100"/>
          </a:p>
        </p:txBody>
      </p:sp>
      <p:sp>
        <p:nvSpPr>
          <p:cNvPr id="470" name="Google Shape;470;p80"/>
          <p:cNvSpPr/>
          <p:nvPr/>
        </p:nvSpPr>
        <p:spPr>
          <a:xfrm>
            <a:off x="411961" y="2732893"/>
            <a:ext cx="89100" cy="89100"/>
          </a:xfrm>
          <a:prstGeom prst="ellipse">
            <a:avLst/>
          </a:prstGeom>
          <a:solidFill>
            <a:srgbClr val="D9775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a:solidFill/>
              </a:rPr>
              <a:t/>
            </a:r>
            <a:endParaRPr b="0" i="0" sz="1400" u="none" cap="none" strike="noStrike">
              <a:solidFill>
                <a:schemeClr val="dk1"/>
              </a:solidFill>
              <a:latin typeface="Calibri"/>
              <a:ea typeface="Calibri"/>
              <a:cs typeface="Calibri"/>
              <a:sym typeface="Calibri"/>
            </a:endParaRPr>
          </a:p>
        </p:txBody>
      </p:sp>
      <p:sp>
        <p:nvSpPr>
          <p:cNvPr id="471" name="Google Shape;471;p80"/>
          <p:cNvSpPr txBox="1"/>
          <p:nvPr/>
        </p:nvSpPr>
        <p:spPr>
          <a:xfrm>
            <a:off x="645143" y="2655750"/>
            <a:ext cx="2573100" cy="215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GB" sz="1400" u="none" cap="none" strike="noStrike">
                <a:solidFill>
                  <a:srgbClr val="0E2746"/>
                </a:solidFill>
                <a:latin typeface="Libre Baskerville"/>
                <a:ea typeface="Libre Baskerville"/>
                <a:cs typeface="Libre Baskerville"/>
                <a:sym typeface="Libre Baskerville"/>
              </a:rPr>
              <a:t>Progress dashboards</a:t>
            </a:r>
            <a:endParaRPr sz="1100"/>
          </a:p>
        </p:txBody>
      </p:sp>
      <p:sp>
        <p:nvSpPr>
          <p:cNvPr id="472" name="Google Shape;472;p80"/>
          <p:cNvSpPr/>
          <p:nvPr/>
        </p:nvSpPr>
        <p:spPr>
          <a:xfrm>
            <a:off x="411961" y="3075793"/>
            <a:ext cx="89100" cy="89100"/>
          </a:xfrm>
          <a:prstGeom prst="ellipse">
            <a:avLst/>
          </a:prstGeom>
          <a:solidFill>
            <a:srgbClr val="D9775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a:solidFill/>
              </a:rPr>
              <a:t/>
            </a:r>
            <a:endParaRPr b="0" i="0" sz="1400" u="none" cap="none" strike="noStrike">
              <a:solidFill>
                <a:schemeClr val="dk1"/>
              </a:solidFill>
              <a:latin typeface="Calibri"/>
              <a:ea typeface="Calibri"/>
              <a:cs typeface="Calibri"/>
              <a:sym typeface="Calibri"/>
            </a:endParaRPr>
          </a:p>
        </p:txBody>
      </p:sp>
      <p:sp>
        <p:nvSpPr>
          <p:cNvPr id="473" name="Google Shape;473;p80"/>
          <p:cNvSpPr txBox="1"/>
          <p:nvPr/>
        </p:nvSpPr>
        <p:spPr>
          <a:xfrm>
            <a:off x="645142" y="2998650"/>
            <a:ext cx="1934100" cy="215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GB" sz="1400" u="none" cap="none" strike="noStrike">
                <a:solidFill>
                  <a:srgbClr val="0E2746"/>
                </a:solidFill>
                <a:latin typeface="Libre Baskerville"/>
                <a:ea typeface="Libre Baskerville"/>
                <a:cs typeface="Libre Baskerville"/>
                <a:sym typeface="Libre Baskerville"/>
              </a:rPr>
              <a:t>Habit tracking</a:t>
            </a:r>
            <a:endParaRPr sz="1100"/>
          </a:p>
        </p:txBody>
      </p:sp>
      <p:sp>
        <p:nvSpPr>
          <p:cNvPr id="474" name="Google Shape;474;p80"/>
          <p:cNvSpPr/>
          <p:nvPr/>
        </p:nvSpPr>
        <p:spPr>
          <a:xfrm>
            <a:off x="407713" y="3380128"/>
            <a:ext cx="89100" cy="89100"/>
          </a:xfrm>
          <a:prstGeom prst="ellipse">
            <a:avLst/>
          </a:prstGeom>
          <a:solidFill>
            <a:srgbClr val="D9775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a:solidFill/>
              </a:rPr>
              <a:t/>
            </a:r>
            <a:endParaRPr b="0" i="0" sz="1400" u="none" cap="none" strike="noStrike">
              <a:solidFill>
                <a:schemeClr val="dk1"/>
              </a:solidFill>
              <a:latin typeface="Calibri"/>
              <a:ea typeface="Calibri"/>
              <a:cs typeface="Calibri"/>
              <a:sym typeface="Calibri"/>
            </a:endParaRPr>
          </a:p>
        </p:txBody>
      </p:sp>
      <p:sp>
        <p:nvSpPr>
          <p:cNvPr id="475" name="Google Shape;475;p80"/>
          <p:cNvSpPr txBox="1"/>
          <p:nvPr/>
        </p:nvSpPr>
        <p:spPr>
          <a:xfrm>
            <a:off x="645204" y="3332400"/>
            <a:ext cx="2444100" cy="215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GB" sz="1400" u="none" cap="none" strike="noStrike">
                <a:solidFill>
                  <a:srgbClr val="0E2746"/>
                </a:solidFill>
                <a:latin typeface="Libre Baskerville"/>
                <a:ea typeface="Libre Baskerville"/>
                <a:cs typeface="Libre Baskerville"/>
                <a:sym typeface="Libre Baskerville"/>
              </a:rPr>
              <a:t>Meal planning</a:t>
            </a:r>
            <a:endParaRPr sz="1100"/>
          </a:p>
        </p:txBody>
      </p:sp>
      <p:sp>
        <p:nvSpPr>
          <p:cNvPr id="476" name="Google Shape;476;p80"/>
          <p:cNvSpPr/>
          <p:nvPr/>
        </p:nvSpPr>
        <p:spPr>
          <a:xfrm>
            <a:off x="407713" y="3723028"/>
            <a:ext cx="89100" cy="89100"/>
          </a:xfrm>
          <a:prstGeom prst="ellipse">
            <a:avLst/>
          </a:prstGeom>
          <a:solidFill>
            <a:srgbClr val="D9775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a:solidFill/>
              </a:rPr>
              <a:t/>
            </a:r>
            <a:endParaRPr b="0" i="0" sz="1400" u="none" cap="none" strike="noStrike">
              <a:solidFill>
                <a:schemeClr val="dk1"/>
              </a:solidFill>
              <a:latin typeface="Calibri"/>
              <a:ea typeface="Calibri"/>
              <a:cs typeface="Calibri"/>
              <a:sym typeface="Calibri"/>
            </a:endParaRPr>
          </a:p>
        </p:txBody>
      </p:sp>
      <p:sp>
        <p:nvSpPr>
          <p:cNvPr id="477" name="Google Shape;477;p80"/>
          <p:cNvSpPr txBox="1"/>
          <p:nvPr/>
        </p:nvSpPr>
        <p:spPr>
          <a:xfrm>
            <a:off x="645204" y="3675300"/>
            <a:ext cx="2649300" cy="215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GB" sz="1400" u="none" cap="none" strike="noStrike">
                <a:solidFill>
                  <a:srgbClr val="0E2746"/>
                </a:solidFill>
                <a:latin typeface="Libre Baskerville"/>
                <a:ea typeface="Libre Baskerville"/>
                <a:cs typeface="Libre Baskerville"/>
                <a:sym typeface="Libre Baskerville"/>
              </a:rPr>
              <a:t>Shopping lists</a:t>
            </a:r>
            <a:endParaRPr sz="1100"/>
          </a:p>
        </p:txBody>
      </p:sp>
      <p:sp>
        <p:nvSpPr>
          <p:cNvPr id="478" name="Google Shape;478;p80"/>
          <p:cNvSpPr/>
          <p:nvPr/>
        </p:nvSpPr>
        <p:spPr>
          <a:xfrm>
            <a:off x="407713" y="4065928"/>
            <a:ext cx="89100" cy="89100"/>
          </a:xfrm>
          <a:prstGeom prst="ellipse">
            <a:avLst/>
          </a:prstGeom>
          <a:solidFill>
            <a:srgbClr val="D9775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a:solidFill/>
              </a:rPr>
              <a:t/>
            </a:r>
            <a:endParaRPr b="0" i="0" sz="1400" u="none" cap="none" strike="noStrike">
              <a:solidFill>
                <a:schemeClr val="dk1"/>
              </a:solidFill>
              <a:latin typeface="Calibri"/>
              <a:ea typeface="Calibri"/>
              <a:cs typeface="Calibri"/>
              <a:sym typeface="Calibri"/>
            </a:endParaRPr>
          </a:p>
        </p:txBody>
      </p:sp>
      <p:sp>
        <p:nvSpPr>
          <p:cNvPr id="479" name="Google Shape;479;p80"/>
          <p:cNvSpPr txBox="1"/>
          <p:nvPr/>
        </p:nvSpPr>
        <p:spPr>
          <a:xfrm>
            <a:off x="645204" y="4018200"/>
            <a:ext cx="2491200" cy="215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GB" sz="1400" u="none" cap="none" strike="noStrike">
                <a:solidFill>
                  <a:srgbClr val="0E2746"/>
                </a:solidFill>
                <a:latin typeface="Libre Baskerville"/>
                <a:ea typeface="Libre Baskerville"/>
                <a:cs typeface="Libre Baskerville"/>
                <a:sym typeface="Libre Baskerville"/>
              </a:rPr>
              <a:t>Future feature updates</a:t>
            </a:r>
            <a:endParaRPr sz="1100"/>
          </a:p>
        </p:txBody>
      </p:sp>
      <p:pic>
        <p:nvPicPr>
          <p:cNvPr id="480" name="Google Shape;480;p80" title="FullSizeRender (13).jpg"/>
          <p:cNvPicPr preferRelativeResize="0"/>
          <p:nvPr/>
        </p:nvPicPr>
        <p:blipFill>
          <a:blip r:embed="rId3">
            <a:alphaModFix/>
          </a:blip>
          <a:stretch>
            <a:fillRect/>
          </a:stretch>
        </p:blipFill>
        <p:spPr>
          <a:xfrm>
            <a:off x="6344113" y="266588"/>
            <a:ext cx="2311931" cy="4610324"/>
          </a:xfrm>
          <a:prstGeom prst="rect">
            <a:avLst/>
          </a:prstGeom>
          <a:noFill/>
          <a:ln cap="flat" cmpd="sng" w="28575">
            <a:solidFill>
              <a:schemeClr val="lt1"/>
            </a:solidFill>
            <a:prstDash val="solid"/>
            <a:round/>
            <a:headEnd len="sm" w="sm" type="none"/>
            <a:tailEnd len="sm" w="sm" type="none"/>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484" name="Shape 484"/>
        <p:cNvGrpSpPr/>
        <p:nvPr/>
      </p:nvGrpSpPr>
      <p:grpSpPr>
        <a:xfrm>
          <a:off x="0" y="0"/>
          <a:ext cx="0" cy="0"/>
          <a:chOff x="0" y="0"/>
          <a:chExt cx="0" cy="0"/>
        </a:xfrm>
      </p:grpSpPr>
      <p:sp>
        <p:nvSpPr>
          <p:cNvPr id="485" name="Google Shape;485;p81"/>
          <p:cNvSpPr txBox="1"/>
          <p:nvPr/>
        </p:nvSpPr>
        <p:spPr>
          <a:xfrm>
            <a:off x="457200" y="361950"/>
            <a:ext cx="8229600" cy="44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GB" sz="2800">
                <a:solidFill>
                  <a:srgbClr val="003060"/>
                </a:solidFill>
                <a:latin typeface="Libre Baskerville"/>
                <a:ea typeface="Libre Baskerville"/>
                <a:cs typeface="Libre Baskerville"/>
                <a:sym typeface="Libre Baskerville"/>
              </a:rPr>
              <a:t>500 places available</a:t>
            </a:r>
            <a:endParaRPr/>
          </a:p>
          <a:p>
            <a:pPr indent="0" lvl="0" marL="0" marR="0" rtl="0" algn="ctr">
              <a:spcBef>
                <a:spcPts val="1400"/>
              </a:spcBef>
              <a:spcAft>
                <a:spcPts val="0"/>
              </a:spcAft>
              <a:buNone/>
            </a:pPr>
            <a:r>
              <a:rPr b="1" i="1" lang="en-GB" sz="2400">
                <a:solidFill>
                  <a:srgbClr val="F79F83"/>
                </a:solidFill>
                <a:latin typeface="Libre Baskerville"/>
                <a:ea typeface="Libre Baskerville"/>
                <a:cs typeface="Libre Baskerville"/>
                <a:sym typeface="Libre Baskerville"/>
              </a:rPr>
              <a:t>100 already gone </a:t>
            </a:r>
            <a:endParaRPr b="1" i="1" sz="2400">
              <a:solidFill>
                <a:srgbClr val="F79F83"/>
              </a:solidFill>
              <a:latin typeface="Libre Baskerville"/>
              <a:ea typeface="Libre Baskerville"/>
              <a:cs typeface="Libre Baskerville"/>
              <a:sym typeface="Libre Baskerville"/>
            </a:endParaRPr>
          </a:p>
          <a:p>
            <a:pPr indent="0" lvl="0" marL="0" marR="0" rtl="0" algn="ctr">
              <a:spcBef>
                <a:spcPts val="1400"/>
              </a:spcBef>
              <a:spcAft>
                <a:spcPts val="0"/>
              </a:spcAft>
              <a:buNone/>
            </a:pPr>
            <a:r>
              <a:rPr b="1" i="1" lang="en-GB" sz="2400">
                <a:solidFill>
                  <a:srgbClr val="F79F83"/>
                </a:solidFill>
                <a:latin typeface="Libre Baskerville"/>
                <a:ea typeface="Libre Baskerville"/>
                <a:cs typeface="Libre Baskerville"/>
                <a:sym typeface="Libre Baskerville"/>
              </a:rPr>
              <a:t>(as 100 of my existing clients signed up)</a:t>
            </a:r>
            <a:endParaRPr/>
          </a:p>
          <a:p>
            <a:pPr indent="0" lvl="0" marL="0" marR="0" rtl="0" algn="ctr">
              <a:spcBef>
                <a:spcPts val="1400"/>
              </a:spcBef>
              <a:spcAft>
                <a:spcPts val="0"/>
              </a:spcAft>
              <a:buNone/>
            </a:pPr>
            <a:r>
              <a:rPr b="1" lang="en-GB" sz="2200">
                <a:solidFill>
                  <a:srgbClr val="003060"/>
                </a:solidFill>
                <a:latin typeface="Libre Baskerville"/>
                <a:ea typeface="Libre Baskerville"/>
                <a:cs typeface="Libre Baskerville"/>
                <a:sym typeface="Libre Baskerville"/>
              </a:rPr>
              <a:t>400 places left, 7500 women in this group</a:t>
            </a:r>
            <a:endParaRPr/>
          </a:p>
          <a:p>
            <a:pPr indent="0" lvl="0" marL="0" marR="0" rtl="0" algn="ctr">
              <a:spcBef>
                <a:spcPts val="1400"/>
              </a:spcBef>
              <a:spcAft>
                <a:spcPts val="0"/>
              </a:spcAft>
              <a:buNone/>
            </a:pPr>
            <a:r>
              <a:rPr b="1" i="1" lang="en-GB" sz="2200">
                <a:solidFill>
                  <a:srgbClr val="F79F83"/>
                </a:solidFill>
                <a:latin typeface="Libre Baskerville"/>
                <a:ea typeface="Libre Baskerville"/>
                <a:cs typeface="Libre Baskerville"/>
                <a:sym typeface="Libre Baskerville"/>
              </a:rPr>
              <a:t>On Sunday, I open to my whole community</a:t>
            </a:r>
            <a:endParaRPr b="1" i="1" sz="2200">
              <a:solidFill>
                <a:srgbClr val="F79F83"/>
              </a:solidFill>
              <a:latin typeface="Libre Baskerville"/>
              <a:ea typeface="Libre Baskerville"/>
              <a:cs typeface="Libre Baskerville"/>
              <a:sym typeface="Libre Baskerville"/>
            </a:endParaRPr>
          </a:p>
          <a:p>
            <a:pPr indent="0" lvl="0" marL="0" marR="0" rtl="0" algn="ctr">
              <a:spcBef>
                <a:spcPts val="1400"/>
              </a:spcBef>
              <a:spcAft>
                <a:spcPts val="0"/>
              </a:spcAft>
              <a:buNone/>
            </a:pPr>
            <a:r>
              <a:rPr b="1" i="1" lang="en-GB" sz="2200">
                <a:solidFill>
                  <a:srgbClr val="F79F83"/>
                </a:solidFill>
                <a:latin typeface="Libre Baskerville"/>
                <a:ea typeface="Libre Baskerville"/>
                <a:cs typeface="Libre Baskerville"/>
                <a:sym typeface="Libre Baskerville"/>
              </a:rPr>
              <a:t>Grab a place while you can </a:t>
            </a:r>
            <a:endParaRPr b="1" i="1" sz="2200">
              <a:solidFill>
                <a:srgbClr val="F79F83"/>
              </a:solidFill>
              <a:latin typeface="Libre Baskerville"/>
              <a:ea typeface="Libre Baskerville"/>
              <a:cs typeface="Libre Baskerville"/>
              <a:sym typeface="Libre Baskerville"/>
            </a:endParaRPr>
          </a:p>
          <a:p>
            <a:pPr indent="0" lvl="0" marL="0" marR="0" rtl="0" algn="ctr">
              <a:spcBef>
                <a:spcPts val="2200"/>
              </a:spcBef>
              <a:spcAft>
                <a:spcPts val="0"/>
              </a:spcAft>
              <a:buNone/>
            </a:pPr>
            <a:r>
              <a:rPr>
                <a:solidFill/>
              </a:rPr>
              <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489" name="Shape 489"/>
        <p:cNvGrpSpPr/>
        <p:nvPr/>
      </p:nvGrpSpPr>
      <p:grpSpPr>
        <a:xfrm>
          <a:off x="0" y="0"/>
          <a:ext cx="0" cy="0"/>
          <a:chOff x="0" y="0"/>
          <a:chExt cx="0" cy="0"/>
        </a:xfrm>
      </p:grpSpPr>
      <p:sp>
        <p:nvSpPr>
          <p:cNvPr id="490" name="Google Shape;490;p82"/>
          <p:cNvSpPr txBox="1"/>
          <p:nvPr/>
        </p:nvSpPr>
        <p:spPr>
          <a:xfrm>
            <a:off x="457200" y="361950"/>
            <a:ext cx="8229600" cy="4419600"/>
          </a:xfrm>
          <a:prstGeom prst="rect">
            <a:avLst/>
          </a:prstGeom>
          <a:noFill/>
          <a:ln>
            <a:noFill/>
          </a:ln>
        </p:spPr>
        <p:txBody>
          <a:bodyPr anchorCtr="0" anchor="ctr" bIns="0" lIns="0" spcFirstLastPara="1" rIns="0" wrap="square" tIns="0">
            <a:noAutofit/>
          </a:bodyPr>
          <a:lstStyle/>
          <a:p>
            <a:pPr indent="0" lvl="0" marL="0" marR="0" rtl="0" algn="ctr">
              <a:spcBef>
                <a:spcPts val="400"/>
              </a:spcBef>
              <a:spcAft>
                <a:spcPts val="0"/>
              </a:spcAft>
              <a:buNone/>
            </a:pPr>
            <a:r>
              <a:rPr b="1" lang="en-GB" sz="2800">
                <a:solidFill>
                  <a:srgbClr val="003060"/>
                </a:solidFill>
                <a:latin typeface="Libre Baskerville"/>
                <a:ea typeface="Libre Baskerville"/>
                <a:cs typeface="Libre Baskerville"/>
                <a:sym typeface="Libre Baskerville"/>
              </a:rPr>
              <a:t>Join for only £97 (normally £397)</a:t>
            </a:r>
            <a:endParaRPr b="1" sz="3000">
              <a:solidFill>
                <a:srgbClr val="003060"/>
              </a:solidFill>
              <a:latin typeface="Libre Baskerville"/>
              <a:ea typeface="Libre Baskerville"/>
              <a:cs typeface="Libre Baskerville"/>
              <a:sym typeface="Libre Baskerville"/>
            </a:endParaRPr>
          </a:p>
          <a:p>
            <a:pPr indent="0" lvl="0" marL="0" marR="0" rtl="0" algn="ctr">
              <a:spcBef>
                <a:spcPts val="400"/>
              </a:spcBef>
              <a:spcAft>
                <a:spcPts val="0"/>
              </a:spcAft>
              <a:buNone/>
            </a:pPr>
            <a:r>
              <a:rPr b="1" lang="en-GB" sz="3000">
                <a:solidFill>
                  <a:srgbClr val="003060"/>
                </a:solidFill>
                <a:latin typeface="Libre Baskerville"/>
                <a:ea typeface="Libre Baskerville"/>
                <a:cs typeface="Libre Baskerville"/>
                <a:sym typeface="Libre Baskerville"/>
              </a:rPr>
              <a:t>Get 12 Week Summer Challenge</a:t>
            </a:r>
            <a:endParaRPr b="1" sz="3000">
              <a:solidFill>
                <a:srgbClr val="003060"/>
              </a:solidFill>
              <a:latin typeface="Libre Baskerville"/>
              <a:ea typeface="Libre Baskerville"/>
              <a:cs typeface="Libre Baskerville"/>
              <a:sym typeface="Libre Baskerville"/>
            </a:endParaRPr>
          </a:p>
          <a:p>
            <a:pPr indent="0" lvl="0" marL="0" marR="0" rtl="0" algn="ctr">
              <a:spcBef>
                <a:spcPts val="1800"/>
              </a:spcBef>
              <a:spcAft>
                <a:spcPts val="0"/>
              </a:spcAft>
              <a:buNone/>
            </a:pPr>
            <a:r>
              <a:rPr b="1" i="1" lang="en-GB" sz="2000">
                <a:solidFill>
                  <a:srgbClr val="F79F83"/>
                </a:solidFill>
                <a:latin typeface="Libre Baskerville"/>
                <a:ea typeface="Libre Baskerville"/>
                <a:cs typeface="Libre Baskerville"/>
                <a:sym typeface="Libre Baskerville"/>
              </a:rPr>
              <a:t>Plus FULL year of coaching, members area </a:t>
            </a:r>
            <a:endParaRPr b="1" i="1" sz="2000">
              <a:solidFill>
                <a:srgbClr val="F79F83"/>
              </a:solidFill>
              <a:latin typeface="Libre Baskerville"/>
              <a:ea typeface="Libre Baskerville"/>
              <a:cs typeface="Libre Baskerville"/>
              <a:sym typeface="Libre Baskerville"/>
            </a:endParaRPr>
          </a:p>
          <a:p>
            <a:pPr indent="0" lvl="0" marL="0" marR="0" rtl="0" algn="ctr">
              <a:spcBef>
                <a:spcPts val="1800"/>
              </a:spcBef>
              <a:spcAft>
                <a:spcPts val="0"/>
              </a:spcAft>
              <a:buNone/>
            </a:pPr>
            <a:r>
              <a:rPr b="1" i="1" lang="en-GB" sz="2000">
                <a:solidFill>
                  <a:srgbClr val="F79F83"/>
                </a:solidFill>
                <a:latin typeface="Libre Baskerville"/>
                <a:ea typeface="Libre Baskerville"/>
                <a:cs typeface="Libre Baskerville"/>
                <a:sym typeface="Libre Baskerville"/>
              </a:rPr>
              <a:t>+ accountability for FREE</a:t>
            </a:r>
            <a:br>
              <a:rPr b="1" i="1" lang="en-GB" sz="2000">
                <a:solidFill>
                  <a:srgbClr val="F79F83"/>
                </a:solidFill>
                <a:latin typeface="Libre Baskerville"/>
                <a:ea typeface="Libre Baskerville"/>
                <a:cs typeface="Libre Baskerville"/>
                <a:sym typeface="Libre Baskerville"/>
              </a:rPr>
            </a:br>
            <a:endParaRPr b="1" i="1" sz="2000">
              <a:solidFill>
                <a:srgbClr val="F79F83"/>
              </a:solidFill>
              <a:latin typeface="Libre Baskerville"/>
              <a:ea typeface="Libre Baskerville"/>
              <a:cs typeface="Libre Baskerville"/>
              <a:sym typeface="Libre Baskerville"/>
            </a:endParaRPr>
          </a:p>
          <a:p>
            <a:pPr indent="0" lvl="0" marL="0" rtl="0" algn="ctr">
              <a:spcBef>
                <a:spcPts val="400"/>
              </a:spcBef>
              <a:spcAft>
                <a:spcPts val="0"/>
              </a:spcAft>
              <a:buClr>
                <a:schemeClr val="dk1"/>
              </a:buClr>
              <a:buFont typeface="Arial"/>
              <a:buNone/>
            </a:pPr>
            <a:r>
              <a:rPr b="1" lang="en-GB" sz="1900">
                <a:solidFill>
                  <a:srgbClr val="003060"/>
                </a:solidFill>
                <a:latin typeface="Libre Baskerville"/>
                <a:ea typeface="Libre Baskerville"/>
                <a:cs typeface="Libre Baskerville"/>
                <a:sym typeface="Libre Baskerville"/>
              </a:rPr>
              <a:t>26p per day! Pay £97 in full or get started for as little less than £25 with </a:t>
            </a:r>
            <a:r>
              <a:rPr b="1" lang="en-GB" sz="1900">
                <a:solidFill>
                  <a:srgbClr val="003060"/>
                </a:solidFill>
                <a:latin typeface="Libre Baskerville"/>
                <a:ea typeface="Libre Baskerville"/>
                <a:cs typeface="Libre Baskerville"/>
                <a:sym typeface="Libre Baskerville"/>
              </a:rPr>
              <a:t>payment</a:t>
            </a:r>
            <a:r>
              <a:rPr b="1" lang="en-GB" sz="1900">
                <a:solidFill>
                  <a:srgbClr val="003060"/>
                </a:solidFill>
                <a:latin typeface="Libre Baskerville"/>
                <a:ea typeface="Libre Baskerville"/>
                <a:cs typeface="Libre Baskerville"/>
                <a:sym typeface="Libre Baskerville"/>
              </a:rPr>
              <a:t> plans with paypal, Klarna and Clearpay at checkout</a:t>
            </a:r>
            <a:endParaRPr b="1" i="1" sz="900">
              <a:solidFill>
                <a:srgbClr val="F79F83"/>
              </a:solidFill>
              <a:latin typeface="Libre Baskerville"/>
              <a:ea typeface="Libre Baskerville"/>
              <a:cs typeface="Libre Baskerville"/>
              <a:sym typeface="Libre Baskerville"/>
            </a:endParaRPr>
          </a:p>
          <a:p>
            <a:pPr indent="0" lvl="0" marL="0" marR="0" rtl="0" algn="ctr">
              <a:spcBef>
                <a:spcPts val="1400"/>
              </a:spcBef>
              <a:spcAft>
                <a:spcPts val="0"/>
              </a:spcAft>
              <a:buNone/>
            </a:pPr>
            <a:r>
              <a:rPr>
                <a:solidFill/>
              </a:rPr>
              <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494" name="Shape 494"/>
        <p:cNvGrpSpPr/>
        <p:nvPr/>
      </p:nvGrpSpPr>
      <p:grpSpPr>
        <a:xfrm>
          <a:off x="0" y="0"/>
          <a:ext cx="0" cy="0"/>
          <a:chOff x="0" y="0"/>
          <a:chExt cx="0" cy="0"/>
        </a:xfrm>
      </p:grpSpPr>
      <p:sp>
        <p:nvSpPr>
          <p:cNvPr id="495" name="Google Shape;495;p83"/>
          <p:cNvSpPr txBox="1"/>
          <p:nvPr/>
        </p:nvSpPr>
        <p:spPr>
          <a:xfrm>
            <a:off x="457200" y="361950"/>
            <a:ext cx="8229600" cy="4419600"/>
          </a:xfrm>
          <a:prstGeom prst="rect">
            <a:avLst/>
          </a:prstGeom>
          <a:noFill/>
          <a:ln>
            <a:noFill/>
          </a:ln>
        </p:spPr>
        <p:txBody>
          <a:bodyPr anchorCtr="0" anchor="ctr" bIns="0" lIns="0" spcFirstLastPara="1" rIns="0" wrap="square" tIns="0">
            <a:noAutofit/>
          </a:bodyPr>
          <a:lstStyle/>
          <a:p>
            <a:pPr indent="0" lvl="0" marL="0" marR="0" rtl="0" algn="ctr">
              <a:spcBef>
                <a:spcPts val="400"/>
              </a:spcBef>
              <a:spcAft>
                <a:spcPts val="0"/>
              </a:spcAft>
              <a:buNone/>
            </a:pPr>
            <a:r>
              <a:rPr b="1" lang="en-GB" sz="2800">
                <a:solidFill>
                  <a:srgbClr val="003060"/>
                </a:solidFill>
                <a:latin typeface="Libre Baskerville"/>
                <a:ea typeface="Libre Baskerville"/>
                <a:cs typeface="Libre Baskerville"/>
                <a:sym typeface="Libre Baskerville"/>
              </a:rPr>
              <a:t>This is a one off opportunity</a:t>
            </a:r>
            <a:endParaRPr b="1" sz="3000">
              <a:solidFill>
                <a:srgbClr val="003060"/>
              </a:solidFill>
              <a:latin typeface="Libre Baskerville"/>
              <a:ea typeface="Libre Baskerville"/>
              <a:cs typeface="Libre Baskerville"/>
              <a:sym typeface="Libre Baskerville"/>
            </a:endParaRPr>
          </a:p>
          <a:p>
            <a:pPr indent="0" lvl="0" marL="0" marR="0" rtl="0" algn="ctr">
              <a:spcBef>
                <a:spcPts val="1400"/>
              </a:spcBef>
              <a:spcAft>
                <a:spcPts val="0"/>
              </a:spcAft>
              <a:buNone/>
            </a:pPr>
            <a:r>
              <a:rPr lang="en-GB" sz="2000">
                <a:solidFill>
                  <a:srgbClr val="003060"/>
                </a:solidFill>
                <a:latin typeface="Libre Baskerville"/>
                <a:ea typeface="Libre Baskerville"/>
                <a:cs typeface="Libre Baskerville"/>
                <a:sym typeface="Libre Baskerville"/>
              </a:rPr>
              <a:t>We're upgrading the entire WLA </a:t>
            </a:r>
            <a:r>
              <a:rPr lang="en-GB" sz="2000">
                <a:solidFill>
                  <a:srgbClr val="003060"/>
                </a:solidFill>
                <a:latin typeface="Libre Baskerville"/>
                <a:ea typeface="Libre Baskerville"/>
                <a:cs typeface="Libre Baskerville"/>
                <a:sym typeface="Libre Baskerville"/>
              </a:rPr>
              <a:t>experience</a:t>
            </a:r>
            <a:r>
              <a:rPr lang="en-GB" sz="2000">
                <a:solidFill>
                  <a:srgbClr val="003060"/>
                </a:solidFill>
                <a:latin typeface="Libre Baskerville"/>
                <a:ea typeface="Libre Baskerville"/>
                <a:cs typeface="Libre Baskerville"/>
                <a:sym typeface="Libre Baskerville"/>
              </a:rPr>
              <a:t> </a:t>
            </a:r>
            <a:r>
              <a:rPr i="1" lang="en-GB" sz="2000">
                <a:solidFill>
                  <a:srgbClr val="003060"/>
                </a:solidFill>
                <a:latin typeface="Libre Baskerville"/>
                <a:ea typeface="Libre Baskerville"/>
                <a:cs typeface="Libre Baskerville"/>
                <a:sym typeface="Libre Baskerville"/>
              </a:rPr>
              <a:t>(a slight name change from The Weight Loss Academy - </a:t>
            </a:r>
            <a:r>
              <a:rPr i="1" lang="en-GB" sz="2000">
                <a:solidFill>
                  <a:srgbClr val="003060"/>
                </a:solidFill>
                <a:latin typeface="Libre Baskerville"/>
                <a:ea typeface="Libre Baskerville"/>
                <a:cs typeface="Libre Baskerville"/>
                <a:sym typeface="Libre Baskerville"/>
              </a:rPr>
              <a:t>The Weight Loss &amp; Lifestyle Academy)</a:t>
            </a:r>
            <a:r>
              <a:rPr lang="en-GB" sz="2000">
                <a:solidFill>
                  <a:srgbClr val="003060"/>
                </a:solidFill>
                <a:latin typeface="Libre Baskerville"/>
                <a:ea typeface="Libre Baskerville"/>
                <a:cs typeface="Libre Baskerville"/>
                <a:sym typeface="Libre Baskerville"/>
              </a:rPr>
              <a:t> </a:t>
            </a:r>
            <a:r>
              <a:rPr lang="en-GB" sz="2000">
                <a:solidFill>
                  <a:srgbClr val="003060"/>
                </a:solidFill>
                <a:latin typeface="Libre Baskerville"/>
                <a:ea typeface="Libre Baskerville"/>
                <a:cs typeface="Libre Baskerville"/>
                <a:sym typeface="Libre Baskerville"/>
              </a:rPr>
              <a:t>with improved coaching, accountability, tracking and support tools designed to help women achieve even better long-term results. </a:t>
            </a:r>
            <a:endParaRPr sz="2000">
              <a:solidFill>
                <a:srgbClr val="003060"/>
              </a:solidFill>
              <a:latin typeface="Libre Baskerville"/>
              <a:ea typeface="Libre Baskerville"/>
              <a:cs typeface="Libre Baskerville"/>
              <a:sym typeface="Libre Baskerville"/>
            </a:endParaRPr>
          </a:p>
          <a:p>
            <a:pPr indent="0" lvl="0" marL="0" marR="0" rtl="0" algn="ctr">
              <a:spcBef>
                <a:spcPts val="1400"/>
              </a:spcBef>
              <a:spcAft>
                <a:spcPts val="0"/>
              </a:spcAft>
              <a:buNone/>
            </a:pPr>
            <a:r>
              <a:rPr lang="en-GB" sz="2000">
                <a:solidFill>
                  <a:srgbClr val="003060"/>
                </a:solidFill>
                <a:latin typeface="Libre Baskerville"/>
                <a:ea typeface="Libre Baskerville"/>
                <a:cs typeface="Libre Baskerville"/>
                <a:sym typeface="Libre Baskerville"/>
              </a:rPr>
              <a:t>To celebrate this evolution, this is your one-off opportunity to get early access to everything we're building, before prices increase later this year.</a:t>
            </a:r>
            <a:endParaRPr sz="2000">
              <a:solidFill>
                <a:srgbClr val="003060"/>
              </a:solidFill>
              <a:latin typeface="Libre Baskerville"/>
              <a:ea typeface="Libre Baskerville"/>
              <a:cs typeface="Libre Baskerville"/>
              <a:sym typeface="Libre Baskerville"/>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499" name="Shape 499"/>
        <p:cNvGrpSpPr/>
        <p:nvPr/>
      </p:nvGrpSpPr>
      <p:grpSpPr>
        <a:xfrm>
          <a:off x="0" y="0"/>
          <a:ext cx="0" cy="0"/>
          <a:chOff x="0" y="0"/>
          <a:chExt cx="0" cy="0"/>
        </a:xfrm>
      </p:grpSpPr>
      <p:sp>
        <p:nvSpPr>
          <p:cNvPr id="500" name="Google Shape;500;p84"/>
          <p:cNvSpPr txBox="1"/>
          <p:nvPr/>
        </p:nvSpPr>
        <p:spPr>
          <a:xfrm>
            <a:off x="457200" y="361950"/>
            <a:ext cx="8229600" cy="44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GB" sz="2800" u="none" cap="none" strike="noStrike">
                <a:solidFill>
                  <a:srgbClr val="003060"/>
                </a:solidFill>
                <a:latin typeface="Libre Baskerville"/>
                <a:ea typeface="Libre Baskerville"/>
                <a:cs typeface="Libre Baskerville"/>
                <a:sym typeface="Libre Baskerville"/>
              </a:rPr>
              <a:t>Reserve your space now!</a:t>
            </a:r>
            <a:endParaRPr/>
          </a:p>
          <a:p>
            <a:pPr indent="0" lvl="0" marL="0" marR="0" rtl="0" algn="ctr">
              <a:spcBef>
                <a:spcPts val="1400"/>
              </a:spcBef>
              <a:spcAft>
                <a:spcPts val="0"/>
              </a:spcAft>
              <a:buNone/>
            </a:pPr>
            <a:r>
              <a:rPr b="1" i="1" lang="en-GB" sz="2400" u="none" cap="none" strike="noStrike">
                <a:solidFill>
                  <a:srgbClr val="F79F83"/>
                </a:solidFill>
                <a:latin typeface="Libre Baskerville"/>
                <a:ea typeface="Libre Baskerville"/>
                <a:cs typeface="Libre Baskerville"/>
                <a:sym typeface="Libre Baskerville"/>
              </a:rPr>
              <a:t>Link in comments!</a:t>
            </a:r>
            <a:endParaRPr/>
          </a:p>
          <a:p>
            <a:pPr indent="0" lvl="0" marL="0" marR="0" rtl="0" algn="ctr">
              <a:spcBef>
                <a:spcPts val="1400"/>
              </a:spcBef>
              <a:spcAft>
                <a:spcPts val="0"/>
              </a:spcAft>
              <a:buNone/>
            </a:pPr>
            <a:r>
              <a:rPr b="1" i="0" lang="en-GB" sz="2200" u="none" cap="none" strike="noStrike">
                <a:solidFill>
                  <a:srgbClr val="003060"/>
                </a:solidFill>
                <a:latin typeface="Libre Baskerville"/>
                <a:ea typeface="Libre Baskerville"/>
                <a:cs typeface="Libre Baskerville"/>
                <a:sym typeface="Libre Baskerville"/>
              </a:rPr>
              <a:t>Limited places!</a:t>
            </a:r>
            <a:endParaRPr/>
          </a:p>
          <a:p>
            <a:pPr indent="0" lvl="0" marL="0" marR="0" rtl="0" algn="ctr">
              <a:spcBef>
                <a:spcPts val="1400"/>
              </a:spcBef>
              <a:spcAft>
                <a:spcPts val="0"/>
              </a:spcAft>
              <a:buNone/>
            </a:pPr>
            <a:r>
              <a:rPr b="1" i="1" lang="en-GB" sz="2200" u="none" cap="none" strike="noStrike">
                <a:solidFill>
                  <a:srgbClr val="F79F83"/>
                </a:solidFill>
                <a:latin typeface="Libre Baskerville"/>
                <a:ea typeface="Libre Baskerville"/>
                <a:cs typeface="Libre Baskerville"/>
                <a:sym typeface="Libre Baskerville"/>
              </a:rPr>
              <a:t>One time offer and discount!</a:t>
            </a:r>
            <a:endParaRPr/>
          </a:p>
          <a:p>
            <a:pPr indent="0" lvl="0" marL="0" marR="0" rtl="0" algn="ctr">
              <a:spcBef>
                <a:spcPts val="2200"/>
              </a:spcBef>
              <a:spcAft>
                <a:spcPts val="0"/>
              </a:spcAft>
              <a:buNone/>
            </a:pPr>
            <a:r>
              <a:rPr b="1" i="0" lang="en-GB" sz="2000" u="none" cap="none" strike="noStrike">
                <a:solidFill>
                  <a:srgbClr val="003060"/>
                </a:solidFill>
                <a:latin typeface="Libre Baskerville"/>
                <a:ea typeface="Libre Baskerville"/>
                <a:cs typeface="Libre Baskerville"/>
                <a:sym typeface="Libre Baskerville"/>
              </a:rPr>
              <a:t>Pop LINK into comments if you need </a:t>
            </a:r>
            <a:r>
              <a:rPr b="1" lang="en-GB" sz="2000">
                <a:solidFill>
                  <a:srgbClr val="003060"/>
                </a:solidFill>
                <a:latin typeface="Libre Baskerville"/>
                <a:ea typeface="Libre Baskerville"/>
                <a:cs typeface="Libre Baskerville"/>
                <a:sym typeface="Libre Baskerville"/>
              </a:rPr>
              <a:t>the link to join</a:t>
            </a:r>
            <a:endParaRPr>
              <a:latin typeface="Libre Baskerville"/>
              <a:ea typeface="Libre Baskerville"/>
              <a:cs typeface="Libre Baskerville"/>
              <a:sym typeface="Libre Baskerville"/>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504" name="Shape 504"/>
        <p:cNvGrpSpPr/>
        <p:nvPr/>
      </p:nvGrpSpPr>
      <p:grpSpPr>
        <a:xfrm>
          <a:off x="0" y="0"/>
          <a:ext cx="0" cy="0"/>
          <a:chOff x="0" y="0"/>
          <a:chExt cx="0" cy="0"/>
        </a:xfrm>
      </p:grpSpPr>
      <p:sp>
        <p:nvSpPr>
          <p:cNvPr id="505" name="Google Shape;505;p85"/>
          <p:cNvSpPr txBox="1"/>
          <p:nvPr/>
        </p:nvSpPr>
        <p:spPr>
          <a:xfrm>
            <a:off x="457200" y="280000"/>
            <a:ext cx="8229600" cy="6200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GB" sz="2800" u="none" cap="none" strike="noStrike">
                <a:solidFill>
                  <a:srgbClr val="003060"/>
                </a:solidFill>
                <a:latin typeface="Libre Baskerville"/>
                <a:ea typeface="Libre Baskerville"/>
                <a:cs typeface="Libre Baskerville"/>
                <a:sym typeface="Libre Baskerville"/>
              </a:rPr>
              <a:t>This Is For You If…</a:t>
            </a:r>
            <a:endParaRPr/>
          </a:p>
        </p:txBody>
      </p:sp>
      <p:sp>
        <p:nvSpPr>
          <p:cNvPr id="506" name="Google Shape;506;p85"/>
          <p:cNvSpPr txBox="1"/>
          <p:nvPr/>
        </p:nvSpPr>
        <p:spPr>
          <a:xfrm>
            <a:off x="457200" y="980000"/>
            <a:ext cx="2200000" cy="56907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1" lang="en-GB" sz="1700" u="none" cap="none" strike="noStrike">
                <a:solidFill>
                  <a:srgbClr val="F79F83"/>
                </a:solidFill>
                <a:latin typeface="Libre Baskerville"/>
                <a:ea typeface="Libre Baskerville"/>
                <a:cs typeface="Libre Baskerville"/>
                <a:sym typeface="Libre Baskerville"/>
              </a:rPr>
              <a:t>Time</a:t>
            </a:r>
            <a:endParaRPr sz="1600"/>
          </a:p>
        </p:txBody>
      </p:sp>
      <p:sp>
        <p:nvSpPr>
          <p:cNvPr id="507" name="Google Shape;507;p85"/>
          <p:cNvSpPr txBox="1"/>
          <p:nvPr/>
        </p:nvSpPr>
        <p:spPr>
          <a:xfrm>
            <a:off x="2817200" y="980000"/>
            <a:ext cx="5869600" cy="569071"/>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None/>
            </a:pPr>
            <a:r>
              <a:rPr b="0" i="0" lang="en-GB" sz="1500" u="none" cap="none" strike="noStrike">
                <a:solidFill>
                  <a:srgbClr val="003060"/>
                </a:solidFill>
                <a:latin typeface="Alegreya Sans"/>
                <a:ea typeface="Alegreya Sans"/>
                <a:cs typeface="Alegreya Sans"/>
                <a:sym typeface="Alegreya Sans"/>
              </a:rPr>
              <a:t>You want a simple, easy nutrition solution that gives you results without taking over your life.</a:t>
            </a:r>
            <a:endParaRPr sz="1600"/>
          </a:p>
        </p:txBody>
      </p:sp>
      <p:sp>
        <p:nvSpPr>
          <p:cNvPr id="508" name="Google Shape;508;p85"/>
          <p:cNvSpPr txBox="1"/>
          <p:nvPr/>
        </p:nvSpPr>
        <p:spPr>
          <a:xfrm>
            <a:off x="457200" y="1549071"/>
            <a:ext cx="2200000" cy="56907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1" lang="en-GB" sz="1700" u="none" cap="none" strike="noStrike">
                <a:solidFill>
                  <a:srgbClr val="F79F83"/>
                </a:solidFill>
                <a:latin typeface="Libre Baskerville"/>
                <a:ea typeface="Libre Baskerville"/>
                <a:cs typeface="Libre Baskerville"/>
                <a:sym typeface="Libre Baskerville"/>
              </a:rPr>
              <a:t>Want Results</a:t>
            </a:r>
            <a:endParaRPr sz="1600"/>
          </a:p>
        </p:txBody>
      </p:sp>
      <p:sp>
        <p:nvSpPr>
          <p:cNvPr id="509" name="Google Shape;509;p85"/>
          <p:cNvSpPr txBox="1"/>
          <p:nvPr/>
        </p:nvSpPr>
        <p:spPr>
          <a:xfrm>
            <a:off x="2817200" y="1549071"/>
            <a:ext cx="5869600" cy="569071"/>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None/>
            </a:pPr>
            <a:r>
              <a:rPr b="0" i="0" lang="en-GB" sz="1500" u="none" cap="none" strike="noStrike">
                <a:solidFill>
                  <a:srgbClr val="003060"/>
                </a:solidFill>
                <a:latin typeface="Alegreya Sans"/>
                <a:ea typeface="Alegreya Sans"/>
                <a:cs typeface="Alegreya Sans"/>
                <a:sym typeface="Alegreya Sans"/>
              </a:rPr>
              <a:t>You are tired of not seeing results and you want real support to finally make it happen.</a:t>
            </a:r>
            <a:endParaRPr sz="1600"/>
          </a:p>
        </p:txBody>
      </p:sp>
      <p:sp>
        <p:nvSpPr>
          <p:cNvPr id="510" name="Google Shape;510;p85"/>
          <p:cNvSpPr txBox="1"/>
          <p:nvPr/>
        </p:nvSpPr>
        <p:spPr>
          <a:xfrm>
            <a:off x="457200" y="2118142"/>
            <a:ext cx="2200000" cy="56907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1" lang="en-GB" sz="1700" u="none" cap="none" strike="noStrike">
                <a:solidFill>
                  <a:srgbClr val="F79F83"/>
                </a:solidFill>
                <a:latin typeface="Libre Baskerville"/>
                <a:ea typeface="Libre Baskerville"/>
                <a:cs typeface="Libre Baskerville"/>
                <a:sym typeface="Libre Baskerville"/>
              </a:rPr>
              <a:t>Consistency</a:t>
            </a:r>
            <a:endParaRPr sz="1600"/>
          </a:p>
        </p:txBody>
      </p:sp>
      <p:sp>
        <p:nvSpPr>
          <p:cNvPr id="511" name="Google Shape;511;p85"/>
          <p:cNvSpPr txBox="1"/>
          <p:nvPr/>
        </p:nvSpPr>
        <p:spPr>
          <a:xfrm>
            <a:off x="2817200" y="2118142"/>
            <a:ext cx="5869600" cy="569071"/>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None/>
            </a:pPr>
            <a:r>
              <a:rPr b="0" i="0" lang="en-GB" sz="1500" u="none" cap="none" strike="noStrike">
                <a:solidFill>
                  <a:srgbClr val="003060"/>
                </a:solidFill>
                <a:latin typeface="Alegreya Sans"/>
                <a:ea typeface="Alegreya Sans"/>
                <a:cs typeface="Alegreya Sans"/>
                <a:sym typeface="Alegreya Sans"/>
              </a:rPr>
              <a:t>You need high accountability so you stay consistent and stop quitting every few weeks.</a:t>
            </a:r>
            <a:endParaRPr sz="1600"/>
          </a:p>
        </p:txBody>
      </p:sp>
      <p:sp>
        <p:nvSpPr>
          <p:cNvPr id="512" name="Google Shape;512;p85"/>
          <p:cNvSpPr txBox="1"/>
          <p:nvPr/>
        </p:nvSpPr>
        <p:spPr>
          <a:xfrm>
            <a:off x="457200" y="2687213"/>
            <a:ext cx="2200000" cy="56907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1" lang="en-GB" sz="1700" u="none" cap="none" strike="noStrike">
                <a:solidFill>
                  <a:srgbClr val="F79F83"/>
                </a:solidFill>
                <a:latin typeface="Libre Baskerville"/>
                <a:ea typeface="Libre Baskerville"/>
                <a:cs typeface="Libre Baskerville"/>
                <a:sym typeface="Libre Baskerville"/>
              </a:rPr>
              <a:t>Energy</a:t>
            </a:r>
            <a:endParaRPr sz="1600"/>
          </a:p>
        </p:txBody>
      </p:sp>
      <p:sp>
        <p:nvSpPr>
          <p:cNvPr id="513" name="Google Shape;513;p85"/>
          <p:cNvSpPr txBox="1"/>
          <p:nvPr/>
        </p:nvSpPr>
        <p:spPr>
          <a:xfrm>
            <a:off x="2817200" y="2687213"/>
            <a:ext cx="5869600" cy="569071"/>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None/>
            </a:pPr>
            <a:r>
              <a:rPr b="0" i="0" lang="en-GB" sz="1500" u="none" cap="none" strike="noStrike">
                <a:solidFill>
                  <a:srgbClr val="003060"/>
                </a:solidFill>
                <a:latin typeface="Alegreya Sans"/>
                <a:ea typeface="Alegreya Sans"/>
                <a:cs typeface="Alegreya Sans"/>
                <a:sym typeface="Alegreya Sans"/>
              </a:rPr>
              <a:t>You want a nutrition setup that gives you real energy without depending on sugar and caffeine.</a:t>
            </a:r>
            <a:endParaRPr sz="1600"/>
          </a:p>
        </p:txBody>
      </p:sp>
      <p:sp>
        <p:nvSpPr>
          <p:cNvPr id="514" name="Google Shape;514;p85"/>
          <p:cNvSpPr txBox="1"/>
          <p:nvPr/>
        </p:nvSpPr>
        <p:spPr>
          <a:xfrm>
            <a:off x="457200" y="3256284"/>
            <a:ext cx="2200000" cy="56907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1" lang="en-GB" sz="1700" u="none" cap="none" strike="noStrike">
                <a:solidFill>
                  <a:srgbClr val="F79F83"/>
                </a:solidFill>
                <a:latin typeface="Libre Baskerville"/>
                <a:ea typeface="Libre Baskerville"/>
                <a:cs typeface="Libre Baskerville"/>
                <a:sym typeface="Libre Baskerville"/>
              </a:rPr>
              <a:t>Snacking</a:t>
            </a:r>
            <a:endParaRPr sz="1600"/>
          </a:p>
        </p:txBody>
      </p:sp>
      <p:sp>
        <p:nvSpPr>
          <p:cNvPr id="515" name="Google Shape;515;p85"/>
          <p:cNvSpPr txBox="1"/>
          <p:nvPr/>
        </p:nvSpPr>
        <p:spPr>
          <a:xfrm>
            <a:off x="2817200" y="3256284"/>
            <a:ext cx="5869600" cy="569071"/>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None/>
            </a:pPr>
            <a:r>
              <a:rPr b="0" i="0" lang="en-GB" sz="1500" u="none" cap="none" strike="noStrike">
                <a:solidFill>
                  <a:srgbClr val="003060"/>
                </a:solidFill>
                <a:latin typeface="Alegreya Sans"/>
                <a:ea typeface="Alegreya Sans"/>
                <a:cs typeface="Alegreya Sans"/>
                <a:sym typeface="Alegreya Sans"/>
              </a:rPr>
              <a:t>You want the support and accountability to break the evening snacking that has just become habit.</a:t>
            </a:r>
            <a:endParaRPr sz="1600"/>
          </a:p>
        </p:txBody>
      </p:sp>
      <p:sp>
        <p:nvSpPr>
          <p:cNvPr id="516" name="Google Shape;516;p85"/>
          <p:cNvSpPr txBox="1"/>
          <p:nvPr/>
        </p:nvSpPr>
        <p:spPr>
          <a:xfrm>
            <a:off x="457200" y="3825355"/>
            <a:ext cx="2200000" cy="56907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1" lang="en-GB" sz="1700" u="none" cap="none" strike="noStrike">
                <a:solidFill>
                  <a:srgbClr val="F79F83"/>
                </a:solidFill>
                <a:latin typeface="Libre Baskerville"/>
                <a:ea typeface="Libre Baskerville"/>
                <a:cs typeface="Libre Baskerville"/>
                <a:sym typeface="Libre Baskerville"/>
              </a:rPr>
              <a:t>Weekends</a:t>
            </a:r>
            <a:endParaRPr sz="1600"/>
          </a:p>
        </p:txBody>
      </p:sp>
      <p:sp>
        <p:nvSpPr>
          <p:cNvPr id="517" name="Google Shape;517;p85"/>
          <p:cNvSpPr txBox="1"/>
          <p:nvPr/>
        </p:nvSpPr>
        <p:spPr>
          <a:xfrm>
            <a:off x="2817200" y="3825355"/>
            <a:ext cx="5869600" cy="569071"/>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None/>
            </a:pPr>
            <a:r>
              <a:rPr b="0" i="0" lang="en-GB" sz="1500" u="none" cap="none" strike="noStrike">
                <a:solidFill>
                  <a:srgbClr val="003060"/>
                </a:solidFill>
                <a:latin typeface="Alegreya Sans"/>
                <a:ea typeface="Alegreya Sans"/>
                <a:cs typeface="Alegreya Sans"/>
                <a:sym typeface="Alegreya Sans"/>
              </a:rPr>
              <a:t>You want a rock-solid weekend strategy so you don't undo all your weekly hard work.</a:t>
            </a:r>
            <a:endParaRPr sz="1600"/>
          </a:p>
        </p:txBody>
      </p:sp>
      <p:sp>
        <p:nvSpPr>
          <p:cNvPr id="518" name="Google Shape;518;p85"/>
          <p:cNvSpPr txBox="1"/>
          <p:nvPr/>
        </p:nvSpPr>
        <p:spPr>
          <a:xfrm>
            <a:off x="457200" y="4394426"/>
            <a:ext cx="2200000" cy="56907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1" lang="en-GB" sz="1700" u="none" cap="none" strike="noStrike">
                <a:solidFill>
                  <a:srgbClr val="F79F83"/>
                </a:solidFill>
                <a:latin typeface="Libre Baskerville"/>
                <a:ea typeface="Libre Baskerville"/>
                <a:cs typeface="Libre Baskerville"/>
                <a:sym typeface="Libre Baskerville"/>
              </a:rPr>
              <a:t>Ready</a:t>
            </a:r>
            <a:endParaRPr sz="1600"/>
          </a:p>
        </p:txBody>
      </p:sp>
      <p:sp>
        <p:nvSpPr>
          <p:cNvPr id="519" name="Google Shape;519;p85"/>
          <p:cNvSpPr txBox="1"/>
          <p:nvPr/>
        </p:nvSpPr>
        <p:spPr>
          <a:xfrm>
            <a:off x="2817200" y="4394426"/>
            <a:ext cx="5869600" cy="569071"/>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None/>
            </a:pPr>
            <a:r>
              <a:rPr b="0" i="0" lang="en-GB" sz="1500" u="none" cap="none" strike="noStrike">
                <a:solidFill>
                  <a:srgbClr val="003060"/>
                </a:solidFill>
                <a:latin typeface="Alegreya Sans"/>
                <a:ea typeface="Alegreya Sans"/>
                <a:cs typeface="Alegreya Sans"/>
                <a:sym typeface="Alegreya Sans"/>
              </a:rPr>
              <a:t>You are ready to take action and show up for your goals.</a:t>
            </a:r>
            <a:endParaRPr sz="1600"/>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523" name="Shape 523"/>
        <p:cNvGrpSpPr/>
        <p:nvPr/>
      </p:nvGrpSpPr>
      <p:grpSpPr>
        <a:xfrm>
          <a:off x="0" y="0"/>
          <a:ext cx="0" cy="0"/>
          <a:chOff x="0" y="0"/>
          <a:chExt cx="0" cy="0"/>
        </a:xfrm>
      </p:grpSpPr>
      <p:sp>
        <p:nvSpPr>
          <p:cNvPr id="524" name="Google Shape;524;p86"/>
          <p:cNvSpPr txBox="1"/>
          <p:nvPr/>
        </p:nvSpPr>
        <p:spPr>
          <a:xfrm>
            <a:off x="457200" y="280000"/>
            <a:ext cx="8229600" cy="6201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GB" sz="2800" u="none" cap="none" strike="noStrike">
                <a:solidFill>
                  <a:srgbClr val="003060"/>
                </a:solidFill>
                <a:latin typeface="Libre Baskerville"/>
                <a:ea typeface="Libre Baskerville"/>
                <a:cs typeface="Libre Baskerville"/>
                <a:sym typeface="Libre Baskerville"/>
              </a:rPr>
              <a:t>This Is NOT For You If…</a:t>
            </a:r>
            <a:endParaRPr/>
          </a:p>
        </p:txBody>
      </p:sp>
      <p:sp>
        <p:nvSpPr>
          <p:cNvPr id="525" name="Google Shape;525;p86"/>
          <p:cNvSpPr txBox="1"/>
          <p:nvPr/>
        </p:nvSpPr>
        <p:spPr>
          <a:xfrm>
            <a:off x="457200" y="980000"/>
            <a:ext cx="2199900" cy="663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1" lang="en-GB" sz="1700" u="none" cap="none" strike="noStrike">
                <a:solidFill>
                  <a:srgbClr val="F79F83"/>
                </a:solidFill>
                <a:latin typeface="Libre Baskerville"/>
                <a:ea typeface="Libre Baskerville"/>
                <a:cs typeface="Libre Baskerville"/>
                <a:sym typeface="Libre Baskerville"/>
              </a:rPr>
              <a:t>Quick Fixes</a:t>
            </a:r>
            <a:endParaRPr sz="1600">
              <a:solidFill>
                <a:srgbClr val="F79F83"/>
              </a:solidFill>
            </a:endParaRPr>
          </a:p>
        </p:txBody>
      </p:sp>
      <p:sp>
        <p:nvSpPr>
          <p:cNvPr id="526" name="Google Shape;526;p86"/>
          <p:cNvSpPr txBox="1"/>
          <p:nvPr/>
        </p:nvSpPr>
        <p:spPr>
          <a:xfrm>
            <a:off x="2817200" y="980000"/>
            <a:ext cx="5869500" cy="6639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None/>
            </a:pPr>
            <a:r>
              <a:rPr b="0" i="0" lang="en-GB" sz="1500" u="none" cap="none" strike="noStrike">
                <a:solidFill>
                  <a:srgbClr val="003060"/>
                </a:solidFill>
                <a:latin typeface="Alegreya Sans"/>
                <a:ea typeface="Alegreya Sans"/>
                <a:cs typeface="Alegreya Sans"/>
                <a:sym typeface="Alegreya Sans"/>
              </a:rPr>
              <a:t>You are looking for a magic pill or detox tea solution.</a:t>
            </a:r>
            <a:endParaRPr sz="1600"/>
          </a:p>
        </p:txBody>
      </p:sp>
      <p:sp>
        <p:nvSpPr>
          <p:cNvPr id="527" name="Google Shape;527;p86"/>
          <p:cNvSpPr txBox="1"/>
          <p:nvPr/>
        </p:nvSpPr>
        <p:spPr>
          <a:xfrm>
            <a:off x="457200" y="1643916"/>
            <a:ext cx="2199900" cy="663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1" lang="en-GB" sz="1700" u="none" cap="none" strike="noStrike">
                <a:solidFill>
                  <a:srgbClr val="F79F83"/>
                </a:solidFill>
                <a:latin typeface="Libre Baskerville"/>
                <a:ea typeface="Libre Baskerville"/>
                <a:cs typeface="Libre Baskerville"/>
                <a:sym typeface="Libre Baskerville"/>
              </a:rPr>
              <a:t>No Commitment</a:t>
            </a:r>
            <a:endParaRPr sz="1600">
              <a:solidFill>
                <a:srgbClr val="F79F83"/>
              </a:solidFill>
            </a:endParaRPr>
          </a:p>
        </p:txBody>
      </p:sp>
      <p:sp>
        <p:nvSpPr>
          <p:cNvPr id="528" name="Google Shape;528;p86"/>
          <p:cNvSpPr txBox="1"/>
          <p:nvPr/>
        </p:nvSpPr>
        <p:spPr>
          <a:xfrm>
            <a:off x="2817200" y="1643916"/>
            <a:ext cx="5869500" cy="6639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None/>
            </a:pPr>
            <a:r>
              <a:rPr b="0" i="0" lang="en-GB" sz="1500" u="none" cap="none" strike="noStrike">
                <a:solidFill>
                  <a:srgbClr val="003060"/>
                </a:solidFill>
                <a:latin typeface="Alegreya Sans"/>
                <a:ea typeface="Alegreya Sans"/>
                <a:cs typeface="Alegreya Sans"/>
                <a:sym typeface="Alegreya Sans"/>
              </a:rPr>
              <a:t>You are not ready to take action, stay consistent or show up for yourself.</a:t>
            </a:r>
            <a:endParaRPr sz="1600"/>
          </a:p>
        </p:txBody>
      </p:sp>
      <p:sp>
        <p:nvSpPr>
          <p:cNvPr id="529" name="Google Shape;529;p86"/>
          <p:cNvSpPr txBox="1"/>
          <p:nvPr/>
        </p:nvSpPr>
        <p:spPr>
          <a:xfrm>
            <a:off x="457200" y="2307832"/>
            <a:ext cx="2199900" cy="663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1" lang="en-GB" sz="1700" u="none" cap="none" strike="noStrike">
                <a:solidFill>
                  <a:srgbClr val="F79F83"/>
                </a:solidFill>
                <a:latin typeface="Libre Baskerville"/>
                <a:ea typeface="Libre Baskerville"/>
                <a:cs typeface="Libre Baskerville"/>
                <a:sym typeface="Libre Baskerville"/>
              </a:rPr>
              <a:t>Perfection</a:t>
            </a:r>
            <a:endParaRPr sz="1600">
              <a:solidFill>
                <a:srgbClr val="F79F83"/>
              </a:solidFill>
            </a:endParaRPr>
          </a:p>
        </p:txBody>
      </p:sp>
      <p:sp>
        <p:nvSpPr>
          <p:cNvPr id="530" name="Google Shape;530;p86"/>
          <p:cNvSpPr txBox="1"/>
          <p:nvPr/>
        </p:nvSpPr>
        <p:spPr>
          <a:xfrm>
            <a:off x="2817200" y="2307832"/>
            <a:ext cx="5869500" cy="6639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None/>
            </a:pPr>
            <a:r>
              <a:rPr b="0" i="0" lang="en-GB" sz="1500" u="none" cap="none" strike="noStrike">
                <a:solidFill>
                  <a:srgbClr val="003060"/>
                </a:solidFill>
                <a:latin typeface="Alegreya Sans"/>
                <a:ea typeface="Alegreya Sans"/>
                <a:cs typeface="Alegreya Sans"/>
                <a:sym typeface="Alegreya Sans"/>
              </a:rPr>
              <a:t>You think you need to be "perfect" to get results instead of being consistent.</a:t>
            </a:r>
            <a:endParaRPr sz="1600"/>
          </a:p>
        </p:txBody>
      </p:sp>
      <p:sp>
        <p:nvSpPr>
          <p:cNvPr id="531" name="Google Shape;531;p86"/>
          <p:cNvSpPr txBox="1"/>
          <p:nvPr/>
        </p:nvSpPr>
        <p:spPr>
          <a:xfrm>
            <a:off x="457200" y="2971748"/>
            <a:ext cx="2199900" cy="663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1" lang="en-GB" sz="1700" u="none" cap="none" strike="noStrike">
                <a:solidFill>
                  <a:srgbClr val="F79F83"/>
                </a:solidFill>
                <a:latin typeface="Libre Baskerville"/>
                <a:ea typeface="Libre Baskerville"/>
                <a:cs typeface="Libre Baskerville"/>
                <a:sym typeface="Libre Baskerville"/>
              </a:rPr>
              <a:t>Excuses</a:t>
            </a:r>
            <a:endParaRPr sz="1600">
              <a:solidFill>
                <a:srgbClr val="F79F83"/>
              </a:solidFill>
            </a:endParaRPr>
          </a:p>
        </p:txBody>
      </p:sp>
      <p:sp>
        <p:nvSpPr>
          <p:cNvPr id="532" name="Google Shape;532;p86"/>
          <p:cNvSpPr txBox="1"/>
          <p:nvPr/>
        </p:nvSpPr>
        <p:spPr>
          <a:xfrm>
            <a:off x="2817200" y="2971748"/>
            <a:ext cx="5869500" cy="6639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None/>
            </a:pPr>
            <a:r>
              <a:rPr b="0" i="0" lang="en-GB" sz="1500" u="none" cap="none" strike="noStrike">
                <a:solidFill>
                  <a:srgbClr val="003060"/>
                </a:solidFill>
                <a:latin typeface="Alegreya Sans"/>
                <a:ea typeface="Alegreya Sans"/>
                <a:cs typeface="Alegreya Sans"/>
                <a:sym typeface="Alegreya Sans"/>
              </a:rPr>
              <a:t>You are not willing to make changes or take responsibility for your progress.</a:t>
            </a:r>
            <a:endParaRPr sz="1600"/>
          </a:p>
        </p:txBody>
      </p:sp>
      <p:sp>
        <p:nvSpPr>
          <p:cNvPr id="533" name="Google Shape;533;p86"/>
          <p:cNvSpPr txBox="1"/>
          <p:nvPr/>
        </p:nvSpPr>
        <p:spPr>
          <a:xfrm>
            <a:off x="457200" y="3635664"/>
            <a:ext cx="2199900" cy="663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1" lang="en-GB" sz="1700" u="none" cap="none" strike="noStrike">
                <a:solidFill>
                  <a:srgbClr val="F79F83"/>
                </a:solidFill>
                <a:latin typeface="Libre Baskerville"/>
                <a:ea typeface="Libre Baskerville"/>
                <a:cs typeface="Libre Baskerville"/>
                <a:sym typeface="Libre Baskerville"/>
              </a:rPr>
              <a:t>All Or Nothing</a:t>
            </a:r>
            <a:endParaRPr sz="1600">
              <a:solidFill>
                <a:srgbClr val="F79F83"/>
              </a:solidFill>
            </a:endParaRPr>
          </a:p>
        </p:txBody>
      </p:sp>
      <p:sp>
        <p:nvSpPr>
          <p:cNvPr id="534" name="Google Shape;534;p86"/>
          <p:cNvSpPr txBox="1"/>
          <p:nvPr/>
        </p:nvSpPr>
        <p:spPr>
          <a:xfrm>
            <a:off x="2817200" y="3635664"/>
            <a:ext cx="5869500" cy="6639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None/>
            </a:pPr>
            <a:r>
              <a:rPr b="0" i="0" lang="en-GB" sz="1500" u="none" cap="none" strike="noStrike">
                <a:solidFill>
                  <a:srgbClr val="003060"/>
                </a:solidFill>
                <a:latin typeface="Alegreya Sans"/>
                <a:ea typeface="Alegreya Sans"/>
                <a:cs typeface="Alegreya Sans"/>
                <a:sym typeface="Alegreya Sans"/>
              </a:rPr>
              <a:t>You quit the moment life gets busy instead of learning how to adapt and keep going.</a:t>
            </a:r>
            <a:endParaRPr sz="1600"/>
          </a:p>
        </p:txBody>
      </p:sp>
      <p:sp>
        <p:nvSpPr>
          <p:cNvPr id="535" name="Google Shape;535;p86"/>
          <p:cNvSpPr txBox="1"/>
          <p:nvPr/>
        </p:nvSpPr>
        <p:spPr>
          <a:xfrm>
            <a:off x="457200" y="4299580"/>
            <a:ext cx="2199900" cy="663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1" lang="en-GB" sz="1700" u="none" cap="none" strike="noStrike">
                <a:solidFill>
                  <a:srgbClr val="F79F83"/>
                </a:solidFill>
                <a:latin typeface="Libre Baskerville"/>
                <a:ea typeface="Libre Baskerville"/>
                <a:cs typeface="Libre Baskerville"/>
                <a:sym typeface="Libre Baskerville"/>
              </a:rPr>
              <a:t>No Support</a:t>
            </a:r>
            <a:endParaRPr sz="1600">
              <a:solidFill>
                <a:srgbClr val="F79F83"/>
              </a:solidFill>
            </a:endParaRPr>
          </a:p>
        </p:txBody>
      </p:sp>
      <p:sp>
        <p:nvSpPr>
          <p:cNvPr id="536" name="Google Shape;536;p86"/>
          <p:cNvSpPr txBox="1"/>
          <p:nvPr/>
        </p:nvSpPr>
        <p:spPr>
          <a:xfrm>
            <a:off x="2817200" y="4299580"/>
            <a:ext cx="5869500" cy="6639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None/>
            </a:pPr>
            <a:r>
              <a:rPr b="0" i="0" lang="en-GB" sz="1500" u="none" cap="none" strike="noStrike">
                <a:solidFill>
                  <a:srgbClr val="003060"/>
                </a:solidFill>
                <a:latin typeface="Alegreya Sans"/>
                <a:ea typeface="Alegreya Sans"/>
                <a:cs typeface="Alegreya Sans"/>
                <a:sym typeface="Alegreya Sans"/>
              </a:rPr>
              <a:t>You prefer doing everything alone rather than being coached, supported and held accountable.</a:t>
            </a:r>
            <a:endParaRPr sz="1600"/>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540" name="Shape 540"/>
        <p:cNvGrpSpPr/>
        <p:nvPr/>
      </p:nvGrpSpPr>
      <p:grpSpPr>
        <a:xfrm>
          <a:off x="0" y="0"/>
          <a:ext cx="0" cy="0"/>
          <a:chOff x="0" y="0"/>
          <a:chExt cx="0" cy="0"/>
        </a:xfrm>
      </p:grpSpPr>
      <p:sp>
        <p:nvSpPr>
          <p:cNvPr id="541" name="Google Shape;541;p87"/>
          <p:cNvSpPr txBox="1"/>
          <p:nvPr/>
        </p:nvSpPr>
        <p:spPr>
          <a:xfrm>
            <a:off x="457200" y="304800"/>
            <a:ext cx="8229600" cy="609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GB" sz="2800" u="none" cap="none" strike="noStrike">
                <a:solidFill>
                  <a:srgbClr val="003060"/>
                </a:solidFill>
                <a:latin typeface="Libre Baskerville"/>
                <a:ea typeface="Libre Baskerville"/>
                <a:cs typeface="Libre Baskerville"/>
                <a:sym typeface="Libre Baskerville"/>
              </a:rPr>
              <a:t>What Our Clients Say</a:t>
            </a:r>
            <a:endParaRPr/>
          </a:p>
        </p:txBody>
      </p:sp>
      <p:pic>
        <p:nvPicPr>
          <p:cNvPr id="542" name="Google Shape;542;p87" title="Jennifer McClurg - First sprint.png"/>
          <p:cNvPicPr preferRelativeResize="0"/>
          <p:nvPr/>
        </p:nvPicPr>
        <p:blipFill>
          <a:blip r:embed="rId3">
            <a:alphaModFix/>
          </a:blip>
          <a:stretch>
            <a:fillRect/>
          </a:stretch>
        </p:blipFill>
        <p:spPr>
          <a:xfrm>
            <a:off x="3145695" y="1095011"/>
            <a:ext cx="2883160" cy="3603950"/>
          </a:xfrm>
          <a:prstGeom prst="rect">
            <a:avLst/>
          </a:prstGeom>
          <a:noFill/>
          <a:ln>
            <a:noFill/>
          </a:ln>
        </p:spPr>
      </p:pic>
      <p:pic>
        <p:nvPicPr>
          <p:cNvPr id="543" name="Google Shape;543;p87" title="Fran Playfoot - Over a stone lost in 5 weeks.png"/>
          <p:cNvPicPr preferRelativeResize="0"/>
          <p:nvPr/>
        </p:nvPicPr>
        <p:blipFill>
          <a:blip r:embed="rId4">
            <a:alphaModFix/>
          </a:blip>
          <a:stretch>
            <a:fillRect/>
          </a:stretch>
        </p:blipFill>
        <p:spPr>
          <a:xfrm>
            <a:off x="158299" y="1095000"/>
            <a:ext cx="2883160" cy="3603950"/>
          </a:xfrm>
          <a:prstGeom prst="rect">
            <a:avLst/>
          </a:prstGeom>
          <a:noFill/>
          <a:ln>
            <a:noFill/>
          </a:ln>
        </p:spPr>
      </p:pic>
      <p:pic>
        <p:nvPicPr>
          <p:cNvPr id="544" name="Google Shape;544;p87" title="Emma Prior - 10 lbs Gone + Inches Lost All Over.png"/>
          <p:cNvPicPr preferRelativeResize="0"/>
          <p:nvPr/>
        </p:nvPicPr>
        <p:blipFill>
          <a:blip r:embed="rId5">
            <a:alphaModFix/>
          </a:blip>
          <a:stretch>
            <a:fillRect/>
          </a:stretch>
        </p:blipFill>
        <p:spPr>
          <a:xfrm>
            <a:off x="6107556" y="1095000"/>
            <a:ext cx="2883165" cy="3603974"/>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548" name="Shape 548"/>
        <p:cNvGrpSpPr/>
        <p:nvPr/>
      </p:nvGrpSpPr>
      <p:grpSpPr>
        <a:xfrm>
          <a:off x="0" y="0"/>
          <a:ext cx="0" cy="0"/>
          <a:chOff x="0" y="0"/>
          <a:chExt cx="0" cy="0"/>
        </a:xfrm>
      </p:grpSpPr>
      <p:sp>
        <p:nvSpPr>
          <p:cNvPr id="549" name="Google Shape;549;p88"/>
          <p:cNvSpPr txBox="1"/>
          <p:nvPr/>
        </p:nvSpPr>
        <p:spPr>
          <a:xfrm>
            <a:off x="457200" y="304800"/>
            <a:ext cx="8229600" cy="609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GB" sz="2800" u="none" cap="none" strike="noStrike">
                <a:solidFill>
                  <a:srgbClr val="003060"/>
                </a:solidFill>
                <a:latin typeface="Libre Baskerville"/>
                <a:ea typeface="Libre Baskerville"/>
                <a:cs typeface="Libre Baskerville"/>
                <a:sym typeface="Libre Baskerville"/>
              </a:rPr>
              <a:t>What Our Clients Say</a:t>
            </a:r>
            <a:endParaRPr/>
          </a:p>
        </p:txBody>
      </p:sp>
      <p:pic>
        <p:nvPicPr>
          <p:cNvPr id="550" name="Google Shape;550;p88" title="Mel Broad - 54cm Lost, 1.5 Stone Down.png"/>
          <p:cNvPicPr preferRelativeResize="0"/>
          <p:nvPr/>
        </p:nvPicPr>
        <p:blipFill>
          <a:blip r:embed="rId3">
            <a:alphaModFix/>
          </a:blip>
          <a:stretch>
            <a:fillRect/>
          </a:stretch>
        </p:blipFill>
        <p:spPr>
          <a:xfrm>
            <a:off x="196900" y="982763"/>
            <a:ext cx="2863374" cy="3579211"/>
          </a:xfrm>
          <a:prstGeom prst="rect">
            <a:avLst/>
          </a:prstGeom>
          <a:noFill/>
          <a:ln>
            <a:noFill/>
          </a:ln>
        </p:spPr>
      </p:pic>
      <p:pic>
        <p:nvPicPr>
          <p:cNvPr id="551" name="Google Shape;551;p88" title="Sally Nash -1 stone lost.png"/>
          <p:cNvPicPr preferRelativeResize="0"/>
          <p:nvPr/>
        </p:nvPicPr>
        <p:blipFill>
          <a:blip r:embed="rId4">
            <a:alphaModFix/>
          </a:blip>
          <a:stretch>
            <a:fillRect/>
          </a:stretch>
        </p:blipFill>
        <p:spPr>
          <a:xfrm>
            <a:off x="3142103" y="982776"/>
            <a:ext cx="2863374" cy="3579201"/>
          </a:xfrm>
          <a:prstGeom prst="rect">
            <a:avLst/>
          </a:prstGeom>
          <a:noFill/>
          <a:ln>
            <a:noFill/>
          </a:ln>
        </p:spPr>
      </p:pic>
      <p:pic>
        <p:nvPicPr>
          <p:cNvPr id="552" name="Google Shape;552;p88" title="Dawn Barker - 1 stone 4 lbs lost (1).png"/>
          <p:cNvPicPr preferRelativeResize="0"/>
          <p:nvPr/>
        </p:nvPicPr>
        <p:blipFill>
          <a:blip r:embed="rId5">
            <a:alphaModFix/>
          </a:blip>
          <a:stretch>
            <a:fillRect/>
          </a:stretch>
        </p:blipFill>
        <p:spPr>
          <a:xfrm>
            <a:off x="6085025" y="977387"/>
            <a:ext cx="2863374" cy="3579211"/>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556" name="Shape 556"/>
        <p:cNvGrpSpPr/>
        <p:nvPr/>
      </p:nvGrpSpPr>
      <p:grpSpPr>
        <a:xfrm>
          <a:off x="0" y="0"/>
          <a:ext cx="0" cy="0"/>
          <a:chOff x="0" y="0"/>
          <a:chExt cx="0" cy="0"/>
        </a:xfrm>
      </p:grpSpPr>
      <p:sp>
        <p:nvSpPr>
          <p:cNvPr id="557" name="Google Shape;557;p89"/>
          <p:cNvSpPr txBox="1"/>
          <p:nvPr/>
        </p:nvSpPr>
        <p:spPr>
          <a:xfrm>
            <a:off x="457200" y="304800"/>
            <a:ext cx="8229600" cy="609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GB" sz="2800" u="none" cap="none" strike="noStrike">
                <a:solidFill>
                  <a:srgbClr val="003060"/>
                </a:solidFill>
                <a:latin typeface="Libre Baskerville"/>
                <a:ea typeface="Libre Baskerville"/>
                <a:cs typeface="Libre Baskerville"/>
                <a:sym typeface="Libre Baskerville"/>
              </a:rPr>
              <a:t>What Our Clients Say</a:t>
            </a:r>
            <a:endParaRPr/>
          </a:p>
        </p:txBody>
      </p:sp>
      <p:pic>
        <p:nvPicPr>
          <p:cNvPr id="558" name="Google Shape;558;p89" title="Mand Fleet- 26 lbs down, 13 inches lost.png"/>
          <p:cNvPicPr preferRelativeResize="0"/>
          <p:nvPr/>
        </p:nvPicPr>
        <p:blipFill>
          <a:blip r:embed="rId3">
            <a:alphaModFix/>
          </a:blip>
          <a:stretch>
            <a:fillRect/>
          </a:stretch>
        </p:blipFill>
        <p:spPr>
          <a:xfrm>
            <a:off x="180195" y="1084725"/>
            <a:ext cx="2867149" cy="3583950"/>
          </a:xfrm>
          <a:prstGeom prst="rect">
            <a:avLst/>
          </a:prstGeom>
          <a:noFill/>
          <a:ln>
            <a:noFill/>
          </a:ln>
        </p:spPr>
      </p:pic>
      <p:pic>
        <p:nvPicPr>
          <p:cNvPr id="559" name="Google Shape;559;p89" title="15 lbs down.png"/>
          <p:cNvPicPr preferRelativeResize="0"/>
          <p:nvPr/>
        </p:nvPicPr>
        <p:blipFill>
          <a:blip r:embed="rId4">
            <a:alphaModFix/>
          </a:blip>
          <a:stretch>
            <a:fillRect/>
          </a:stretch>
        </p:blipFill>
        <p:spPr>
          <a:xfrm>
            <a:off x="6095545" y="1084725"/>
            <a:ext cx="2900399" cy="3625486"/>
          </a:xfrm>
          <a:prstGeom prst="rect">
            <a:avLst/>
          </a:prstGeom>
          <a:noFill/>
          <a:ln>
            <a:noFill/>
          </a:ln>
        </p:spPr>
      </p:pic>
      <p:pic>
        <p:nvPicPr>
          <p:cNvPr id="560" name="Google Shape;560;p89" title="Teresa Gentle - 1 stone lost.png"/>
          <p:cNvPicPr preferRelativeResize="0"/>
          <p:nvPr/>
        </p:nvPicPr>
        <p:blipFill>
          <a:blip r:embed="rId5">
            <a:alphaModFix/>
          </a:blip>
          <a:stretch>
            <a:fillRect/>
          </a:stretch>
        </p:blipFill>
        <p:spPr>
          <a:xfrm>
            <a:off x="3121245" y="1084725"/>
            <a:ext cx="2900399" cy="3625476"/>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564" name="Shape 564"/>
        <p:cNvGrpSpPr/>
        <p:nvPr/>
      </p:nvGrpSpPr>
      <p:grpSpPr>
        <a:xfrm>
          <a:off x="0" y="0"/>
          <a:ext cx="0" cy="0"/>
          <a:chOff x="0" y="0"/>
          <a:chExt cx="0" cy="0"/>
        </a:xfrm>
      </p:grpSpPr>
      <p:sp>
        <p:nvSpPr>
          <p:cNvPr id="565" name="Google Shape;565;p90"/>
          <p:cNvSpPr txBox="1"/>
          <p:nvPr/>
        </p:nvSpPr>
        <p:spPr>
          <a:xfrm>
            <a:off x="457200" y="304800"/>
            <a:ext cx="8229600" cy="609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GB" sz="2800" u="none" cap="none" strike="noStrike">
                <a:solidFill>
                  <a:srgbClr val="003060"/>
                </a:solidFill>
                <a:latin typeface="Libre Baskerville"/>
                <a:ea typeface="Libre Baskerville"/>
                <a:cs typeface="Libre Baskerville"/>
                <a:sym typeface="Libre Baskerville"/>
              </a:rPr>
              <a:t>What Our Clients Say</a:t>
            </a:r>
            <a:endParaRPr/>
          </a:p>
        </p:txBody>
      </p:sp>
      <p:pic>
        <p:nvPicPr>
          <p:cNvPr id="566" name="Google Shape;566;p90" title="_Leah Athol - 23 lbs lost, beat menopause symptoms.png"/>
          <p:cNvPicPr preferRelativeResize="0"/>
          <p:nvPr/>
        </p:nvPicPr>
        <p:blipFill>
          <a:blip r:embed="rId3">
            <a:alphaModFix/>
          </a:blip>
          <a:stretch>
            <a:fillRect/>
          </a:stretch>
        </p:blipFill>
        <p:spPr>
          <a:xfrm>
            <a:off x="206975" y="1062475"/>
            <a:ext cx="2857124" cy="3571418"/>
          </a:xfrm>
          <a:prstGeom prst="rect">
            <a:avLst/>
          </a:prstGeom>
          <a:noFill/>
          <a:ln>
            <a:noFill/>
          </a:ln>
        </p:spPr>
      </p:pic>
      <p:pic>
        <p:nvPicPr>
          <p:cNvPr id="567" name="Google Shape;567;p90" title="Claire King - 1 stone lost .png"/>
          <p:cNvPicPr preferRelativeResize="0"/>
          <p:nvPr/>
        </p:nvPicPr>
        <p:blipFill>
          <a:blip r:embed="rId4">
            <a:alphaModFix/>
          </a:blip>
          <a:stretch>
            <a:fillRect/>
          </a:stretch>
        </p:blipFill>
        <p:spPr>
          <a:xfrm>
            <a:off x="6079894" y="1062487"/>
            <a:ext cx="2857124" cy="3608688"/>
          </a:xfrm>
          <a:prstGeom prst="rect">
            <a:avLst/>
          </a:prstGeom>
          <a:noFill/>
          <a:ln>
            <a:noFill/>
          </a:ln>
        </p:spPr>
      </p:pic>
      <p:pic>
        <p:nvPicPr>
          <p:cNvPr id="568" name="Google Shape;568;p90" title="Leah Athol - 1 stone lost since 21 day Reset.png"/>
          <p:cNvPicPr preferRelativeResize="0"/>
          <p:nvPr/>
        </p:nvPicPr>
        <p:blipFill>
          <a:blip r:embed="rId5">
            <a:alphaModFix/>
          </a:blip>
          <a:stretch>
            <a:fillRect/>
          </a:stretch>
        </p:blipFill>
        <p:spPr>
          <a:xfrm>
            <a:off x="3149165" y="1062487"/>
            <a:ext cx="2857124" cy="3571418"/>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572" name="Shape 572"/>
        <p:cNvGrpSpPr/>
        <p:nvPr/>
      </p:nvGrpSpPr>
      <p:grpSpPr>
        <a:xfrm>
          <a:off x="0" y="0"/>
          <a:ext cx="0" cy="0"/>
          <a:chOff x="0" y="0"/>
          <a:chExt cx="0" cy="0"/>
        </a:xfrm>
      </p:grpSpPr>
      <p:sp>
        <p:nvSpPr>
          <p:cNvPr id="573" name="Google Shape;573;p91"/>
          <p:cNvSpPr txBox="1"/>
          <p:nvPr/>
        </p:nvSpPr>
        <p:spPr>
          <a:xfrm>
            <a:off x="457200" y="304800"/>
            <a:ext cx="8229600" cy="6100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GB" sz="2800" u="none" cap="none" strike="noStrike">
                <a:solidFill>
                  <a:srgbClr val="003060"/>
                </a:solidFill>
                <a:latin typeface="Libre Baskerville"/>
                <a:ea typeface="Libre Baskerville"/>
                <a:cs typeface="Libre Baskerville"/>
                <a:sym typeface="Libre Baskerville"/>
              </a:rPr>
              <a:t>Incredible Transformations From </a:t>
            </a:r>
            <a:endParaRPr b="1" i="0" sz="2400" u="none" cap="none" strike="noStrike">
              <a:solidFill>
                <a:srgbClr val="003060"/>
              </a:solidFill>
              <a:latin typeface="Libre Baskerville"/>
              <a:ea typeface="Libre Baskerville"/>
              <a:cs typeface="Libre Baskerville"/>
              <a:sym typeface="Libre Baskerville"/>
            </a:endParaRPr>
          </a:p>
          <a:p>
            <a:pPr indent="0" lvl="0" marL="0" marR="0" rtl="0" algn="ctr">
              <a:spcBef>
                <a:spcPts val="0"/>
              </a:spcBef>
              <a:spcAft>
                <a:spcPts val="0"/>
              </a:spcAft>
              <a:buNone/>
            </a:pPr>
            <a:r>
              <a:rPr b="1" i="0" lang="en-GB" sz="2400" u="none" cap="none" strike="noStrike">
                <a:solidFill>
                  <a:srgbClr val="003060"/>
                </a:solidFill>
                <a:latin typeface="Libre Baskerville"/>
                <a:ea typeface="Libre Baskerville"/>
                <a:cs typeface="Libre Baskerville"/>
                <a:sym typeface="Libre Baskerville"/>
              </a:rPr>
              <a:t>Our WLA Community</a:t>
            </a:r>
            <a:endParaRPr/>
          </a:p>
        </p:txBody>
      </p:sp>
      <p:pic>
        <p:nvPicPr>
          <p:cNvPr id="574" name="Google Shape;574;p91" title="Tara Deakin .png"/>
          <p:cNvPicPr preferRelativeResize="0"/>
          <p:nvPr/>
        </p:nvPicPr>
        <p:blipFill rotWithShape="1">
          <a:blip r:embed="rId3">
            <a:alphaModFix/>
          </a:blip>
          <a:srcRect b="4626" l="0" r="4925" t="0"/>
          <a:stretch/>
        </p:blipFill>
        <p:spPr>
          <a:xfrm>
            <a:off x="2432696" y="1075447"/>
            <a:ext cx="2044775" cy="1987224"/>
          </a:xfrm>
          <a:prstGeom prst="rect">
            <a:avLst/>
          </a:prstGeom>
          <a:noFill/>
          <a:ln>
            <a:noFill/>
          </a:ln>
        </p:spPr>
      </p:pic>
      <p:pic>
        <p:nvPicPr>
          <p:cNvPr id="575" name="Google Shape;575;p91" title="SBS(2).png"/>
          <p:cNvPicPr preferRelativeResize="0"/>
          <p:nvPr/>
        </p:nvPicPr>
        <p:blipFill>
          <a:blip r:embed="rId4">
            <a:alphaModFix/>
          </a:blip>
          <a:stretch>
            <a:fillRect/>
          </a:stretch>
        </p:blipFill>
        <p:spPr>
          <a:xfrm>
            <a:off x="6700846" y="3146975"/>
            <a:ext cx="2168424" cy="1982626"/>
          </a:xfrm>
          <a:prstGeom prst="rect">
            <a:avLst/>
          </a:prstGeom>
          <a:noFill/>
          <a:ln>
            <a:noFill/>
          </a:ln>
        </p:spPr>
      </p:pic>
      <p:pic>
        <p:nvPicPr>
          <p:cNvPr id="576" name="Google Shape;576;p91" title="Copy of Audrey Revie - S&amp;S.png"/>
          <p:cNvPicPr preferRelativeResize="0"/>
          <p:nvPr/>
        </p:nvPicPr>
        <p:blipFill>
          <a:blip r:embed="rId5">
            <a:alphaModFix/>
          </a:blip>
          <a:stretch>
            <a:fillRect/>
          </a:stretch>
        </p:blipFill>
        <p:spPr>
          <a:xfrm>
            <a:off x="329221" y="3146975"/>
            <a:ext cx="1982599" cy="1937326"/>
          </a:xfrm>
          <a:prstGeom prst="rect">
            <a:avLst/>
          </a:prstGeom>
          <a:noFill/>
          <a:ln>
            <a:noFill/>
          </a:ln>
        </p:spPr>
      </p:pic>
      <p:pic>
        <p:nvPicPr>
          <p:cNvPr id="577" name="Google Shape;577;p91" title="Claire King.png"/>
          <p:cNvPicPr preferRelativeResize="0"/>
          <p:nvPr/>
        </p:nvPicPr>
        <p:blipFill>
          <a:blip r:embed="rId6">
            <a:alphaModFix/>
          </a:blip>
          <a:stretch>
            <a:fillRect/>
          </a:stretch>
        </p:blipFill>
        <p:spPr>
          <a:xfrm>
            <a:off x="311671" y="1082375"/>
            <a:ext cx="1982599" cy="1982626"/>
          </a:xfrm>
          <a:prstGeom prst="rect">
            <a:avLst/>
          </a:prstGeom>
          <a:noFill/>
          <a:ln>
            <a:noFill/>
          </a:ln>
        </p:spPr>
      </p:pic>
      <p:pic>
        <p:nvPicPr>
          <p:cNvPr id="578" name="Google Shape;578;p91" title="With Permission - Sarah Jane Moore.png"/>
          <p:cNvPicPr preferRelativeResize="0"/>
          <p:nvPr/>
        </p:nvPicPr>
        <p:blipFill>
          <a:blip r:embed="rId7">
            <a:alphaModFix/>
          </a:blip>
          <a:stretch>
            <a:fillRect/>
          </a:stretch>
        </p:blipFill>
        <p:spPr>
          <a:xfrm>
            <a:off x="2389346" y="3146975"/>
            <a:ext cx="2124425" cy="1937326"/>
          </a:xfrm>
          <a:prstGeom prst="rect">
            <a:avLst/>
          </a:prstGeom>
          <a:noFill/>
          <a:ln>
            <a:noFill/>
          </a:ln>
        </p:spPr>
      </p:pic>
      <p:pic>
        <p:nvPicPr>
          <p:cNvPr id="579" name="Google Shape;579;p91" title="Christine Robe.png"/>
          <p:cNvPicPr preferRelativeResize="0"/>
          <p:nvPr/>
        </p:nvPicPr>
        <p:blipFill>
          <a:blip r:embed="rId8">
            <a:alphaModFix/>
          </a:blip>
          <a:stretch>
            <a:fillRect/>
          </a:stretch>
        </p:blipFill>
        <p:spPr>
          <a:xfrm>
            <a:off x="4591296" y="3146975"/>
            <a:ext cx="1982599" cy="1937326"/>
          </a:xfrm>
          <a:prstGeom prst="rect">
            <a:avLst/>
          </a:prstGeom>
          <a:noFill/>
          <a:ln>
            <a:noFill/>
          </a:ln>
        </p:spPr>
      </p:pic>
      <p:pic>
        <p:nvPicPr>
          <p:cNvPr id="580" name="Google Shape;580;p91" title="Sylvia Anderson SBS (1).png"/>
          <p:cNvPicPr preferRelativeResize="0"/>
          <p:nvPr/>
        </p:nvPicPr>
        <p:blipFill rotWithShape="1">
          <a:blip r:embed="rId9">
            <a:alphaModFix/>
          </a:blip>
          <a:srcRect b="26686" l="0" r="0" t="0"/>
          <a:stretch/>
        </p:blipFill>
        <p:spPr>
          <a:xfrm>
            <a:off x="6700843" y="1067200"/>
            <a:ext cx="2168424" cy="1987224"/>
          </a:xfrm>
          <a:prstGeom prst="rect">
            <a:avLst/>
          </a:prstGeom>
          <a:noFill/>
          <a:ln>
            <a:noFill/>
          </a:ln>
        </p:spPr>
      </p:pic>
      <p:pic>
        <p:nvPicPr>
          <p:cNvPr id="581" name="Google Shape;581;p91" title="Copy of Anette Nordhoff - S&amp;S.png"/>
          <p:cNvPicPr preferRelativeResize="0"/>
          <p:nvPr/>
        </p:nvPicPr>
        <p:blipFill>
          <a:blip r:embed="rId10">
            <a:alphaModFix/>
          </a:blip>
          <a:stretch>
            <a:fillRect/>
          </a:stretch>
        </p:blipFill>
        <p:spPr>
          <a:xfrm>
            <a:off x="4615896" y="1075450"/>
            <a:ext cx="1982599" cy="1982599"/>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585" name="Shape 585"/>
        <p:cNvGrpSpPr/>
        <p:nvPr/>
      </p:nvGrpSpPr>
      <p:grpSpPr>
        <a:xfrm>
          <a:off x="0" y="0"/>
          <a:ext cx="0" cy="0"/>
          <a:chOff x="0" y="0"/>
          <a:chExt cx="0" cy="0"/>
        </a:xfrm>
      </p:grpSpPr>
      <p:sp>
        <p:nvSpPr>
          <p:cNvPr id="586" name="Google Shape;586;p92"/>
          <p:cNvSpPr txBox="1"/>
          <p:nvPr/>
        </p:nvSpPr>
        <p:spPr>
          <a:xfrm>
            <a:off x="457200" y="304800"/>
            <a:ext cx="8229600" cy="6100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GB" sz="2800" u="none" cap="none" strike="noStrike">
                <a:solidFill>
                  <a:srgbClr val="003060"/>
                </a:solidFill>
                <a:latin typeface="Libre Baskerville"/>
                <a:ea typeface="Libre Baskerville"/>
                <a:cs typeface="Libre Baskerville"/>
                <a:sym typeface="Libre Baskerville"/>
              </a:rPr>
              <a:t>Real Women, Real Transformations</a:t>
            </a:r>
            <a:endParaRPr/>
          </a:p>
        </p:txBody>
      </p:sp>
      <p:pic>
        <p:nvPicPr>
          <p:cNvPr id="587" name="Google Shape;587;p92" title="SBS.png"/>
          <p:cNvPicPr preferRelativeResize="0"/>
          <p:nvPr/>
        </p:nvPicPr>
        <p:blipFill>
          <a:blip r:embed="rId3">
            <a:alphaModFix/>
          </a:blip>
          <a:stretch>
            <a:fillRect/>
          </a:stretch>
        </p:blipFill>
        <p:spPr>
          <a:xfrm>
            <a:off x="504597" y="1002975"/>
            <a:ext cx="3853475" cy="3853475"/>
          </a:xfrm>
          <a:prstGeom prst="rect">
            <a:avLst/>
          </a:prstGeom>
          <a:solidFill>
            <a:srgbClr val="ECE7DE"/>
          </a:solidFill>
          <a:ln cap="flat" cmpd="sng" w="19050">
            <a:solidFill>
              <a:srgbClr val="D9CDB6"/>
            </a:solidFill>
            <a:prstDash val="solid"/>
            <a:round/>
            <a:headEnd len="sm" w="sm" type="none"/>
            <a:tailEnd len="sm" w="sm" type="none"/>
          </a:ln>
        </p:spPr>
      </p:pic>
      <p:pic>
        <p:nvPicPr>
          <p:cNvPr id="588" name="Google Shape;588;p92" title="037bb43b-1844-4427-a635-66e727e35d98.jpg"/>
          <p:cNvPicPr preferRelativeResize="0"/>
          <p:nvPr/>
        </p:nvPicPr>
        <p:blipFill>
          <a:blip r:embed="rId4">
            <a:alphaModFix/>
          </a:blip>
          <a:stretch>
            <a:fillRect/>
          </a:stretch>
        </p:blipFill>
        <p:spPr>
          <a:xfrm>
            <a:off x="4762097" y="1002975"/>
            <a:ext cx="3896899" cy="3902729"/>
          </a:xfrm>
          <a:prstGeom prst="rect">
            <a:avLst/>
          </a:prstGeom>
          <a:solidFill>
            <a:srgbClr val="ECE7DE"/>
          </a:solidFill>
          <a:ln cap="flat" cmpd="sng" w="19050">
            <a:solidFill>
              <a:srgbClr val="D9CDB6"/>
            </a:solidFill>
            <a:prstDash val="solid"/>
            <a:round/>
            <a:headEnd len="sm" w="sm" type="none"/>
            <a:tailEnd len="sm" w="sm" type="none"/>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592" name="Shape 592"/>
        <p:cNvGrpSpPr/>
        <p:nvPr/>
      </p:nvGrpSpPr>
      <p:grpSpPr>
        <a:xfrm>
          <a:off x="0" y="0"/>
          <a:ext cx="0" cy="0"/>
          <a:chOff x="0" y="0"/>
          <a:chExt cx="0" cy="0"/>
        </a:xfrm>
      </p:grpSpPr>
      <p:sp>
        <p:nvSpPr>
          <p:cNvPr id="593" name="Google Shape;593;p93"/>
          <p:cNvSpPr txBox="1"/>
          <p:nvPr/>
        </p:nvSpPr>
        <p:spPr>
          <a:xfrm>
            <a:off x="457200" y="304800"/>
            <a:ext cx="8229600" cy="6100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GB" sz="2800" u="none" cap="none" strike="noStrike">
                <a:solidFill>
                  <a:srgbClr val="003060"/>
                </a:solidFill>
                <a:latin typeface="Libre Baskerville"/>
                <a:ea typeface="Libre Baskerville"/>
                <a:cs typeface="Libre Baskerville"/>
                <a:sym typeface="Libre Baskerville"/>
              </a:rPr>
              <a:t>Real Women, Real Transformations</a:t>
            </a:r>
            <a:endParaRPr/>
          </a:p>
        </p:txBody>
      </p:sp>
      <p:pic>
        <p:nvPicPr>
          <p:cNvPr id="594" name="Google Shape;594;p93" title="Lisa Thorpe.png"/>
          <p:cNvPicPr preferRelativeResize="0"/>
          <p:nvPr/>
        </p:nvPicPr>
        <p:blipFill>
          <a:blip r:embed="rId3">
            <a:alphaModFix/>
          </a:blip>
          <a:stretch>
            <a:fillRect/>
          </a:stretch>
        </p:blipFill>
        <p:spPr>
          <a:xfrm>
            <a:off x="597250" y="955966"/>
            <a:ext cx="3923899" cy="3923899"/>
          </a:xfrm>
          <a:prstGeom prst="rect">
            <a:avLst/>
          </a:prstGeom>
          <a:noFill/>
          <a:ln>
            <a:noFill/>
          </a:ln>
        </p:spPr>
      </p:pic>
      <p:pic>
        <p:nvPicPr>
          <p:cNvPr id="595" name="Google Shape;595;p93" title="3b18e6b2-b99e-4c1a-8cba-902bd8dc4436.png"/>
          <p:cNvPicPr preferRelativeResize="0"/>
          <p:nvPr/>
        </p:nvPicPr>
        <p:blipFill>
          <a:blip r:embed="rId4">
            <a:alphaModFix/>
          </a:blip>
          <a:stretch>
            <a:fillRect/>
          </a:stretch>
        </p:blipFill>
        <p:spPr>
          <a:xfrm>
            <a:off x="4673549" y="955966"/>
            <a:ext cx="3923899" cy="3923899"/>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599" name="Shape 599"/>
        <p:cNvGrpSpPr/>
        <p:nvPr/>
      </p:nvGrpSpPr>
      <p:grpSpPr>
        <a:xfrm>
          <a:off x="0" y="0"/>
          <a:ext cx="0" cy="0"/>
          <a:chOff x="0" y="0"/>
          <a:chExt cx="0" cy="0"/>
        </a:xfrm>
      </p:grpSpPr>
      <p:sp>
        <p:nvSpPr>
          <p:cNvPr id="600" name="Google Shape;600;p94"/>
          <p:cNvSpPr txBox="1"/>
          <p:nvPr/>
        </p:nvSpPr>
        <p:spPr>
          <a:xfrm>
            <a:off x="457200" y="304800"/>
            <a:ext cx="8229600" cy="609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GB" sz="2800" u="none" cap="none" strike="noStrike">
                <a:solidFill>
                  <a:srgbClr val="003060"/>
                </a:solidFill>
                <a:latin typeface="Libre Baskerville"/>
                <a:ea typeface="Libre Baskerville"/>
                <a:cs typeface="Libre Baskerville"/>
                <a:sym typeface="Libre Baskerville"/>
              </a:rPr>
              <a:t>Real Women, Real Transformations</a:t>
            </a:r>
            <a:endParaRPr/>
          </a:p>
        </p:txBody>
      </p:sp>
      <p:pic>
        <p:nvPicPr>
          <p:cNvPr id="601" name="Google Shape;601;p94" title="SBS - Laura GlassMissy Pane.png"/>
          <p:cNvPicPr preferRelativeResize="0"/>
          <p:nvPr/>
        </p:nvPicPr>
        <p:blipFill>
          <a:blip r:embed="rId3">
            <a:alphaModFix/>
          </a:blip>
          <a:stretch>
            <a:fillRect/>
          </a:stretch>
        </p:blipFill>
        <p:spPr>
          <a:xfrm>
            <a:off x="1064325" y="892450"/>
            <a:ext cx="3139201" cy="3924001"/>
          </a:xfrm>
          <a:prstGeom prst="rect">
            <a:avLst/>
          </a:prstGeom>
          <a:noFill/>
          <a:ln>
            <a:noFill/>
          </a:ln>
        </p:spPr>
      </p:pic>
      <p:pic>
        <p:nvPicPr>
          <p:cNvPr id="602" name="Google Shape;602;p94" title="SBS Photo - Fran Playfoot - S&amp;S.png"/>
          <p:cNvPicPr preferRelativeResize="0"/>
          <p:nvPr/>
        </p:nvPicPr>
        <p:blipFill>
          <a:blip r:embed="rId4">
            <a:alphaModFix/>
          </a:blip>
          <a:stretch>
            <a:fillRect/>
          </a:stretch>
        </p:blipFill>
        <p:spPr>
          <a:xfrm>
            <a:off x="4767401" y="892450"/>
            <a:ext cx="3139201" cy="3924001"/>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606" name="Shape 606"/>
        <p:cNvGrpSpPr/>
        <p:nvPr/>
      </p:nvGrpSpPr>
      <p:grpSpPr>
        <a:xfrm>
          <a:off x="0" y="0"/>
          <a:ext cx="0" cy="0"/>
          <a:chOff x="0" y="0"/>
          <a:chExt cx="0" cy="0"/>
        </a:xfrm>
      </p:grpSpPr>
      <p:sp>
        <p:nvSpPr>
          <p:cNvPr id="607" name="Google Shape;607;p95"/>
          <p:cNvSpPr txBox="1"/>
          <p:nvPr/>
        </p:nvSpPr>
        <p:spPr>
          <a:xfrm>
            <a:off x="457200" y="304800"/>
            <a:ext cx="8229600" cy="609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GB" sz="2800" u="none" cap="none" strike="noStrike">
                <a:solidFill>
                  <a:srgbClr val="003060"/>
                </a:solidFill>
                <a:latin typeface="Libre Baskerville"/>
                <a:ea typeface="Libre Baskerville"/>
                <a:cs typeface="Libre Baskerville"/>
                <a:sym typeface="Libre Baskerville"/>
              </a:rPr>
              <a:t>Real Women, Real Transformations</a:t>
            </a:r>
            <a:endParaRPr/>
          </a:p>
        </p:txBody>
      </p:sp>
      <p:pic>
        <p:nvPicPr>
          <p:cNvPr id="608" name="Google Shape;608;p95" title="SBS - Elaine Devlin- S&amp;S.png"/>
          <p:cNvPicPr preferRelativeResize="0"/>
          <p:nvPr/>
        </p:nvPicPr>
        <p:blipFill>
          <a:blip r:embed="rId3">
            <a:alphaModFix/>
          </a:blip>
          <a:stretch>
            <a:fillRect/>
          </a:stretch>
        </p:blipFill>
        <p:spPr>
          <a:xfrm>
            <a:off x="1214450" y="878050"/>
            <a:ext cx="3139201" cy="3924001"/>
          </a:xfrm>
          <a:prstGeom prst="rect">
            <a:avLst/>
          </a:prstGeom>
          <a:noFill/>
          <a:ln>
            <a:noFill/>
          </a:ln>
        </p:spPr>
      </p:pic>
      <p:pic>
        <p:nvPicPr>
          <p:cNvPr id="609" name="Google Shape;609;p95" title="Arleen Hulley - SBS (1).png"/>
          <p:cNvPicPr preferRelativeResize="0"/>
          <p:nvPr/>
        </p:nvPicPr>
        <p:blipFill>
          <a:blip r:embed="rId4">
            <a:alphaModFix/>
          </a:blip>
          <a:stretch>
            <a:fillRect/>
          </a:stretch>
        </p:blipFill>
        <p:spPr>
          <a:xfrm>
            <a:off x="4661726" y="878050"/>
            <a:ext cx="3139201" cy="3924001"/>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613" name="Shape 613"/>
        <p:cNvGrpSpPr/>
        <p:nvPr/>
      </p:nvGrpSpPr>
      <p:grpSpPr>
        <a:xfrm>
          <a:off x="0" y="0"/>
          <a:ext cx="0" cy="0"/>
          <a:chOff x="0" y="0"/>
          <a:chExt cx="0" cy="0"/>
        </a:xfrm>
      </p:grpSpPr>
      <p:sp>
        <p:nvSpPr>
          <p:cNvPr id="614" name="Google Shape;614;p96"/>
          <p:cNvSpPr txBox="1"/>
          <p:nvPr/>
        </p:nvSpPr>
        <p:spPr>
          <a:xfrm>
            <a:off x="457200" y="304800"/>
            <a:ext cx="8229600" cy="609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GB" sz="2800" u="none" cap="none" strike="noStrike">
                <a:solidFill>
                  <a:srgbClr val="003060"/>
                </a:solidFill>
                <a:latin typeface="Libre Baskerville"/>
                <a:ea typeface="Libre Baskerville"/>
                <a:cs typeface="Libre Baskerville"/>
                <a:sym typeface="Libre Baskerville"/>
              </a:rPr>
              <a:t>Real Women, Real Transformations</a:t>
            </a:r>
            <a:endParaRPr/>
          </a:p>
        </p:txBody>
      </p:sp>
      <p:pic>
        <p:nvPicPr>
          <p:cNvPr id="615" name="Google Shape;615;p96" title="SBS 1.png"/>
          <p:cNvPicPr preferRelativeResize="0"/>
          <p:nvPr/>
        </p:nvPicPr>
        <p:blipFill>
          <a:blip r:embed="rId3">
            <a:alphaModFix/>
          </a:blip>
          <a:stretch>
            <a:fillRect/>
          </a:stretch>
        </p:blipFill>
        <p:spPr>
          <a:xfrm>
            <a:off x="1481375" y="914700"/>
            <a:ext cx="3139201" cy="3924001"/>
          </a:xfrm>
          <a:prstGeom prst="rect">
            <a:avLst/>
          </a:prstGeom>
          <a:noFill/>
          <a:ln>
            <a:noFill/>
          </a:ln>
        </p:spPr>
      </p:pic>
      <p:pic>
        <p:nvPicPr>
          <p:cNvPr id="616" name="Google Shape;616;p96" title="SBS.png"/>
          <p:cNvPicPr preferRelativeResize="0"/>
          <p:nvPr/>
        </p:nvPicPr>
        <p:blipFill>
          <a:blip r:embed="rId4">
            <a:alphaModFix/>
          </a:blip>
          <a:stretch>
            <a:fillRect/>
          </a:stretch>
        </p:blipFill>
        <p:spPr>
          <a:xfrm>
            <a:off x="4911976" y="914700"/>
            <a:ext cx="3139201" cy="3924001"/>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620" name="Shape 620"/>
        <p:cNvGrpSpPr/>
        <p:nvPr/>
      </p:nvGrpSpPr>
      <p:grpSpPr>
        <a:xfrm>
          <a:off x="0" y="0"/>
          <a:ext cx="0" cy="0"/>
          <a:chOff x="0" y="0"/>
          <a:chExt cx="0" cy="0"/>
        </a:xfrm>
      </p:grpSpPr>
      <p:sp>
        <p:nvSpPr>
          <p:cNvPr id="621" name="Google Shape;621;p97"/>
          <p:cNvSpPr txBox="1"/>
          <p:nvPr/>
        </p:nvSpPr>
        <p:spPr>
          <a:xfrm>
            <a:off x="457200" y="304800"/>
            <a:ext cx="8229600" cy="609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GB" sz="2800" u="none" cap="none" strike="noStrike">
                <a:solidFill>
                  <a:srgbClr val="003060"/>
                </a:solidFill>
                <a:latin typeface="Libre Baskerville"/>
                <a:ea typeface="Libre Baskerville"/>
                <a:cs typeface="Libre Baskerville"/>
                <a:sym typeface="Libre Baskerville"/>
              </a:rPr>
              <a:t>Real Women, Real Transformations</a:t>
            </a:r>
            <a:endParaRPr/>
          </a:p>
        </p:txBody>
      </p:sp>
      <p:pic>
        <p:nvPicPr>
          <p:cNvPr id="622" name="Google Shape;622;p97" title="Lorraine Courts - SBS .png"/>
          <p:cNvPicPr preferRelativeResize="0"/>
          <p:nvPr/>
        </p:nvPicPr>
        <p:blipFill>
          <a:blip r:embed="rId3">
            <a:alphaModFix/>
          </a:blip>
          <a:stretch>
            <a:fillRect/>
          </a:stretch>
        </p:blipFill>
        <p:spPr>
          <a:xfrm>
            <a:off x="202663" y="1198300"/>
            <a:ext cx="2640408" cy="3300517"/>
          </a:xfrm>
          <a:prstGeom prst="rect">
            <a:avLst/>
          </a:prstGeom>
          <a:noFill/>
          <a:ln>
            <a:noFill/>
          </a:ln>
        </p:spPr>
      </p:pic>
      <p:pic>
        <p:nvPicPr>
          <p:cNvPr id="623" name="Google Shape;623;p97" title="Kay Crane SBS Side.png"/>
          <p:cNvPicPr preferRelativeResize="0"/>
          <p:nvPr/>
        </p:nvPicPr>
        <p:blipFill>
          <a:blip r:embed="rId4">
            <a:alphaModFix/>
          </a:blip>
          <a:stretch>
            <a:fillRect/>
          </a:stretch>
        </p:blipFill>
        <p:spPr>
          <a:xfrm>
            <a:off x="6356528" y="1198300"/>
            <a:ext cx="2640408" cy="3300524"/>
          </a:xfrm>
          <a:prstGeom prst="rect">
            <a:avLst/>
          </a:prstGeom>
          <a:noFill/>
          <a:ln>
            <a:noFill/>
          </a:ln>
        </p:spPr>
      </p:pic>
      <p:pic>
        <p:nvPicPr>
          <p:cNvPr id="624" name="Google Shape;624;p97" title="Before and after photo - Jill .png"/>
          <p:cNvPicPr preferRelativeResize="0"/>
          <p:nvPr/>
        </p:nvPicPr>
        <p:blipFill>
          <a:blip r:embed="rId5">
            <a:alphaModFix/>
          </a:blip>
          <a:stretch>
            <a:fillRect/>
          </a:stretch>
        </p:blipFill>
        <p:spPr>
          <a:xfrm>
            <a:off x="2952537" y="1198300"/>
            <a:ext cx="3300518" cy="3300518"/>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628" name="Shape 628"/>
        <p:cNvGrpSpPr/>
        <p:nvPr/>
      </p:nvGrpSpPr>
      <p:grpSpPr>
        <a:xfrm>
          <a:off x="0" y="0"/>
          <a:ext cx="0" cy="0"/>
          <a:chOff x="0" y="0"/>
          <a:chExt cx="0" cy="0"/>
        </a:xfrm>
      </p:grpSpPr>
      <p:sp>
        <p:nvSpPr>
          <p:cNvPr id="629" name="Google Shape;629;p98"/>
          <p:cNvSpPr txBox="1"/>
          <p:nvPr/>
        </p:nvSpPr>
        <p:spPr>
          <a:xfrm>
            <a:off x="457200" y="361950"/>
            <a:ext cx="8229600" cy="44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GB" sz="2800" u="none" cap="none" strike="noStrike">
                <a:solidFill>
                  <a:srgbClr val="003060"/>
                </a:solidFill>
                <a:latin typeface="Libre Baskerville"/>
                <a:ea typeface="Libre Baskerville"/>
                <a:cs typeface="Libre Baskerville"/>
                <a:sym typeface="Libre Baskerville"/>
              </a:rPr>
              <a:t>How Is This </a:t>
            </a:r>
            <a:r>
              <a:rPr b="1" lang="en-GB" sz="2800">
                <a:solidFill>
                  <a:srgbClr val="003060"/>
                </a:solidFill>
                <a:latin typeface="Libre Baskerville"/>
                <a:ea typeface="Libre Baskerville"/>
                <a:cs typeface="Libre Baskerville"/>
                <a:sym typeface="Libre Baskerville"/>
              </a:rPr>
              <a:t>Challenge</a:t>
            </a:r>
            <a:r>
              <a:rPr b="1" i="0" lang="en-GB" sz="2800" u="none" cap="none" strike="noStrike">
                <a:solidFill>
                  <a:srgbClr val="003060"/>
                </a:solidFill>
                <a:latin typeface="Libre Baskerville"/>
                <a:ea typeface="Libre Baskerville"/>
                <a:cs typeface="Libre Baskerville"/>
                <a:sym typeface="Libre Baskerville"/>
              </a:rPr>
              <a:t> Different From The Original 12 Week Academy?</a:t>
            </a:r>
            <a:endParaRPr/>
          </a:p>
          <a:p>
            <a:pPr indent="0" lvl="0" marL="0" marR="0" rtl="0" algn="ctr">
              <a:spcBef>
                <a:spcPts val="1400"/>
              </a:spcBef>
              <a:spcAft>
                <a:spcPts val="0"/>
              </a:spcAft>
              <a:buNone/>
            </a:pPr>
            <a:r>
              <a:rPr lang="en-GB" sz="1500">
                <a:solidFill>
                  <a:srgbClr val="003060"/>
                </a:solidFill>
                <a:latin typeface="Alegreya Sans"/>
                <a:ea typeface="Alegreya Sans"/>
                <a:cs typeface="Alegreya Sans"/>
                <a:sym typeface="Alegreya Sans"/>
              </a:rPr>
              <a:t>O</a:t>
            </a:r>
            <a:r>
              <a:rPr b="0" i="0" lang="en-GB" sz="1500" u="none" cap="none" strike="noStrike">
                <a:solidFill>
                  <a:srgbClr val="003060"/>
                </a:solidFill>
                <a:latin typeface="Alegreya Sans"/>
                <a:ea typeface="Alegreya Sans"/>
                <a:cs typeface="Alegreya Sans"/>
                <a:sym typeface="Alegreya Sans"/>
              </a:rPr>
              <a:t>ur Academy program remains unchanged, </a:t>
            </a:r>
            <a:r>
              <a:rPr lang="en-GB" sz="1500">
                <a:solidFill>
                  <a:srgbClr val="003060"/>
                </a:solidFill>
                <a:latin typeface="Alegreya Sans"/>
                <a:ea typeface="Alegreya Sans"/>
                <a:cs typeface="Alegreya Sans"/>
                <a:sym typeface="Alegreya Sans"/>
              </a:rPr>
              <a:t>it's</a:t>
            </a:r>
            <a:r>
              <a:rPr b="0" i="0" lang="en-GB" sz="1500" u="none" cap="none" strike="noStrike">
                <a:solidFill>
                  <a:srgbClr val="003060"/>
                </a:solidFill>
                <a:latin typeface="Alegreya Sans"/>
                <a:ea typeface="Alegreya Sans"/>
                <a:cs typeface="Alegreya Sans"/>
                <a:sym typeface="Alegreya Sans"/>
              </a:rPr>
              <a:t> </a:t>
            </a:r>
            <a:r>
              <a:rPr lang="en-GB" sz="1500">
                <a:solidFill>
                  <a:srgbClr val="003060"/>
                </a:solidFill>
                <a:latin typeface="Alegreya Sans"/>
                <a:ea typeface="Alegreya Sans"/>
                <a:cs typeface="Alegreya Sans"/>
                <a:sym typeface="Alegreya Sans"/>
              </a:rPr>
              <a:t>just</a:t>
            </a:r>
            <a:r>
              <a:rPr b="0" i="0" lang="en-GB" sz="1500" u="none" cap="none" strike="noStrike">
                <a:solidFill>
                  <a:srgbClr val="003060"/>
                </a:solidFill>
                <a:latin typeface="Alegreya Sans"/>
                <a:ea typeface="Alegreya Sans"/>
                <a:cs typeface="Alegreya Sans"/>
                <a:sym typeface="Alegreya Sans"/>
              </a:rPr>
              <a:t> not open to new clien</a:t>
            </a:r>
            <a:r>
              <a:rPr lang="en-GB" sz="1500">
                <a:solidFill>
                  <a:srgbClr val="003060"/>
                </a:solidFill>
                <a:latin typeface="Alegreya Sans"/>
                <a:ea typeface="Alegreya Sans"/>
                <a:cs typeface="Alegreya Sans"/>
                <a:sym typeface="Alegreya Sans"/>
              </a:rPr>
              <a:t>ts anymore.</a:t>
            </a:r>
            <a:endParaRPr/>
          </a:p>
          <a:p>
            <a:pPr indent="0" lvl="0" marL="0" marR="0" rtl="0" algn="ctr">
              <a:spcBef>
                <a:spcPts val="1000"/>
              </a:spcBef>
              <a:spcAft>
                <a:spcPts val="0"/>
              </a:spcAft>
              <a:buNone/>
            </a:pPr>
            <a:r>
              <a:rPr b="1" i="1" lang="en-GB" sz="1500">
                <a:solidFill>
                  <a:srgbClr val="F79F83"/>
                </a:solidFill>
                <a:latin typeface="Libre Baskerville"/>
                <a:ea typeface="Libre Baskerville"/>
                <a:cs typeface="Libre Baskerville"/>
                <a:sym typeface="Libre Baskerville"/>
              </a:rPr>
              <a:t>D</a:t>
            </a:r>
            <a:r>
              <a:rPr b="1" i="1" lang="en-GB" sz="1500" u="none" cap="none" strike="noStrike">
                <a:solidFill>
                  <a:srgbClr val="F79F83"/>
                </a:solidFill>
                <a:latin typeface="Libre Baskerville"/>
                <a:ea typeface="Libre Baskerville"/>
                <a:cs typeface="Libre Baskerville"/>
                <a:sym typeface="Libre Baskerville"/>
              </a:rPr>
              <a:t>ue to overwhelming demand, </a:t>
            </a:r>
            <a:endParaRPr b="1" i="1" sz="1500" u="none" cap="none" strike="noStrike">
              <a:solidFill>
                <a:srgbClr val="F79F83"/>
              </a:solidFill>
              <a:latin typeface="Libre Baskerville"/>
              <a:ea typeface="Libre Baskerville"/>
              <a:cs typeface="Libre Baskerville"/>
              <a:sym typeface="Libre Baskerville"/>
            </a:endParaRPr>
          </a:p>
          <a:p>
            <a:pPr indent="0" lvl="0" marL="0" marR="0" rtl="0" algn="ctr">
              <a:spcBef>
                <a:spcPts val="1000"/>
              </a:spcBef>
              <a:spcAft>
                <a:spcPts val="0"/>
              </a:spcAft>
              <a:buNone/>
            </a:pPr>
            <a:r>
              <a:rPr b="1" i="1" lang="en-GB" sz="1500" u="none" cap="none" strike="noStrike">
                <a:solidFill>
                  <a:srgbClr val="F79F83"/>
                </a:solidFill>
                <a:latin typeface="Libre Baskerville"/>
                <a:ea typeface="Libre Baskerville"/>
                <a:cs typeface="Libre Baskerville"/>
                <a:sym typeface="Libre Baskerville"/>
              </a:rPr>
              <a:t>we've introduced </a:t>
            </a:r>
            <a:r>
              <a:rPr b="1" i="1" lang="en-GB" sz="1500">
                <a:solidFill>
                  <a:srgbClr val="F79F83"/>
                </a:solidFill>
                <a:latin typeface="Libre Baskerville"/>
                <a:ea typeface="Libre Baskerville"/>
                <a:cs typeface="Libre Baskerville"/>
                <a:sym typeface="Libre Baskerville"/>
              </a:rPr>
              <a:t>new options</a:t>
            </a:r>
            <a:r>
              <a:rPr b="1" i="1" lang="en-GB" sz="1500" u="none" cap="none" strike="noStrike">
                <a:solidFill>
                  <a:srgbClr val="F79F83"/>
                </a:solidFill>
                <a:latin typeface="Libre Baskerville"/>
                <a:ea typeface="Libre Baskerville"/>
                <a:cs typeface="Libre Baskerville"/>
                <a:sym typeface="Libre Baskerville"/>
              </a:rPr>
              <a:t> to provide a more personalised experience.</a:t>
            </a:r>
            <a:endParaRPr/>
          </a:p>
          <a:p>
            <a:pPr indent="0" lvl="0" marL="0" marR="0" rtl="0" algn="ctr">
              <a:spcBef>
                <a:spcPts val="1800"/>
              </a:spcBef>
              <a:spcAft>
                <a:spcPts val="0"/>
              </a:spcAft>
              <a:buNone/>
            </a:pPr>
            <a:r>
              <a:rPr b="0" i="0" lang="en-GB" sz="1400" u="none" cap="none" strike="noStrike">
                <a:solidFill>
                  <a:srgbClr val="003060"/>
                </a:solidFill>
                <a:latin typeface="Alegreya Sans"/>
                <a:ea typeface="Alegreya Sans"/>
                <a:cs typeface="Alegreya Sans"/>
                <a:sym typeface="Alegreya Sans"/>
              </a:rPr>
              <a:t>The truth is, delivering high-level accountability and tailored support is challenging in large groups.</a:t>
            </a:r>
            <a:endParaRPr/>
          </a:p>
          <a:p>
            <a:pPr indent="0" lvl="0" marL="0" marR="0" rtl="0" algn="ctr">
              <a:spcBef>
                <a:spcPts val="1400"/>
              </a:spcBef>
              <a:spcAft>
                <a:spcPts val="0"/>
              </a:spcAft>
              <a:buNone/>
            </a:pPr>
            <a:r>
              <a:rPr b="1" i="0" lang="en-GB" sz="1400" u="none" cap="none" strike="noStrike">
                <a:solidFill>
                  <a:srgbClr val="F79F83"/>
                </a:solidFill>
                <a:latin typeface="Alegreya Sans"/>
                <a:ea typeface="Alegreya Sans"/>
                <a:cs typeface="Alegreya Sans"/>
                <a:sym typeface="Alegreya Sans"/>
              </a:rPr>
              <a:t>Regular Academy Program:  </a:t>
            </a:r>
            <a:r>
              <a:rPr b="0" i="0" lang="en-GB" sz="1400" u="none" cap="none" strike="noStrike">
                <a:solidFill>
                  <a:srgbClr val="003060"/>
                </a:solidFill>
                <a:latin typeface="Alegreya Sans"/>
                <a:ea typeface="Alegreya Sans"/>
                <a:cs typeface="Alegreya Sans"/>
                <a:sym typeface="Alegreya Sans"/>
              </a:rPr>
              <a:t>Ideal for those who are self-motivated and need tools to succeed on their own.</a:t>
            </a:r>
            <a:endParaRPr/>
          </a:p>
          <a:p>
            <a:pPr indent="0" lvl="0" marL="0" marR="0" rtl="0" algn="ctr">
              <a:spcBef>
                <a:spcPts val="800"/>
              </a:spcBef>
              <a:spcAft>
                <a:spcPts val="0"/>
              </a:spcAft>
              <a:buNone/>
            </a:pPr>
            <a:r>
              <a:rPr b="1" lang="en-GB">
                <a:solidFill>
                  <a:srgbClr val="F79F83"/>
                </a:solidFill>
                <a:latin typeface="Alegreya Sans"/>
                <a:ea typeface="Alegreya Sans"/>
                <a:cs typeface="Alegreya Sans"/>
                <a:sym typeface="Alegreya Sans"/>
              </a:rPr>
              <a:t>12 Week Challenge</a:t>
            </a:r>
            <a:r>
              <a:rPr b="1" i="0" lang="en-GB" sz="1400" u="none" cap="none" strike="noStrike">
                <a:solidFill>
                  <a:srgbClr val="F79F83"/>
                </a:solidFill>
                <a:latin typeface="Alegreya Sans"/>
                <a:ea typeface="Alegreya Sans"/>
                <a:cs typeface="Alegreya Sans"/>
                <a:sym typeface="Alegreya Sans"/>
              </a:rPr>
              <a:t>:  </a:t>
            </a:r>
            <a:r>
              <a:rPr b="0" i="0" lang="en-GB" sz="1400" u="none" cap="none" strike="noStrike">
                <a:solidFill>
                  <a:srgbClr val="003060"/>
                </a:solidFill>
                <a:latin typeface="Alegreya Sans"/>
                <a:ea typeface="Alegreya Sans"/>
                <a:cs typeface="Alegreya Sans"/>
                <a:sym typeface="Alegreya Sans"/>
              </a:rPr>
              <a:t>Designed for individuals who crave closer support, detailed accountability, and personalised guidance.</a:t>
            </a:r>
            <a:endParaRPr/>
          </a:p>
          <a:p>
            <a:pPr indent="0" lvl="0" marL="0" marR="0" rtl="0" algn="ctr">
              <a:spcBef>
                <a:spcPts val="1400"/>
              </a:spcBef>
              <a:spcAft>
                <a:spcPts val="0"/>
              </a:spcAft>
              <a:buNone/>
            </a:pPr>
            <a:r>
              <a:rPr b="1" i="1" lang="en-GB" sz="1600" u="none" cap="none" strike="noStrike">
                <a:solidFill>
                  <a:srgbClr val="F79F83"/>
                </a:solidFill>
                <a:latin typeface="Libre Baskerville"/>
                <a:ea typeface="Libre Baskerville"/>
                <a:cs typeface="Libre Baskerville"/>
                <a:sym typeface="Libre Baskerville"/>
              </a:rPr>
              <a:t>It's about taking consistent action, not just having the right tools.</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633" name="Shape 633"/>
        <p:cNvGrpSpPr/>
        <p:nvPr/>
      </p:nvGrpSpPr>
      <p:grpSpPr>
        <a:xfrm>
          <a:off x="0" y="0"/>
          <a:ext cx="0" cy="0"/>
          <a:chOff x="0" y="0"/>
          <a:chExt cx="0" cy="0"/>
        </a:xfrm>
      </p:grpSpPr>
      <p:sp>
        <p:nvSpPr>
          <p:cNvPr id="634" name="Google Shape;634;p99"/>
          <p:cNvSpPr txBox="1"/>
          <p:nvPr/>
        </p:nvSpPr>
        <p:spPr>
          <a:xfrm>
            <a:off x="457200" y="361950"/>
            <a:ext cx="8229600" cy="44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sz="2800" b="1" i="0">
                <a:solidFill>
                  <a:srgbClr val="003060"/>
                </a:solidFill>
                <a:latin typeface="Libre Baskerville"/>
              </a:rPr>
              <a:t>Why Is This </a:t>
            </a:r>
            <a:r>
              <a:rPr sz="2800" b="1">
                <a:solidFill>
                  <a:srgbClr val="003060"/>
                </a:solidFill>
                <a:latin typeface="Libre Baskerville"/>
              </a:rPr>
              <a:t>Challenge</a:t>
            </a:r>
            <a:r>
              <a:rPr sz="2800" b="1" i="0">
                <a:solidFill>
                  <a:srgbClr val="003060"/>
                </a:solidFill>
                <a:latin typeface="Libre Baskerville"/>
              </a:rPr>
              <a:t> Different From Other Diets?</a:t>
            </a:r>
            <a:endParaRPr/>
          </a:p>
          <a:p>
            <a:pPr algn="ctr">
              <a:spcBef>
                <a:spcPts val="2000"/>
              </a:spcBef>
            </a:pPr>
            <a:r>
              <a:rPr sz="1500">
                <a:solidFill>
                  <a:srgbClr val="003060"/>
                </a:solidFill>
                <a:latin typeface="Alegreya Sans"/>
              </a:rPr>
              <a:t>The WLA summer challenge </a:t>
            </a:r>
            <a:r>
              <a:rPr sz="1500" b="0" i="0">
                <a:solidFill>
                  <a:srgbClr val="003060"/>
                </a:solidFill>
                <a:latin typeface="Alegreya Sans"/>
              </a:rPr>
              <a:t>goal is to support clients who start their weight loss journey but quit after 5 days, lose weight, gain it back and just cannot be consistent. Our ethos is centere</a:t>
            </a:r>
            <a:r>
              <a:rPr sz="1500">
                <a:solidFill>
                  <a:srgbClr val="003060"/>
                </a:solidFill>
                <a:latin typeface="Alegreya Sans"/>
              </a:rPr>
              <a:t>d around our proven flexible nutrition formula, behavioural change </a:t>
            </a:r>
            <a:r>
              <a:rPr sz="1500">
                <a:solidFill>
                  <a:srgbClr val="003060"/>
                </a:solidFill>
                <a:latin typeface="Alegreya Sans"/>
              </a:rPr>
              <a:t>strategies</a:t>
            </a:r>
            <a:r>
              <a:rPr sz="1500">
                <a:solidFill>
                  <a:srgbClr val="003060"/>
                </a:solidFill>
                <a:latin typeface="Alegreya Sans"/>
              </a:rPr>
              <a:t> and expert coaching. Most program don’t include these tools or support.</a:t>
            </a:r>
          </a:p>
          <a:p>
            <a:pPr algn="ctr">
              <a:spcBef>
                <a:spcPts val="800"/>
              </a:spcBef>
            </a:pPr>
            <a:r>
              <a:rPr sz="1500" b="0" i="0">
                <a:solidFill>
                  <a:srgbClr val="003060"/>
                </a:solidFill>
                <a:latin typeface="Alegreya Sans"/>
              </a:rPr>
              <a:t>For people who struggle with consistency, they need accountability, challenges, incentives and coaching to continuously take action.</a:t>
            </a:r>
          </a:p>
          <a:p>
            <a:pPr algn="ctr">
              <a:spcBef>
                <a:spcPts val="800"/>
              </a:spcBef>
            </a:pPr>
            <a:r>
              <a:rPr sz="1600" b="1" i="1">
                <a:solidFill>
                  <a:srgbClr val="F79F83"/>
                </a:solidFill>
                <a:latin typeface="Libre Baskerville"/>
              </a:rPr>
              <a:t>They cannot hold themselves accountable. They need that external motivation and focus.</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9F7F4"/>
        </a:solidFill>
        <a:effectLst/>
      </p:bgPr>
    </p:bg>
    <p:spTree>
      <p:nvGrpSpPr>
        <p:cNvPr id="1" name=""/>
        <p:cNvGrpSpPr/>
        <p:nvPr/>
      </p:nvGrpSpPr>
      <p:grpSpPr/>
      <p:sp>
        <p:nvSpPr>
          <p:cNvPr id="634" name="Google Shape;634;p99"/>
          <p:cNvSpPr txBox="1"/>
          <p:nvPr/>
        </p:nvSpPr>
        <p:spPr>
          <a:xfrm>
            <a:off x="457200" y="361950"/>
            <a:ext cx="8229600" cy="44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sz="2800" b="1" i="0">
                <a:solidFill>
                  <a:srgbClr val="003060"/>
                </a:solidFill>
                <a:latin typeface="Libre Baskerville"/>
              </a:rPr>
              <a:t>Why Is This </a:t>
            </a:r>
            <a:r>
              <a:rPr sz="2800" b="1">
                <a:solidFill>
                  <a:srgbClr val="003060"/>
                </a:solidFill>
                <a:latin typeface="Libre Baskerville"/>
              </a:rPr>
              <a:t>Challenge</a:t>
            </a:r>
            <a:r>
              <a:rPr sz="2800" b="1" i="0">
                <a:solidFill>
                  <a:srgbClr val="003060"/>
                </a:solidFill>
                <a:latin typeface="Libre Baskerville"/>
              </a:rPr>
              <a:t> Different From Other Diets?</a:t>
            </a:r>
            <a:endParaRPr/>
          </a:p>
          <a:p>
            <a:pPr algn="ctr">
              <a:spcBef>
                <a:spcPts val="2000"/>
              </a:spcBef>
            </a:pPr>
            <a:r>
              <a:rPr sz="1600" b="1" i="0">
                <a:solidFill>
                  <a:srgbClr val="003060"/>
                </a:solidFill>
                <a:latin typeface="Alegreya Sans"/>
              </a:rPr>
              <a:t>That's where I come in with </a:t>
            </a:r>
            <a:r>
              <a:rPr sz="1600" b="1">
                <a:solidFill>
                  <a:srgbClr val="003060"/>
                </a:solidFill>
                <a:latin typeface="Alegreya Sans"/>
              </a:rPr>
              <a:t>our 12 week challenge</a:t>
            </a:r>
            <a:r>
              <a:rPr sz="1600" b="1" i="0">
                <a:solidFill>
                  <a:srgbClr val="003060"/>
                </a:solidFill>
                <a:latin typeface="Alegreya Sans"/>
              </a:rPr>
              <a:t>.</a:t>
            </a:r>
          </a:p>
          <a:p>
            <a:pPr algn="ctr">
              <a:spcBef>
                <a:spcPts val="800"/>
              </a:spcBef>
            </a:pPr>
            <a:r>
              <a:rPr sz="1700" b="1" i="1">
                <a:solidFill>
                  <a:srgbClr val="F79F83"/>
                </a:solidFill>
                <a:latin typeface="Libre Baskerville"/>
              </a:rPr>
              <a:t>This is a high-energy group coaching program where the goal is action.</a:t>
            </a:r>
          </a:p>
          <a:p>
            <a:pPr algn="ctr">
              <a:spcBef>
                <a:spcPts val="800"/>
              </a:spcBef>
            </a:pPr>
            <a:r>
              <a:rPr sz="2200" b="1" i="1">
                <a:solidFill>
                  <a:srgbClr val="F79F83"/>
                </a:solidFill>
                <a:latin typeface="Libre Baskerville"/>
              </a:rPr>
              <a:t>Action creates results.</a:t>
            </a: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638" name="Shape 638"/>
        <p:cNvGrpSpPr/>
        <p:nvPr/>
      </p:nvGrpSpPr>
      <p:grpSpPr>
        <a:xfrm>
          <a:off x="0" y="0"/>
          <a:ext cx="0" cy="0"/>
          <a:chOff x="0" y="0"/>
          <a:chExt cx="0" cy="0"/>
        </a:xfrm>
      </p:grpSpPr>
      <p:sp>
        <p:nvSpPr>
          <p:cNvPr id="639" name="Google Shape;639;p100"/>
          <p:cNvSpPr txBox="1"/>
          <p:nvPr/>
        </p:nvSpPr>
        <p:spPr>
          <a:xfrm>
            <a:off x="457200" y="361950"/>
            <a:ext cx="8229600" cy="44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GB" sz="2800">
                <a:solidFill>
                  <a:srgbClr val="003060"/>
                </a:solidFill>
                <a:latin typeface="Libre Baskerville"/>
                <a:ea typeface="Libre Baskerville"/>
                <a:cs typeface="Libre Baskerville"/>
                <a:sym typeface="Libre Baskerville"/>
              </a:rPr>
              <a:t>Why Would I Do This?</a:t>
            </a:r>
            <a:endParaRPr/>
          </a:p>
          <a:p>
            <a:pPr indent="0" lvl="0" marL="0" marR="0" rtl="0" algn="l">
              <a:spcBef>
                <a:spcPts val="1000"/>
              </a:spcBef>
              <a:spcAft>
                <a:spcPts val="0"/>
              </a:spcAft>
              <a:buNone/>
            </a:pPr>
            <a:r>
              <a:rPr>
                <a:solidFill/>
              </a:rPr>
              <a:t/>
            </a:r>
            <a:endParaRPr/>
          </a:p>
          <a:p>
            <a:pPr indent="0" lvl="0" marL="0" marR="0" rtl="0" algn="ctr">
              <a:spcBef>
                <a:spcPts val="1400"/>
              </a:spcBef>
              <a:spcAft>
                <a:spcPts val="0"/>
              </a:spcAft>
              <a:buNone/>
            </a:pPr>
            <a:r>
              <a:rPr b="1" i="1" lang="en-GB" sz="1500" u="none" cap="none" strike="noStrike">
                <a:solidFill>
                  <a:srgbClr val="F79F83"/>
                </a:solidFill>
                <a:latin typeface="Libre Baskerville"/>
                <a:ea typeface="Libre Baskerville"/>
                <a:cs typeface="Libre Baskerville"/>
                <a:sym typeface="Libre Baskerville"/>
              </a:rPr>
              <a:t>If you are currently not at your goal, it's probably not because you don't have the right tools it's that you are not implementing them.</a:t>
            </a:r>
            <a:endParaRPr/>
          </a:p>
          <a:p>
            <a:pPr indent="0" lvl="0" marL="0" marR="0" rtl="0" algn="ctr">
              <a:spcBef>
                <a:spcPts val="400"/>
              </a:spcBef>
              <a:spcAft>
                <a:spcPts val="0"/>
              </a:spcAft>
              <a:buNone/>
            </a:pPr>
            <a:r>
              <a:rPr b="1" i="0" lang="en-GB" sz="1400" u="none" cap="none" strike="noStrike">
                <a:solidFill>
                  <a:srgbClr val="003060"/>
                </a:solidFill>
                <a:latin typeface="Alegreya Sans"/>
                <a:ea typeface="Alegreya Sans"/>
                <a:cs typeface="Alegreya Sans"/>
                <a:sym typeface="Alegreya Sans"/>
              </a:rPr>
              <a:t>You need to take action more than anything else and that's our primary goal for the program. And gi</a:t>
            </a:r>
            <a:r>
              <a:rPr b="1" lang="en-GB">
                <a:solidFill>
                  <a:srgbClr val="003060"/>
                </a:solidFill>
                <a:latin typeface="Alegreya Sans"/>
                <a:ea typeface="Alegreya Sans"/>
                <a:cs typeface="Alegreya Sans"/>
                <a:sym typeface="Alegreya Sans"/>
              </a:rPr>
              <a:t>ve you all the tools, so implementing becomes easy</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643" name="Shape 643"/>
        <p:cNvGrpSpPr/>
        <p:nvPr/>
      </p:nvGrpSpPr>
      <p:grpSpPr>
        <a:xfrm>
          <a:off x="0" y="0"/>
          <a:ext cx="0" cy="0"/>
          <a:chOff x="0" y="0"/>
          <a:chExt cx="0" cy="0"/>
        </a:xfrm>
      </p:grpSpPr>
      <p:sp>
        <p:nvSpPr>
          <p:cNvPr id="644" name="TextBox 643"/>
          <p:cNvSpPr txBox="1"/>
          <p:nvPr/>
        </p:nvSpPr>
        <p:spPr>
          <a:xfrm>
            <a:off x="457200" y="200000"/>
            <a:ext cx="8229600" cy="560000"/>
          </a:xfrm>
          <a:prstGeom prst="rect">
            <a:avLst/>
          </a:prstGeom>
          <a:noFill/>
        </p:spPr>
        <p:txBody>
          <a:bodyPr wrap="square" lIns="0" rIns="0" tIns="0" bIns="0" anchor="t"/>
          <a:lstStyle/>
          <a:p>
            <a:pPr algn="ctr">
              <a:spcAft>
                <a:spcPts val="400"/>
              </a:spcAft>
            </a:pPr>
            <a:r>
              <a:rPr sz="1200" b="1" i="0">
                <a:solidFill>
                  <a:srgbClr val="F79F83"/>
                </a:solidFill>
                <a:latin typeface="Alegreya Sans"/>
              </a:rPr>
              <a:t>EVERYTHING YOU NEED TO KNOW</a:t>
            </a:r>
          </a:p>
          <a:p>
            <a:pPr algn="ctr"/>
            <a:r>
              <a:rPr sz="2000" b="1" i="1">
                <a:solidFill>
                  <a:srgbClr val="003060"/>
                </a:solidFill>
                <a:latin typeface="Libre Baskerville"/>
              </a:rPr>
              <a:t>Frequently Asked Questions</a:t>
            </a:r>
          </a:p>
        </p:txBody>
      </p:sp>
      <p:sp>
        <p:nvSpPr>
          <p:cNvPr id="645" name="Rounded Rectangle 644"/>
          <p:cNvSpPr/>
          <p:nvPr/>
        </p:nvSpPr>
        <p:spPr>
          <a:xfrm>
            <a:off x="380000" y="900000"/>
            <a:ext cx="4112000" cy="1961750"/>
          </a:xfrm>
          <a:prstGeom prst="roundRect">
            <a:avLst/>
          </a:prstGeom>
          <a:solidFill>
            <a:srgbClr val="FFFFFF"/>
          </a:solidFill>
          <a:ln w="12700">
            <a:solidFill>
              <a:srgbClr val="E2D8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6" name="Rectangle 645"/>
          <p:cNvSpPr/>
          <p:nvPr/>
        </p:nvSpPr>
        <p:spPr>
          <a:xfrm>
            <a:off x="380000" y="900000"/>
            <a:ext cx="80000" cy="1961750"/>
          </a:xfrm>
          <a:prstGeom prst="rect">
            <a:avLst/>
          </a:prstGeom>
          <a:solidFill>
            <a:srgbClr val="F79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7" name="TextBox 646"/>
          <p:cNvSpPr txBox="1"/>
          <p:nvPr/>
        </p:nvSpPr>
        <p:spPr>
          <a:xfrm>
            <a:off x="640000" y="1000000"/>
            <a:ext cx="3672000" cy="380000"/>
          </a:xfrm>
          <a:prstGeom prst="rect">
            <a:avLst/>
          </a:prstGeom>
          <a:noFill/>
        </p:spPr>
        <p:txBody>
          <a:bodyPr wrap="square" lIns="0" rIns="0" tIns="0" bIns="0" anchor="t"/>
          <a:lstStyle/>
          <a:p>
            <a:pPr algn="l"/>
            <a:r>
              <a:rPr sz="1400" b="1" i="0">
                <a:solidFill>
                  <a:srgbClr val="003060"/>
                </a:solidFill>
                <a:latin typeface="Libre Baskerville"/>
              </a:rPr>
              <a:t>When does it start?</a:t>
            </a:r>
          </a:p>
        </p:txBody>
      </p:sp>
      <p:sp>
        <p:nvSpPr>
          <p:cNvPr id="648" name="TextBox 647"/>
          <p:cNvSpPr txBox="1"/>
          <p:nvPr/>
        </p:nvSpPr>
        <p:spPr>
          <a:xfrm>
            <a:off x="640000" y="1420000"/>
            <a:ext cx="3672000" cy="1301750"/>
          </a:xfrm>
          <a:prstGeom prst="rect">
            <a:avLst/>
          </a:prstGeom>
          <a:noFill/>
        </p:spPr>
        <p:txBody>
          <a:bodyPr wrap="square" lIns="0" rIns="0" tIns="0" bIns="0" anchor="t"/>
          <a:lstStyle/>
          <a:p>
            <a:pPr algn="l">
              <a:lnSpc>
                <a:spcPct val="120000"/>
              </a:lnSpc>
            </a:pPr>
            <a:r>
              <a:rPr sz="1200" b="0" i="0">
                <a:solidFill>
                  <a:srgbClr val="003060"/>
                </a:solidFill>
                <a:latin typeface="Alegreya Sans"/>
              </a:rPr>
              <a:t>Monday 8th June, when you register, you will get access to our members area and group straight away</a:t>
            </a:r>
          </a:p>
        </p:txBody>
      </p:sp>
      <p:sp>
        <p:nvSpPr>
          <p:cNvPr id="649" name="Rounded Rectangle 648"/>
          <p:cNvSpPr/>
          <p:nvPr/>
        </p:nvSpPr>
        <p:spPr>
          <a:xfrm>
            <a:off x="4652000" y="900000"/>
            <a:ext cx="4112000" cy="1961750"/>
          </a:xfrm>
          <a:prstGeom prst="roundRect">
            <a:avLst/>
          </a:prstGeom>
          <a:solidFill>
            <a:srgbClr val="FFFFFF"/>
          </a:solidFill>
          <a:ln w="12700">
            <a:solidFill>
              <a:srgbClr val="E2D8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0" name="Rectangle 649"/>
          <p:cNvSpPr/>
          <p:nvPr/>
        </p:nvSpPr>
        <p:spPr>
          <a:xfrm>
            <a:off x="4652000" y="900000"/>
            <a:ext cx="80000" cy="1961750"/>
          </a:xfrm>
          <a:prstGeom prst="rect">
            <a:avLst/>
          </a:prstGeom>
          <a:solidFill>
            <a:srgbClr val="F79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1" name="TextBox 650"/>
          <p:cNvSpPr txBox="1"/>
          <p:nvPr/>
        </p:nvSpPr>
        <p:spPr>
          <a:xfrm>
            <a:off x="4912000" y="1000000"/>
            <a:ext cx="3672000" cy="380000"/>
          </a:xfrm>
          <a:prstGeom prst="rect">
            <a:avLst/>
          </a:prstGeom>
          <a:noFill/>
        </p:spPr>
        <p:txBody>
          <a:bodyPr wrap="square" lIns="0" rIns="0" tIns="0" bIns="0" anchor="t"/>
          <a:lstStyle/>
          <a:p>
            <a:pPr algn="l"/>
            <a:r>
              <a:rPr sz="1400" b="1" i="0">
                <a:solidFill>
                  <a:srgbClr val="003060"/>
                </a:solidFill>
                <a:latin typeface="Libre Baskerville"/>
              </a:rPr>
              <a:t>How long is the program?</a:t>
            </a:r>
          </a:p>
        </p:txBody>
      </p:sp>
      <p:sp>
        <p:nvSpPr>
          <p:cNvPr id="652" name="TextBox 651"/>
          <p:cNvSpPr txBox="1"/>
          <p:nvPr/>
        </p:nvSpPr>
        <p:spPr>
          <a:xfrm>
            <a:off x="4912000" y="1420000"/>
            <a:ext cx="3672000" cy="1301750"/>
          </a:xfrm>
          <a:prstGeom prst="rect">
            <a:avLst/>
          </a:prstGeom>
          <a:noFill/>
        </p:spPr>
        <p:txBody>
          <a:bodyPr wrap="square" lIns="0" rIns="0" tIns="0" bIns="0" anchor="t"/>
          <a:lstStyle/>
          <a:p>
            <a:pPr algn="l">
              <a:lnSpc>
                <a:spcPct val="120000"/>
              </a:lnSpc>
            </a:pPr>
            <a:r>
              <a:rPr sz="1200" b="0" i="0">
                <a:solidFill>
                  <a:srgbClr val="003060"/>
                </a:solidFill>
                <a:latin typeface="Alegreya Sans"/>
              </a:rPr>
              <a:t>It is 12 weeks. But with this special Summer offer you get 1 full year of access in total, for just £97.</a:t>
            </a:r>
          </a:p>
        </p:txBody>
      </p:sp>
      <p:sp>
        <p:nvSpPr>
          <p:cNvPr id="653" name="Rounded Rectangle 652"/>
          <p:cNvSpPr/>
          <p:nvPr/>
        </p:nvSpPr>
        <p:spPr>
          <a:xfrm>
            <a:off x="380000" y="3001750"/>
            <a:ext cx="4112000" cy="1961750"/>
          </a:xfrm>
          <a:prstGeom prst="roundRect">
            <a:avLst/>
          </a:prstGeom>
          <a:solidFill>
            <a:srgbClr val="FFFFFF"/>
          </a:solidFill>
          <a:ln w="12700">
            <a:solidFill>
              <a:srgbClr val="E2D8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4" name="Rectangle 653"/>
          <p:cNvSpPr/>
          <p:nvPr/>
        </p:nvSpPr>
        <p:spPr>
          <a:xfrm>
            <a:off x="380000" y="3001750"/>
            <a:ext cx="80000" cy="1961750"/>
          </a:xfrm>
          <a:prstGeom prst="rect">
            <a:avLst/>
          </a:prstGeom>
          <a:solidFill>
            <a:srgbClr val="F79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5" name="TextBox 654"/>
          <p:cNvSpPr txBox="1"/>
          <p:nvPr/>
        </p:nvSpPr>
        <p:spPr>
          <a:xfrm>
            <a:off x="640000" y="3101750"/>
            <a:ext cx="3672000" cy="380000"/>
          </a:xfrm>
          <a:prstGeom prst="rect">
            <a:avLst/>
          </a:prstGeom>
          <a:noFill/>
        </p:spPr>
        <p:txBody>
          <a:bodyPr wrap="square" lIns="0" rIns="0" tIns="0" bIns="0" anchor="t"/>
          <a:lstStyle/>
          <a:p>
            <a:pPr algn="l"/>
            <a:r>
              <a:rPr sz="1400" b="1" i="0">
                <a:solidFill>
                  <a:srgbClr val="003060"/>
                </a:solidFill>
                <a:latin typeface="Libre Baskerville"/>
              </a:rPr>
              <a:t>Do you have a refund policy?</a:t>
            </a:r>
          </a:p>
        </p:txBody>
      </p:sp>
      <p:sp>
        <p:nvSpPr>
          <p:cNvPr id="656" name="TextBox 655"/>
          <p:cNvSpPr txBox="1"/>
          <p:nvPr/>
        </p:nvSpPr>
        <p:spPr>
          <a:xfrm>
            <a:off x="640000" y="3521750"/>
            <a:ext cx="3672000" cy="1301750"/>
          </a:xfrm>
          <a:prstGeom prst="rect">
            <a:avLst/>
          </a:prstGeom>
          <a:noFill/>
        </p:spPr>
        <p:txBody>
          <a:bodyPr wrap="square" lIns="0" rIns="0" tIns="0" bIns="0" anchor="t"/>
          <a:lstStyle/>
          <a:p>
            <a:pPr algn="l">
              <a:lnSpc>
                <a:spcPct val="120000"/>
              </a:lnSpc>
            </a:pPr>
            <a:r>
              <a:rPr sz="1200" b="0" i="0">
                <a:solidFill>
                  <a:srgbClr val="003060"/>
                </a:solidFill>
                <a:latin typeface="Alegreya Sans"/>
              </a:rPr>
              <a:t>I'm so confident this can help you reach your goals that we have a rock-solid 7-day try-it-out option. If you implement (yes, you have to do the work) and decide it's not for you, get your fee back, no questions asked.</a:t>
            </a:r>
          </a:p>
        </p:txBody>
      </p:sp>
      <p:sp>
        <p:nvSpPr>
          <p:cNvPr id="657" name="Rounded Rectangle 656"/>
          <p:cNvSpPr/>
          <p:nvPr/>
        </p:nvSpPr>
        <p:spPr>
          <a:xfrm>
            <a:off x="4652000" y="3001750"/>
            <a:ext cx="4112000" cy="1961750"/>
          </a:xfrm>
          <a:prstGeom prst="roundRect">
            <a:avLst/>
          </a:prstGeom>
          <a:solidFill>
            <a:srgbClr val="FFFFFF"/>
          </a:solidFill>
          <a:ln w="12700">
            <a:solidFill>
              <a:srgbClr val="E2D8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8" name="Rectangle 657"/>
          <p:cNvSpPr/>
          <p:nvPr/>
        </p:nvSpPr>
        <p:spPr>
          <a:xfrm>
            <a:off x="4652000" y="3001750"/>
            <a:ext cx="80000" cy="1961750"/>
          </a:xfrm>
          <a:prstGeom prst="rect">
            <a:avLst/>
          </a:prstGeom>
          <a:solidFill>
            <a:srgbClr val="F79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9" name="TextBox 658"/>
          <p:cNvSpPr txBox="1"/>
          <p:nvPr/>
        </p:nvSpPr>
        <p:spPr>
          <a:xfrm>
            <a:off x="4912000" y="3101750"/>
            <a:ext cx="3672000" cy="380000"/>
          </a:xfrm>
          <a:prstGeom prst="rect">
            <a:avLst/>
          </a:prstGeom>
          <a:noFill/>
        </p:spPr>
        <p:txBody>
          <a:bodyPr wrap="square" lIns="0" rIns="0" tIns="0" bIns="0" anchor="t"/>
          <a:lstStyle/>
          <a:p>
            <a:pPr algn="l"/>
            <a:r>
              <a:rPr sz="1400" b="1" i="0">
                <a:solidFill>
                  <a:srgbClr val="003060"/>
                </a:solidFill>
                <a:latin typeface="Libre Baskerville"/>
              </a:rPr>
              <a:t>Will I get results?</a:t>
            </a:r>
          </a:p>
        </p:txBody>
      </p:sp>
      <p:sp>
        <p:nvSpPr>
          <p:cNvPr id="660" name="TextBox 659"/>
          <p:cNvSpPr txBox="1"/>
          <p:nvPr/>
        </p:nvSpPr>
        <p:spPr>
          <a:xfrm>
            <a:off x="4912000" y="3521750"/>
            <a:ext cx="3672000" cy="1301750"/>
          </a:xfrm>
          <a:prstGeom prst="rect">
            <a:avLst/>
          </a:prstGeom>
          <a:noFill/>
        </p:spPr>
        <p:txBody>
          <a:bodyPr wrap="square" lIns="0" rIns="0" tIns="0" bIns="0" anchor="t"/>
          <a:lstStyle/>
          <a:p>
            <a:pPr algn="l">
              <a:lnSpc>
                <a:spcPct val="120000"/>
              </a:lnSpc>
            </a:pPr>
            <a:r>
              <a:rPr sz="1200" b="0" i="0">
                <a:solidFill>
                  <a:srgbClr val="003060"/>
                </a:solidFill>
                <a:latin typeface="Alegreya Sans"/>
              </a:rPr>
              <a:t>With high accountability, challenges and incentives for taking action, this is the place to be if you just can't stay consistent on your own. We're going to get to work, but you'll love it,  you'll get incredible results and feel better than you have in a long time.</a:t>
            </a: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656" name="Shape 656"/>
        <p:cNvGrpSpPr/>
        <p:nvPr/>
      </p:nvGrpSpPr>
      <p:grpSpPr>
        <a:xfrm>
          <a:off x="0" y="0"/>
          <a:ext cx="0" cy="0"/>
          <a:chOff x="0" y="0"/>
          <a:chExt cx="0" cy="0"/>
        </a:xfrm>
      </p:grpSpPr>
      <p:sp>
        <p:nvSpPr>
          <p:cNvPr id="657" name="TextBox 656"/>
          <p:cNvSpPr txBox="1"/>
          <p:nvPr/>
        </p:nvSpPr>
        <p:spPr>
          <a:xfrm>
            <a:off x="457200" y="200000"/>
            <a:ext cx="8229600" cy="560000"/>
          </a:xfrm>
          <a:prstGeom prst="rect">
            <a:avLst/>
          </a:prstGeom>
          <a:noFill/>
        </p:spPr>
        <p:txBody>
          <a:bodyPr wrap="square" lIns="0" rIns="0" tIns="0" bIns="0" anchor="t"/>
          <a:lstStyle/>
          <a:p>
            <a:pPr algn="ctr">
              <a:spcAft>
                <a:spcPts val="400"/>
              </a:spcAft>
            </a:pPr>
            <a:r>
              <a:rPr sz="1200" b="1" i="0">
                <a:solidFill>
                  <a:srgbClr val="F79F83"/>
                </a:solidFill>
                <a:latin typeface="Alegreya Sans"/>
              </a:rPr>
              <a:t>EVERYTHING YOU NEED TO KNOW</a:t>
            </a:r>
          </a:p>
          <a:p>
            <a:pPr algn="ctr"/>
            <a:r>
              <a:rPr sz="2000" b="1" i="1">
                <a:solidFill>
                  <a:srgbClr val="003060"/>
                </a:solidFill>
                <a:latin typeface="Libre Baskerville"/>
              </a:rPr>
              <a:t>Frequently Asked Questions</a:t>
            </a:r>
          </a:p>
        </p:txBody>
      </p:sp>
      <p:sp>
        <p:nvSpPr>
          <p:cNvPr id="658" name="Rounded Rectangle 657"/>
          <p:cNvSpPr/>
          <p:nvPr/>
        </p:nvSpPr>
        <p:spPr>
          <a:xfrm>
            <a:off x="380000" y="900000"/>
            <a:ext cx="8384000" cy="1901750"/>
          </a:xfrm>
          <a:prstGeom prst="roundRect">
            <a:avLst/>
          </a:prstGeom>
          <a:solidFill>
            <a:srgbClr val="FFFFFF"/>
          </a:solidFill>
          <a:ln w="12700">
            <a:solidFill>
              <a:srgbClr val="E2D8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9" name="Rectangle 658"/>
          <p:cNvSpPr/>
          <p:nvPr/>
        </p:nvSpPr>
        <p:spPr>
          <a:xfrm>
            <a:off x="380000" y="900000"/>
            <a:ext cx="80000" cy="1901750"/>
          </a:xfrm>
          <a:prstGeom prst="rect">
            <a:avLst/>
          </a:prstGeom>
          <a:solidFill>
            <a:srgbClr val="F79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0" name="TextBox 659"/>
          <p:cNvSpPr txBox="1"/>
          <p:nvPr/>
        </p:nvSpPr>
        <p:spPr>
          <a:xfrm>
            <a:off x="640000" y="1000000"/>
            <a:ext cx="7944000" cy="380000"/>
          </a:xfrm>
          <a:prstGeom prst="rect">
            <a:avLst/>
          </a:prstGeom>
          <a:noFill/>
        </p:spPr>
        <p:txBody>
          <a:bodyPr wrap="square" lIns="0" rIns="0" tIns="0" bIns="0" anchor="t"/>
          <a:lstStyle/>
          <a:p>
            <a:pPr algn="l"/>
            <a:r>
              <a:rPr sz="1400" b="1" i="0">
                <a:solidFill>
                  <a:srgbClr val="003060"/>
                </a:solidFill>
                <a:latin typeface="Libre Baskerville"/>
              </a:rPr>
              <a:t>Are the meal guides new?</a:t>
            </a:r>
          </a:p>
        </p:txBody>
      </p:sp>
      <p:sp>
        <p:nvSpPr>
          <p:cNvPr id="661" name="TextBox 660"/>
          <p:cNvSpPr txBox="1"/>
          <p:nvPr/>
        </p:nvSpPr>
        <p:spPr>
          <a:xfrm>
            <a:off x="640000" y="1420000"/>
            <a:ext cx="7944000" cy="1241750"/>
          </a:xfrm>
          <a:prstGeom prst="rect">
            <a:avLst/>
          </a:prstGeom>
          <a:noFill/>
        </p:spPr>
        <p:txBody>
          <a:bodyPr wrap="square" lIns="0" rIns="0" tIns="0" bIns="0" anchor="t"/>
          <a:lstStyle/>
          <a:p>
            <a:pPr algn="l">
              <a:lnSpc>
                <a:spcPct val="120000"/>
              </a:lnSpc>
            </a:pPr>
            <a:r>
              <a:rPr sz="1200" b="0" i="0">
                <a:solidFill>
                  <a:srgbClr val="003060"/>
                </a:solidFill>
                <a:latin typeface="Alegreya Sans"/>
              </a:rPr>
              <a:t>Yes. Every week we share a new fat-loss meal guide into our members area, plus new resources, videos and tools monthly to help you stay focused and motivated.</a:t>
            </a:r>
          </a:p>
        </p:txBody>
      </p:sp>
      <p:sp>
        <p:nvSpPr>
          <p:cNvPr id="662" name="Rounded Rectangle 661"/>
          <p:cNvSpPr/>
          <p:nvPr/>
        </p:nvSpPr>
        <p:spPr>
          <a:xfrm>
            <a:off x="380000" y="2941750"/>
            <a:ext cx="4112000" cy="2021750"/>
          </a:xfrm>
          <a:prstGeom prst="roundRect">
            <a:avLst/>
          </a:prstGeom>
          <a:solidFill>
            <a:srgbClr val="FFFFFF"/>
          </a:solidFill>
          <a:ln w="12700">
            <a:solidFill>
              <a:srgbClr val="E2D8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3" name="Rectangle 662"/>
          <p:cNvSpPr/>
          <p:nvPr/>
        </p:nvSpPr>
        <p:spPr>
          <a:xfrm>
            <a:off x="380000" y="2941750"/>
            <a:ext cx="80000" cy="2021750"/>
          </a:xfrm>
          <a:prstGeom prst="rect">
            <a:avLst/>
          </a:prstGeom>
          <a:solidFill>
            <a:srgbClr val="F79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4" name="TextBox 663"/>
          <p:cNvSpPr txBox="1"/>
          <p:nvPr/>
        </p:nvSpPr>
        <p:spPr>
          <a:xfrm>
            <a:off x="640000" y="3041750"/>
            <a:ext cx="3672000" cy="380000"/>
          </a:xfrm>
          <a:prstGeom prst="rect">
            <a:avLst/>
          </a:prstGeom>
          <a:noFill/>
        </p:spPr>
        <p:txBody>
          <a:bodyPr wrap="square" lIns="0" rIns="0" tIns="0" bIns="0" anchor="t"/>
          <a:lstStyle/>
          <a:p>
            <a:pPr algn="l"/>
            <a:r>
              <a:rPr sz="1400" b="1" i="0">
                <a:solidFill>
                  <a:srgbClr val="003060"/>
                </a:solidFill>
                <a:latin typeface="Libre Baskerville"/>
              </a:rPr>
              <a:t>Is it time consuming?</a:t>
            </a:r>
          </a:p>
        </p:txBody>
      </p:sp>
      <p:sp>
        <p:nvSpPr>
          <p:cNvPr id="665" name="TextBox 664"/>
          <p:cNvSpPr txBox="1"/>
          <p:nvPr/>
        </p:nvSpPr>
        <p:spPr>
          <a:xfrm>
            <a:off x="640000" y="3461750"/>
            <a:ext cx="3672000" cy="1361750"/>
          </a:xfrm>
          <a:prstGeom prst="rect">
            <a:avLst/>
          </a:prstGeom>
          <a:noFill/>
        </p:spPr>
        <p:txBody>
          <a:bodyPr wrap="square" lIns="0" rIns="0" tIns="0" bIns="0" anchor="t"/>
          <a:lstStyle/>
          <a:p>
            <a:pPr algn="l">
              <a:lnSpc>
                <a:spcPct val="120000"/>
              </a:lnSpc>
            </a:pPr>
            <a:r>
              <a:rPr sz="1200" b="0" i="0">
                <a:solidFill>
                  <a:srgbClr val="003060"/>
                </a:solidFill>
                <a:latin typeface="Alegreya Sans"/>
              </a:rPr>
              <a:t>Not at all. Double, triple or quadruple the recipes to save time, energy and money. Use the meal guides as they are with plenty of variety, or simplify them by repeating recipes as much as you like.</a:t>
            </a:r>
          </a:p>
        </p:txBody>
      </p:sp>
      <p:sp>
        <p:nvSpPr>
          <p:cNvPr id="666" name="Rounded Rectangle 665"/>
          <p:cNvSpPr/>
          <p:nvPr/>
        </p:nvSpPr>
        <p:spPr>
          <a:xfrm>
            <a:off x="4652000" y="2941750"/>
            <a:ext cx="4112000" cy="2021750"/>
          </a:xfrm>
          <a:prstGeom prst="roundRect">
            <a:avLst/>
          </a:prstGeom>
          <a:solidFill>
            <a:srgbClr val="FFFFFF"/>
          </a:solidFill>
          <a:ln w="12700">
            <a:solidFill>
              <a:srgbClr val="E2D8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7" name="Rectangle 666"/>
          <p:cNvSpPr/>
          <p:nvPr/>
        </p:nvSpPr>
        <p:spPr>
          <a:xfrm>
            <a:off x="4652000" y="2941750"/>
            <a:ext cx="80000" cy="2021750"/>
          </a:xfrm>
          <a:prstGeom prst="rect">
            <a:avLst/>
          </a:prstGeom>
          <a:solidFill>
            <a:srgbClr val="F79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8" name="TextBox 667"/>
          <p:cNvSpPr txBox="1"/>
          <p:nvPr/>
        </p:nvSpPr>
        <p:spPr>
          <a:xfrm>
            <a:off x="4912000" y="3041750"/>
            <a:ext cx="3672000" cy="380000"/>
          </a:xfrm>
          <a:prstGeom prst="rect">
            <a:avLst/>
          </a:prstGeom>
          <a:noFill/>
        </p:spPr>
        <p:txBody>
          <a:bodyPr wrap="square" lIns="0" rIns="0" tIns="0" bIns="0" anchor="t"/>
          <a:lstStyle/>
          <a:p>
            <a:pPr algn="l"/>
            <a:r>
              <a:rPr sz="1400" b="1" i="0">
                <a:solidFill>
                  <a:srgbClr val="003060"/>
                </a:solidFill>
                <a:latin typeface="Libre Baskerville"/>
              </a:rPr>
              <a:t>Concerned about cost?</a:t>
            </a:r>
          </a:p>
        </p:txBody>
      </p:sp>
      <p:sp>
        <p:nvSpPr>
          <p:cNvPr id="669" name="TextBox 668"/>
          <p:cNvSpPr txBox="1"/>
          <p:nvPr/>
        </p:nvSpPr>
        <p:spPr>
          <a:xfrm>
            <a:off x="4912000" y="3461750"/>
            <a:ext cx="3672000" cy="1361750"/>
          </a:xfrm>
          <a:prstGeom prst="rect">
            <a:avLst/>
          </a:prstGeom>
          <a:noFill/>
        </p:spPr>
        <p:txBody>
          <a:bodyPr wrap="square" lIns="0" rIns="0" tIns="0" bIns="0" anchor="t"/>
          <a:lstStyle/>
          <a:p>
            <a:pPr algn="l">
              <a:lnSpc>
                <a:spcPct val="120000"/>
              </a:lnSpc>
            </a:pPr>
            <a:r>
              <a:rPr sz="1200" b="0" i="0">
                <a:solidFill>
                  <a:srgbClr val="003060"/>
                </a:solidFill>
                <a:latin typeface="Alegreya Sans"/>
              </a:rPr>
              <a:t>We've got you covered with our budgeting tips. Planning your meals actually decreases the cost of your groceries, you'll already have most of the staples in your cupboard; it's just regular food. If any ingredient feels too costly, leave it out or swap it.</a:t>
            </a: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667" name="Shape 667"/>
        <p:cNvGrpSpPr/>
        <p:nvPr/>
      </p:nvGrpSpPr>
      <p:grpSpPr>
        <a:xfrm>
          <a:off x="0" y="0"/>
          <a:ext cx="0" cy="0"/>
          <a:chOff x="0" y="0"/>
          <a:chExt cx="0" cy="0"/>
        </a:xfrm>
      </p:grpSpPr>
      <p:sp>
        <p:nvSpPr>
          <p:cNvPr id="668" name="TextBox 667"/>
          <p:cNvSpPr txBox="1"/>
          <p:nvPr/>
        </p:nvSpPr>
        <p:spPr>
          <a:xfrm>
            <a:off x="457200" y="200000"/>
            <a:ext cx="8229600" cy="560000"/>
          </a:xfrm>
          <a:prstGeom prst="rect">
            <a:avLst/>
          </a:prstGeom>
          <a:noFill/>
        </p:spPr>
        <p:txBody>
          <a:bodyPr wrap="square" lIns="0" rIns="0" tIns="0" bIns="0" anchor="t"/>
          <a:lstStyle/>
          <a:p>
            <a:pPr algn="ctr">
              <a:spcAft>
                <a:spcPts val="400"/>
              </a:spcAft>
            </a:pPr>
            <a:r>
              <a:rPr sz="1200" b="1" i="0">
                <a:solidFill>
                  <a:srgbClr val="F79F83"/>
                </a:solidFill>
                <a:latin typeface="Alegreya Sans"/>
              </a:rPr>
              <a:t>EVERYTHING YOU NEED TO KNOW</a:t>
            </a:r>
          </a:p>
          <a:p>
            <a:pPr algn="ctr"/>
            <a:r>
              <a:rPr sz="2000" b="1" i="1">
                <a:solidFill>
                  <a:srgbClr val="003060"/>
                </a:solidFill>
                <a:latin typeface="Libre Baskerville"/>
              </a:rPr>
              <a:t>Frequently Asked Questions</a:t>
            </a:r>
          </a:p>
        </p:txBody>
      </p:sp>
      <p:sp>
        <p:nvSpPr>
          <p:cNvPr id="669" name="Rounded Rectangle 668"/>
          <p:cNvSpPr/>
          <p:nvPr/>
        </p:nvSpPr>
        <p:spPr>
          <a:xfrm>
            <a:off x="380000" y="900000"/>
            <a:ext cx="4112000" cy="1961750"/>
          </a:xfrm>
          <a:prstGeom prst="roundRect">
            <a:avLst/>
          </a:prstGeom>
          <a:solidFill>
            <a:srgbClr val="FFFFFF"/>
          </a:solidFill>
          <a:ln w="12700">
            <a:solidFill>
              <a:srgbClr val="E2D8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0" name="Rectangle 669"/>
          <p:cNvSpPr/>
          <p:nvPr/>
        </p:nvSpPr>
        <p:spPr>
          <a:xfrm>
            <a:off x="380000" y="900000"/>
            <a:ext cx="80000" cy="1961750"/>
          </a:xfrm>
          <a:prstGeom prst="rect">
            <a:avLst/>
          </a:prstGeom>
          <a:solidFill>
            <a:srgbClr val="F79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1" name="TextBox 670"/>
          <p:cNvSpPr txBox="1"/>
          <p:nvPr/>
        </p:nvSpPr>
        <p:spPr>
          <a:xfrm>
            <a:off x="640000" y="1000000"/>
            <a:ext cx="3672000" cy="380000"/>
          </a:xfrm>
          <a:prstGeom prst="rect">
            <a:avLst/>
          </a:prstGeom>
          <a:noFill/>
        </p:spPr>
        <p:txBody>
          <a:bodyPr wrap="square" lIns="0" rIns="0" tIns="0" bIns="0" anchor="t"/>
          <a:lstStyle/>
          <a:p>
            <a:pPr algn="l"/>
            <a:r>
              <a:rPr sz="1400" b="1" i="0">
                <a:solidFill>
                  <a:srgbClr val="003060"/>
                </a:solidFill>
                <a:latin typeface="Libre Baskerville"/>
              </a:rPr>
              <a:t>I can't do a lot of exercise…</a:t>
            </a:r>
          </a:p>
        </p:txBody>
      </p:sp>
      <p:sp>
        <p:nvSpPr>
          <p:cNvPr id="672" name="TextBox 671"/>
          <p:cNvSpPr txBox="1"/>
          <p:nvPr/>
        </p:nvSpPr>
        <p:spPr>
          <a:xfrm>
            <a:off x="640000" y="1420000"/>
            <a:ext cx="3672000" cy="1301750"/>
          </a:xfrm>
          <a:prstGeom prst="rect">
            <a:avLst/>
          </a:prstGeom>
          <a:noFill/>
        </p:spPr>
        <p:txBody>
          <a:bodyPr wrap="square" lIns="0" rIns="0" tIns="0" bIns="0" anchor="t"/>
          <a:lstStyle/>
          <a:p>
            <a:pPr algn="l">
              <a:lnSpc>
                <a:spcPct val="120000"/>
              </a:lnSpc>
            </a:pPr>
            <a:r>
              <a:rPr sz="1200" b="0" i="0">
                <a:solidFill>
                  <a:srgbClr val="003060"/>
                </a:solidFill>
                <a:latin typeface="Alegreya Sans"/>
              </a:rPr>
              <a:t>Not a problem. Your fat-loss results mostly come down to what you're eating, around 80% nutrition. If you have an existing exercise routine, keep it going alongside the program. If you're not currently exercising, let's just focus on your nutrition for maximum results.</a:t>
            </a:r>
          </a:p>
        </p:txBody>
      </p:sp>
      <p:sp>
        <p:nvSpPr>
          <p:cNvPr id="673" name="Rounded Rectangle 672"/>
          <p:cNvSpPr/>
          <p:nvPr/>
        </p:nvSpPr>
        <p:spPr>
          <a:xfrm>
            <a:off x="4652000" y="900000"/>
            <a:ext cx="4112000" cy="1961750"/>
          </a:xfrm>
          <a:prstGeom prst="roundRect">
            <a:avLst/>
          </a:prstGeom>
          <a:solidFill>
            <a:srgbClr val="FFFFFF"/>
          </a:solidFill>
          <a:ln w="12700">
            <a:solidFill>
              <a:srgbClr val="E2D8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4" name="Rectangle 673"/>
          <p:cNvSpPr/>
          <p:nvPr/>
        </p:nvSpPr>
        <p:spPr>
          <a:xfrm>
            <a:off x="4652000" y="900000"/>
            <a:ext cx="80000" cy="1961750"/>
          </a:xfrm>
          <a:prstGeom prst="rect">
            <a:avLst/>
          </a:prstGeom>
          <a:solidFill>
            <a:srgbClr val="F79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5" name="TextBox 674"/>
          <p:cNvSpPr txBox="1"/>
          <p:nvPr/>
        </p:nvSpPr>
        <p:spPr>
          <a:xfrm>
            <a:off x="4912000" y="1000000"/>
            <a:ext cx="3672000" cy="380000"/>
          </a:xfrm>
          <a:prstGeom prst="rect">
            <a:avLst/>
          </a:prstGeom>
          <a:noFill/>
        </p:spPr>
        <p:txBody>
          <a:bodyPr wrap="square" lIns="0" rIns="0" tIns="0" bIns="0" anchor="t"/>
          <a:lstStyle/>
          <a:p>
            <a:pPr algn="l"/>
            <a:r>
              <a:rPr sz="1400" b="1" i="0">
                <a:solidFill>
                  <a:srgbClr val="003060"/>
                </a:solidFill>
                <a:latin typeface="Libre Baskerville"/>
              </a:rPr>
              <a:t>I'm a fussy eater…</a:t>
            </a:r>
          </a:p>
        </p:txBody>
      </p:sp>
      <p:sp>
        <p:nvSpPr>
          <p:cNvPr id="676" name="TextBox 675"/>
          <p:cNvSpPr txBox="1"/>
          <p:nvPr/>
        </p:nvSpPr>
        <p:spPr>
          <a:xfrm>
            <a:off x="4912000" y="1420000"/>
            <a:ext cx="3672000" cy="1301750"/>
          </a:xfrm>
          <a:prstGeom prst="rect">
            <a:avLst/>
          </a:prstGeom>
          <a:noFill/>
        </p:spPr>
        <p:txBody>
          <a:bodyPr wrap="square" lIns="0" rIns="0" tIns="0" bIns="0" anchor="t"/>
          <a:lstStyle/>
          <a:p>
            <a:pPr algn="l">
              <a:lnSpc>
                <a:spcPct val="120000"/>
              </a:lnSpc>
            </a:pPr>
            <a:r>
              <a:rPr sz="1200" b="0" i="0">
                <a:solidFill>
                  <a:srgbClr val="003060"/>
                </a:solidFill>
                <a:latin typeface="Alegreya Sans"/>
              </a:rPr>
              <a:t>Every single recipe in the can be adjusted. If you love flavour, keep the recipes pimped up. If you prefer food that's more bland, leave out spices, flavours and herbs. Total flexibility.</a:t>
            </a:r>
          </a:p>
        </p:txBody>
      </p:sp>
      <p:sp>
        <p:nvSpPr>
          <p:cNvPr id="677" name="Rounded Rectangle 676"/>
          <p:cNvSpPr/>
          <p:nvPr/>
        </p:nvSpPr>
        <p:spPr>
          <a:xfrm>
            <a:off x="380000" y="3001750"/>
            <a:ext cx="4112000" cy="1961750"/>
          </a:xfrm>
          <a:prstGeom prst="roundRect">
            <a:avLst/>
          </a:prstGeom>
          <a:solidFill>
            <a:srgbClr val="FFFFFF"/>
          </a:solidFill>
          <a:ln w="12700">
            <a:solidFill>
              <a:srgbClr val="E2D8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8" name="Rectangle 677"/>
          <p:cNvSpPr/>
          <p:nvPr/>
        </p:nvSpPr>
        <p:spPr>
          <a:xfrm>
            <a:off x="380000" y="3001750"/>
            <a:ext cx="80000" cy="1961750"/>
          </a:xfrm>
          <a:prstGeom prst="rect">
            <a:avLst/>
          </a:prstGeom>
          <a:solidFill>
            <a:srgbClr val="F79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9" name="TextBox 678"/>
          <p:cNvSpPr txBox="1"/>
          <p:nvPr/>
        </p:nvSpPr>
        <p:spPr>
          <a:xfrm>
            <a:off x="640000" y="3101750"/>
            <a:ext cx="3672000" cy="380000"/>
          </a:xfrm>
          <a:prstGeom prst="rect">
            <a:avLst/>
          </a:prstGeom>
          <a:noFill/>
        </p:spPr>
        <p:txBody>
          <a:bodyPr wrap="square" lIns="0" rIns="0" tIns="0" bIns="0" anchor="t"/>
          <a:lstStyle/>
          <a:p>
            <a:pPr algn="l"/>
            <a:r>
              <a:rPr sz="1400" b="1" i="0">
                <a:solidFill>
                  <a:srgbClr val="003060"/>
                </a:solidFill>
                <a:latin typeface="Libre Baskerville"/>
              </a:rPr>
              <a:t>I need to feed my family…</a:t>
            </a:r>
          </a:p>
        </p:txBody>
      </p:sp>
      <p:sp>
        <p:nvSpPr>
          <p:cNvPr id="680" name="TextBox 679"/>
          <p:cNvSpPr txBox="1"/>
          <p:nvPr/>
        </p:nvSpPr>
        <p:spPr>
          <a:xfrm>
            <a:off x="640000" y="3521750"/>
            <a:ext cx="3672000" cy="1301750"/>
          </a:xfrm>
          <a:prstGeom prst="rect">
            <a:avLst/>
          </a:prstGeom>
          <a:noFill/>
        </p:spPr>
        <p:txBody>
          <a:bodyPr wrap="square" lIns="0" rIns="0" tIns="0" bIns="0" anchor="t"/>
          <a:lstStyle/>
          <a:p>
            <a:pPr algn="l">
              <a:lnSpc>
                <a:spcPct val="120000"/>
              </a:lnSpc>
            </a:pPr>
            <a:r>
              <a:rPr sz="1200" b="0" i="0">
                <a:solidFill>
                  <a:srgbClr val="003060"/>
                </a:solidFill>
                <a:latin typeface="Alegreya Sans"/>
              </a:rPr>
              <a:t>Use the meal guides with your family,  just increase portion sizes and we can support you in our coaching group. The recipes are family-friendly. Any recipes you don't like, leave out and swap with others.</a:t>
            </a:r>
          </a:p>
        </p:txBody>
      </p:sp>
      <p:sp>
        <p:nvSpPr>
          <p:cNvPr id="681" name="Rounded Rectangle 680"/>
          <p:cNvSpPr/>
          <p:nvPr/>
        </p:nvSpPr>
        <p:spPr>
          <a:xfrm>
            <a:off x="4652000" y="3001750"/>
            <a:ext cx="4112000" cy="1961750"/>
          </a:xfrm>
          <a:prstGeom prst="roundRect">
            <a:avLst/>
          </a:prstGeom>
          <a:solidFill>
            <a:srgbClr val="FFFFFF"/>
          </a:solidFill>
          <a:ln w="12700">
            <a:solidFill>
              <a:srgbClr val="E2D8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2" name="Rectangle 681"/>
          <p:cNvSpPr/>
          <p:nvPr/>
        </p:nvSpPr>
        <p:spPr>
          <a:xfrm>
            <a:off x="4652000" y="3001750"/>
            <a:ext cx="80000" cy="1961750"/>
          </a:xfrm>
          <a:prstGeom prst="rect">
            <a:avLst/>
          </a:prstGeom>
          <a:solidFill>
            <a:srgbClr val="F79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3" name="TextBox 682"/>
          <p:cNvSpPr txBox="1"/>
          <p:nvPr/>
        </p:nvSpPr>
        <p:spPr>
          <a:xfrm>
            <a:off x="4912000" y="3101750"/>
            <a:ext cx="3672000" cy="380000"/>
          </a:xfrm>
          <a:prstGeom prst="rect">
            <a:avLst/>
          </a:prstGeom>
          <a:noFill/>
        </p:spPr>
        <p:txBody>
          <a:bodyPr wrap="square" lIns="0" rIns="0" tIns="0" bIns="0" anchor="t"/>
          <a:lstStyle/>
          <a:p>
            <a:pPr algn="l"/>
            <a:r>
              <a:rPr sz="1400" b="1" i="0">
                <a:solidFill>
                  <a:srgbClr val="003060"/>
                </a:solidFill>
                <a:latin typeface="Libre Baskerville"/>
              </a:rPr>
              <a:t>Will I get Anna's hands-on support?</a:t>
            </a:r>
          </a:p>
        </p:txBody>
      </p:sp>
      <p:sp>
        <p:nvSpPr>
          <p:cNvPr id="684" name="TextBox 683"/>
          <p:cNvSpPr txBox="1"/>
          <p:nvPr/>
        </p:nvSpPr>
        <p:spPr>
          <a:xfrm>
            <a:off x="4912000" y="3521750"/>
            <a:ext cx="3672000" cy="1301750"/>
          </a:xfrm>
          <a:prstGeom prst="rect">
            <a:avLst/>
          </a:prstGeom>
          <a:noFill/>
        </p:spPr>
        <p:txBody>
          <a:bodyPr wrap="square" lIns="0" rIns="0" tIns="0" bIns="0" anchor="t"/>
          <a:lstStyle/>
          <a:p>
            <a:pPr algn="l">
              <a:lnSpc>
                <a:spcPct val="120000"/>
              </a:lnSpc>
            </a:pPr>
            <a:r>
              <a:rPr sz="1200" b="0" i="0">
                <a:solidFill>
                  <a:srgbClr val="003060"/>
                </a:solidFill>
                <a:latin typeface="Alegreya Sans"/>
              </a:rPr>
              <a:t>Yes. This is the only coaching program where you get direct, live coaching from Anna herself. You'll have the chance to ask questions, get personalised feedback, and stay on track every step. Anna's proven strategies, accountability and encouragement will keep you focused and moving toward your goals.</a:t>
            </a: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680" name="Shape 680"/>
        <p:cNvGrpSpPr/>
        <p:nvPr/>
      </p:nvGrpSpPr>
      <p:grpSpPr>
        <a:xfrm>
          <a:off x="0" y="0"/>
          <a:ext cx="0" cy="0"/>
          <a:chOff x="0" y="0"/>
          <a:chExt cx="0" cy="0"/>
        </a:xfrm>
      </p:grpSpPr>
      <p:sp>
        <p:nvSpPr>
          <p:cNvPr id="681" name="Google Shape;681;p104"/>
          <p:cNvSpPr txBox="1"/>
          <p:nvPr/>
        </p:nvSpPr>
        <p:spPr>
          <a:xfrm>
            <a:off x="457200" y="361950"/>
            <a:ext cx="8229600" cy="44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1" lang="en-GB" sz="2200" u="none" cap="none" strike="noStrike">
                <a:solidFill>
                  <a:srgbClr val="F79F83"/>
                </a:solidFill>
                <a:latin typeface="Libre Baskerville"/>
                <a:ea typeface="Libre Baskerville"/>
                <a:cs typeface="Libre Baskerville"/>
                <a:sym typeface="Libre Baskerville"/>
              </a:rPr>
              <a:t>Whether you believe you can or you can't, you are usually right!</a:t>
            </a:r>
            <a:endParaRPr/>
          </a:p>
          <a:p>
            <a:pPr indent="0" lvl="0" marL="0" marR="0" rtl="0" algn="ctr">
              <a:spcBef>
                <a:spcPts val="2200"/>
              </a:spcBef>
              <a:spcAft>
                <a:spcPts val="0"/>
              </a:spcAft>
              <a:buNone/>
            </a:pPr>
            <a:r>
              <a:rPr b="1" i="0" lang="en-GB" sz="1800" u="none" cap="none" strike="noStrike">
                <a:solidFill>
                  <a:srgbClr val="003060"/>
                </a:solidFill>
                <a:latin typeface="Alegreya Sans"/>
                <a:ea typeface="Alegreya Sans"/>
                <a:cs typeface="Alegreya Sans"/>
                <a:sym typeface="Alegreya Sans"/>
              </a:rPr>
              <a:t>Click link in comments if you are ready to become our next success story!</a:t>
            </a:r>
            <a:endParaRPr/>
          </a:p>
          <a:p>
            <a:pPr indent="0" lvl="0" marL="0" marR="0" rtl="0" algn="ctr">
              <a:spcBef>
                <a:spcPts val="1800"/>
              </a:spcBef>
              <a:spcAft>
                <a:spcPts val="0"/>
              </a:spcAft>
              <a:buNone/>
            </a:pPr>
            <a:r>
              <a:rPr b="0" i="0" lang="en-GB" sz="1700" u="none" cap="none" strike="noStrike">
                <a:solidFill>
                  <a:srgbClr val="003060"/>
                </a:solidFill>
                <a:latin typeface="Alegreya Sans"/>
                <a:ea typeface="Alegreya Sans"/>
                <a:cs typeface="Alegreya Sans"/>
                <a:sym typeface="Alegreya Sans"/>
              </a:rPr>
              <a:t>I want to celebrate you in 12 weeks and I will guide you</a:t>
            </a:r>
            <a:r>
              <a:rPr lang="en-GB">
                <a:solidFill/>
              </a:rPr>
              <a:t> </a:t>
            </a:r>
            <a:r>
              <a:rPr i="0" lang="en-GB" sz="1800" u="none" cap="none" strike="noStrike">
                <a:solidFill>
                  <a:srgbClr val="003060"/>
                </a:solidFill>
                <a:latin typeface="Alegreya Sans"/>
                <a:ea typeface="Alegreya Sans"/>
                <a:cs typeface="Alegreya Sans"/>
                <a:sym typeface="Alegreya Sans"/>
              </a:rPr>
              <a:t>to the best of my ability.</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685" name="Shape 685"/>
        <p:cNvGrpSpPr/>
        <p:nvPr/>
      </p:nvGrpSpPr>
      <p:grpSpPr>
        <a:xfrm>
          <a:off x="0" y="0"/>
          <a:ext cx="0" cy="0"/>
          <a:chOff x="0" y="0"/>
          <a:chExt cx="0" cy="0"/>
        </a:xfrm>
      </p:grpSpPr>
      <p:sp>
        <p:nvSpPr>
          <p:cNvPr id="686" name="Google Shape;686;p105"/>
          <p:cNvSpPr txBox="1"/>
          <p:nvPr/>
        </p:nvSpPr>
        <p:spPr>
          <a:xfrm>
            <a:off x="4400000" y="1900000"/>
            <a:ext cx="4300000" cy="180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GB" sz="3400">
                <a:solidFill>
                  <a:srgbClr val="003060"/>
                </a:solidFill>
                <a:latin typeface="Libre Baskerville"/>
                <a:ea typeface="Libre Baskerville"/>
                <a:cs typeface="Libre Baskerville"/>
                <a:sym typeface="Libre Baskerville"/>
              </a:rPr>
              <a:t>Summer Challenge Winners</a:t>
            </a:r>
            <a:endParaRPr/>
          </a:p>
          <a:p>
            <a:pPr indent="0" lvl="0" marL="0" marR="0" rtl="0" algn="ctr">
              <a:spcBef>
                <a:spcPts val="600"/>
              </a:spcBef>
              <a:spcAft>
                <a:spcPts val="0"/>
              </a:spcAft>
              <a:buNone/>
            </a:pPr>
            <a:r>
              <a:rPr>
                <a:solidFill/>
              </a:rPr>
              <a:t/>
            </a:r>
            <a:endParaRPr/>
          </a:p>
        </p:txBody>
      </p:sp>
      <p:pic>
        <p:nvPicPr>
          <p:cNvPr id="687" name="Google Shape;687;p105" title="ChatGPT Image Jun 4, 2026, 08_47_16 PM.png"/>
          <p:cNvPicPr preferRelativeResize="0"/>
          <p:nvPr/>
        </p:nvPicPr>
        <p:blipFill>
          <a:blip r:embed="rId3">
            <a:alphaModFix/>
          </a:blip>
          <a:stretch>
            <a:fillRect/>
          </a:stretch>
        </p:blipFill>
        <p:spPr>
          <a:xfrm>
            <a:off x="869700" y="825875"/>
            <a:ext cx="3343876" cy="3343876"/>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691" name="Shape 691"/>
        <p:cNvGrpSpPr/>
        <p:nvPr/>
      </p:nvGrpSpPr>
      <p:grpSpPr>
        <a:xfrm>
          <a:off x="0" y="0"/>
          <a:ext cx="0" cy="0"/>
          <a:chOff x="0" y="0"/>
          <a:chExt cx="0" cy="0"/>
        </a:xfrm>
      </p:grpSpPr>
      <p:sp>
        <p:nvSpPr>
          <p:cNvPr id="692" name="Google Shape;692;p106"/>
          <p:cNvSpPr txBox="1"/>
          <p:nvPr/>
        </p:nvSpPr>
        <p:spPr>
          <a:xfrm>
            <a:off x="457200" y="361950"/>
            <a:ext cx="8229600" cy="44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GB" sz="2800" u="none" cap="none" strike="noStrike">
                <a:solidFill>
                  <a:srgbClr val="003060"/>
                </a:solidFill>
                <a:latin typeface="Libre Baskerville"/>
                <a:ea typeface="Libre Baskerville"/>
                <a:cs typeface="Libre Baskerville"/>
                <a:sym typeface="Libre Baskerville"/>
              </a:rPr>
              <a:t>Thank you for joining me today a</a:t>
            </a:r>
            <a:r>
              <a:rPr b="1" lang="en-GB" sz="2800">
                <a:solidFill>
                  <a:srgbClr val="003060"/>
                </a:solidFill>
                <a:latin typeface="Libre Baskerville"/>
                <a:ea typeface="Libre Baskerville"/>
                <a:cs typeface="Libre Baskerville"/>
                <a:sym typeface="Libre Baskerville"/>
              </a:rPr>
              <a:t>nd for the 5 day free reset</a:t>
            </a:r>
            <a:r>
              <a:rPr b="1" i="0" lang="en-GB" sz="2800" u="none" cap="none" strike="noStrike">
                <a:solidFill>
                  <a:srgbClr val="003060"/>
                </a:solidFill>
                <a:latin typeface="Libre Baskerville"/>
                <a:ea typeface="Libre Baskerville"/>
                <a:cs typeface="Libre Baskerville"/>
                <a:sym typeface="Libre Baskerville"/>
              </a:rPr>
              <a:t>!</a:t>
            </a:r>
            <a:endParaRPr/>
          </a:p>
          <a:p>
            <a:pPr indent="0" lvl="0" marL="0" marR="0" rtl="0" algn="ctr">
              <a:spcBef>
                <a:spcPts val="2200"/>
              </a:spcBef>
              <a:spcAft>
                <a:spcPts val="0"/>
              </a:spcAft>
              <a:buNone/>
            </a:pPr>
            <a:r>
              <a:rPr b="1" i="1" lang="en-GB" sz="2200" u="none" cap="none" strike="noStrike">
                <a:solidFill>
                  <a:srgbClr val="F79F83"/>
                </a:solidFill>
                <a:latin typeface="Libre Baskerville"/>
                <a:ea typeface="Libre Baskerville"/>
                <a:cs typeface="Libre Baskerville"/>
                <a:sym typeface="Libre Baskerville"/>
              </a:rPr>
              <a:t>Let's take your goals to the next level!</a:t>
            </a:r>
            <a:endParaRPr/>
          </a:p>
          <a:p>
            <a:pPr indent="0" lvl="0" marL="0" marR="0" rtl="0" algn="ctr">
              <a:spcBef>
                <a:spcPts val="1800"/>
              </a:spcBef>
              <a:spcAft>
                <a:spcPts val="0"/>
              </a:spcAft>
              <a:buNone/>
            </a:pPr>
            <a:r>
              <a:rPr b="0" i="0" lang="en-GB" sz="1700" u="none" cap="none" strike="noStrike">
                <a:solidFill>
                  <a:srgbClr val="003060"/>
                </a:solidFill>
                <a:latin typeface="Alegreya Sans"/>
                <a:ea typeface="Alegreya Sans"/>
                <a:cs typeface="Alegreya Sans"/>
                <a:sym typeface="Alegreya Sans"/>
              </a:rPr>
              <a:t>You are capable of your goals and we would be honoured</a:t>
            </a:r>
            <a:endParaRPr/>
          </a:p>
          <a:p>
            <a:pPr indent="0" lvl="0" marL="0" marR="0" rtl="0" algn="ctr">
              <a:spcBef>
                <a:spcPts val="400"/>
              </a:spcBef>
              <a:spcAft>
                <a:spcPts val="0"/>
              </a:spcAft>
              <a:buNone/>
            </a:pPr>
            <a:r>
              <a:rPr b="1" i="0" lang="en-GB" sz="1800" u="none" cap="none" strike="noStrike">
                <a:solidFill>
                  <a:srgbClr val="003060"/>
                </a:solidFill>
                <a:latin typeface="Alegreya Sans"/>
                <a:ea typeface="Alegreya Sans"/>
                <a:cs typeface="Alegreya Sans"/>
                <a:sym typeface="Alegreya Sans"/>
              </a:rPr>
              <a:t>to help you achieve them!</a:t>
            </a:r>
            <a:endParaRPr/>
          </a:p>
          <a:p>
            <a:pPr indent="0" lvl="0" marL="0" marR="0" rtl="0" algn="ctr">
              <a:spcBef>
                <a:spcPts val="1800"/>
              </a:spcBef>
              <a:spcAft>
                <a:spcPts val="0"/>
              </a:spcAft>
              <a:buNone/>
            </a:pPr>
            <a:r>
              <a:rPr lang="en-GB" sz="1500">
                <a:solidFill>
                  <a:srgbClr val="003060"/>
                </a:solidFill>
                <a:latin typeface="Alegreya Sans"/>
                <a:ea typeface="Alegreya Sans"/>
                <a:cs typeface="Alegreya Sans"/>
                <a:sym typeface="Alegreya Sans"/>
              </a:rPr>
              <a:t>P.S Today is our </a:t>
            </a:r>
            <a:r>
              <a:rPr lang="en-GB" sz="1500">
                <a:solidFill>
                  <a:srgbClr val="003060"/>
                </a:solidFill>
                <a:latin typeface="Alegreya Sans"/>
                <a:ea typeface="Alegreya Sans"/>
                <a:cs typeface="Alegreya Sans"/>
                <a:sym typeface="Alegreya Sans"/>
              </a:rPr>
              <a:t>final day of reset coaching. If you join the summer challenge you will get access to the members area and group straight away, the party continues over there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