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657600"/>
            <a:ext cx="6400800" cy="6400800"/>
          </a:xfrm>
          <a:prstGeom prst="ellipse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08960" y="822960"/>
            <a:ext cx="594360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260">
                <a:solidFill>
                  <a:srgbClr val="F4EBDC"/>
                </a:solidFill>
                <a:latin typeface="Alegreya Sans"/>
              </a:rPr>
              <a:t>✦  FOUNDING MEMBERS LAUNCH  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0" i="1">
                <a:solidFill>
                  <a:srgbClr val="D97757"/>
                </a:solidFill>
                <a:latin typeface="Libre Baskerville"/>
              </a:rPr>
              <a:t>The Weight Loss </a:t>
            </a:r>
            <a:r>
              <a:rPr sz="6400" b="0" i="1">
                <a:solidFill>
                  <a:srgbClr val="D97757"/>
                </a:solidFill>
                <a:latin typeface="Libre Baskerville"/>
              </a:rPr>
              <a:t>&amp;</a:t>
            </a:r>
          </a:p>
          <a:p>
            <a:pPr algn="ctr">
              <a:lnSpc>
                <a:spcPct val="110000"/>
              </a:lnSpc>
              <a:spcAft>
                <a:spcPts val="2400"/>
              </a:spcAft>
            </a:pPr>
            <a:r>
              <a:rPr sz="7200" b="1" i="1">
                <a:solidFill>
                  <a:srgbClr val="0E2746"/>
                </a:solidFill>
                <a:latin typeface="Libre Baskerville"/>
              </a:rPr>
              <a:t>Lifestyle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1">
                <a:solidFill>
                  <a:srgbClr val="0E2746"/>
                </a:solidFill>
                <a:latin typeface="Libre Baskerville"/>
              </a:rPr>
              <a:t>Lose the weight. Live the lifestyle.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00">
                <a:solidFill>
                  <a:srgbClr val="5A6478"/>
                </a:solidFill>
                <a:latin typeface="Alegreya Sans"/>
              </a:rPr>
              <a:t>A live announcement with Anna Wallace  ·  Founder of WLA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0" y="640080"/>
            <a:ext cx="594360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240">
                <a:solidFill>
                  <a:srgbClr val="F4EBDC"/>
                </a:solidFill>
                <a:latin typeface="Alegreya Sans"/>
              </a:rPr>
              <a:t>FOUNDING MEMBERS · ONE YEAR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1" i="0">
                <a:solidFill>
                  <a:srgbClr val="0E2746"/>
                </a:solidFill>
                <a:latin typeface="Libre Baskerville"/>
              </a:rPr>
              <a:t>Only </a:t>
            </a:r>
            <a:r>
              <a:rPr sz="6400" b="0" i="1">
                <a:solidFill>
                  <a:srgbClr val="D97757"/>
                </a:solidFill>
                <a:latin typeface="Libre Baskerville"/>
              </a:rPr>
              <a:t>£97 </a:t>
            </a:r>
            <a:r>
              <a:rPr sz="3000" b="0" i="1">
                <a:solidFill>
                  <a:srgbClr val="0E2746"/>
                </a:solidFill>
                <a:latin typeface="Libre Baskerville"/>
              </a:rPr>
              <a:t>· Just 26p per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220">
                <a:solidFill>
                  <a:srgbClr val="5A6478"/>
                </a:solidFill>
                <a:latin typeface="Alegreya Sans"/>
              </a:rPr>
              <a:t>Price increases when founding members closes.</a:t>
            </a:r>
          </a:p>
        </p:txBody>
      </p:sp>
      <p:sp>
        <p:nvSpPr>
          <p:cNvPr id="6" name="Oval 5"/>
          <p:cNvSpPr/>
          <p:nvPr/>
        </p:nvSpPr>
        <p:spPr>
          <a:xfrm>
            <a:off x="1280160" y="368046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91056" y="35661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12 Week WLA Summer Challenge: Lose up to 2 stone this summer</a:t>
            </a:r>
          </a:p>
        </p:txBody>
      </p:sp>
      <p:sp>
        <p:nvSpPr>
          <p:cNvPr id="8" name="Oval 7"/>
          <p:cNvSpPr/>
          <p:nvPr/>
        </p:nvSpPr>
        <p:spPr>
          <a:xfrm>
            <a:off x="1280160" y="418338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910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ALL WLA Challenges, Resets &amp; Accountability Sprints for 12 months</a:t>
            </a:r>
          </a:p>
        </p:txBody>
      </p:sp>
      <p:sp>
        <p:nvSpPr>
          <p:cNvPr id="10" name="Oval 9"/>
          <p:cNvSpPr/>
          <p:nvPr/>
        </p:nvSpPr>
        <p:spPr>
          <a:xfrm>
            <a:off x="1280160" y="468630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91056" y="45720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Founding Member access to the brand new WLA app</a:t>
            </a:r>
          </a:p>
        </p:txBody>
      </p:sp>
      <p:sp>
        <p:nvSpPr>
          <p:cNvPr id="12" name="Oval 11"/>
          <p:cNvSpPr/>
          <p:nvPr/>
        </p:nvSpPr>
        <p:spPr>
          <a:xfrm>
            <a:off x="1280160" y="518922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91056" y="5074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E2746"/>
                </a:solidFill>
                <a:latin typeface="Libre Baskerville"/>
              </a:rPr>
              <a:t>Lock in the LOWEST WLA price this round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REAL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0E2746"/>
                </a:solidFill>
                <a:latin typeface="Libre Baskerville"/>
              </a:rPr>
              <a:t>Real </a:t>
            </a:r>
            <a:r>
              <a:rPr sz="6000" b="0" i="1">
                <a:solidFill>
                  <a:srgbClr val="D97757"/>
                </a:solidFill>
                <a:latin typeface="Libre Baskerville"/>
              </a:rPr>
              <a:t>results</a:t>
            </a:r>
            <a:r>
              <a:rPr sz="6000" b="1" i="0">
                <a:solidFill>
                  <a:srgbClr val="0E2746"/>
                </a:solidFill>
                <a:latin typeface="Libre Baskerville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347" y="3108960"/>
            <a:ext cx="2468880" cy="2743200"/>
          </a:xfrm>
          <a:prstGeom prst="roundRect">
            <a:avLst>
              <a:gd name="adj" fmla="val 4000"/>
            </a:avLst>
          </a:prstGeom>
          <a:solidFill>
            <a:srgbClr val="FDFBF8"/>
          </a:solidFill>
          <a:ln>
            <a:solidFill>
              <a:srgbClr val="0E2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347" y="5440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1">
                <a:solidFill>
                  <a:srgbClr val="0E2746"/>
                </a:solidFill>
                <a:latin typeface="Libre Baskerville"/>
              </a:rPr>
              <a:t>Vicky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8387" y="3108960"/>
            <a:ext cx="2468880" cy="2743200"/>
          </a:xfrm>
          <a:prstGeom prst="roundRect">
            <a:avLst>
              <a:gd name="adj" fmla="val 4000"/>
            </a:avLst>
          </a:prstGeom>
          <a:solidFill>
            <a:srgbClr val="FDFBF8"/>
          </a:solidFill>
          <a:ln>
            <a:solidFill>
              <a:srgbClr val="0E2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58387" y="5440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1">
                <a:solidFill>
                  <a:srgbClr val="0E2746"/>
                </a:solidFill>
                <a:latin typeface="Libre Baskerville"/>
              </a:rPr>
              <a:t>Jill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4427" y="3108960"/>
            <a:ext cx="2468880" cy="2743200"/>
          </a:xfrm>
          <a:prstGeom prst="roundRect">
            <a:avLst>
              <a:gd name="adj" fmla="val 4000"/>
            </a:avLst>
          </a:prstGeom>
          <a:solidFill>
            <a:srgbClr val="FDFBF8"/>
          </a:solidFill>
          <a:ln>
            <a:solidFill>
              <a:srgbClr val="0E2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4427" y="5440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1">
                <a:solidFill>
                  <a:srgbClr val="0E2746"/>
                </a:solidFill>
                <a:latin typeface="Libre Baskerville"/>
              </a:rPr>
              <a:t>Ruth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0467" y="3108960"/>
            <a:ext cx="2468880" cy="2743200"/>
          </a:xfrm>
          <a:prstGeom prst="roundRect">
            <a:avLst>
              <a:gd name="adj" fmla="val 4000"/>
            </a:avLst>
          </a:prstGeom>
          <a:solidFill>
            <a:srgbClr val="FDFBF8"/>
          </a:solidFill>
          <a:ln>
            <a:solidFill>
              <a:srgbClr val="0E2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0467" y="5440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1">
                <a:solidFill>
                  <a:srgbClr val="0E2746"/>
                </a:solidFill>
                <a:latin typeface="Libre Baskerville"/>
              </a:rPr>
              <a:t>Lisa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5A6478"/>
                </a:solidFill>
                <a:latin typeface="Alegreya Sans"/>
              </a:rPr>
              <a:t>*Results vary depending on the individual. There is no guarantee of specific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D97757"/>
                </a:solidFill>
                <a:latin typeface="Alegreya Sans"/>
              </a:rPr>
              <a:t>WHY THE WLA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For years, I was deeply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unhappy in myself.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I STRUGGLED WITH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2746"/>
                </a:solidFill>
                <a:latin typeface="Libre Baskerville"/>
              </a:rPr>
              <a:t>Emotional eating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2746"/>
                </a:solidFill>
                <a:latin typeface="Libre Baskerville"/>
              </a:rPr>
              <a:t>Low self-esteem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0604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60604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2746"/>
                </a:solidFill>
                <a:latin typeface="Libre Baskerville"/>
              </a:rPr>
              <a:t>Drinking alcohol to feel better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0604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60604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2746"/>
                </a:solidFill>
                <a:latin typeface="Libre Baskerville"/>
              </a:rPr>
              <a:t>Constantly starting new diets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8328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38328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2746"/>
                </a:solidFill>
                <a:latin typeface="Libre Baskerville"/>
              </a:rPr>
              <a:t>Never feeling comfortable in my body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1400"/>
              </a:spcAft>
            </a:pPr>
            <a:r>
              <a:rPr sz="3200" b="0" i="1">
                <a:solidFill>
                  <a:srgbClr val="FFFFFF"/>
                </a:solidFill>
                <a:latin typeface="Libre Baskerville"/>
              </a:rPr>
              <a:t>“I tried everything. But no matter how much weight I lost,</a:t>
            </a:r>
          </a:p>
          <a:p>
            <a:pPr algn="ctr">
              <a:lnSpc>
                <a:spcPct val="130000"/>
              </a:lnSpc>
            </a:pPr>
            <a:r>
              <a:rPr sz="3800" b="0" i="1">
                <a:solidFill>
                  <a:srgbClr val="FFFFFF"/>
                </a:solidFill>
                <a:latin typeface="Libre Baskerville"/>
              </a:rPr>
              <a:t>I always found myself </a:t>
            </a:r>
            <a:r>
              <a:rPr sz="3800" b="1" i="1">
                <a:solidFill>
                  <a:srgbClr val="E5917A"/>
                </a:solidFill>
                <a:latin typeface="Libre Baskerville"/>
              </a:rPr>
              <a:t>slipping back into old habits</a:t>
            </a:r>
            <a:r>
              <a:rPr sz="3800" b="0" i="1">
                <a:solidFill>
                  <a:srgbClr val="FFFFFF"/>
                </a:solidFill>
                <a:latin typeface="Libre Baskerville"/>
              </a:rPr>
              <a:t>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D97757"/>
                </a:solidFill>
                <a:latin typeface="Alegreya Sans"/>
              </a:rPr>
              <a:t>SO I WENT BACK TO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I needed to understand </a:t>
            </a:r>
            <a:r>
              <a:rPr sz="3800" b="0" i="1">
                <a:solidFill>
                  <a:srgbClr val="D97757"/>
                </a:solidFill>
                <a:latin typeface="Libre Baskerville"/>
              </a:rPr>
              <a:t>why I couldn’t maintain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1400"/>
              </a:spcAft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That struggle became so frustrating I eventually decided to study nutrition at university, so I could finally understand why I couldn’t maintain the results long term.</a:t>
            </a:r>
          </a:p>
          <a:p>
            <a:pPr algn="l">
              <a:lnSpc>
                <a:spcPct val="15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Over time, I took everything I learned through my degree, qualifications and personal journey and created…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 spc="240">
                <a:solidFill>
                  <a:srgbClr val="D97757"/>
                </a:solidFill>
                <a:latin typeface="Alegreya Sans"/>
              </a:rPr>
              <a:t>WHAT I BUILT FROM EVERYTHING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338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200" b="1" i="0">
                <a:solidFill>
                  <a:srgbClr val="0E2746"/>
                </a:solidFill>
                <a:latin typeface="Libre Baskerville"/>
              </a:rPr>
              <a:t>The </a:t>
            </a:r>
            <a:r>
              <a:rPr sz="7200" b="1" i="1">
                <a:solidFill>
                  <a:srgbClr val="D97757"/>
                </a:solidFill>
                <a:latin typeface="Libre Baskerville"/>
              </a:rPr>
              <a:t>WLA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Not another quick fix. Not another restrictive diet. A simple, flexible approach.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5207" y="4114800"/>
            <a:ext cx="3291840" cy="1645920"/>
          </a:xfrm>
          <a:prstGeom prst="roundRect">
            <a:avLst>
              <a:gd name="adj" fmla="val 8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207" y="44348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1">
                <a:solidFill>
                  <a:srgbClr val="E5917A"/>
                </a:solidFill>
                <a:latin typeface="Libre Baskerville"/>
              </a:rPr>
              <a:t>2+ 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207" y="5074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spc="200">
                <a:solidFill>
                  <a:srgbClr val="F4EBDC"/>
                </a:solidFill>
                <a:latin typeface="Alegreya Sans"/>
              </a:rPr>
              <a:t>Lost &amp; kept 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4114800"/>
            <a:ext cx="3291840" cy="1645920"/>
          </a:xfrm>
          <a:prstGeom prst="roundRect">
            <a:avLst>
              <a:gd name="adj" fmla="val 8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9927" y="44348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1">
                <a:solidFill>
                  <a:srgbClr val="E5917A"/>
                </a:solidFill>
                <a:latin typeface="Libre Baskerville"/>
              </a:rPr>
              <a:t>11 yrs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9927" y="5074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spc="200">
                <a:solidFill>
                  <a:srgbClr val="F4EBDC"/>
                </a:solidFill>
                <a:latin typeface="Alegreya Sans"/>
              </a:rPr>
              <a:t>Still living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647" y="4114800"/>
            <a:ext cx="3291840" cy="1645920"/>
          </a:xfrm>
          <a:prstGeom prst="roundRect">
            <a:avLst>
              <a:gd name="adj" fmla="val 8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647" y="44348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1">
                <a:solidFill>
                  <a:srgbClr val="E5917A"/>
                </a:solidFill>
                <a:latin typeface="Libre Baskerville"/>
              </a:rPr>
              <a:t>50,000+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647" y="5074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spc="200">
                <a:solidFill>
                  <a:srgbClr val="F4EBDC"/>
                </a:solidFill>
                <a:latin typeface="Alegreya Sans"/>
              </a:rPr>
              <a:t>Women 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 spc="280">
                <a:solidFill>
                  <a:srgbClr val="E5917A"/>
                </a:solidFill>
                <a:latin typeface="Alegreya Sans"/>
              </a:rPr>
              <a:t>MY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3385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sz="4200" b="1" i="0">
                <a:solidFill>
                  <a:srgbClr val="FFFFFF"/>
                </a:solidFill>
                <a:latin typeface="Libre Baskerville"/>
              </a:rPr>
              <a:t>No longer just helping women </a:t>
            </a:r>
            <a:r>
              <a:rPr sz="4200" b="0" i="1">
                <a:solidFill>
                  <a:srgbClr val="E5917A"/>
                </a:solidFill>
                <a:latin typeface="Libre Baskerville"/>
              </a:rPr>
              <a:t>lose weight.</a:t>
            </a:r>
          </a:p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FFFFFF"/>
                </a:solidFill>
                <a:latin typeface="Libre Baskerville"/>
              </a:rPr>
              <a:t>Helping women build a </a:t>
            </a:r>
            <a:r>
              <a:rPr sz="4200" b="1" i="1">
                <a:solidFill>
                  <a:srgbClr val="E5917A"/>
                </a:solidFill>
                <a:latin typeface="Libre Baskerville"/>
              </a:rPr>
              <a:t>lifestyle that lets them KEEP</a:t>
            </a:r>
          </a:p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FFFFFF"/>
                </a:solidFill>
                <a:latin typeface="Libre Baskerville"/>
              </a:rPr>
              <a:t>the results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0" y="1097280"/>
            <a:ext cx="3749039" cy="365760"/>
          </a:xfrm>
          <a:prstGeom prst="roundRect">
            <a:avLst>
              <a:gd name="adj" fmla="val 50000"/>
            </a:avLst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300">
                <a:solidFill>
                  <a:srgbClr val="D97757"/>
                </a:solidFill>
                <a:latin typeface="Alegreya Sans"/>
              </a:rPr>
              <a:t>WELCOME TO THE NEXT PHASE OF WLA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0E2746"/>
                </a:solidFill>
                <a:latin typeface="Libre Baskerville"/>
              </a:rPr>
              <a:t>The Weight Loss</a:t>
            </a:r>
          </a:p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0E2746"/>
                </a:solidFill>
                <a:latin typeface="Libre Baskerville"/>
              </a:rPr>
              <a:t>&amp; Lifestyle </a:t>
            </a:r>
            <a:r>
              <a:rPr sz="6000" b="0" i="1">
                <a:solidFill>
                  <a:srgbClr val="D97757"/>
                </a:solidFill>
                <a:latin typeface="Libre Baskerville"/>
              </a:rPr>
              <a:t>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0" i="1">
                <a:solidFill>
                  <a:srgbClr val="0E2746"/>
                </a:solidFill>
                <a:latin typeface="Libre Baskerville"/>
              </a:rPr>
              <a:t>Lose the weight. Live the lifestyle.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D97757"/>
                </a:solidFill>
                <a:latin typeface="Alegreya Sans"/>
              </a:rPr>
              <a:t>THE WEIGHT LOSS &amp; LIFESTYLE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This next chapter is about </a:t>
            </a:r>
            <a:r>
              <a:rPr sz="3800" b="0" i="1">
                <a:solidFill>
                  <a:srgbClr val="D97757"/>
                </a:solidFill>
                <a:latin typeface="Libre Baskerville"/>
              </a:rPr>
              <a:t>more than losing weight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It’s about helping women: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78333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82496" y="36576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746"/>
                </a:solidFill>
                <a:latin typeface="Libre Baskerville"/>
              </a:rPr>
              <a:t>Maintain momentum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2862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82496" y="41605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746"/>
                </a:solidFill>
                <a:latin typeface="Libre Baskerville"/>
              </a:rPr>
              <a:t>Stay consistent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78917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82496" y="46634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746"/>
                </a:solidFill>
                <a:latin typeface="Libre Baskerville"/>
              </a:rPr>
              <a:t>Build routines that LAST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52920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82496" y="5166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0E2746"/>
                </a:solidFill>
                <a:latin typeface="Libre Baskerville"/>
              </a:rPr>
              <a:t>And finally stop starting 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0" y="1371600"/>
            <a:ext cx="457200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240">
                <a:solidFill>
                  <a:srgbClr val="F4EBDC"/>
                </a:solidFill>
                <a:latin typeface="Alegreya Sans"/>
              </a:rPr>
              <a:t>HERE’S WHAT’S EVOLVING INSIDE WLA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3385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000" b="1" i="0">
                <a:solidFill>
                  <a:srgbClr val="0E2746"/>
                </a:solidFill>
                <a:latin typeface="Libre Baskerville"/>
              </a:rPr>
              <a:t>The next phase, </a:t>
            </a:r>
            <a:r>
              <a:rPr sz="5000" b="0" i="1">
                <a:solidFill>
                  <a:srgbClr val="D97757"/>
                </a:solidFill>
                <a:latin typeface="Libre Baskerville"/>
              </a:rPr>
              <a:t>in plain English.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240">
                <a:solidFill>
                  <a:srgbClr val="D97757"/>
                </a:solidFill>
                <a:latin typeface="Alegreya Sans"/>
              </a:rPr>
              <a:t>WHAT’S EVOLVING  ·  1 of 2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743075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1645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E2746"/>
                </a:solidFill>
                <a:latin typeface="Libre Baskerville"/>
              </a:rPr>
              <a:t>The Weight Loss Academy is evolving into The Weight Loss &amp; Lifestyle Academy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11755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6" y="25146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E2746"/>
                </a:solidFill>
                <a:latin typeface="Libre Baskerville"/>
              </a:rPr>
              <a:t>This group will move into our brand new coaching space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80435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3383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E2746"/>
                </a:solidFill>
                <a:latin typeface="Libre Baskerville"/>
              </a:rPr>
              <a:t>Founding members will receive early access to the brand new WLA app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349114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6" y="4251959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E2746"/>
                </a:solidFill>
                <a:latin typeface="Libre Baskerville"/>
              </a:rPr>
              <a:t>More support, accountability and lifestyle tools to help maintain results long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240">
                <a:solidFill>
                  <a:srgbClr val="D97757"/>
                </a:solidFill>
                <a:latin typeface="Alegreya Sans"/>
              </a:rPr>
              <a:t>WHAT’S EVOLVING  ·  2 of 2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743075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16459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E2746"/>
                </a:solidFill>
                <a:latin typeface="Libre Baskerville"/>
              </a:rPr>
              <a:t>If you have access to the Shift members area, you continue that access until we launch the app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11755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6" y="25146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E2746"/>
                </a:solidFill>
                <a:latin typeface="Libre Baskerville"/>
              </a:rPr>
              <a:t>If you join as a founding member, you get Shift members area access until the new app launches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80435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3383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E2746"/>
                </a:solidFill>
                <a:latin typeface="Libre Baskerville"/>
              </a:rPr>
              <a:t>Existing Shift members: the founding promo is added onto your current end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777240"/>
            <a:ext cx="5760720" cy="50292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240">
                <a:solidFill>
                  <a:srgbClr val="FFFFFF"/>
                </a:solidFill>
                <a:latin typeface="Alegreya Sans"/>
              </a:rPr>
              <a:t>A SPECIAL EXTENSION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For existing WLA clients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207" y="39319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207" y="42062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1">
                <a:solidFill>
                  <a:srgbClr val="D97757"/>
                </a:solidFill>
                <a:latin typeface="Libre Baskerville"/>
              </a:rPr>
              <a:t>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207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Founding places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9319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9927" y="42062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1">
                <a:solidFill>
                  <a:srgbClr val="D97757"/>
                </a:solidFill>
                <a:latin typeface="Libre Baskerville"/>
              </a:rPr>
              <a:t>12 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927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Full WLA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47" y="39319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FDFBF8"/>
          </a:solidFill>
          <a:ln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4647" y="42062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1">
                <a:solidFill>
                  <a:srgbClr val="D97757"/>
                </a:solidFill>
                <a:latin typeface="Libre Baskerville"/>
              </a:rPr>
              <a:t>7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647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Before public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1">
                <a:solidFill>
                  <a:srgbClr val="0E2746"/>
                </a:solidFill>
                <a:latin typeface="Libre Baskerville"/>
              </a:rPr>
              <a:t>Launching inside this group first. Everyone else next week.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0" y="1280160"/>
            <a:ext cx="429768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240">
                <a:solidFill>
                  <a:srgbClr val="F4EBDC"/>
                </a:solidFill>
                <a:latin typeface="Alegreya Sans"/>
              </a:rPr>
              <a:t>WHAT RESULTS CAN YOU EXPECT?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800" b="1" i="0">
                <a:solidFill>
                  <a:srgbClr val="0E2746"/>
                </a:solidFill>
                <a:latin typeface="Libre Baskerville"/>
              </a:rPr>
              <a:t>Designed to help you build results </a:t>
            </a:r>
          </a:p>
          <a:p>
            <a:pPr algn="ctr">
              <a:lnSpc>
                <a:spcPct val="120000"/>
              </a:lnSpc>
            </a:pPr>
            <a:r>
              <a:rPr sz="3800" b="0" i="1">
                <a:solidFill>
                  <a:srgbClr val="D97757"/>
                </a:solidFill>
                <a:latin typeface="Libre Baskerville"/>
              </a:rPr>
              <a:t>you can actually keep.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240">
                <a:solidFill>
                  <a:srgbClr val="D97757"/>
                </a:solidFill>
                <a:latin typeface="Alegreya Sans"/>
              </a:rPr>
              <a:t>EXPECTED RESULTS  ·  1 of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Lose weight in a realistic, sustainable 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Reduce bloating and puffiness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2316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231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Feel lighter, leaner, more comfortable in your body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2316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42316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Fit better into clothes again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0040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20040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004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Feel more confident in photos, holidays, social occasions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0040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2004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Reduce cravings, overeating and emotional eating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240">
                <a:solidFill>
                  <a:srgbClr val="D97757"/>
                </a:solidFill>
                <a:latin typeface="Alegreya Sans"/>
              </a:rPr>
              <a:t>EXPECTED RESULTS  ·  2 of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Have more energy throughout the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Stop constantly thinking about food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2316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231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Feel healthier, fitter and more in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2316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42316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Build routines that actually LAST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0040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20040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004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Stop "starting again Monday"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0040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2004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E2746"/>
                </a:solidFill>
                <a:latin typeface="Libre Baskerville"/>
              </a:rPr>
              <a:t>Finally create a lifestyle you can realistically maintain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3385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200"/>
              </a:spcAft>
            </a:pPr>
            <a:r>
              <a:rPr sz="5000" b="1" i="0">
                <a:solidFill>
                  <a:srgbClr val="FFFFFF"/>
                </a:solidFill>
                <a:latin typeface="Libre Baskerville"/>
              </a:rPr>
              <a:t>This is </a:t>
            </a:r>
            <a:r>
              <a:rPr sz="5000" b="1" i="1">
                <a:solidFill>
                  <a:srgbClr val="E5917A"/>
                </a:solidFill>
                <a:latin typeface="Libre Baskerville"/>
              </a:rPr>
              <a:t>NOT</a:t>
            </a:r>
            <a:r>
              <a:rPr sz="5000" b="1" i="0">
                <a:solidFill>
                  <a:srgbClr val="FFFFFF"/>
                </a:solidFill>
                <a:latin typeface="Libre Baskerville"/>
              </a:rPr>
              <a:t> just short-term weight loss.</a:t>
            </a:r>
          </a:p>
          <a:p>
            <a:pPr algn="ctr">
              <a:lnSpc>
                <a:spcPct val="130000"/>
              </a:lnSpc>
            </a:pPr>
            <a:r>
              <a:rPr sz="3200" b="0" i="1">
                <a:solidFill>
                  <a:srgbClr val="FFFFFF"/>
                </a:solidFill>
                <a:latin typeface="Libre Baskerville"/>
              </a:rPr>
              <a:t>It’s about helping you build results you can actually </a:t>
            </a:r>
            <a:r>
              <a:rPr sz="3200" b="1" i="1">
                <a:solidFill>
                  <a:srgbClr val="E5917A"/>
                </a:solidFill>
                <a:latin typeface="Libre Baskerville"/>
              </a:rPr>
              <a:t>KEEP</a:t>
            </a:r>
            <a:r>
              <a:rPr sz="3200" b="0" i="1">
                <a:solidFill>
                  <a:srgbClr val="FFFFFF"/>
                </a:solidFill>
                <a:latin typeface="Libre Baskervil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0" y="1280160"/>
            <a:ext cx="3749039" cy="36576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260">
                <a:solidFill>
                  <a:srgbClr val="F4EBDC"/>
                </a:solidFill>
                <a:latin typeface="Alegreya Sans"/>
              </a:rPr>
              <a:t>🚀  AVAILABLE INSIDE PHASE 1 AT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E2746"/>
                </a:solidFill>
                <a:latin typeface="Libre Baskerville"/>
              </a:rPr>
              <a:t>Here’s what Founding Members get </a:t>
            </a:r>
            <a:r>
              <a:rPr sz="4200" b="0" i="1">
                <a:solidFill>
                  <a:srgbClr val="D97757"/>
                </a:solidFill>
                <a:latin typeface="Libre Baskerville"/>
              </a:rPr>
              <a:t>immediately</a:t>
            </a:r>
            <a:r>
              <a:rPr sz="4200" b="1" i="0">
                <a:solidFill>
                  <a:srgbClr val="0E2746"/>
                </a:solidFill>
                <a:latin typeface="Libre Baskerville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333333"/>
                </a:solidFill>
                <a:latin typeface="Alegreya Sans"/>
              </a:rPr>
              <a:t>From the moment you join, you unlock the very first version of the new WLA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WHAT’S INCLUDED  ·  01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731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00">
                <a:solidFill>
                  <a:srgbClr val="FFFFFF"/>
                </a:solidFill>
                <a:latin typeface="Alegreya Sans"/>
              </a:rPr>
              <a:t>VALUE  £147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The 12 Week WLA Summer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Where momentum begins.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Lose up to 2 stone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Reduce cravings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6291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526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Feel more confident this summer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Without miserable diets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Without intense exercise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97757"/>
                </a:solidFill>
                <a:latin typeface="Libre Baskerville"/>
              </a:rPr>
              <a:t>A proven, sustainable kickstart to your founding year.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WHAT’S INCLUDED  ·  02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731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00">
                <a:solidFill>
                  <a:srgbClr val="FFFFFF"/>
                </a:solidFill>
                <a:latin typeface="Alegreya Sans"/>
              </a:rPr>
              <a:t>VALUE  £1,997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Weekly LIVE Coaching Sessions With Anna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Coaching, Q&amp;As and expert guidance every single week.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Stay accountable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Stay motivated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6291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526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Stay consistent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Personal guidance from Anna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Always know what to focus on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97757"/>
                </a:solidFill>
                <a:latin typeface="Libre Baskerville"/>
              </a:rPr>
              <a:t>Always knowing what to focus on next.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WHAT’S INCLUDED  ·  03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731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00">
                <a:solidFill>
                  <a:srgbClr val="FFFFFF"/>
                </a:solidFill>
                <a:latin typeface="Alegreya Sans"/>
              </a:rPr>
              <a:t>VALUE  £997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Daily Coaching &amp; Accountability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Feel supported every single day, not just once a week.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Ongoing accountability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Day-to-day coaching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Real-time momentum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Help when life gets busy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97757"/>
                </a:solidFill>
                <a:latin typeface="Libre Baskerville"/>
              </a:rPr>
              <a:t>Like having WLA in your pocket every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WHAT’S INCLUDED  ·  04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731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00">
                <a:solidFill>
                  <a:srgbClr val="FFFFFF"/>
                </a:solidFill>
                <a:latin typeface="Alegreya Sans"/>
              </a:rPr>
              <a:t>VALUE  £997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Female-Only WLA Community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Surround yourself with women on the same journey.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Share wins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Celebrate progress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Stay accountable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Stop trying to do this alone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97757"/>
                </a:solidFill>
                <a:latin typeface="Libre Baskerville"/>
              </a:rPr>
              <a:t>Women who truly understand the struggles and the goals.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WHAT’S INCLUDED  ·  05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731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00">
                <a:solidFill>
                  <a:srgbClr val="FFFFFF"/>
                </a:solidFill>
                <a:latin typeface="Alegreya Sans"/>
              </a:rPr>
              <a:t>VALUE  £497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Access To ALL WLA Challenges For 12 Months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Resets, challenges and accountability sprints all year.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Every reset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Every challenge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Every accountability event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Momentum boosts year-round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97757"/>
                </a:solidFill>
                <a:latin typeface="Libre Baskerville"/>
              </a:rPr>
              <a:t>Keep momentum going all year long.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WHAT’S INCLUDED  ·  06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731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00">
                <a:solidFill>
                  <a:srgbClr val="FFFFFF"/>
                </a:solidFill>
                <a:latin typeface="Alegreya Sans"/>
              </a:rPr>
              <a:t>VALUE  £397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Weekly Fat Loss Meal Guides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Simple, realistic meal guides delivered every week.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Make weight loss easier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More flexible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More sustainable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For real, busy lives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97757"/>
                </a:solidFill>
                <a:latin typeface="Libre Baskerville"/>
              </a:rPr>
              <a:t>New guides added every single week.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WHAT’S INCLUDED  ·  07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731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00">
                <a:solidFill>
                  <a:srgbClr val="FFFFFF"/>
                </a:solidFill>
                <a:latin typeface="Alegreya Sans"/>
              </a:rPr>
              <a:t>VALUE  £197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The WLA Nutrition Formula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Learn the exact WLA approach.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Flexible fat loss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Long-term consistency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No restrictive rules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The principles that actually last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97757"/>
                </a:solidFill>
                <a:latin typeface="Libre Baskerville"/>
              </a:rPr>
              <a:t>The formula behind 11 years of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WHAT’S INCLUDED  ·  08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731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00">
                <a:solidFill>
                  <a:srgbClr val="FFFFFF"/>
                </a:solidFill>
                <a:latin typeface="Alegreya Sans"/>
              </a:rPr>
              <a:t>VALUE  £197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Access To The WLA Recipe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100+ simple, family-friendly recipes.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Designed for fat loss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Family-friendly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No overcomplicated nutrition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Real food, real meals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97757"/>
                </a:solidFill>
                <a:latin typeface="Libre Baskerville"/>
              </a:rPr>
              <a:t>No bland diet food. No miserable meal plans.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WHAT’S INCLUDED  ·  09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731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00">
                <a:solidFill>
                  <a:srgbClr val="FFFFFF"/>
                </a:solidFill>
                <a:latin typeface="Alegreya Sans"/>
              </a:rPr>
              <a:t>VALUE  £27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WLA Nutrition &amp; Lifestyle Guides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Practical tools to support your results.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Snack guides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Food swaps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Fat loss boosters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Real-life lifestyle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97757"/>
                </a:solidFill>
                <a:latin typeface="Libre Baskerville"/>
              </a:rPr>
              <a:t>The small details that make a big difference.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WHAT’S INCLUDED  ·  10 /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74175" y="7315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00">
                <a:solidFill>
                  <a:srgbClr val="FFFFFF"/>
                </a:solidFill>
                <a:latin typeface="Alegreya Sans"/>
              </a:rPr>
              <a:t>VALUE  £297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Founding Member Access To The New WLA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Early access to the next evolution of WLA.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Advanced daily tracking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Lifestyle tracking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6291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526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Progress dashboards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0863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983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Habit tracking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Meal planning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41719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40690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Shopping lists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6291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45262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Future feature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97757"/>
                </a:solidFill>
                <a:latin typeface="Libre Baskerville"/>
              </a:rPr>
              <a:t>You’re in before doors open to the wider audience.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0" y="82296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260">
                <a:solidFill>
                  <a:srgbClr val="FFFFFF"/>
                </a:solidFill>
                <a:latin typeface="Alegreya Sans"/>
              </a:rPr>
              <a:t>TOTAL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0" b="1" i="0">
                <a:solidFill>
                  <a:srgbClr val="FFFFFF"/>
                </a:solidFill>
                <a:latin typeface="Libre Baskerville"/>
              </a:rPr>
              <a:t>£5,750</a:t>
            </a:r>
            <a:r>
              <a:rPr sz="10000" b="0" i="1">
                <a:solidFill>
                  <a:srgbClr val="E5917A"/>
                </a:solidFill>
                <a:latin typeface="Libre Baskerville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280">
                <a:solidFill>
                  <a:srgbClr val="F4EBDC"/>
                </a:solidFill>
                <a:latin typeface="Alegreya Sans"/>
              </a:rPr>
              <a:t>Founding Members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338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 i="1">
                <a:solidFill>
                  <a:srgbClr val="FFFFFF"/>
                </a:solidFill>
                <a:latin typeface="Libre Baskerville"/>
              </a:rPr>
              <a:t>You pay just </a:t>
            </a:r>
            <a:r>
              <a:rPr sz="7000" b="1" i="0">
                <a:solidFill>
                  <a:srgbClr val="E5917A"/>
                </a:solidFill>
                <a:latin typeface="Libre Baskerville"/>
              </a:rPr>
              <a:t>£97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0" y="1097280"/>
            <a:ext cx="4846320" cy="502920"/>
          </a:xfrm>
          <a:prstGeom prst="roundRect">
            <a:avLst>
              <a:gd name="adj" fmla="val 50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260">
                <a:solidFill>
                  <a:srgbClr val="F4EBDC"/>
                </a:solidFill>
                <a:latin typeface="Alegreya Sans"/>
              </a:rPr>
              <a:t>FOUNDING MEMBERS ALSO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A few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quietly significant</a:t>
            </a:r>
          </a:p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extras.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FOUNDING MEMBER BONUS  ·  01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Future Updates &amp; New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Every update we ship, included.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Every WLA app update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2633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41605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Every new feature we ship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81203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47091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Through your full founding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FOUNDING MEMBER BONUS  ·  02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Early Access Before Public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You’re in before doors open to the wider audience.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Phase 1 access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2633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41605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Before public launch in September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81203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47091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Earliest access to everything 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FOUNDING MEMBER BONUS  ·  03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The LOWEST Price WLA Will Ever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Phase 1 pricing never returns.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Founding rate locked in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2633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41605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Pricing increases after Phase 1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81203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47091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This exact offer never returns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D97757"/>
                </a:solidFill>
                <a:latin typeface="Alegreya Sans"/>
              </a:rPr>
              <a:t>FOUNDING MEMBER BONUS  ·  04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D97757"/>
                </a:solidFill>
                <a:latin typeface="Libre Baskerville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716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0E2746"/>
                </a:solidFill>
                <a:latin typeface="Libre Baskerville"/>
              </a:rPr>
              <a:t>Help Shape The Future Of WLA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1">
                <a:solidFill>
                  <a:srgbClr val="0E2746"/>
                </a:solidFill>
                <a:latin typeface="Libre Baskerville"/>
              </a:rPr>
              <a:t>From the very beginning.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71475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8176" y="3611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Founding members guide what gets built next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26339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41605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A real seat at the table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812030"/>
            <a:ext cx="118872" cy="1188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176" y="47091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0E2746"/>
                </a:solidFill>
                <a:latin typeface="Libre Baskerville"/>
              </a:rPr>
              <a:t>Be part of the story from day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1" i="0" spc="240">
                <a:solidFill>
                  <a:srgbClr val="D97757"/>
                </a:solidFill>
                <a:latin typeface="Alegreya Sans"/>
              </a:rPr>
              <a:t>TWO HALVES OF THE SAME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327" y="182880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327" y="22860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240">
                <a:solidFill>
                  <a:srgbClr val="D97757"/>
                </a:solidFill>
                <a:latin typeface="Alegreya Sans"/>
              </a:rPr>
              <a:t>12 WEEK SUMMER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301752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0E2746"/>
                </a:solidFill>
                <a:latin typeface="Libre Baskerville"/>
              </a:rPr>
              <a:t>Helps women </a:t>
            </a:r>
            <a:r>
              <a:rPr sz="2800" b="1" i="1">
                <a:solidFill>
                  <a:srgbClr val="D97757"/>
                </a:solidFill>
                <a:latin typeface="Libre Baskerville"/>
              </a:rPr>
              <a:t>lose</a:t>
            </a:r>
          </a:p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0E2746"/>
                </a:solidFill>
                <a:latin typeface="Libre Baskerville"/>
              </a:rPr>
              <a:t>the weight.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828800"/>
            <a:ext cx="5120640" cy="3657600"/>
          </a:xfrm>
          <a:prstGeom prst="roundRect">
            <a:avLst>
              <a:gd name="adj" fmla="val 6000"/>
            </a:avLst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8727" y="22860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240">
                <a:solidFill>
                  <a:srgbClr val="E5917A"/>
                </a:solidFill>
                <a:latin typeface="Alegreya Sans"/>
              </a:rPr>
              <a:t>THE FOUNDING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301752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Libre Baskerville"/>
              </a:rPr>
              <a:t>Helps women </a:t>
            </a:r>
            <a:r>
              <a:rPr sz="2800" b="1" i="1">
                <a:solidFill>
                  <a:srgbClr val="E5917A"/>
                </a:solidFill>
                <a:latin typeface="Libre Baskerville"/>
              </a:rPr>
              <a:t>KEEP</a:t>
            </a:r>
          </a:p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FFFFFF"/>
                </a:solidFill>
                <a:latin typeface="Libre Baskerville"/>
              </a:rPr>
              <a:t>it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0" y="1280160"/>
            <a:ext cx="4297680" cy="50292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240">
                <a:solidFill>
                  <a:srgbClr val="FFFFFF"/>
                </a:solidFill>
                <a:latin typeface="Alegreya Sans"/>
              </a:rPr>
              <a:t>IMAGINE THIS BEING YOUR SUMMER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3385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E2746"/>
                </a:solidFill>
                <a:latin typeface="Libre Baskerville"/>
              </a:rPr>
              <a:t>Reaching September </a:t>
            </a:r>
            <a:r>
              <a:rPr sz="4200" b="0" i="1">
                <a:solidFill>
                  <a:srgbClr val="D97757"/>
                </a:solidFill>
                <a:latin typeface="Libre Baskerville"/>
              </a:rPr>
              <a:t>still building</a:t>
            </a:r>
          </a:p>
          <a:p>
            <a:pPr algn="ctr">
              <a:lnSpc>
                <a:spcPct val="120000"/>
              </a:lnSpc>
            </a:pPr>
            <a:r>
              <a:rPr sz="4200" b="1" i="0">
                <a:solidFill>
                  <a:srgbClr val="0E2746"/>
                </a:solidFill>
                <a:latin typeface="Libre Baskerville"/>
              </a:rPr>
              <a:t>momentum, not starting 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240">
                <a:solidFill>
                  <a:srgbClr val="D97757"/>
                </a:solidFill>
                <a:latin typeface="Alegreya Sans"/>
              </a:rPr>
              <a:t>IMAGINE  ·  1 of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E2746"/>
                </a:solidFill>
                <a:latin typeface="Libre Baskerville"/>
              </a:rPr>
              <a:t>Putting clothes on and actually FEELING good in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E2746"/>
                </a:solidFill>
                <a:latin typeface="Libre Baskerville"/>
              </a:rPr>
              <a:t>Going on holiday without worrying about covering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2316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231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E2746"/>
                </a:solidFill>
                <a:latin typeface="Libre Baskerville"/>
              </a:rPr>
              <a:t>Feeling lighter, leaner and more confident in your body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2316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42316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E2746"/>
                </a:solidFill>
                <a:latin typeface="Libre Baskerville"/>
              </a:rPr>
              <a:t>Looking in the mirror and feeling proud of yourself again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0040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20040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0040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E2746"/>
                </a:solidFill>
                <a:latin typeface="Libre Baskerville"/>
              </a:rPr>
              <a:t>Not constantly thinking about food all day long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240">
                <a:solidFill>
                  <a:srgbClr val="D97757"/>
                </a:solidFill>
                <a:latin typeface="Alegreya Sans"/>
              </a:rPr>
              <a:t>IMAGINE  ·  2 of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E2746"/>
                </a:solidFill>
                <a:latin typeface="Libre Baskerville"/>
              </a:rPr>
              <a:t>Reducing bloating, puffiness and overeating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4592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E2746"/>
                </a:solidFill>
                <a:latin typeface="Libre Baskerville"/>
              </a:rPr>
              <a:t>Waking up with more energy and motivation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2316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2316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231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E2746"/>
                </a:solidFill>
                <a:latin typeface="Libre Baskerville"/>
              </a:rPr>
              <a:t>Finally feeling back in control around food again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23160"/>
            <a:ext cx="4937760" cy="640080"/>
          </a:xfrm>
          <a:prstGeom prst="roundRect">
            <a:avLst>
              <a:gd name="adj" fmla="val 15000"/>
            </a:avLst>
          </a:prstGeom>
          <a:solidFill>
            <a:srgbClr val="FDFBF8"/>
          </a:solidFill>
          <a:ln>
            <a:solidFill>
              <a:srgbClr val="E9DF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423160"/>
            <a:ext cx="54864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E2746"/>
                </a:solidFill>
                <a:latin typeface="Libre Baskerville"/>
              </a:rPr>
              <a:t>Reaching September STILL building momentum instead of starting again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2200"/>
              </a:spcAft>
            </a:pPr>
            <a:r>
              <a:rPr sz="3800" b="0" i="1">
                <a:solidFill>
                  <a:srgbClr val="FFFFFF"/>
                </a:solidFill>
                <a:latin typeface="Libre Baskerville"/>
              </a:rPr>
              <a:t>This isn’t just about </a:t>
            </a:r>
            <a:r>
              <a:rPr sz="3800" b="1" i="1">
                <a:solidFill>
                  <a:srgbClr val="E5917A"/>
                </a:solidFill>
                <a:latin typeface="Libre Baskerville"/>
              </a:rPr>
              <a:t>losing weight.</a:t>
            </a:r>
          </a:p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FFFFFF"/>
                </a:solidFill>
                <a:latin typeface="Libre Baskerville"/>
              </a:rPr>
              <a:t>It’s about </a:t>
            </a:r>
            <a:r>
              <a:rPr sz="4400" b="1" i="1">
                <a:solidFill>
                  <a:srgbClr val="E5917A"/>
                </a:solidFill>
                <a:latin typeface="Libre Baskerville"/>
              </a:rPr>
              <a:t>becoming the version of yourself</a:t>
            </a:r>
          </a:p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FFFFFF"/>
                </a:solidFill>
                <a:latin typeface="Libre Baskerville"/>
              </a:rPr>
              <a:t>you </a:t>
            </a:r>
            <a:r>
              <a:rPr sz="4400" b="1" i="1">
                <a:solidFill>
                  <a:srgbClr val="E5917A"/>
                </a:solidFill>
                <a:latin typeface="Libre Baskerville"/>
              </a:rPr>
              <a:t>know</a:t>
            </a:r>
            <a:r>
              <a:rPr sz="4400" b="1" i="0">
                <a:solidFill>
                  <a:srgbClr val="FFFFFF"/>
                </a:solidFill>
                <a:latin typeface="Libre Baskerville"/>
              </a:rPr>
              <a:t> is still in there.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83280" y="914400"/>
            <a:ext cx="5394960" cy="50292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600" b="1" spc="240">
                <a:solidFill>
                  <a:srgbClr val="FFFFFF"/>
                </a:solidFill>
                <a:latin typeface="Alegreya Sans"/>
              </a:rPr>
              <a:t>🚨  FOUNDING MEMBERS ARE NOW OPENING  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3385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1" i="0">
                <a:solidFill>
                  <a:srgbClr val="0E2746"/>
                </a:solidFill>
                <a:latin typeface="Libre Baskerville"/>
              </a:rPr>
              <a:t>Only </a:t>
            </a:r>
            <a:r>
              <a:rPr sz="6000" b="0" i="1">
                <a:solidFill>
                  <a:srgbClr val="D97757"/>
                </a:solidFill>
                <a:latin typeface="Libre Baskerville"/>
              </a:rPr>
              <a:t>1,000 places</a:t>
            </a:r>
          </a:p>
          <a:p>
            <a:pPr algn="ctr">
              <a:lnSpc>
                <a:spcPct val="110000"/>
              </a:lnSpc>
              <a:spcAft>
                <a:spcPts val="2800"/>
              </a:spcAft>
            </a:pPr>
            <a:r>
              <a:rPr sz="6000" b="1" i="0">
                <a:solidFill>
                  <a:srgbClr val="0E2746"/>
                </a:solidFill>
                <a:latin typeface="Libre Baskerville"/>
              </a:rPr>
              <a:t>before public launch.</a:t>
            </a:r>
          </a:p>
          <a:p>
            <a:pPr algn="ctr">
              <a:lnSpc>
                <a:spcPct val="135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Because you’re already part of WLA, YOU get first access before anyone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338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0" i="1">
                <a:solidFill>
                  <a:srgbClr val="FFFFFF"/>
                </a:solidFill>
                <a:latin typeface="Libre Baskerville"/>
              </a:rPr>
              <a:t>Once these places are gone…</a:t>
            </a:r>
          </a:p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Libre Baskerville"/>
              </a:rPr>
              <a:t>they are gone </a:t>
            </a:r>
            <a:r>
              <a:rPr sz="5600" b="1" i="1">
                <a:solidFill>
                  <a:srgbClr val="E5917A"/>
                </a:solidFill>
                <a:latin typeface="Libre Baskerville"/>
              </a:rPr>
              <a:t>forever</a:t>
            </a:r>
            <a:r>
              <a:rPr sz="5600" b="1" i="0">
                <a:solidFill>
                  <a:srgbClr val="FFFFFF"/>
                </a:solidFill>
                <a:latin typeface="Libre Baskervil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40">
                <a:solidFill>
                  <a:srgbClr val="D97757"/>
                </a:solidFill>
                <a:latin typeface="Alegreya Sans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2800"/>
              </a:spcAft>
            </a:pPr>
            <a:r>
              <a:rPr sz="4400" b="1" i="0">
                <a:solidFill>
                  <a:srgbClr val="0E2746"/>
                </a:solidFill>
                <a:latin typeface="Libre Baskerville"/>
              </a:rPr>
              <a:t>This isn’t about starting </a:t>
            </a:r>
            <a:r>
              <a:rPr sz="4400" b="0" i="1">
                <a:solidFill>
                  <a:srgbClr val="D97757"/>
                </a:solidFill>
                <a:latin typeface="Libre Baskerville"/>
              </a:rPr>
              <a:t>another diet.</a:t>
            </a:r>
          </a:p>
          <a:p>
            <a:pPr algn="ctr">
              <a:lnSpc>
                <a:spcPct val="140000"/>
              </a:lnSpc>
              <a:spcAft>
                <a:spcPts val="2000"/>
              </a:spcAft>
            </a:pPr>
            <a:r>
              <a:rPr sz="1900" b="0" i="0">
                <a:solidFill>
                  <a:srgbClr val="333333"/>
                </a:solidFill>
                <a:latin typeface="Alegreya Sans"/>
              </a:rPr>
              <a:t>It’s about continuing the habits, support and momentum you’ve already worked so hard to build.</a:t>
            </a:r>
          </a:p>
          <a:p>
            <a:pPr algn="ctr">
              <a:lnSpc>
                <a:spcPct val="140000"/>
              </a:lnSpc>
            </a:pPr>
            <a:r>
              <a:rPr sz="2000" b="0" i="1">
                <a:solidFill>
                  <a:srgbClr val="0E2746"/>
                </a:solidFill>
                <a:latin typeface="Libre Baskerville"/>
              </a:rPr>
              <a:t>The women who maintain their results long term are usually the women who continue living the WLA lifestyle.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A6478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5A6478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0" y="868680"/>
            <a:ext cx="4297680" cy="50292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500" b="1" spc="240">
                <a:solidFill>
                  <a:srgbClr val="FFFFFF"/>
                </a:solidFill>
                <a:latin typeface="Alegreya Sans"/>
              </a:rPr>
              <a:t>FOUNDING MEMBERS · LIMITED 1,000 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3385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FFFFFF"/>
                </a:solidFill>
                <a:latin typeface="Libre Baskerville"/>
              </a:rPr>
              <a:t>And I cannot </a:t>
            </a:r>
            <a:r>
              <a:rPr sz="5600" b="1" i="1">
                <a:solidFill>
                  <a:srgbClr val="E5917A"/>
                </a:solidFill>
                <a:latin typeface="Libre Baskerville"/>
              </a:rPr>
              <a:t>wait</a:t>
            </a:r>
          </a:p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FFFFFF"/>
                </a:solidFill>
                <a:latin typeface="Libre Baskerville"/>
              </a:rPr>
              <a:t>for you to be part of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4663440"/>
            <a:ext cx="4480560" cy="7772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0" y="4663440"/>
            <a:ext cx="4480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240">
                <a:solidFill>
                  <a:srgbClr val="FFFFFF"/>
                </a:solidFill>
                <a:latin typeface="Alegreya Sans"/>
              </a:rPr>
              <a:t>JOIN AS A FOUNDING MEMBER 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235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 spc="150">
                <a:solidFill>
                  <a:srgbClr val="F4EBDC"/>
                </a:solidFill>
                <a:latin typeface="Alegreya Sans"/>
              </a:rPr>
              <a:t>sales.thewlacademy.com/founding-member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FFFFFF"/>
                </a:solidFill>
                <a:latin typeface="Libre Baskerville"/>
              </a:rPr>
              <a:t>The Weight Loss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6355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FFFFFF"/>
                </a:solidFill>
                <a:latin typeface="Alegreya Sans"/>
              </a:rPr>
              <a:t>WLA SUMMER CHALLENGE  ·  FOUNDING MEMBERS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