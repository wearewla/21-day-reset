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jp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nna-portrait.jpg"/>
          <p:cNvPicPr>
            <a:picLocks noChangeAspect="1"/>
          </p:cNvPicPr>
          <p:nvPr/>
        </p:nvPicPr>
        <p:blipFill>
          <a:blip r:embed="rId2"/>
          <a:srcRect l="2158" r="2158"/>
          <a:stretch>
            <a:fillRect/>
          </a:stretch>
        </p:blipFill>
        <p:spPr>
          <a:xfrm>
            <a:off x="7818120" y="0"/>
            <a:ext cx="437357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63256" y="0"/>
            <a:ext cx="54864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868680"/>
            <a:ext cx="338328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400" b="1" spc="240">
                <a:solidFill>
                  <a:srgbClr val="F4EBDC"/>
                </a:solidFill>
                <a:latin typeface="Alegreya Sans"/>
              </a:rPr>
              <a:t>VIP 1-2-1 COACHING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783080"/>
            <a:ext cx="67665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Personal coaching</a:t>
            </a:r>
          </a:p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that finally gets</a:t>
            </a:r>
          </a:p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you </a:t>
            </a:r>
            <a:r>
              <a:rPr sz="4200" b="1" i="1">
                <a:solidFill>
                  <a:srgbClr val="D97757"/>
                </a:solidFill>
                <a:latin typeface="Libre Baskerville"/>
              </a:rPr>
              <a:t>results</a:t>
            </a:r>
            <a:r>
              <a:rPr sz="42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1">
                <a:solidFill>
                  <a:srgbClr val="5A6478"/>
                </a:solidFill>
                <a:latin typeface="Libre Baskerville"/>
              </a:rPr>
              <a:t>Lose up to 3 stone — without extreme diets or exhausting workouts.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 spc="150">
                <a:solidFill>
                  <a:srgbClr val="0E2746"/>
                </a:solidFill>
                <a:latin typeface="Alegreya Sans"/>
              </a:rPr>
              <a:t>WITH ANNA WALLACE  ·  FOUNDER OF WLA  ·  REGISTERED ASSOCIATE NUTRITIONIST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BACK BY POPULAR DEMAND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 i="0">
                <a:solidFill>
                  <a:srgbClr val="0E2746"/>
                </a:solidFill>
                <a:latin typeface="Libre Baskerville"/>
              </a:rPr>
              <a:t>VIP is </a:t>
            </a:r>
            <a:r>
              <a:rPr sz="4600" b="1" i="1">
                <a:solidFill>
                  <a:srgbClr val="D97757"/>
                </a:solidFill>
                <a:latin typeface="Libre Baskerville"/>
              </a:rPr>
              <a:t>back</a:t>
            </a:r>
            <a:r>
              <a:rPr sz="4600" b="1" i="0">
                <a:solidFill>
                  <a:srgbClr val="0E2746"/>
                </a:solidFill>
                <a:latin typeface="Libre Baskerville"/>
              </a:rPr>
              <a:t> — and this round, I want to coach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058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2000" b="0" i="0">
                <a:solidFill>
                  <a:srgbClr val="333333"/>
                </a:solidFill>
                <a:latin typeface="Alegreya Sans"/>
              </a:rPr>
              <a:t>This round I’m looking for </a:t>
            </a:r>
            <a:r>
              <a:rPr sz="2000" b="1" i="0">
                <a:solidFill>
                  <a:srgbClr val="0E2746"/>
                </a:solidFill>
                <a:latin typeface="Alegreya Sans"/>
              </a:rPr>
              <a:t>30 women</a:t>
            </a:r>
            <a:r>
              <a:rPr sz="2000" b="0" i="0">
                <a:solidFill>
                  <a:srgbClr val="333333"/>
                </a:solidFill>
                <a:latin typeface="Alegreya Sans"/>
              </a:rPr>
              <a:t> to coach 1-2-1 — and to create as many success stories as possible.</a:t>
            </a:r>
          </a:p>
          <a:p>
            <a:pPr algn="l">
              <a:lnSpc>
                <a:spcPct val="14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A brand new round. Risk-free. Built entirely around you.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78808" y="1371600"/>
            <a:ext cx="3840480" cy="4572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300" b="1" spc="160">
                <a:solidFill>
                  <a:srgbClr val="FFFFFF"/>
                </a:solidFill>
                <a:latin typeface="Alegreya Sans"/>
              </a:rPr>
              <a:t>THE QUESTION I HEAR MOST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200"/>
              </a:spcAft>
            </a:pPr>
            <a:r>
              <a:rPr sz="5800" b="0" i="1">
                <a:solidFill>
                  <a:srgbClr val="FFFFFF"/>
                </a:solidFill>
                <a:latin typeface="Libre Baskerville"/>
              </a:rPr>
              <a:t>“When is VIP </a:t>
            </a:r>
            <a:r>
              <a:rPr sz="5800" b="1" i="1">
                <a:solidFill>
                  <a:srgbClr val="E5917A"/>
                </a:solidFill>
                <a:latin typeface="Libre Baskerville"/>
              </a:rPr>
              <a:t>coming back</a:t>
            </a:r>
            <a:r>
              <a:rPr sz="5800" b="0" i="1">
                <a:solidFill>
                  <a:srgbClr val="FFFFFF"/>
                </a:solidFill>
                <a:latin typeface="Libre Baskerville"/>
              </a:rPr>
              <a:t>?”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F4EBDC"/>
                </a:solidFill>
                <a:latin typeface="Alegreya Sans"/>
              </a:rPr>
              <a:t>It’s been closed for over a year. So we’re opening one brand new round of 1-2-1 VIP coaching.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WHAT VIP HELPS YOU DO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Lose the weight — and </a:t>
            </a:r>
            <a:r>
              <a:rPr sz="4200" b="1" i="1">
                <a:solidFill>
                  <a:srgbClr val="D97757"/>
                </a:solidFill>
                <a:latin typeface="Libre Baskerville"/>
              </a:rPr>
              <a:t>feel like you again</a:t>
            </a:r>
            <a:r>
              <a:rPr sz="42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33147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9576" y="32004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Lose up to 1–3 stone</a:t>
            </a:r>
          </a:p>
        </p:txBody>
      </p:sp>
      <p:sp>
        <p:nvSpPr>
          <p:cNvPr id="8" name="Oval 7"/>
          <p:cNvSpPr/>
          <p:nvPr/>
        </p:nvSpPr>
        <p:spPr>
          <a:xfrm>
            <a:off x="6263640" y="33147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74536" y="32004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Build real, lasting confidence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027932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9576" y="391363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Calm your sugar cravings</a:t>
            </a:r>
          </a:p>
        </p:txBody>
      </p:sp>
      <p:sp>
        <p:nvSpPr>
          <p:cNvPr id="12" name="Oval 11"/>
          <p:cNvSpPr/>
          <p:nvPr/>
        </p:nvSpPr>
        <p:spPr>
          <a:xfrm>
            <a:off x="6263640" y="4027932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4536" y="391363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Skyrocket your energy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741164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9576" y="462686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Look and feel amazing by summer</a:t>
            </a:r>
          </a:p>
        </p:txBody>
      </p:sp>
      <p:sp>
        <p:nvSpPr>
          <p:cNvPr id="16" name="Oval 15"/>
          <p:cNvSpPr/>
          <p:nvPr/>
        </p:nvSpPr>
        <p:spPr>
          <a:xfrm>
            <a:off x="6263640" y="4741164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74536" y="462686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No extreme diets. No exhausting workouts.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WHY 1-2-1 CHANGES EVERYTHING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Nothing transforms results like </a:t>
            </a:r>
            <a:r>
              <a:rPr sz="4000" b="1" i="1">
                <a:solidFill>
                  <a:srgbClr val="D97757"/>
                </a:solidFill>
                <a:latin typeface="Libre Baskerville"/>
              </a:rPr>
              <a:t>1-2-1 coaching</a:t>
            </a:r>
            <a:r>
              <a:rPr sz="40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2412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2100" b="0" i="0">
                <a:solidFill>
                  <a:srgbClr val="333333"/>
                </a:solidFill>
                <a:latin typeface="Alegreya Sans"/>
              </a:rPr>
              <a:t>I’ll guide you through the exact simple nutrition formula I used to lose over 2 stone and keep it off.</a:t>
            </a: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333333"/>
                </a:solidFill>
                <a:latin typeface="Alegreya Sans"/>
              </a:rPr>
              <a:t>As a degree-qualified Registered Associate Nutritionist with 11+ years’ experience and 50,000+ clients supported — </a:t>
            </a:r>
            <a:r>
              <a:rPr sz="2000" b="0" i="1">
                <a:solidFill>
                  <a:srgbClr val="0E2746"/>
                </a:solidFill>
                <a:latin typeface="Libre Baskerville"/>
              </a:rPr>
              <a:t>nothing comes close to personal 1-2-1 coaching.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709160" y="128016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300" b="1" spc="260">
                <a:solidFill>
                  <a:srgbClr val="FFFFFF"/>
                </a:solidFill>
                <a:latin typeface="Alegreya Sans"/>
              </a:rPr>
              <a:t>THE VIP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600" b="1" i="0">
                <a:solidFill>
                  <a:srgbClr val="FFFFFF"/>
                </a:solidFill>
                <a:latin typeface="Libre Baskerville"/>
              </a:rPr>
              <a:t>Three things that make VIP </a:t>
            </a:r>
            <a:r>
              <a:rPr sz="4600" b="1" i="1">
                <a:solidFill>
                  <a:srgbClr val="E5917A"/>
                </a:solidFill>
                <a:latin typeface="Libre Baskerville"/>
              </a:rPr>
              <a:t>different</a:t>
            </a:r>
            <a:r>
              <a:rPr sz="4600" b="1" i="0">
                <a:solidFill>
                  <a:srgbClr val="FFFFFF"/>
                </a:solidFill>
                <a:latin typeface="Libre Baskerville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3767" y="3657600"/>
            <a:ext cx="3200400" cy="1828800"/>
          </a:xfrm>
          <a:prstGeom prst="roundRect">
            <a:avLst>
              <a:gd name="adj" fmla="val 8000"/>
            </a:avLst>
          </a:prstGeom>
          <a:solidFill>
            <a:srgbClr val="091A30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3767" y="38862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 i="0">
                <a:solidFill>
                  <a:srgbClr val="E5917A"/>
                </a:solidFill>
                <a:latin typeface="Libre Baskerville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647" y="480060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FFFFFF"/>
                </a:solidFill>
                <a:latin typeface="Libre Baskerville"/>
              </a:rPr>
              <a:t>Personalised Strategy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95647" y="3657600"/>
            <a:ext cx="3200400" cy="1828800"/>
          </a:xfrm>
          <a:prstGeom prst="roundRect">
            <a:avLst>
              <a:gd name="adj" fmla="val 8000"/>
            </a:avLst>
          </a:prstGeom>
          <a:solidFill>
            <a:srgbClr val="091A30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5647" y="38862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 i="0">
                <a:solidFill>
                  <a:srgbClr val="E5917A"/>
                </a:solidFill>
                <a:latin typeface="Libre Baskerville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527" y="480060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FFFFFF"/>
                </a:solidFill>
                <a:latin typeface="Libre Baskerville"/>
              </a:rPr>
              <a:t>High Accountability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7527" y="3657600"/>
            <a:ext cx="3200400" cy="1828800"/>
          </a:xfrm>
          <a:prstGeom prst="roundRect">
            <a:avLst>
              <a:gd name="adj" fmla="val 8000"/>
            </a:avLst>
          </a:prstGeom>
          <a:solidFill>
            <a:srgbClr val="091A30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7527" y="38862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 i="0">
                <a:solidFill>
                  <a:srgbClr val="E5917A"/>
                </a:solidFill>
                <a:latin typeface="Libre Baskerville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0407" y="480060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FFFFFF"/>
                </a:solidFill>
                <a:latin typeface="Libre Baskerville"/>
              </a:rPr>
              <a:t>Results Tracking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869680" y="457200"/>
            <a:ext cx="3108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5000" b="1" i="0">
                <a:solidFill>
                  <a:srgbClr val="E9DFD3"/>
                </a:solidFill>
                <a:latin typeface="Libre Baskerville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STEP 1 OF 3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8412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Personalised Nutrition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1">
                <a:solidFill>
                  <a:srgbClr val="D97757"/>
                </a:solidFill>
                <a:latin typeface="Libre Baskerville"/>
              </a:rPr>
              <a:t>A plan built entirely around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86200"/>
            <a:ext cx="10241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Alegreya Sans"/>
              </a:rPr>
              <a:t>We build a simple nutrition strategy tailored to your lifestyle, goals, time and preferences.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Alegreya Sans"/>
              </a:rPr>
              <a:t>No guesswork. No extremes. No starting again every Monday — just a clear structure that reduces cravings and gets results sooner.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869680" y="457200"/>
            <a:ext cx="3108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5000" b="1" i="0">
                <a:solidFill>
                  <a:srgbClr val="E9DFD3"/>
                </a:solidFill>
                <a:latin typeface="Libre Baskerville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STEP 2 OF 3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8412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High Accountability &amp; Daily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1">
                <a:solidFill>
                  <a:srgbClr val="D97757"/>
                </a:solidFill>
                <a:latin typeface="Libre Baskerville"/>
              </a:rPr>
              <a:t>The part most women are missing.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86200"/>
            <a:ext cx="10241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Alegreya Sans"/>
              </a:rPr>
              <a:t>When you’re accountable to someone else, you show up, follow through and take your goals seriously.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Alegreya Sans"/>
              </a:rPr>
              <a:t>With regular check-ins, coaching and daily support, you stay on track — even on the days you don’t feel like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869680" y="457200"/>
            <a:ext cx="3108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5000" b="1" i="0">
                <a:solidFill>
                  <a:srgbClr val="E9DFD3"/>
                </a:solidFill>
                <a:latin typeface="Libre Baskerville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STEP 3 OF 3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8412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Results Tracking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1">
                <a:solidFill>
                  <a:srgbClr val="D97757"/>
                </a:solidFill>
                <a:latin typeface="Libre Baskerville"/>
              </a:rPr>
              <a:t>We measure what matters, every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86200"/>
            <a:ext cx="10241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Alegreya Sans"/>
              </a:rPr>
              <a:t>You submit your results each month so we can track progress clearly and keep you moving forward.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Alegreya Sans"/>
              </a:rPr>
              <a:t>We review everything and make the right adjustments along the way, so your results keep progressing.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E5917A"/>
                </a:solidFill>
                <a:latin typeface="Alegreya Sans"/>
              </a:rPr>
              <a:t>THE RESEARCH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4241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b="1" i="0">
                <a:solidFill>
                  <a:srgbClr val="FFFFFF"/>
                </a:solidFill>
                <a:latin typeface="Libre Baskerville"/>
              </a:rPr>
              <a:t>Human 1-2-1 coaching </a:t>
            </a:r>
            <a:r>
              <a:rPr sz="4200" b="1" i="1">
                <a:solidFill>
                  <a:srgbClr val="E5917A"/>
                </a:solidFill>
                <a:latin typeface="Libre Baskerville"/>
              </a:rPr>
              <a:t>outperforms</a:t>
            </a:r>
            <a:r>
              <a:rPr sz="4200" b="1" i="0">
                <a:solidFill>
                  <a:srgbClr val="FFFFFF"/>
                </a:solidFill>
                <a:latin typeface="Libre Baskerville"/>
              </a:rPr>
              <a:t> digital-only or self-guided approaches.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23360"/>
            <a:ext cx="10424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2100" b="0" i="0">
                <a:solidFill>
                  <a:srgbClr val="F4EBDC"/>
                </a:solidFill>
                <a:latin typeface="Alegreya Sans"/>
              </a:rPr>
              <a:t>A Stanford University study found people with access to a human coach lost significantly more weight than those using digital tools alone — even when the information was identical.</a:t>
            </a:r>
          </a:p>
          <a:p>
            <a:pPr algn="l">
              <a:lnSpc>
                <a:spcPct val="140000"/>
              </a:lnSpc>
            </a:pPr>
            <a:r>
              <a:rPr sz="2100" b="0" i="1">
                <a:solidFill>
                  <a:srgbClr val="FFFFFF"/>
                </a:solidFill>
                <a:latin typeface="Libre Baskerville"/>
              </a:rPr>
              <a:t>It’s not the plan. It’s the support, accountability and feedback.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WHY MOST WOMEN STAY STUCK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You already know what to do.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Following through is the hard part.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24128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2100" b="0" i="0">
                <a:solidFill>
                  <a:srgbClr val="333333"/>
                </a:solidFill>
                <a:latin typeface="Alegreya Sans"/>
              </a:rPr>
              <a:t>Most women are stuck in the cycle of starting… stopping… and never quite following through. A good week, then life gets busy, motivation drops, and it’s back to square one.</a:t>
            </a:r>
          </a:p>
          <a:p>
            <a:pPr algn="l">
              <a:lnSpc>
                <a:spcPct val="145000"/>
              </a:lnSpc>
            </a:pPr>
            <a:r>
              <a:rPr sz="2000" b="0" i="1">
                <a:solidFill>
                  <a:srgbClr val="0E2746"/>
                </a:solidFill>
                <a:latin typeface="Libre Baskerville"/>
              </a:rPr>
              <a:t>Not because they don’t care — because they’re trying to do it alone. That’s exactly why VIP works.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IMAGINE, BY SUMMER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Picture this version of </a:t>
            </a:r>
            <a:r>
              <a:rPr sz="4000" b="1" i="1">
                <a:solidFill>
                  <a:srgbClr val="D97757"/>
                </a:solidFill>
                <a:latin typeface="Libre Baskerville"/>
              </a:rPr>
              <a:t>you</a:t>
            </a:r>
            <a:r>
              <a:rPr sz="4000" b="1" i="0">
                <a:solidFill>
                  <a:srgbClr val="0E2746"/>
                </a:solidFill>
                <a:latin typeface="Libre Baskerville"/>
              </a:rPr>
              <a:t>…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3171825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9576" y="306324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Putting on your favourite clothes and loving how you look</a:t>
            </a:r>
          </a:p>
        </p:txBody>
      </p:sp>
      <p:sp>
        <p:nvSpPr>
          <p:cNvPr id="8" name="Oval 7"/>
          <p:cNvSpPr/>
          <p:nvPr/>
        </p:nvSpPr>
        <p:spPr>
          <a:xfrm>
            <a:off x="6263640" y="3171825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74536" y="306324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Waking up lighter, energised and comfortable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921633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9576" y="3813048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No more constant cravings or evening snacking</a:t>
            </a:r>
          </a:p>
        </p:txBody>
      </p:sp>
      <p:sp>
        <p:nvSpPr>
          <p:cNvPr id="12" name="Oval 11"/>
          <p:cNvSpPr/>
          <p:nvPr/>
        </p:nvSpPr>
        <p:spPr>
          <a:xfrm>
            <a:off x="6263640" y="3921633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74536" y="3813048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Feeling proud of the woman in the mirror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671441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9576" y="4562856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Enjoying holidays and BBQs without worrying about your weight</a:t>
            </a:r>
          </a:p>
        </p:txBody>
      </p:sp>
      <p:sp>
        <p:nvSpPr>
          <p:cNvPr id="16" name="Oval 15"/>
          <p:cNvSpPr/>
          <p:nvPr/>
        </p:nvSpPr>
        <p:spPr>
          <a:xfrm>
            <a:off x="6263640" y="4671441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74536" y="4562856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Knowing exactly how to eat to lose weight and keep it off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SOUND FAMILIAR?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Are you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struggling with</a:t>
            </a:r>
            <a:r>
              <a:rPr sz="3800" b="1" i="0">
                <a:solidFill>
                  <a:srgbClr val="0E2746"/>
                </a:solidFill>
                <a:latin typeface="Libre Baskerville"/>
              </a:rPr>
              <a:t>…?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3832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5328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50">
                <a:solidFill>
                  <a:srgbClr val="D97757"/>
                </a:solidFill>
                <a:latin typeface="Alegreya Sans"/>
              </a:rPr>
              <a:t>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935224"/>
            <a:ext cx="2871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333333"/>
                </a:solidFill>
                <a:latin typeface="Alegreya Sans"/>
              </a:rPr>
              <a:t>No time to figure out your nutrition? Get a personalised strategy done for you.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2331720"/>
            <a:ext cx="33832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36592" y="25328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50">
                <a:solidFill>
                  <a:srgbClr val="D97757"/>
                </a:solidFill>
                <a:latin typeface="Alegreya Sans"/>
              </a:rPr>
              <a:t>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6592" y="2935224"/>
            <a:ext cx="2871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333333"/>
                </a:solidFill>
                <a:latin typeface="Alegreya Sans"/>
              </a:rPr>
              <a:t>Sick of not seeing results and want monthly progress you can feel?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331720"/>
            <a:ext cx="33832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2" y="25328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50">
                <a:solidFill>
                  <a:srgbClr val="D97757"/>
                </a:solidFill>
                <a:latin typeface="Alegreya Sans"/>
              </a:rPr>
              <a:t>CONSISTENCY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2935224"/>
            <a:ext cx="2871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333333"/>
                </a:solidFill>
                <a:latin typeface="Alegreya Sans"/>
              </a:rPr>
              <a:t>Need a coach so you actually stay consistent instead of quitting?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389120"/>
            <a:ext cx="33832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5902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50">
                <a:solidFill>
                  <a:srgbClr val="D97757"/>
                </a:solidFill>
                <a:latin typeface="Alegreya Sans"/>
              </a:rPr>
              <a:t>ENERGY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992624"/>
            <a:ext cx="2871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333333"/>
                </a:solidFill>
                <a:latin typeface="Alegreya Sans"/>
              </a:rPr>
              <a:t>Want a setup that gives you energy — off the sugar-and-caffeine cycle?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60" y="4389120"/>
            <a:ext cx="33832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36592" y="45902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50">
                <a:solidFill>
                  <a:srgbClr val="D97757"/>
                </a:solidFill>
                <a:latin typeface="Alegreya Sans"/>
              </a:rPr>
              <a:t>SNACKING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6592" y="4992624"/>
            <a:ext cx="2871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333333"/>
                </a:solidFill>
                <a:latin typeface="Alegreya Sans"/>
              </a:rPr>
              <a:t>Need support to stop the evening snacking that’s just habit?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4389120"/>
            <a:ext cx="33832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45902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50">
                <a:solidFill>
                  <a:srgbClr val="D97757"/>
                </a:solidFill>
                <a:latin typeface="Alegreya Sans"/>
              </a:rPr>
              <a:t>WEEKENDS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4992624"/>
            <a:ext cx="2871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333333"/>
                </a:solidFill>
                <a:latin typeface="Alegreya Sans"/>
              </a:rPr>
              <a:t>Want weekend handholding so you don’t undo your hard work?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jill-before-after.jpg"/>
          <p:cNvPicPr>
            <a:picLocks noChangeAspect="1"/>
          </p:cNvPicPr>
          <p:nvPr/>
        </p:nvPicPr>
        <p:blipFill>
          <a:blip r:embed="rId2"/>
          <a:srcRect l="14000" r="14000"/>
          <a:stretch>
            <a:fillRect/>
          </a:stretch>
        </p:blipFill>
        <p:spPr>
          <a:xfrm>
            <a:off x="0" y="0"/>
            <a:ext cx="493776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937760" y="0"/>
            <a:ext cx="54864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0" y="109728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200" b="1" spc="200">
                <a:solidFill>
                  <a:srgbClr val="F4EBDC"/>
                </a:solidFill>
                <a:latin typeface="Alegreya Sans"/>
              </a:rPr>
              <a:t>VIP SUCCESS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920240"/>
            <a:ext cx="60350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Jill lost </a:t>
            </a:r>
            <a:r>
              <a:rPr sz="4400" b="1" i="1">
                <a:solidFill>
                  <a:srgbClr val="D97757"/>
                </a:solidFill>
                <a:latin typeface="Libre Baskerville"/>
              </a:rPr>
              <a:t>4 stone</a:t>
            </a:r>
          </a:p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in 6 months in VIP.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114800"/>
            <a:ext cx="5943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1">
                <a:solidFill>
                  <a:srgbClr val="5A6478"/>
                </a:solidFill>
                <a:latin typeface="Libre Baskerville"/>
              </a:rPr>
              <a:t>“VIP has changed my life. I did WLA resets and group for 2 years and didn’t achieve half of what I have in VIP. It’s just so different.”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E5917A"/>
                </a:solidFill>
                <a:latin typeface="Alegreya Sans"/>
              </a:rPr>
              <a:t>REAL WOMEN, REAL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Libre Baskerville"/>
              </a:rPr>
              <a:t>The transformations speak for </a:t>
            </a:r>
            <a:r>
              <a:rPr sz="3600" b="1" i="1">
                <a:solidFill>
                  <a:srgbClr val="E5917A"/>
                </a:solidFill>
                <a:latin typeface="Libre Baskerville"/>
              </a:rPr>
              <a:t>themselves</a:t>
            </a:r>
            <a:r>
              <a:rPr sz="3600" b="1" i="0">
                <a:solidFill>
                  <a:srgbClr val="FFFFFF"/>
                </a:solidFill>
                <a:latin typeface="Libre Baskerville"/>
              </a:rPr>
              <a:t>.</a:t>
            </a:r>
          </a:p>
        </p:txBody>
      </p:sp>
      <p:pic>
        <p:nvPicPr>
          <p:cNvPr id="6" name="Picture 5" descr="ruth-before-after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68883" y="2743200"/>
            <a:ext cx="2542032" cy="2542032"/>
          </a:xfrm>
          <a:prstGeom prst="rect">
            <a:avLst/>
          </a:prstGeom>
        </p:spPr>
      </p:pic>
      <p:pic>
        <p:nvPicPr>
          <p:cNvPr id="7" name="Picture 6" descr="jill-before-after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39515" y="2743200"/>
            <a:ext cx="2542032" cy="2542032"/>
          </a:xfrm>
          <a:prstGeom prst="rect">
            <a:avLst/>
          </a:prstGeom>
        </p:spPr>
      </p:pic>
      <p:pic>
        <p:nvPicPr>
          <p:cNvPr id="8" name="Picture 7" descr="vicky-before-after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210147" y="2743200"/>
            <a:ext cx="2542032" cy="2542032"/>
          </a:xfrm>
          <a:prstGeom prst="rect">
            <a:avLst/>
          </a:prstGeom>
        </p:spPr>
      </p:pic>
      <p:pic>
        <p:nvPicPr>
          <p:cNvPr id="9" name="Picture 8" descr="barbara-before-after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980779" y="2743200"/>
            <a:ext cx="2542032" cy="2542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0" i="1">
                <a:solidFill>
                  <a:srgbClr val="F4EBDC"/>
                </a:solidFill>
                <a:latin typeface="Libre Baskerville"/>
              </a:rPr>
              <a:t>From 1 to 4 stone down — in 1-2-1 VIP coaching with Anna.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EVERYTHING YOU 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98448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What’s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included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50444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5296" y="245059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Monthly 1-2-1 Coaching Sessions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5A6478"/>
                </a:solidFill>
                <a:latin typeface="Alegreya Sans"/>
              </a:rPr>
              <a:t>A dedicated session each month to review progress and refine your plan.</a:t>
            </a:r>
          </a:p>
        </p:txBody>
      </p:sp>
      <p:sp>
        <p:nvSpPr>
          <p:cNvPr id="8" name="Oval 7"/>
          <p:cNvSpPr/>
          <p:nvPr/>
        </p:nvSpPr>
        <p:spPr>
          <a:xfrm>
            <a:off x="6309360" y="250444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11696" y="245059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Daily WhatsApp / Messenger Support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5A6478"/>
                </a:solidFill>
                <a:latin typeface="Alegreya Sans"/>
              </a:rPr>
              <a:t>Your coach in your pocket for guidance and encouragement every day.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46456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5296" y="341071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Weekly Food Diary Review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5A6478"/>
                </a:solidFill>
                <a:latin typeface="Alegreya Sans"/>
              </a:rPr>
              <a:t>We review your nutrition each week and adjust what’s working.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346456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1696" y="341071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Weekly Nutrition Strategy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5A6478"/>
                </a:solidFill>
                <a:latin typeface="Alegreya Sans"/>
              </a:rPr>
              <a:t>Your plan evolves with your progress, lifestyle and goals.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42468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437083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Laser-Focused Weekly Actions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5A6478"/>
                </a:solidFill>
                <a:latin typeface="Alegreya Sans"/>
              </a:rPr>
              <a:t>Clear priorities each week so you always know your next step.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442468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11696" y="437083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Monthly Progress Tracking &amp; Review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5A6478"/>
                </a:solidFill>
                <a:latin typeface="Alegreya Sans"/>
              </a:rPr>
              <a:t>Structured check-ins to keep you accountable and moving forward.</a:t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38480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533095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Shift &amp; Sustain Members Area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5A6478"/>
                </a:solidFill>
                <a:latin typeface="Alegreya Sans"/>
              </a:rPr>
              <a:t>Full access to meal guides, recipes and the WLA framework.</a:t>
            </a:r>
          </a:p>
        </p:txBody>
      </p:sp>
      <p:sp>
        <p:nvSpPr>
          <p:cNvPr id="20" name="Oval 19"/>
          <p:cNvSpPr/>
          <p:nvPr/>
        </p:nvSpPr>
        <p:spPr>
          <a:xfrm>
            <a:off x="6309360" y="538480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533095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A Strategy Built Around You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5A6478"/>
                </a:solidFill>
                <a:latin typeface="Alegreya Sans"/>
              </a:rPr>
              <a:t>No guesswork, no extremes — just a clear plan that fits your life.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INVESTMENT VS REALITY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This level of support usually costs </a:t>
            </a:r>
            <a:r>
              <a:rPr sz="3600" b="1" i="1">
                <a:solidFill>
                  <a:srgbClr val="D97757"/>
                </a:solidFill>
                <a:latin typeface="Libre Baskerville"/>
              </a:rPr>
              <a:t>thousands</a:t>
            </a:r>
            <a:r>
              <a:rPr sz="36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1024128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100" b="0" i="0">
                <a:solidFill>
                  <a:srgbClr val="333333"/>
                </a:solidFill>
                <a:latin typeface="Alegreya Sans"/>
              </a:rPr>
              <a:t>Most degree-qualified Registered Associate Nutritionists charge £300–£700 for consultations and ongoing monthly support.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100" b="0" i="0">
                <a:solidFill>
                  <a:srgbClr val="333333"/>
                </a:solidFill>
                <a:latin typeface="Alegreya Sans"/>
              </a:rPr>
              <a:t>True 1-2-1 coaching — daily support, weekly reviews, a personalised strategy — typically runs £2,000–£5,000+ (take a look around Harley Street).</a:t>
            </a:r>
          </a:p>
          <a:p>
            <a:pPr algn="l">
              <a:lnSpc>
                <a:spcPct val="140000"/>
              </a:lnSpc>
            </a:pPr>
            <a:r>
              <a:rPr sz="2100" b="0" i="1">
                <a:solidFill>
                  <a:srgbClr val="0E2746"/>
                </a:solidFill>
                <a:latin typeface="Libre Baskerville"/>
              </a:rPr>
              <a:t>For this round, I’ve made it far more accessible.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 spc="240">
                <a:solidFill>
                  <a:srgbClr val="D97757"/>
                </a:solidFill>
                <a:latin typeface="Alegreya Sans"/>
              </a:rPr>
              <a:t>CHOOSE YOUR VIP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0E2746"/>
                </a:solidFill>
                <a:latin typeface="Libre Baskerville"/>
              </a:rPr>
              <a:t>Personal 1-2-1 coaching, built around you.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5207" y="2286000"/>
            <a:ext cx="484632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5207" y="26060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200">
                <a:solidFill>
                  <a:srgbClr val="0E2746"/>
                </a:solidFill>
                <a:latin typeface="Alegreya Sans"/>
              </a:rPr>
              <a:t>VIP · 3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207" y="310896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400" b="1" i="0">
                <a:solidFill>
                  <a:srgbClr val="D97757"/>
                </a:solidFill>
                <a:latin typeface="Libre Baskerville"/>
              </a:rPr>
              <a:t>£597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32407" y="42519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0" i="0">
                <a:solidFill>
                  <a:srgbClr val="333333"/>
                </a:solidFill>
                <a:latin typeface="Alegreya Sans"/>
              </a:rPr>
              <a:t>3 months of personalised 1-2-1 coaching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2407" y="498348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1">
                <a:solidFill>
                  <a:srgbClr val="0E2746"/>
                </a:solidFill>
                <a:latin typeface="Libre Baskerville"/>
              </a:rPr>
              <a:t>Monthly plans from £199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70167" y="2286000"/>
            <a:ext cx="4846320" cy="3246120"/>
          </a:xfrm>
          <a:prstGeom prst="roundRect">
            <a:avLst>
              <a:gd name="adj" fmla="val 5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87487" y="2029968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200" b="1" spc="200">
                <a:solidFill>
                  <a:srgbClr val="FFFFFF"/>
                </a:solidFill>
                <a:latin typeface="Alegreya Sans"/>
              </a:rPr>
              <a:t>BEST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26060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200">
                <a:solidFill>
                  <a:srgbClr val="F4EBDC"/>
                </a:solidFill>
                <a:latin typeface="Alegreya Sans"/>
              </a:rPr>
              <a:t>VIP · 6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310896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400" b="1" i="0">
                <a:solidFill>
                  <a:srgbClr val="E5917A"/>
                </a:solidFill>
                <a:latin typeface="Libre Baskerville"/>
              </a:rPr>
              <a:t>£1197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27367" y="42519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0" i="0">
                <a:solidFill>
                  <a:srgbClr val="F4EBDC"/>
                </a:solidFill>
                <a:latin typeface="Alegreya Sans"/>
              </a:rPr>
              <a:t>The time to lose it AND keep it off for good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7367" y="498348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1">
                <a:solidFill>
                  <a:srgbClr val="FFFFFF"/>
                </a:solidFill>
                <a:latin typeface="Libre Baskerville"/>
              </a:rPr>
              <a:t>Most of my biggest transformations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100">
                <a:solidFill>
                  <a:srgbClr val="5A6478"/>
                </a:solidFill>
                <a:latin typeface="Alegreya Sans"/>
              </a:rPr>
              <a:t>Pay with PayPal, Klarna or Clearpay  ·  Limited to 30 women  ·  Doors open [START DATE]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IS THIS YOU?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98448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Who VIP is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for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577465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9576" y="246888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You know you need support and accountability to stay consistent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180969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9576" y="3072384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You’re tired of figuring it all out alone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784473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9576" y="3675888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You take action when someone’s holding you to it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387977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9576" y="4279392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You want a coach for when motivation dips or life gets busy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991481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9576" y="4882896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You’re ready to follow through on your goals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5594985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9576" y="54864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You want to lose up to 3 stone — sustainably, for good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240">
                <a:solidFill>
                  <a:srgbClr val="D97757"/>
                </a:solidFill>
                <a:latin typeface="Alegreya Sans"/>
              </a:rPr>
              <a:t>HONESTY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07008"/>
            <a:ext cx="1463040" cy="5029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98448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Who VIP is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not</a:t>
            </a:r>
            <a:r>
              <a:rPr sz="3800" b="1" i="0">
                <a:solidFill>
                  <a:srgbClr val="0E2746"/>
                </a:solidFill>
                <a:latin typeface="Libre Baskerville"/>
              </a:rPr>
              <a:t> for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577465"/>
            <a:ext cx="118872" cy="118872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9576" y="246888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5A6478"/>
                </a:solidFill>
                <a:latin typeface="Alegreya Sans"/>
              </a:rPr>
              <a:t>You’re looking for a quick fix or crash diet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180969"/>
            <a:ext cx="118872" cy="118872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9576" y="3072384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5A6478"/>
                </a:solidFill>
                <a:latin typeface="Alegreya Sans"/>
              </a:rPr>
              <a:t>You’re not ready to take action or follow through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784473"/>
            <a:ext cx="118872" cy="118872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9576" y="3675888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5A6478"/>
                </a:solidFill>
                <a:latin typeface="Alegreya Sans"/>
              </a:rPr>
              <a:t>You want results without changing any habits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387977"/>
            <a:ext cx="118872" cy="118872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9576" y="4279392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5A6478"/>
                </a:solidFill>
                <a:latin typeface="Alegreya Sans"/>
              </a:rPr>
              <a:t>You’d rather do everything alone, without guidance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991481"/>
            <a:ext cx="118872" cy="118872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9576" y="4882896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5A6478"/>
                </a:solidFill>
                <a:latin typeface="Alegreya Sans"/>
              </a:rPr>
              <a:t>You’re not open to a sustainable approach to nutrition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5594985"/>
            <a:ext cx="118872" cy="118872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9576" y="54864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5A6478"/>
                </a:solidFill>
                <a:latin typeface="Alegreya Sans"/>
              </a:rPr>
              <a:t>You’re not ready to commit right now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937760" y="118872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300" b="1" spc="260">
                <a:solidFill>
                  <a:srgbClr val="FFFFFF"/>
                </a:solidFill>
                <a:latin typeface="Alegreya Sans"/>
              </a:rPr>
              <a:t>TWO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101498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2400"/>
              </a:spcAft>
            </a:pPr>
            <a:r>
              <a:rPr sz="3800" b="1" i="0">
                <a:solidFill>
                  <a:srgbClr val="FFFFFF"/>
                </a:solidFill>
                <a:latin typeface="Libre Baskerville"/>
              </a:rPr>
              <a:t>You can keep doing this </a:t>
            </a:r>
            <a:r>
              <a:rPr sz="3800" b="1" i="1">
                <a:solidFill>
                  <a:srgbClr val="E5917A"/>
                </a:solidFill>
                <a:latin typeface="Libre Baskerville"/>
              </a:rPr>
              <a:t>alone</a:t>
            </a:r>
            <a:r>
              <a:rPr sz="3800" b="1" i="0">
                <a:solidFill>
                  <a:srgbClr val="FFFFFF"/>
                </a:solidFill>
                <a:latin typeface="Libre Baskerville"/>
              </a:rPr>
              <a:t> — and be in the same place in 3–6 months.</a:t>
            </a:r>
          </a:p>
          <a:p>
            <a:pPr algn="ctr">
              <a:lnSpc>
                <a:spcPct val="118000"/>
              </a:lnSpc>
            </a:pPr>
            <a:r>
              <a:rPr sz="3800" b="1" i="0">
                <a:solidFill>
                  <a:srgbClr val="FFFFFF"/>
                </a:solidFill>
                <a:latin typeface="Libre Baskerville"/>
              </a:rPr>
              <a:t>Or get the support, structure and accountability to </a:t>
            </a:r>
            <a:r>
              <a:rPr sz="3800" b="1" i="1">
                <a:solidFill>
                  <a:srgbClr val="E5917A"/>
                </a:solidFill>
                <a:latin typeface="Libre Baskerville"/>
              </a:rPr>
              <a:t>finally follow through</a:t>
            </a:r>
            <a:r>
              <a:rPr sz="3800" b="1" i="0">
                <a:solidFill>
                  <a:srgbClr val="FFFFFF"/>
                </a:solidFill>
                <a:latin typeface="Libre Baskerville"/>
              </a:rPr>
              <a:t>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4920" y="8686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300" b="1" spc="300">
                <a:solidFill>
                  <a:srgbClr val="FFFFFF"/>
                </a:solidFill>
                <a:latin typeface="Alegreya Sans"/>
              </a:rPr>
              <a:t>READY?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4400" b="1" i="0">
                <a:solidFill>
                  <a:srgbClr val="FFFFFF"/>
                </a:solidFill>
                <a:latin typeface="Libre Baskerville"/>
              </a:rPr>
              <a:t>Reply and say </a:t>
            </a:r>
            <a:r>
              <a:rPr sz="4400" b="1" i="1">
                <a:solidFill>
                  <a:srgbClr val="E5917A"/>
                </a:solidFill>
                <a:latin typeface="Libre Baskerville"/>
              </a:rPr>
              <a:t>“I’m ready for VIP.”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383280"/>
            <a:ext cx="9601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2000" b="0" i="0">
                <a:solidFill>
                  <a:srgbClr val="F4EBDC"/>
                </a:solidFill>
                <a:latin typeface="Alegreya Sans"/>
              </a:rPr>
              <a:t>I’ll let you know if there are spaces left. Spaces are limited to 30 women — and previous VIP rounds have always filled.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006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Alegreya Sans"/>
              </a:rPr>
              <a:t>Email me: </a:t>
            </a:r>
            <a:r>
              <a:rPr sz="2000" b="1" i="0">
                <a:solidFill>
                  <a:srgbClr val="E5917A"/>
                </a:solidFill>
                <a:latin typeface="Alegreya Sans"/>
              </a:rPr>
              <a:t>annasnutrition@gmail.com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0" i="1">
                <a:solidFill>
                  <a:srgbClr val="FFFFFF"/>
                </a:solidFill>
                <a:latin typeface="Libre Baskerville"/>
              </a:rPr>
              <a:t>Anna Wallace</a:t>
            </a:r>
            <a:r>
              <a:rPr sz="1500" b="0" i="0">
                <a:solidFill>
                  <a:srgbClr val="F4EBDC"/>
                </a:solidFill>
                <a:latin typeface="Alegreya Sans"/>
              </a:rPr>
              <a:t>  ·  Founder of The Weight Loss Academy, Registered Associate Nutritionist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