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na-portrait.jpg"/>
          <p:cNvPicPr>
            <a:picLocks noChangeAspect="1"/>
          </p:cNvPicPr>
          <p:nvPr/>
        </p:nvPicPr>
        <p:blipFill>
          <a:blip r:embed="rId2"/>
          <a:srcRect l="2158" r="2158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63256" y="0"/>
            <a:ext cx="54864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68680"/>
            <a:ext cx="338328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400" b="1" spc="240">
                <a:solidFill>
                  <a:srgbClr val="F4EBDC"/>
                </a:solidFill>
                <a:latin typeface="Alegreya Sans"/>
              </a:rPr>
              <a:t>VIP 1-2-1 COACHING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83080"/>
            <a:ext cx="67665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Personal coaching</a:t>
            </a:r>
          </a:p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that finally gets</a:t>
            </a:r>
          </a:p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you </a:t>
            </a:r>
            <a:r>
              <a:rPr sz="4200" b="1" i="1">
                <a:solidFill>
                  <a:srgbClr val="D97757"/>
                </a:solidFill>
                <a:latin typeface="Libre Baskerville"/>
              </a:rPr>
              <a:t>results</a:t>
            </a:r>
            <a:r>
              <a:rPr sz="42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1">
                <a:solidFill>
                  <a:srgbClr val="5A6478"/>
                </a:solidFill>
                <a:latin typeface="Libre Baskerville"/>
              </a:rPr>
              <a:t>Lose up to 3 stone — without extreme diets or exhausting workouts.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 spc="150">
                <a:solidFill>
                  <a:srgbClr val="0E2746"/>
                </a:solidFill>
                <a:latin typeface="Alegreya Sans"/>
              </a:rPr>
              <a:t>WITH ANNA WALLACE  ·  FOUNDER OF WLA  ·  REGISTERED ASSOCIATE NUTRITIONIST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A FEW VIP SPOTS HAVE OPENED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I only coach a handful of women </a:t>
            </a:r>
            <a:r>
              <a:rPr sz="3600" b="1" i="1">
                <a:solidFill>
                  <a:srgbClr val="D97757"/>
                </a:solidFill>
                <a:latin typeface="Libre Baskerville"/>
              </a:rPr>
              <a:t>1-2-1</a:t>
            </a:r>
            <a:r>
              <a:rPr sz="3600" b="1" i="0">
                <a:solidFill>
                  <a:srgbClr val="0E2746"/>
                </a:solidFill>
                <a:latin typeface="Libre Baskerville"/>
              </a:rPr>
              <a:t> at a time — and a few spots have </a:t>
            </a:r>
            <a:r>
              <a:rPr sz="3600" b="1" i="1">
                <a:solidFill>
                  <a:srgbClr val="D97757"/>
                </a:solidFill>
                <a:latin typeface="Libre Baskerville"/>
              </a:rPr>
              <a:t>just opened</a:t>
            </a:r>
            <a:r>
              <a:rPr sz="36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2100" b="0" i="0">
                <a:solidFill>
                  <a:srgbClr val="333333"/>
                </a:solidFill>
                <a:latin typeface="Alegreya Sans"/>
              </a:rPr>
              <a:t>If you’ve been thinking about going all-in with personal coaching, </a:t>
            </a:r>
            <a:r>
              <a:rPr sz="2100" b="1" i="0">
                <a:solidFill>
                  <a:srgbClr val="0E2746"/>
                </a:solidFill>
                <a:latin typeface="Alegreya Sans"/>
              </a:rPr>
              <a:t>this is your moment to grab one.</a:t>
            </a:r>
          </a:p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My full attention, daily support, and a plan built entirely around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7408" y="132588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800" b="1" spc="200">
                <a:solidFill>
                  <a:srgbClr val="FFFFFF"/>
                </a:solidFill>
                <a:latin typeface="Alegreya Sans"/>
              </a:rPr>
              <a:t>WHY VIP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966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4600" b="0" i="1">
                <a:solidFill>
                  <a:srgbClr val="FFFFFF"/>
                </a:solidFill>
                <a:latin typeface="Libre Baskerville"/>
              </a:rPr>
              <a:t>The difference isn’t the </a:t>
            </a:r>
            <a:r>
              <a:rPr sz="4600" b="1" i="1">
                <a:solidFill>
                  <a:srgbClr val="E5917A"/>
                </a:solidFill>
                <a:latin typeface="Libre Baskerville"/>
              </a:rPr>
              <a:t>plan</a:t>
            </a:r>
            <a:r>
              <a:rPr sz="4600" b="0" i="1">
                <a:solidFill>
                  <a:srgbClr val="FFFFFF"/>
                </a:solidFill>
                <a:latin typeface="Libre Baskerville"/>
              </a:rPr>
              <a:t>.</a:t>
            </a:r>
          </a:p>
          <a:p>
            <a:pPr algn="ctr">
              <a:lnSpc>
                <a:spcPct val="115000"/>
              </a:lnSpc>
            </a:pPr>
            <a:r>
              <a:rPr sz="4600" b="0" i="1">
                <a:solidFill>
                  <a:srgbClr val="FFFFFF"/>
                </a:solidFill>
                <a:latin typeface="Libre Baskerville"/>
              </a:rPr>
              <a:t>It’s having </a:t>
            </a:r>
            <a:r>
              <a:rPr sz="4600" b="1" i="1">
                <a:solidFill>
                  <a:srgbClr val="E5917A"/>
                </a:solidFill>
                <a:latin typeface="Libre Baskerville"/>
              </a:rPr>
              <a:t>me in your corner</a:t>
            </a:r>
            <a:r>
              <a:rPr sz="4600" b="0" i="1">
                <a:solidFill>
                  <a:srgbClr val="FFFFFF"/>
                </a:solidFill>
                <a:latin typeface="Libre Baskerville"/>
              </a:rPr>
              <a:t> — every single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7492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F4EBDC"/>
                </a:solidFill>
                <a:latin typeface="Alegreya Sans"/>
              </a:rPr>
              <a:t>Personalised strategy. Daily support. Real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WHAT VIP HELPS YOU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Lose the weight — and </a:t>
            </a:r>
            <a:r>
              <a:rPr sz="4200" b="1" i="1">
                <a:solidFill>
                  <a:srgbClr val="D97757"/>
                </a:solidFill>
                <a:latin typeface="Libre Baskerville"/>
              </a:rPr>
              <a:t>feel like you again</a:t>
            </a:r>
            <a:r>
              <a:rPr sz="42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3147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32004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Lose up to 1–3 stone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33147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4536" y="32004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Build real, lasting confidence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027932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3913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Calm your sugar cravings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4027932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39136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Skyrocket your energy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41164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462686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Look and feel amazing by summer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4741164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462686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No extreme diets. No exhausting workouts.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WHY 1-2-1 CHANGES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Nothing transforms results like </a:t>
            </a:r>
            <a:r>
              <a:rPr sz="4000" b="1" i="1">
                <a:solidFill>
                  <a:srgbClr val="D97757"/>
                </a:solidFill>
                <a:latin typeface="Libre Baskerville"/>
              </a:rPr>
              <a:t>1-2-1 coaching</a:t>
            </a:r>
            <a:r>
              <a:rPr sz="40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2412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2100" b="0" i="0">
                <a:solidFill>
                  <a:srgbClr val="333333"/>
                </a:solidFill>
                <a:latin typeface="Alegreya Sans"/>
              </a:rPr>
              <a:t>I’ll guide you through the exact simple nutrition formula I used to lose over 2 stone and keep it off.</a:t>
            </a:r>
          </a:p>
          <a:p>
            <a:pPr algn="l">
              <a:lnSpc>
                <a:spcPct val="150000"/>
              </a:lnSpc>
            </a:pPr>
            <a:r>
              <a:rPr sz="2100" b="0" i="0">
                <a:solidFill>
                  <a:srgbClr val="333333"/>
                </a:solidFill>
                <a:latin typeface="Alegreya Sans"/>
              </a:rPr>
              <a:t>As a degree-qualified Registered Associate Nutritionist with 11+ years’ experience and 50,000+ clients supported — </a:t>
            </a:r>
            <a:r>
              <a:rPr sz="2000" b="0" i="1">
                <a:solidFill>
                  <a:srgbClr val="0E2746"/>
                </a:solidFill>
                <a:latin typeface="Libre Baskerville"/>
              </a:rPr>
              <a:t>nothing comes close to personal 1-2-1 coaching.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98848" y="12801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800" b="1" spc="200">
                <a:solidFill>
                  <a:srgbClr val="FFFFFF"/>
                </a:solidFill>
                <a:latin typeface="Alegreya Sans"/>
              </a:rPr>
              <a:t>THE VIP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Libre Baskerville"/>
              </a:rPr>
              <a:t>Three things that make VIP </a:t>
            </a:r>
            <a:r>
              <a:rPr sz="4600" b="1" i="1">
                <a:solidFill>
                  <a:srgbClr val="E5917A"/>
                </a:solidFill>
                <a:latin typeface="Libre Baskerville"/>
              </a:rPr>
              <a:t>different</a:t>
            </a:r>
            <a:r>
              <a:rPr sz="4600" b="1" i="0">
                <a:solidFill>
                  <a:srgbClr val="FFFFFF"/>
                </a:solidFill>
                <a:latin typeface="Libre Baskerville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36576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091A30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3767" y="38862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E5917A"/>
                </a:solidFill>
                <a:latin typeface="Libre Baskervill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48006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Libre Baskerville"/>
              </a:rPr>
              <a:t>Personalised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36576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091A30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38862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E5917A"/>
                </a:solidFill>
                <a:latin typeface="Libre Baskervill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527" y="48006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Libre Baskerville"/>
              </a:rPr>
              <a:t>High Accountability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36576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091A30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527" y="38862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E5917A"/>
                </a:solidFill>
                <a:latin typeface="Libre Baskervill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48006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FFFFFF"/>
                </a:solidFill>
                <a:latin typeface="Libre Baskerville"/>
              </a:rPr>
              <a:t>Results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45720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5000" b="1" i="0">
                <a:solidFill>
                  <a:srgbClr val="E9DFD3"/>
                </a:solidFill>
                <a:latin typeface="Libre Baskervill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STEP 1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8412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Personalised Nutrition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1">
                <a:solidFill>
                  <a:srgbClr val="D97757"/>
                </a:solidFill>
                <a:latin typeface="Libre Baskerville"/>
              </a:rPr>
              <a:t>A plan built entirely around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Alegreya Sans"/>
              </a:rPr>
              <a:t>We build a simple nutrition strategy tailored to your lifestyle, goals, time and preferences.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Alegreya Sans"/>
              </a:rPr>
              <a:t>No guesswork. No extremes. No starting again every Monday — just a clear structure that reduces cravings and gets results sooner.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45720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5000" b="1" i="0">
                <a:solidFill>
                  <a:srgbClr val="E9DFD3"/>
                </a:solidFill>
                <a:latin typeface="Libre Baskervill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STEP 2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8412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High Accountability &amp; Daily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1">
                <a:solidFill>
                  <a:srgbClr val="D97757"/>
                </a:solidFill>
                <a:latin typeface="Libre Baskerville"/>
              </a:rPr>
              <a:t>The part most women are missing.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Alegreya Sans"/>
              </a:rPr>
              <a:t>When you’re accountable to someone else, you show up, follow through and take your goals seriously.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Alegreya Sans"/>
              </a:rPr>
              <a:t>With regular check-ins, coaching and daily support, you stay on track — even on the days you don’t feel like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0" y="45720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5000" b="1" i="0">
                <a:solidFill>
                  <a:srgbClr val="E9DFD3"/>
                </a:solidFill>
                <a:latin typeface="Libre Baskervill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STEP 3 OF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8412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Results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1">
                <a:solidFill>
                  <a:srgbClr val="D97757"/>
                </a:solidFill>
                <a:latin typeface="Libre Baskerville"/>
              </a:rPr>
              <a:t>We measure what matters, every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Alegreya Sans"/>
              </a:rPr>
              <a:t>You submit your results each month so we can track progress clearly and keep you moving forward.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Alegreya Sans"/>
              </a:rPr>
              <a:t>We review everything and make the right adjustments along the way, so your results keep progressing.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E5917A"/>
                </a:solidFill>
                <a:latin typeface="Alegreya Sans"/>
              </a:rPr>
              <a:t>THE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b="1" i="0">
                <a:solidFill>
                  <a:srgbClr val="FFFFFF"/>
                </a:solidFill>
                <a:latin typeface="Libre Baskerville"/>
              </a:rPr>
              <a:t>Human 1-2-1 coaching </a:t>
            </a:r>
            <a:r>
              <a:rPr sz="4200" b="1" i="1">
                <a:solidFill>
                  <a:srgbClr val="E5917A"/>
                </a:solidFill>
                <a:latin typeface="Libre Baskerville"/>
              </a:rPr>
              <a:t>outperforms</a:t>
            </a:r>
            <a:r>
              <a:rPr sz="4200" b="1" i="0">
                <a:solidFill>
                  <a:srgbClr val="FFFFFF"/>
                </a:solidFill>
                <a:latin typeface="Libre Baskerville"/>
              </a:rPr>
              <a:t> digital-only or self-guided approaches.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2100" b="0" i="0">
                <a:solidFill>
                  <a:srgbClr val="F4EBDC"/>
                </a:solidFill>
                <a:latin typeface="Alegreya Sans"/>
              </a:rPr>
              <a:t>A Stanford University study found people with access to a human coach lost significantly more weight than those using digital tools alone — even when the information was identical.</a:t>
            </a:r>
          </a:p>
          <a:p>
            <a:pPr algn="l">
              <a:lnSpc>
                <a:spcPct val="140000"/>
              </a:lnSpc>
            </a:pPr>
            <a:r>
              <a:rPr sz="2100" b="0" i="1">
                <a:solidFill>
                  <a:srgbClr val="FFFFFF"/>
                </a:solidFill>
                <a:latin typeface="Libre Baskerville"/>
              </a:rPr>
              <a:t>It’s not the plan. It’s the support, accountability and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WHY MOST WOMEN STAY STUCK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You already know what to do. </a:t>
            </a:r>
            <a:r>
              <a:rPr sz="3800" b="1" i="1">
                <a:solidFill>
                  <a:srgbClr val="D97757"/>
                </a:solidFill>
                <a:latin typeface="Libre Baskerville"/>
              </a:rPr>
              <a:t>Following through is the hard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2100" b="0" i="0">
                <a:solidFill>
                  <a:srgbClr val="333333"/>
                </a:solidFill>
                <a:latin typeface="Alegreya Sans"/>
              </a:rPr>
              <a:t>Most women are stuck in the cycle of starting… stopping… and never quite following through. A good week, then life gets busy, motivation drops, and it’s back to square one.</a:t>
            </a:r>
          </a:p>
          <a:p>
            <a:pPr algn="l">
              <a:lnSpc>
                <a:spcPct val="145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Not because they don’t care — because they’re trying to do it alone. That’s exactly why VIP 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IMAGINE, BY SUMMER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0E2746"/>
                </a:solidFill>
                <a:latin typeface="Libre Baskerville"/>
              </a:rPr>
              <a:t>Picture this version of </a:t>
            </a:r>
            <a:r>
              <a:rPr sz="4000" b="1" i="1">
                <a:solidFill>
                  <a:srgbClr val="D97757"/>
                </a:solidFill>
                <a:latin typeface="Libre Baskerville"/>
              </a:rPr>
              <a:t>you</a:t>
            </a:r>
            <a:r>
              <a:rPr sz="4000" b="1" i="0">
                <a:solidFill>
                  <a:srgbClr val="0E2746"/>
                </a:solidFill>
                <a:latin typeface="Libre Baskerville"/>
              </a:rPr>
              <a:t>…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17182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306324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Putting on your favourite clothes and loving how you look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317182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4536" y="306324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Waking up lighter, energised and comfortable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21633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381304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No more constant cravings or evening snacking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921633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381304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Feeling proud of the woman in the mirror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671441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456285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Enjoying holidays and BBQs without worrying about your weight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4671441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456285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Knowing exactly how to eat to lose weight and keep it 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SOUND FAMILIAR?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Are you </a:t>
            </a:r>
            <a:r>
              <a:rPr sz="3800" b="1" i="1">
                <a:solidFill>
                  <a:srgbClr val="D97757"/>
                </a:solidFill>
                <a:latin typeface="Libre Baskerville"/>
              </a:rPr>
              <a:t>struggling with</a:t>
            </a:r>
            <a:r>
              <a:rPr sz="3800" b="1" i="0">
                <a:solidFill>
                  <a:srgbClr val="0E2746"/>
                </a:solidFill>
                <a:latin typeface="Libre Baskerville"/>
              </a:rPr>
              <a:t>…?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3832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5328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50">
                <a:solidFill>
                  <a:srgbClr val="D97757"/>
                </a:solidFill>
                <a:latin typeface="Alegreya Sans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935224"/>
            <a:ext cx="2871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Alegreya Sans"/>
              </a:rPr>
              <a:t>No time to figure out your nutrition? Get a personalised strategy done for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31720"/>
            <a:ext cx="33832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5328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50">
                <a:solidFill>
                  <a:srgbClr val="D97757"/>
                </a:solidFill>
                <a:latin typeface="Alegreya Sans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935224"/>
            <a:ext cx="2871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Alegreya Sans"/>
              </a:rPr>
              <a:t>Sick of not seeing results and want monthly progress you can feel?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31720"/>
            <a:ext cx="33832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5328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50">
                <a:solidFill>
                  <a:srgbClr val="D97757"/>
                </a:solidFill>
                <a:latin typeface="Alegreya Sans"/>
              </a:rP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935224"/>
            <a:ext cx="2871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Alegreya Sans"/>
              </a:rPr>
              <a:t>Need a coach so you actually stay consistent instead of quitting?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33832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5902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50">
                <a:solidFill>
                  <a:srgbClr val="D97757"/>
                </a:solidFill>
                <a:latin typeface="Alegreya Sans"/>
              </a:rPr>
              <a:t>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992624"/>
            <a:ext cx="2871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Alegreya Sans"/>
              </a:rPr>
              <a:t>Want a setup that gives you energy — off the sugar-and-caffeine cycle?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389120"/>
            <a:ext cx="33832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45902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50">
                <a:solidFill>
                  <a:srgbClr val="D97757"/>
                </a:solidFill>
                <a:latin typeface="Alegreya Sans"/>
              </a:rPr>
              <a:t>SNACKING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4992624"/>
            <a:ext cx="2871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Alegreya Sans"/>
              </a:rPr>
              <a:t>Need support to stop the evening snacking that’s just habit?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389120"/>
            <a:ext cx="338328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5902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150">
                <a:solidFill>
                  <a:srgbClr val="D97757"/>
                </a:solidFill>
                <a:latin typeface="Alegreya Sans"/>
              </a:rPr>
              <a:t>WEEKENDS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992624"/>
            <a:ext cx="2871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Alegreya Sans"/>
              </a:rPr>
              <a:t>Want weekend handholding so you don’t undo your hard work?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ill-before-after.jpg"/>
          <p:cNvPicPr>
            <a:picLocks noChangeAspect="1"/>
          </p:cNvPicPr>
          <p:nvPr/>
        </p:nvPicPr>
        <p:blipFill>
          <a:blip r:embed="rId2"/>
          <a:srcRect l="14000" r="14000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37760" y="0"/>
            <a:ext cx="54864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1097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200" b="1" spc="200">
                <a:solidFill>
                  <a:srgbClr val="F4EBDC"/>
                </a:solidFill>
                <a:latin typeface="Alegreya Sans"/>
              </a:rPr>
              <a:t>VIP SUCCESS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920240"/>
            <a:ext cx="60350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Jill lost </a:t>
            </a:r>
            <a:r>
              <a:rPr sz="4400" b="1" i="1">
                <a:solidFill>
                  <a:srgbClr val="D97757"/>
                </a:solidFill>
                <a:latin typeface="Libre Baskerville"/>
              </a:rPr>
              <a:t>4 stone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in 6 months in VIP.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11480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1">
                <a:solidFill>
                  <a:srgbClr val="5A6478"/>
                </a:solidFill>
                <a:latin typeface="Libre Baskerville"/>
              </a:rPr>
              <a:t>“VIP has changed my life. I did WLA resets and group for 2 years and didn’t achieve half of what I have in VIP. It’s just so different.”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E5917A"/>
                </a:solidFill>
                <a:latin typeface="Alegreya Sans"/>
              </a:rPr>
              <a:t>REAL WOMEN, REAL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Libre Baskerville"/>
              </a:rPr>
              <a:t>The transformations speak for </a:t>
            </a:r>
            <a:r>
              <a:rPr sz="3600" b="1" i="1">
                <a:solidFill>
                  <a:srgbClr val="E5917A"/>
                </a:solidFill>
                <a:latin typeface="Libre Baskerville"/>
              </a:rPr>
              <a:t>themselves</a:t>
            </a:r>
            <a:r>
              <a:rPr sz="3600" b="1" i="0">
                <a:solidFill>
                  <a:srgbClr val="FFFFFF"/>
                </a:solidFill>
                <a:latin typeface="Libre Baskerville"/>
              </a:rPr>
              <a:t>.</a:t>
            </a:r>
          </a:p>
        </p:txBody>
      </p:sp>
      <p:pic>
        <p:nvPicPr>
          <p:cNvPr id="6" name="Picture 5" descr="ruth-before-after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8883" y="2743200"/>
            <a:ext cx="2542032" cy="2542032"/>
          </a:xfrm>
          <a:prstGeom prst="rect">
            <a:avLst/>
          </a:prstGeom>
        </p:spPr>
      </p:pic>
      <p:pic>
        <p:nvPicPr>
          <p:cNvPr id="7" name="Picture 6" descr="jill-before-after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39515" y="2743200"/>
            <a:ext cx="2542032" cy="2542032"/>
          </a:xfrm>
          <a:prstGeom prst="rect">
            <a:avLst/>
          </a:prstGeom>
        </p:spPr>
      </p:pic>
      <p:pic>
        <p:nvPicPr>
          <p:cNvPr id="8" name="Picture 7" descr="vicky-before-afte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0147" y="2743200"/>
            <a:ext cx="2542032" cy="2542032"/>
          </a:xfrm>
          <a:prstGeom prst="rect">
            <a:avLst/>
          </a:prstGeom>
        </p:spPr>
      </p:pic>
      <p:pic>
        <p:nvPicPr>
          <p:cNvPr id="9" name="Picture 8" descr="barbara-before-afte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80779" y="2743200"/>
            <a:ext cx="2542032" cy="2542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i="1">
                <a:solidFill>
                  <a:srgbClr val="F4EBDC"/>
                </a:solidFill>
                <a:latin typeface="Libre Baskerville"/>
              </a:rPr>
              <a:t>From 1 to 4 stone down — in 1-2-1 VIP coaching with Anna.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EVERYTHING YOU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What’s </a:t>
            </a:r>
            <a:r>
              <a:rPr sz="3800" b="1" i="1">
                <a:solidFill>
                  <a:srgbClr val="D97757"/>
                </a:solidFill>
                <a:latin typeface="Libre Baskerville"/>
              </a:rPr>
              <a:t>included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0444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245059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Monthly 1-2-1 Coaching Sessions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A dedicated session each month to review progress and refine your plan.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250444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45059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Daily WhatsApp / Messenger Support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Your coach in your pocket for guidance and encouragement every day.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6456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341071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Weekly Food Diary Review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We review your nutrition each week and adjust what’s working.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346456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341071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Weekly Nutrition Strategy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Your plan evolves with your progress, lifestyle and goals.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2468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37083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Laser-Focused Weekly Actions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Clear priorities each week so you always know your next step.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442468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437083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Monthly Progress Tracking &amp; Review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Structured check-ins to keep you accountable and moving forward.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8480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533095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Shift &amp; Sustain Members Area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Full access to meal guides, recipes and the WLA framework.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5384800"/>
            <a:ext cx="237744" cy="23774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legreya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533095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0E2746"/>
                </a:solidFill>
                <a:latin typeface="Libre Baskerville"/>
              </a:rPr>
              <a:t>A Strategy Built Around You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5A6478"/>
                </a:solidFill>
                <a:latin typeface="Alegreya Sans"/>
              </a:rPr>
              <a:t>No guesswork, no extremes — just a clear plan that fits your life.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INVESTMENT VS REALITY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This level of support usually costs </a:t>
            </a:r>
            <a:r>
              <a:rPr sz="3600" b="1" i="1">
                <a:solidFill>
                  <a:srgbClr val="D97757"/>
                </a:solidFill>
                <a:latin typeface="Libre Baskerville"/>
              </a:rPr>
              <a:t>thousands</a:t>
            </a:r>
            <a:r>
              <a:rPr sz="36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100" b="0" i="0">
                <a:solidFill>
                  <a:srgbClr val="333333"/>
                </a:solidFill>
                <a:latin typeface="Alegreya Sans"/>
              </a:rPr>
              <a:t>Most degree-qualified Registered Associate Nutritionists charge £300–£700 for consultations and ongoing monthly support.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100" b="0" i="0">
                <a:solidFill>
                  <a:srgbClr val="333333"/>
                </a:solidFill>
                <a:latin typeface="Alegreya Sans"/>
              </a:rPr>
              <a:t>True 1-2-1 coaching — daily support, weekly reviews, a personalised strategy — typically runs £2,000–£5,000+ (take a look around Harley Street).</a:t>
            </a:r>
          </a:p>
          <a:p>
            <a:pPr algn="l">
              <a:lnSpc>
                <a:spcPct val="140000"/>
              </a:lnSpc>
            </a:pPr>
            <a:r>
              <a:rPr sz="2100" b="0" i="1">
                <a:solidFill>
                  <a:srgbClr val="0E2746"/>
                </a:solidFill>
                <a:latin typeface="Libre Baskerville"/>
              </a:rPr>
              <a:t>For this round, I’ve made it far more accessible.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CHOOSE YOUR VIP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0E2746"/>
                </a:solidFill>
                <a:latin typeface="Libre Baskerville"/>
              </a:rPr>
              <a:t>Personal 1-2-1 coaching, built around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207" y="2286000"/>
            <a:ext cx="48463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207" y="2606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00">
                <a:solidFill>
                  <a:srgbClr val="0E2746"/>
                </a:solidFill>
                <a:latin typeface="Alegreya Sans"/>
              </a:rPr>
              <a:t>VIP · 3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310896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 i="0">
                <a:solidFill>
                  <a:srgbClr val="D97757"/>
                </a:solidFill>
                <a:latin typeface="Libre Baskerville"/>
              </a:rPr>
              <a:t>£597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2407" y="4251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333333"/>
                </a:solidFill>
                <a:latin typeface="Alegreya Sans"/>
              </a:rPr>
              <a:t>3 months of personalised 1-2-1 coaching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407" y="49834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1">
                <a:solidFill>
                  <a:srgbClr val="0E2746"/>
                </a:solidFill>
                <a:latin typeface="Libre Baskerville"/>
              </a:rPr>
              <a:t>Monthly plans from £199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2286000"/>
            <a:ext cx="4846320" cy="3246120"/>
          </a:xfrm>
          <a:prstGeom prst="roundRect">
            <a:avLst>
              <a:gd name="adj" fmla="val 5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87487" y="2029968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200" b="1" spc="200">
                <a:solidFill>
                  <a:srgbClr val="FFFFFF"/>
                </a:solidFill>
                <a:latin typeface="Alegreya Sans"/>
              </a:rPr>
              <a:t>BEST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606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00">
                <a:solidFill>
                  <a:srgbClr val="F4EBDC"/>
                </a:solidFill>
                <a:latin typeface="Alegreya Sans"/>
              </a:rPr>
              <a:t>VIP · 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10896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 i="0">
                <a:solidFill>
                  <a:srgbClr val="E5917A"/>
                </a:solidFill>
                <a:latin typeface="Libre Baskerville"/>
              </a:rPr>
              <a:t>£1197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7367" y="42519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F4EBDC"/>
                </a:solidFill>
                <a:latin typeface="Alegreya Sans"/>
              </a:rPr>
              <a:t>The time to lose it AND keep it off for good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367" y="49834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1">
                <a:solidFill>
                  <a:srgbClr val="FFFFFF"/>
                </a:solidFill>
                <a:latin typeface="Libre Baskerville"/>
              </a:rPr>
              <a:t>Most of my biggest transformations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50992"/>
            <a:ext cx="110916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 spc="20">
                <a:solidFill>
                  <a:srgbClr val="0E2746"/>
                </a:solidFill>
                <a:latin typeface="Alegreya Sans"/>
              </a:rPr>
              <a:t>Pay with PayPal, Klarna or Clearpay  ·  Limited to 30 women  ·  Doors open [START DATE]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IS THIS YOU?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Who VIP is </a:t>
            </a:r>
            <a:r>
              <a:rPr sz="3800" b="1" i="1">
                <a:solidFill>
                  <a:srgbClr val="D97757"/>
                </a:solidFill>
                <a:latin typeface="Libre Baskerville"/>
              </a:rPr>
              <a:t>for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7746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24688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You know you need support and accountability to stay consistent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80969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3072384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You’re tired of figuring it all out alone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784473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36758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You take action when someone’s holding you to it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87977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4279392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You want a coach for when motivation dips or life gets busy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991481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488289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You’re ready to follow through on your goals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59498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5486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You want to lose up to 3 stone — sustainably, for good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HONESTY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07008"/>
            <a:ext cx="1463040" cy="502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Who VIP is </a:t>
            </a:r>
            <a:r>
              <a:rPr sz="3800" b="1" i="1">
                <a:solidFill>
                  <a:srgbClr val="D97757"/>
                </a:solidFill>
                <a:latin typeface="Libre Baskerville"/>
              </a:rPr>
              <a:t>not</a:t>
            </a:r>
            <a:r>
              <a:rPr sz="3800" b="1" i="0">
                <a:solidFill>
                  <a:srgbClr val="0E2746"/>
                </a:solidFill>
                <a:latin typeface="Libre Baskerville"/>
              </a:rPr>
              <a:t> for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77465"/>
            <a:ext cx="118872" cy="118872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24688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5A6478"/>
                </a:solidFill>
                <a:latin typeface="Alegreya Sans"/>
              </a:rPr>
              <a:t>You’re looking for a quick fix or crash diet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180969"/>
            <a:ext cx="118872" cy="118872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3072384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5A6478"/>
                </a:solidFill>
                <a:latin typeface="Alegreya Sans"/>
              </a:rPr>
              <a:t>You’re not ready to take action or follow through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784473"/>
            <a:ext cx="118872" cy="118872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36758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5A6478"/>
                </a:solidFill>
                <a:latin typeface="Alegreya Sans"/>
              </a:rPr>
              <a:t>You want results without changing any habits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87977"/>
            <a:ext cx="118872" cy="118872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4279392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5A6478"/>
                </a:solidFill>
                <a:latin typeface="Alegreya Sans"/>
              </a:rPr>
              <a:t>You’d rather do everything alone, without guidance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991481"/>
            <a:ext cx="118872" cy="118872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4882896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5A6478"/>
                </a:solidFill>
                <a:latin typeface="Alegreya Sans"/>
              </a:rPr>
              <a:t>You’re not open to a sustainable approach to nutrition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594985"/>
            <a:ext cx="118872" cy="118872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5486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5A6478"/>
                </a:solidFill>
                <a:latin typeface="Alegreya Sans"/>
              </a:rPr>
              <a:t>You’re not ready to commit right now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7448" y="11887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800" b="1" spc="200">
                <a:solidFill>
                  <a:srgbClr val="FFFFFF"/>
                </a:solidFill>
                <a:latin typeface="Alegreya Sans"/>
              </a:rPr>
              <a:t>TWO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1498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2400"/>
              </a:spcAft>
            </a:pPr>
            <a:r>
              <a:rPr sz="3800" b="1" i="0">
                <a:solidFill>
                  <a:srgbClr val="FFFFFF"/>
                </a:solidFill>
                <a:latin typeface="Libre Baskerville"/>
              </a:rPr>
              <a:t>You can keep doing this </a:t>
            </a:r>
            <a:r>
              <a:rPr sz="3800" b="1" i="1">
                <a:solidFill>
                  <a:srgbClr val="E5917A"/>
                </a:solidFill>
                <a:latin typeface="Libre Baskerville"/>
              </a:rPr>
              <a:t>alone</a:t>
            </a:r>
            <a:r>
              <a:rPr sz="3800" b="1" i="0">
                <a:solidFill>
                  <a:srgbClr val="FFFFFF"/>
                </a:solidFill>
                <a:latin typeface="Libre Baskerville"/>
              </a:rPr>
              <a:t> — and be in the same place in 3–6 months.</a:t>
            </a:r>
          </a:p>
          <a:p>
            <a:pPr algn="ctr">
              <a:lnSpc>
                <a:spcPct val="118000"/>
              </a:lnSpc>
            </a:pPr>
            <a:r>
              <a:rPr sz="3800" b="1" i="0">
                <a:solidFill>
                  <a:srgbClr val="FFFFFF"/>
                </a:solidFill>
                <a:latin typeface="Libre Baskerville"/>
              </a:rPr>
              <a:t>Or get the support, structure and accountability to </a:t>
            </a:r>
            <a:r>
              <a:rPr sz="3800" b="1" i="1">
                <a:solidFill>
                  <a:srgbClr val="E5917A"/>
                </a:solidFill>
                <a:latin typeface="Libre Baskerville"/>
              </a:rPr>
              <a:t>finally follow through</a:t>
            </a:r>
            <a:r>
              <a:rPr sz="3800" b="1" i="0">
                <a:solidFill>
                  <a:srgbClr val="FFFFFF"/>
                </a:solidFill>
                <a:latin typeface="Libre Baskerville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7488" y="8686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800" b="1" spc="250">
                <a:solidFill>
                  <a:srgbClr val="FFFFFF"/>
                </a:solidFill>
                <a:latin typeface="Alegreya Sans"/>
              </a:rPr>
              <a:t>READY?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 i="0">
                <a:solidFill>
                  <a:srgbClr val="FFFFFF"/>
                </a:solidFill>
                <a:latin typeface="Libre Baskerville"/>
              </a:rPr>
              <a:t>Reply and say </a:t>
            </a:r>
            <a:r>
              <a:rPr sz="4400" b="1" i="1">
                <a:solidFill>
                  <a:srgbClr val="E5917A"/>
                </a:solidFill>
                <a:latin typeface="Libre Baskerville"/>
              </a:rPr>
              <a:t>“I’m ready for VIP.”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8328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2000" b="0" i="0">
                <a:solidFill>
                  <a:srgbClr val="F4EBDC"/>
                </a:solidFill>
                <a:latin typeface="Alegreya Sans"/>
              </a:rPr>
              <a:t>I’ll let you know if there are spaces left. Spaces are limited to 30 women — and previous VIP rounds have always filled.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legreya Sans"/>
              </a:rPr>
              <a:t>Email me: </a:t>
            </a:r>
            <a:r>
              <a:rPr sz="2000" b="1" i="0">
                <a:solidFill>
                  <a:srgbClr val="E5917A"/>
                </a:solidFill>
                <a:latin typeface="Alegreya Sans"/>
              </a:rPr>
              <a:t>annasnutrition@gmail.com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i="1">
                <a:solidFill>
                  <a:srgbClr val="FFFFFF"/>
                </a:solidFill>
                <a:latin typeface="Libre Baskerville"/>
              </a:rPr>
              <a:t>Anna Wallace</a:t>
            </a:r>
            <a:r>
              <a:rPr sz="1500" b="0" i="0">
                <a:solidFill>
                  <a:srgbClr val="F4EBDC"/>
                </a:solidFill>
                <a:latin typeface="Alegreya Sans"/>
              </a:rPr>
              <a:t>  ·  Founder of The Weight Loss Academy, Registered Associate Nutritionist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