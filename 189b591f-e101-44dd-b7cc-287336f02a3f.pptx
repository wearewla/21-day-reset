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6"/>
    <p:sldMasterId id="214748367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nna Wallac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7BCF0C-A375-452B-9E6C-FE977FFECA84}">
  <a:tblStyle styleId="{4B7BCF0C-A375-452B-9E6C-FE977FFECA8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45EEC0E-3737-49C0-8D55-B03DF21A2109}"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2" Type="http://schemas.openxmlformats.org/officeDocument/2006/relationships/font" Target="fonts/HelveticaNeue-boldItalic.fntdata"/><Relationship Id="rId101" Type="http://schemas.openxmlformats.org/officeDocument/2006/relationships/font" Target="fonts/HelveticaNeue-italic.fntdata"/><Relationship Id="rId100" Type="http://schemas.openxmlformats.org/officeDocument/2006/relationships/font" Target="fonts/HelveticaNeue-bold.fntdata"/><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font" Target="fonts/LibreBaskerville-regular.fntdata"/><Relationship Id="rId94" Type="http://schemas.openxmlformats.org/officeDocument/2006/relationships/font" Target="fonts/Lato-boldItalic.fntdata"/><Relationship Id="rId97" Type="http://schemas.openxmlformats.org/officeDocument/2006/relationships/font" Target="fonts/LibreBaskerville-italic.fntdata"/><Relationship Id="rId96" Type="http://schemas.openxmlformats.org/officeDocument/2006/relationships/font" Target="fonts/LibreBaskerville-bold.fntdata"/><Relationship Id="rId11" Type="http://schemas.openxmlformats.org/officeDocument/2006/relationships/slide" Target="slides/slide3.xml"/><Relationship Id="rId99" Type="http://schemas.openxmlformats.org/officeDocument/2006/relationships/font" Target="fonts/HelveticaNeue-regular.fntdata"/><Relationship Id="rId10" Type="http://schemas.openxmlformats.org/officeDocument/2006/relationships/slide" Target="slides/slide2.xml"/><Relationship Id="rId98" Type="http://schemas.openxmlformats.org/officeDocument/2006/relationships/font" Target="fonts/LibreBaskerville-boldItalic.fntdata"/><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font" Target="fonts/Lato-regular.fntdata"/><Relationship Id="rId90" Type="http://schemas.openxmlformats.org/officeDocument/2006/relationships/font" Target="fonts/AlegreyaSans-boldItalic.fntdata"/><Relationship Id="rId93" Type="http://schemas.openxmlformats.org/officeDocument/2006/relationships/font" Target="fonts/Lato-italic.fntdata"/><Relationship Id="rId92" Type="http://schemas.openxmlformats.org/officeDocument/2006/relationships/font" Target="fonts/Lato-bold.fntdata"/><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font" Target="fonts/AlegreyaSans-bold.fntdata"/><Relationship Id="rId87" Type="http://schemas.openxmlformats.org/officeDocument/2006/relationships/font" Target="fonts/AlegreyaSans-regular.fntdata"/><Relationship Id="rId89" Type="http://schemas.openxmlformats.org/officeDocument/2006/relationships/font" Target="fonts/AlegreyaSans-italic.fntdata"/><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6-04T14:29:43.617">
    <p:pos x="256" y="154"/>
    <p:text>no time for this in reset</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6-04T16:08:36.189">
    <p:pos x="288" y="228"/>
    <p:text>a lot of text here, so not sure if he needs to go across two?</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85230e1f2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e85230e1f2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85230e1f2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e85230e1f2_2_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85230e1f2_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e85230e1f2_2_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85230e1f2_2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e85230e1f2_2_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856f66ec9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856f66ec9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856f66ec9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856f66ec9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85230e1f2_2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e85230e1f2_2_1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856f66ec9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856f66ec9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856f66ec9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856f66ec9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856f66ec9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e856f66ec9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856f66ec9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856f66ec9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856f66ec9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e856f66ec9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e856f66ec9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e856f66ec9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856f66ec9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e856f66ec9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e856f66ec9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e856f66ec9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e856f66ec9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e856f66ec9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e856f66ec9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e856f66ec9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e856f66ec9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e856f66ec9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e856f66ec9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e856f66ec9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e856f66ec9_0_388: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g3e856f66ec9_0_3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e85230e1f2_2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e85230e1f2_2_1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e85230e1f2_2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e85230e1f2_2_1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e856f66ec9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e856f66ec9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e856f66ec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e856f66ec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e856f66ec9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e856f66ec9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856f66ec9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e856f66ec9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e856f66ec9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e856f66ec9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e856f66ec9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e856f66ec9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e856f66ec9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e856f66ec9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e856f66ec9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e856f66ec9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e856f66ec9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e856f66ec9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e856f66ec9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e856f66ec9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e856f66ec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e856f66ec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e856f66ec9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3e856f66ec9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e856f66ec9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e856f66ec9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e856f66ec9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e856f66ec9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e856f66ec9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e856f66ec9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e856f66ec9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e856f66ec9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e856f66ec9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e856f66ec9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e856f66ec9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e856f66ec9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e856f66ec9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e856f66ec9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e85230e1f2_2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g3e85230e1f2_2_1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e856f66ec9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3e856f66ec9_0_5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e856f66ec9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e856f66ec9_0_5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85230e1f2_2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g3e85230e1f2_2_1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e85fcbded8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e85fcbded8_13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e85fcbded8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g3e85fcbded8_6_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e85230e1f2_2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g3e85230e1f2_2_2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e856f66ec9_0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g3e856f66ec9_0_6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e856f66ec9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e856f66ec9_0_6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e856f66ec9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3e856f66ec9_0_6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e856f66ec9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e856f66ec9_0_64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e856f66ec9_0_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g3e856f66ec9_0_6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e85230e1f2_2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g3e85230e1f2_2_2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e856f66ec9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g3e856f66ec9_0_6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e85230e1f2_2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e85230e1f2_2_2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e85fcbded8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g3e85fcbded8_15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e85fcbded8_15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g3e85fcbded8_15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e85230e1f2_2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g3e85230e1f2_2_3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e85fcbded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g3e85fcbded8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e85fcbded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g3e85fcbded8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e85fcbded8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g3e85fcbded8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e85230e1f2_2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g3e85230e1f2_2_3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e85230e1f2_2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3e85230e1f2_2_3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e85230e1f2_2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g3e85230e1f2_2_3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e85fcbded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g3e85fcbded8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e85fcbded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g3e85fcbded8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e85fcbded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g3e85fcbded8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e85fcbded8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g3e85fcbded8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e85230e1f2_2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g3e85230e1f2_2_3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e85230e1f2_2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g3e85230e1f2_2_3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e85230e1f2_2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g3e85230e1f2_2_3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e85fcbded8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g3e85fcbded8_10_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e85fcbded8_1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g3e85fcbded8_10_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85fcbded8_1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g3e85fcbded8_10_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e85230e1f2_2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g3e85230e1f2_2_3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e85230e1f2_2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g3e85230e1f2_2_3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e85230e1f2_2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g3e85230e1f2_2_3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63" name="Google Shape;63;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1" name="Google Shape;81;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2" name="Google Shape;8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88" name="Google Shape;88;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89" name="Google Shape;89;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0" name="Google Shape;90;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1" name="Google Shape;9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2"/>
          <p:cNvSpPr/>
          <p:nvPr>
            <p:ph idx="2" type="pic"/>
          </p:nvPr>
        </p:nvSpPr>
        <p:spPr>
          <a:xfrm>
            <a:off x="1792288" y="612775"/>
            <a:ext cx="5486400" cy="4114800"/>
          </a:xfrm>
          <a:prstGeom prst="rect">
            <a:avLst/>
          </a:prstGeom>
          <a:noFill/>
          <a:ln>
            <a:noFill/>
          </a:ln>
        </p:spPr>
      </p:sp>
      <p:sp>
        <p:nvSpPr>
          <p:cNvPr id="109" name="Google Shape;109;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 name="Google Shape;115;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2150850"/>
            <a:ext cx="8520600" cy="841800"/>
          </a:xfrm>
          <a:prstGeom prst="rect">
            <a:avLst/>
          </a:prstGeom>
        </p:spPr>
        <p:txBody>
          <a:bodyPr anchorCtr="0" anchor="ctr" bIns="45700" lIns="91425" spcFirstLastPara="1" rIns="91425" wrap="square" tIns="4570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7" name="Google Shape;127;p25"/>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8" name="Shape 128"/>
        <p:cNvGrpSpPr/>
        <p:nvPr/>
      </p:nvGrpSpPr>
      <p:grpSpPr>
        <a:xfrm>
          <a:off x="0" y="0"/>
          <a:ext cx="0" cy="0"/>
          <a:chOff x="0" y="0"/>
          <a:chExt cx="0" cy="0"/>
        </a:xfrm>
      </p:grpSpPr>
      <p:sp>
        <p:nvSpPr>
          <p:cNvPr id="129" name="Google Shape;129;p26"/>
          <p:cNvSpPr txBox="1"/>
          <p:nvPr>
            <p:ph type="title"/>
          </p:nvPr>
        </p:nvSpPr>
        <p:spPr>
          <a:xfrm>
            <a:off x="311700" y="445025"/>
            <a:ext cx="8520600" cy="572700"/>
          </a:xfrm>
          <a:prstGeom prst="rect">
            <a:avLst/>
          </a:prstGeom>
        </p:spPr>
        <p:txBody>
          <a:bodyPr anchorCtr="0" anchor="ctr" bIns="45700" lIns="91425" spcFirstLastPara="1" rIns="91425" wrap="square" tIns="45700">
            <a:normAutofit/>
          </a:bodyPr>
          <a:lstStyle>
            <a:lvl1pPr lvl="0">
              <a:spcBef>
                <a:spcPts val="0"/>
              </a:spcBef>
              <a:spcAft>
                <a:spcPts val="0"/>
              </a:spcAft>
              <a:buSzPts val="4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6"/>
          <p:cNvSpPr txBox="1"/>
          <p:nvPr>
            <p:ph idx="1" type="body"/>
          </p:nvPr>
        </p:nvSpPr>
        <p:spPr>
          <a:xfrm>
            <a:off x="311700" y="1152475"/>
            <a:ext cx="8520600" cy="3416400"/>
          </a:xfrm>
          <a:prstGeom prst="rect">
            <a:avLst/>
          </a:prstGeom>
        </p:spPr>
        <p:txBody>
          <a:bodyPr anchorCtr="0" anchor="t" bIns="45700" lIns="91425" spcFirstLastPara="1" rIns="91425" wrap="square" tIns="45700">
            <a:normAutofit/>
          </a:bodyPr>
          <a:lstStyle>
            <a:lvl1pPr indent="-431800" lvl="0" marL="457200">
              <a:spcBef>
                <a:spcPts val="640"/>
              </a:spcBef>
              <a:spcAft>
                <a:spcPts val="0"/>
              </a:spcAft>
              <a:buSzPts val="3200"/>
              <a:buChar char="•"/>
              <a:defRPr/>
            </a:lvl1pPr>
            <a:lvl2pPr indent="-406400" lvl="1" marL="914400">
              <a:spcBef>
                <a:spcPts val="560"/>
              </a:spcBef>
              <a:spcAft>
                <a:spcPts val="0"/>
              </a:spcAft>
              <a:buSzPts val="2800"/>
              <a:buChar char="–"/>
              <a:defRPr/>
            </a:lvl2pPr>
            <a:lvl3pPr indent="-381000" lvl="2" marL="1371600">
              <a:spcBef>
                <a:spcPts val="480"/>
              </a:spcBef>
              <a:spcAft>
                <a:spcPts val="0"/>
              </a:spcAft>
              <a:buSzPts val="2400"/>
              <a:buChar char="•"/>
              <a:defRPr/>
            </a:lvl3pPr>
            <a:lvl4pPr indent="-355600" lvl="3" marL="1828800">
              <a:spcBef>
                <a:spcPts val="400"/>
              </a:spcBef>
              <a:spcAft>
                <a:spcPts val="0"/>
              </a:spcAft>
              <a:buSzPts val="2000"/>
              <a:buChar char="–"/>
              <a:defRPr/>
            </a:lvl4pPr>
            <a:lvl5pPr indent="-355600" lvl="4" marL="2286000">
              <a:spcBef>
                <a:spcPts val="400"/>
              </a:spcBef>
              <a:spcAft>
                <a:spcPts val="0"/>
              </a:spcAft>
              <a:buSzPts val="2000"/>
              <a:buChar char="»"/>
              <a:defRPr/>
            </a:lvl5pPr>
            <a:lvl6pPr indent="-355600" lvl="5" marL="2743200">
              <a:spcBef>
                <a:spcPts val="400"/>
              </a:spcBef>
              <a:spcAft>
                <a:spcPts val="0"/>
              </a:spcAft>
              <a:buSzPts val="2000"/>
              <a:buChar char="•"/>
              <a:defRPr/>
            </a:lvl6pPr>
            <a:lvl7pPr indent="-355600" lvl="6" marL="3200400">
              <a:spcBef>
                <a:spcPts val="400"/>
              </a:spcBef>
              <a:spcAft>
                <a:spcPts val="0"/>
              </a:spcAft>
              <a:buSzPts val="2000"/>
              <a:buChar char="•"/>
              <a:defRPr/>
            </a:lvl7pPr>
            <a:lvl8pPr indent="-355600" lvl="7" marL="3657600">
              <a:spcBef>
                <a:spcPts val="400"/>
              </a:spcBef>
              <a:spcAft>
                <a:spcPts val="0"/>
              </a:spcAft>
              <a:buSzPts val="2000"/>
              <a:buChar char="•"/>
              <a:defRPr/>
            </a:lvl8pPr>
            <a:lvl9pPr indent="-355600" lvl="8" marL="4114800">
              <a:spcBef>
                <a:spcPts val="400"/>
              </a:spcBef>
              <a:spcAft>
                <a:spcPts val="0"/>
              </a:spcAft>
              <a:buSzPts val="2000"/>
              <a:buChar char="•"/>
              <a:defRPr/>
            </a:lvl9pPr>
          </a:lstStyle>
          <a:p/>
        </p:txBody>
      </p:sp>
      <p:sp>
        <p:nvSpPr>
          <p:cNvPr id="131" name="Google Shape;131;p26"/>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2">
  <p:cSld name="SECTION_HEADER_2">
    <p:spTree>
      <p:nvGrpSpPr>
        <p:cNvPr id="132" name="Shape 132"/>
        <p:cNvGrpSpPr/>
        <p:nvPr/>
      </p:nvGrpSpPr>
      <p:grpSpPr>
        <a:xfrm>
          <a:off x="0" y="0"/>
          <a:ext cx="0" cy="0"/>
          <a:chOff x="0" y="0"/>
          <a:chExt cx="0" cy="0"/>
        </a:xfrm>
      </p:grpSpPr>
      <p:sp>
        <p:nvSpPr>
          <p:cNvPr id="133" name="Google Shape;133;p27"/>
          <p:cNvSpPr txBox="1"/>
          <p:nvPr>
            <p:ph type="title"/>
          </p:nvPr>
        </p:nvSpPr>
        <p:spPr>
          <a:xfrm>
            <a:off x="311700" y="2150850"/>
            <a:ext cx="8520600" cy="841800"/>
          </a:xfrm>
          <a:prstGeom prst="rect">
            <a:avLst/>
          </a:prstGeom>
        </p:spPr>
        <p:txBody>
          <a:bodyPr anchorCtr="0" anchor="ctr" bIns="45700" lIns="91425" spcFirstLastPara="1" rIns="91425" wrap="square" tIns="4570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4" name="Google Shape;134;p27"/>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3">
  <p:cSld name="SECTION_HEADER_3">
    <p:spTree>
      <p:nvGrpSpPr>
        <p:cNvPr id="135" name="Shape 135"/>
        <p:cNvGrpSpPr/>
        <p:nvPr/>
      </p:nvGrpSpPr>
      <p:grpSpPr>
        <a:xfrm>
          <a:off x="0" y="0"/>
          <a:ext cx="0" cy="0"/>
          <a:chOff x="0" y="0"/>
          <a:chExt cx="0" cy="0"/>
        </a:xfrm>
      </p:grpSpPr>
      <p:sp>
        <p:nvSpPr>
          <p:cNvPr id="136" name="Google Shape;136;p28"/>
          <p:cNvSpPr txBox="1"/>
          <p:nvPr>
            <p:ph type="title"/>
          </p:nvPr>
        </p:nvSpPr>
        <p:spPr>
          <a:xfrm>
            <a:off x="311700" y="2150850"/>
            <a:ext cx="8520600" cy="841800"/>
          </a:xfrm>
          <a:prstGeom prst="rect">
            <a:avLst/>
          </a:prstGeom>
        </p:spPr>
        <p:txBody>
          <a:bodyPr anchorCtr="0" anchor="ctr" bIns="45700" lIns="91425" spcFirstLastPara="1" rIns="91425" wrap="square" tIns="4570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7" name="Google Shape;137;p28"/>
          <p:cNvSpPr txBox="1"/>
          <p:nvPr>
            <p:ph idx="12" type="sldNum"/>
          </p:nvPr>
        </p:nvSpPr>
        <p:spPr>
          <a:xfrm>
            <a:off x="8472458" y="4663217"/>
            <a:ext cx="548700" cy="3936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6" Type="http://schemas.openxmlformats.org/officeDocument/2006/relationships/theme" Target="../theme/theme2.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 Id="rId3" Type="http://schemas.openxmlformats.org/officeDocument/2006/relationships/comments" Target="../comments/commen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5.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0.xml"/><Relationship Id="rId3"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1.xml"/><Relationship Id="rId3"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1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2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22.png"/><Relationship Id="rId4" Type="http://schemas.openxmlformats.org/officeDocument/2006/relationships/image" Target="../media/image18.png"/><Relationship Id="rId5" Type="http://schemas.openxmlformats.org/officeDocument/2006/relationships/image" Target="../media/image1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14.png"/><Relationship Id="rId4" Type="http://schemas.openxmlformats.org/officeDocument/2006/relationships/image" Target="../media/image25.png"/><Relationship Id="rId5" Type="http://schemas.openxmlformats.org/officeDocument/2006/relationships/image" Target="../media/image24.png"/></Relationships>
</file>

<file path=ppt/slides/_rels/slide63.xml.rels><?xml version="1.0" encoding="UTF-8" standalone="yes"?><Relationships xmlns="http://schemas.openxmlformats.org/package/2006/relationships"><Relationship Id="rId10" Type="http://schemas.openxmlformats.org/officeDocument/2006/relationships/image" Target="../media/image35.png"/><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43.png"/><Relationship Id="rId5" Type="http://schemas.openxmlformats.org/officeDocument/2006/relationships/image" Target="../media/image31.png"/><Relationship Id="rId6" Type="http://schemas.openxmlformats.org/officeDocument/2006/relationships/image" Target="../media/image30.png"/><Relationship Id="rId7" Type="http://schemas.openxmlformats.org/officeDocument/2006/relationships/image" Target="../media/image29.png"/><Relationship Id="rId8" Type="http://schemas.openxmlformats.org/officeDocument/2006/relationships/image" Target="../media/image3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37.png"/><Relationship Id="rId4" Type="http://schemas.openxmlformats.org/officeDocument/2006/relationships/image" Target="../media/image27.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33.png"/><Relationship Id="rId4" Type="http://schemas.openxmlformats.org/officeDocument/2006/relationships/image" Target="../media/image2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39.png"/><Relationship Id="rId4" Type="http://schemas.openxmlformats.org/officeDocument/2006/relationships/image" Target="../media/image4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 Id="rId3" Type="http://schemas.openxmlformats.org/officeDocument/2006/relationships/image" Target="../media/image38.png"/><Relationship Id="rId4" Type="http://schemas.openxmlformats.org/officeDocument/2006/relationships/image" Target="../media/image4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 Id="rId3" Type="http://schemas.openxmlformats.org/officeDocument/2006/relationships/image" Target="../media/image40.png"/><Relationship Id="rId4" Type="http://schemas.openxmlformats.org/officeDocument/2006/relationships/image" Target="../media/image4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 Id="rId3" Type="http://schemas.openxmlformats.org/officeDocument/2006/relationships/comments" Target="../comments/commen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image" Target="../media/image3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41" name="Shape 141"/>
        <p:cNvGrpSpPr/>
        <p:nvPr/>
      </p:nvGrpSpPr>
      <p:grpSpPr>
        <a:xfrm>
          <a:off x="0" y="0"/>
          <a:ext cx="0" cy="0"/>
          <a:chOff x="0" y="0"/>
          <a:chExt cx="0" cy="0"/>
        </a:xfrm>
      </p:grpSpPr>
      <p:sp>
        <p:nvSpPr>
          <p:cNvPr id="142" name="Google Shape;142;p29"/>
          <p:cNvSpPr txBox="1"/>
          <p:nvPr/>
        </p:nvSpPr>
        <p:spPr>
          <a:xfrm>
            <a:off x="457200" y="685800"/>
            <a:ext cx="8229600" cy="45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a:solidFill>
                  <a:srgbClr val="F79F83"/>
                </a:solidFill>
                <a:latin typeface="Alegreya Sans"/>
                <a:ea typeface="Alegreya Sans"/>
                <a:cs typeface="Alegreya Sans"/>
                <a:sym typeface="Alegreya Sans"/>
              </a:rPr>
              <a:t>THE </a:t>
            </a:r>
            <a:r>
              <a:rPr b="1" i="0" lang="en-GB" sz="1400" u="none" cap="none" strike="noStrike">
                <a:solidFill>
                  <a:srgbClr val="F79F83"/>
                </a:solidFill>
                <a:latin typeface="Alegreya Sans"/>
                <a:ea typeface="Alegreya Sans"/>
                <a:cs typeface="Alegreya Sans"/>
                <a:sym typeface="Alegreya Sans"/>
              </a:rPr>
              <a:t>WEIGHT LOSS &amp; LIFESTYLE ACADEMY · LIVE WORKSHOP</a:t>
            </a:r>
            <a:endParaRPr/>
          </a:p>
        </p:txBody>
      </p:sp>
      <p:sp>
        <p:nvSpPr>
          <p:cNvPr id="143" name="Google Shape;143;p29"/>
          <p:cNvSpPr txBox="1"/>
          <p:nvPr/>
        </p:nvSpPr>
        <p:spPr>
          <a:xfrm>
            <a:off x="457200" y="1645750"/>
            <a:ext cx="8229600" cy="2199900"/>
          </a:xfrm>
          <a:prstGeom prst="rect">
            <a:avLst/>
          </a:prstGeom>
          <a:noFill/>
          <a:ln>
            <a:noFill/>
          </a:ln>
        </p:spPr>
        <p:txBody>
          <a:bodyPr anchorCtr="0" anchor="t" bIns="0" lIns="0" spcFirstLastPara="1" rIns="0" wrap="square" tIns="0">
            <a:noAutofit/>
          </a:bodyPr>
          <a:lstStyle/>
          <a:p>
            <a:pPr indent="0" lvl="0" marL="0" marR="0" rtl="0" algn="ctr">
              <a:spcBef>
                <a:spcPts val="400"/>
              </a:spcBef>
              <a:spcAft>
                <a:spcPts val="0"/>
              </a:spcAft>
              <a:buNone/>
            </a:pPr>
            <a:r>
              <a:rPr lang="en-GB" sz="2800">
                <a:solidFill>
                  <a:srgbClr val="003060"/>
                </a:solidFill>
                <a:latin typeface="Libre Baskerville"/>
                <a:ea typeface="Libre Baskerville"/>
                <a:cs typeface="Libre Baskerville"/>
                <a:sym typeface="Libre Baskerville"/>
              </a:rPr>
              <a:t>How Women 45+ Are </a:t>
            </a:r>
            <a:r>
              <a:rPr b="1" lang="en-GB" sz="2800">
                <a:solidFill>
                  <a:srgbClr val="003060"/>
                </a:solidFill>
                <a:latin typeface="Libre Baskerville"/>
                <a:ea typeface="Libre Baskerville"/>
                <a:cs typeface="Libre Baskerville"/>
                <a:sym typeface="Libre Baskerville"/>
              </a:rPr>
              <a:t>Losing Up To 2 Stone</a:t>
            </a:r>
            <a:r>
              <a:rPr lang="en-GB" sz="2800">
                <a:solidFill>
                  <a:srgbClr val="003060"/>
                </a:solidFill>
                <a:latin typeface="Libre Baskerville"/>
                <a:ea typeface="Libre Baskerville"/>
                <a:cs typeface="Libre Baskerville"/>
                <a:sym typeface="Libre Baskerville"/>
              </a:rPr>
              <a:t> </a:t>
            </a:r>
            <a:endParaRPr sz="2800">
              <a:solidFill>
                <a:srgbClr val="003060"/>
              </a:solidFill>
              <a:latin typeface="Libre Baskerville"/>
              <a:ea typeface="Libre Baskerville"/>
              <a:cs typeface="Libre Baskerville"/>
              <a:sym typeface="Libre Baskerville"/>
            </a:endParaRPr>
          </a:p>
          <a:p>
            <a:pPr indent="0" lvl="0" marL="0" marR="0" rtl="0" algn="ctr">
              <a:spcBef>
                <a:spcPts val="400"/>
              </a:spcBef>
              <a:spcAft>
                <a:spcPts val="0"/>
              </a:spcAft>
              <a:buNone/>
            </a:pPr>
            <a:r>
              <a:rPr lang="en-GB" sz="2800">
                <a:solidFill>
                  <a:srgbClr val="003060"/>
                </a:solidFill>
                <a:latin typeface="Libre Baskerville"/>
                <a:ea typeface="Libre Baskerville"/>
                <a:cs typeface="Libre Baskerville"/>
                <a:sym typeface="Libre Baskerville"/>
              </a:rPr>
              <a:t>Without </a:t>
            </a:r>
            <a:r>
              <a:rPr i="1" lang="en-GB" sz="2800">
                <a:solidFill>
                  <a:srgbClr val="003060"/>
                </a:solidFill>
                <a:latin typeface="Libre Baskerville"/>
                <a:ea typeface="Libre Baskerville"/>
                <a:cs typeface="Libre Baskerville"/>
                <a:sym typeface="Libre Baskerville"/>
              </a:rPr>
              <a:t>Calorie Counting</a:t>
            </a:r>
            <a:r>
              <a:rPr lang="en-GB" sz="2800">
                <a:solidFill>
                  <a:srgbClr val="003060"/>
                </a:solidFill>
                <a:latin typeface="Libre Baskerville"/>
                <a:ea typeface="Libre Baskerville"/>
                <a:cs typeface="Libre Baskerville"/>
                <a:sym typeface="Libre Baskerville"/>
              </a:rPr>
              <a:t> Or </a:t>
            </a:r>
            <a:r>
              <a:rPr i="1" lang="en-GB" sz="2800">
                <a:solidFill>
                  <a:srgbClr val="003060"/>
                </a:solidFill>
                <a:latin typeface="Libre Baskerville"/>
                <a:ea typeface="Libre Baskerville"/>
                <a:cs typeface="Libre Baskerville"/>
                <a:sym typeface="Libre Baskerville"/>
              </a:rPr>
              <a:t>Miserable Diets</a:t>
            </a:r>
            <a:endParaRPr i="1" sz="2800">
              <a:solidFill>
                <a:srgbClr val="003060"/>
              </a:solidFill>
              <a:latin typeface="Libre Baskerville"/>
              <a:ea typeface="Libre Baskerville"/>
              <a:cs typeface="Libre Baskerville"/>
              <a:sym typeface="Libre Baskerville"/>
            </a:endParaRPr>
          </a:p>
          <a:p>
            <a:pPr indent="0" lvl="0" marL="0" marR="0" rtl="0" algn="ctr">
              <a:spcBef>
                <a:spcPts val="18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47" name="Shape 147"/>
        <p:cNvGrpSpPr/>
        <p:nvPr/>
      </p:nvGrpSpPr>
      <p:grpSpPr>
        <a:xfrm>
          <a:off x="0" y="0"/>
          <a:ext cx="0" cy="0"/>
          <a:chOff x="0" y="0"/>
          <a:chExt cx="0" cy="0"/>
        </a:xfrm>
      </p:grpSpPr>
      <p:sp>
        <p:nvSpPr>
          <p:cNvPr id="148" name="Google Shape;148;p30"/>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GB" sz="2200" u="none" cap="none" strike="noStrike">
                <a:solidFill>
                  <a:srgbClr val="003060"/>
                </a:solidFill>
                <a:latin typeface="Alegreya Sans"/>
                <a:ea typeface="Alegreya Sans"/>
                <a:cs typeface="Alegreya Sans"/>
                <a:sym typeface="Alegreya Sans"/>
              </a:rPr>
              <a:t>Today we will ensure you walk away with everything you need to</a:t>
            </a:r>
            <a:endParaRPr/>
          </a:p>
          <a:p>
            <a:pPr indent="0" lvl="0" marL="0" marR="0" rtl="0" algn="ctr">
              <a:spcBef>
                <a:spcPts val="600"/>
              </a:spcBef>
              <a:spcAft>
                <a:spcPts val="0"/>
              </a:spcAft>
              <a:buNone/>
            </a:pPr>
            <a:r>
              <a:rPr b="1" i="1" lang="en-GB" sz="2600" u="none" cap="none" strike="noStrike">
                <a:solidFill>
                  <a:srgbClr val="F79F83"/>
                </a:solidFill>
                <a:latin typeface="Libre Baskerville"/>
                <a:ea typeface="Libre Baskerville"/>
                <a:cs typeface="Libre Baskerville"/>
                <a:sym typeface="Libre Baskerville"/>
              </a:rPr>
              <a:t>lose up to 2 stone over the next 12 weeks.</a:t>
            </a:r>
            <a:endParaRPr/>
          </a:p>
          <a:p>
            <a:pPr indent="0" lvl="0" marL="0" marR="0" rtl="0" algn="ctr">
              <a:spcBef>
                <a:spcPts val="1800"/>
              </a:spcBef>
              <a:spcAft>
                <a:spcPts val="0"/>
              </a:spcAft>
              <a:buNone/>
            </a:pPr>
            <a:r>
              <a:rPr b="0" i="0" lang="en-GB" sz="2000" u="none" cap="none" strike="noStrike">
                <a:solidFill>
                  <a:srgbClr val="003060"/>
                </a:solidFill>
                <a:latin typeface="Alegreya Sans"/>
                <a:ea typeface="Alegreya Sans"/>
                <a:cs typeface="Alegreya Sans"/>
                <a:sym typeface="Alegreya Sans"/>
              </a:rPr>
              <a:t>What you do with this information is your choice</a:t>
            </a:r>
            <a:endParaRPr/>
          </a:p>
          <a:p>
            <a:pPr indent="0" lvl="0" marL="0" marR="0" rtl="0" algn="ctr">
              <a:spcBef>
                <a:spcPts val="600"/>
              </a:spcBef>
              <a:spcAft>
                <a:spcPts val="0"/>
              </a:spcAft>
              <a:buNone/>
            </a:pPr>
            <a:r>
              <a:rPr b="1" i="0" lang="en-GB" sz="2200" u="none" cap="none" strike="noStrike">
                <a:solidFill>
                  <a:srgbClr val="003060"/>
                </a:solidFill>
                <a:latin typeface="Alegreya Sans"/>
                <a:ea typeface="Alegreya Sans"/>
                <a:cs typeface="Alegreya Sans"/>
                <a:sym typeface="Alegreya Sans"/>
              </a:rPr>
              <a:t>but today we are getting into action!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52" name="Shape 152"/>
        <p:cNvGrpSpPr/>
        <p:nvPr/>
      </p:nvGrpSpPr>
      <p:grpSpPr>
        <a:xfrm>
          <a:off x="0" y="0"/>
          <a:ext cx="0" cy="0"/>
          <a:chOff x="0" y="0"/>
          <a:chExt cx="0" cy="0"/>
        </a:xfrm>
      </p:grpSpPr>
      <p:sp>
        <p:nvSpPr>
          <p:cNvPr id="153" name="Google Shape;153;p31"/>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3000" u="none" cap="none" strike="noStrike">
                <a:solidFill>
                  <a:srgbClr val="003060"/>
                </a:solidFill>
                <a:latin typeface="Libre Baskerville"/>
                <a:ea typeface="Libre Baskerville"/>
                <a:cs typeface="Libre Baskerville"/>
                <a:sym typeface="Libre Baskerville"/>
              </a:rPr>
              <a:t>Access a </a:t>
            </a:r>
            <a:r>
              <a:rPr b="1" lang="en-GB" sz="3000">
                <a:solidFill>
                  <a:srgbClr val="003060"/>
                </a:solidFill>
                <a:latin typeface="Libre Baskerville"/>
                <a:ea typeface="Libre Baskerville"/>
                <a:cs typeface="Libre Baskerville"/>
                <a:sym typeface="Libre Baskerville"/>
              </a:rPr>
              <a:t>fun reward</a:t>
            </a:r>
            <a:r>
              <a:rPr b="1" i="0" lang="en-GB" sz="3000" u="none" cap="none" strike="noStrike">
                <a:solidFill>
                  <a:srgbClr val="003060"/>
                </a:solidFill>
                <a:latin typeface="Libre Baskerville"/>
                <a:ea typeface="Libre Baskerville"/>
                <a:cs typeface="Libre Baskerville"/>
                <a:sym typeface="Libre Baskerville"/>
              </a:rPr>
              <a:t> for hanging out today, until the end…</a:t>
            </a:r>
            <a:endParaRPr/>
          </a:p>
          <a:p>
            <a:pPr indent="0" lvl="0" marL="0" marR="0" rtl="0" algn="l">
              <a:spcBef>
                <a:spcPts val="1400"/>
              </a:spcBef>
              <a:spcAft>
                <a:spcPts val="0"/>
              </a:spcAft>
              <a:buNone/>
            </a:pPr>
            <a:r>
              <a:t/>
            </a:r>
            <a:endParaRPr/>
          </a:p>
          <a:p>
            <a:pPr indent="0" lvl="0" marL="0" marR="0" rtl="0" algn="ctr">
              <a:spcBef>
                <a:spcPts val="1000"/>
              </a:spcBef>
              <a:spcAft>
                <a:spcPts val="0"/>
              </a:spcAft>
              <a:buNone/>
            </a:pPr>
            <a:r>
              <a:rPr b="1" i="1" lang="en-GB" sz="1900">
                <a:solidFill>
                  <a:srgbClr val="F79F83"/>
                </a:solidFill>
                <a:latin typeface="Libre Baskerville"/>
                <a:ea typeface="Libre Baskerville"/>
                <a:cs typeface="Libre Baskerville"/>
                <a:sym typeface="Libre Baskerville"/>
              </a:rPr>
              <a:t>Access a whole year of coaching for the price of 12 weeks plus announcing our two </a:t>
            </a:r>
            <a:r>
              <a:rPr b="1" i="1" lang="en-GB" sz="1900">
                <a:solidFill>
                  <a:srgbClr val="F79F83"/>
                </a:solidFill>
                <a:latin typeface="Libre Baskerville"/>
                <a:ea typeface="Libre Baskerville"/>
                <a:cs typeface="Libre Baskerville"/>
                <a:sym typeface="Libre Baskerville"/>
              </a:rPr>
              <a:t>winners that get FREE access into brand </a:t>
            </a:r>
            <a:br>
              <a:rPr b="1" i="1" lang="en-GB" sz="1900">
                <a:solidFill>
                  <a:srgbClr val="F79F83"/>
                </a:solidFill>
                <a:latin typeface="Libre Baskerville"/>
                <a:ea typeface="Libre Baskerville"/>
                <a:cs typeface="Libre Baskerville"/>
                <a:sym typeface="Libre Baskerville"/>
              </a:rPr>
            </a:br>
            <a:r>
              <a:rPr b="1" i="1" lang="en-GB" sz="1900">
                <a:solidFill>
                  <a:srgbClr val="F79F83"/>
                </a:solidFill>
                <a:latin typeface="Libre Baskerville"/>
                <a:ea typeface="Libre Baskerville"/>
                <a:cs typeface="Libre Baskerville"/>
                <a:sym typeface="Libre Baskerville"/>
              </a:rPr>
              <a:t>NEW WLA 12 Week Summer Challenge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57" name="Shape 157"/>
        <p:cNvGrpSpPr/>
        <p:nvPr/>
      </p:nvGrpSpPr>
      <p:grpSpPr>
        <a:xfrm>
          <a:off x="0" y="0"/>
          <a:ext cx="0" cy="0"/>
          <a:chOff x="0" y="0"/>
          <a:chExt cx="0" cy="0"/>
        </a:xfrm>
      </p:grpSpPr>
      <p:sp>
        <p:nvSpPr>
          <p:cNvPr id="158" name="Google Shape;158;p32"/>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GB" sz="1900" u="none" cap="none" strike="noStrike">
                <a:solidFill>
                  <a:srgbClr val="003060"/>
                </a:solidFill>
                <a:latin typeface="Alegreya Sans"/>
                <a:ea typeface="Alegreya Sans"/>
                <a:cs typeface="Alegreya Sans"/>
                <a:sym typeface="Alegreya Sans"/>
              </a:rPr>
              <a:t>Any person that has transformed their weight loss journey,</a:t>
            </a:r>
            <a:endParaRPr/>
          </a:p>
          <a:p>
            <a:pPr indent="0" lvl="0" marL="0" marR="0" rtl="0" algn="ctr">
              <a:spcBef>
                <a:spcPts val="400"/>
              </a:spcBef>
              <a:spcAft>
                <a:spcPts val="0"/>
              </a:spcAft>
              <a:buNone/>
            </a:pPr>
            <a:r>
              <a:rPr b="0" i="0" lang="en-GB" sz="1900" u="none" cap="none" strike="noStrike">
                <a:solidFill>
                  <a:srgbClr val="003060"/>
                </a:solidFill>
                <a:latin typeface="Alegreya Sans"/>
                <a:ea typeface="Alegreya Sans"/>
                <a:cs typeface="Alegreya Sans"/>
                <a:sym typeface="Alegreya Sans"/>
              </a:rPr>
              <a:t>their health and wellbeing,</a:t>
            </a:r>
            <a:r>
              <a:rPr lang="en-GB"/>
              <a:t> </a:t>
            </a:r>
            <a:r>
              <a:rPr b="1" i="1" lang="en-GB" sz="2000" u="none" cap="none" strike="noStrike">
                <a:solidFill>
                  <a:srgbClr val="F79F83"/>
                </a:solidFill>
                <a:latin typeface="Libre Baskerville"/>
                <a:ea typeface="Libre Baskerville"/>
                <a:cs typeface="Libre Baskerville"/>
                <a:sym typeface="Libre Baskerville"/>
              </a:rPr>
              <a:t>has taken serious action. Is </a:t>
            </a:r>
            <a:r>
              <a:rPr b="1" i="1" lang="en-GB" sz="2000">
                <a:solidFill>
                  <a:srgbClr val="F79F83"/>
                </a:solidFill>
                <a:latin typeface="Libre Baskerville"/>
                <a:ea typeface="Libre Baskerville"/>
                <a:cs typeface="Libre Baskerville"/>
                <a:sym typeface="Libre Baskerville"/>
              </a:rPr>
              <a:t>c</a:t>
            </a:r>
            <a:r>
              <a:rPr b="1" i="1" lang="en-GB" sz="2000" u="none" cap="none" strike="noStrike">
                <a:solidFill>
                  <a:srgbClr val="F79F83"/>
                </a:solidFill>
                <a:latin typeface="Libre Baskerville"/>
                <a:ea typeface="Libre Baskerville"/>
                <a:cs typeface="Libre Baskerville"/>
                <a:sym typeface="Libre Baskerville"/>
              </a:rPr>
              <a:t>ommitted. Overcame struggles, setbacks and difficult days.</a:t>
            </a:r>
            <a:endParaRPr/>
          </a:p>
          <a:p>
            <a:pPr indent="0" lvl="0" marL="0" marR="0" rtl="0" algn="ctr">
              <a:spcBef>
                <a:spcPts val="2200"/>
              </a:spcBef>
              <a:spcAft>
                <a:spcPts val="0"/>
              </a:spcAft>
              <a:buNone/>
            </a:pPr>
            <a:r>
              <a:rPr i="0" lang="en-GB" sz="2000" u="none" cap="none" strike="noStrike">
                <a:solidFill>
                  <a:srgbClr val="003060"/>
                </a:solidFill>
                <a:latin typeface="Alegreya Sans"/>
                <a:ea typeface="Alegreya Sans"/>
                <a:cs typeface="Alegreya Sans"/>
                <a:sym typeface="Alegreya Sans"/>
              </a:rPr>
              <a:t>Use today as the day that you show up</a:t>
            </a:r>
            <a:r>
              <a:rPr lang="en-GB"/>
              <a:t> </a:t>
            </a:r>
            <a:r>
              <a:rPr i="0" lang="en-GB" sz="2200" u="none" cap="none" strike="noStrike">
                <a:solidFill>
                  <a:srgbClr val="003060"/>
                </a:solidFill>
                <a:latin typeface="Alegreya Sans"/>
                <a:ea typeface="Alegreya Sans"/>
                <a:cs typeface="Alegreya Sans"/>
                <a:sym typeface="Alegreya Sans"/>
              </a:rPr>
              <a:t>for your future self!</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3"/>
        </a:solidFill>
      </p:bgPr>
    </p:bg>
    <p:spTree>
      <p:nvGrpSpPr>
        <p:cNvPr id="162" name="Shape 162"/>
        <p:cNvGrpSpPr/>
        <p:nvPr/>
      </p:nvGrpSpPr>
      <p:grpSpPr>
        <a:xfrm>
          <a:off x="0" y="0"/>
          <a:ext cx="0" cy="0"/>
          <a:chOff x="0" y="0"/>
          <a:chExt cx="0" cy="0"/>
        </a:xfrm>
      </p:grpSpPr>
      <p:sp>
        <p:nvSpPr>
          <p:cNvPr id="163" name="Google Shape;163;p33"/>
          <p:cNvSpPr txBox="1"/>
          <p:nvPr>
            <p:ph type="title"/>
          </p:nvPr>
        </p:nvSpPr>
        <p:spPr>
          <a:xfrm>
            <a:off x="103475" y="193575"/>
            <a:ext cx="9081300" cy="6405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b="1" lang="en-GB" sz="2500">
                <a:solidFill>
                  <a:srgbClr val="434343"/>
                </a:solidFill>
                <a:latin typeface="Lato"/>
                <a:ea typeface="Lato"/>
                <a:cs typeface="Lato"/>
                <a:sym typeface="Lato"/>
              </a:rPr>
              <a:t>What I Learned </a:t>
            </a:r>
            <a:r>
              <a:rPr b="1" i="1" lang="en-GB" sz="2500">
                <a:solidFill>
                  <a:srgbClr val="434343"/>
                </a:solidFill>
                <a:latin typeface="Lato"/>
                <a:ea typeface="Lato"/>
                <a:cs typeface="Lato"/>
                <a:sym typeface="Lato"/>
              </a:rPr>
              <a:t>(and this is what most people do to lose weight)</a:t>
            </a:r>
            <a:endParaRPr b="1" i="1" sz="2500">
              <a:solidFill>
                <a:srgbClr val="434343"/>
              </a:solidFill>
              <a:latin typeface="Lato"/>
              <a:ea typeface="Lato"/>
              <a:cs typeface="Lato"/>
              <a:sym typeface="Lato"/>
            </a:endParaRPr>
          </a:p>
        </p:txBody>
      </p:sp>
      <p:graphicFrame>
        <p:nvGraphicFramePr>
          <p:cNvPr id="164" name="Google Shape;164;p33"/>
          <p:cNvGraphicFramePr/>
          <p:nvPr/>
        </p:nvGraphicFramePr>
        <p:xfrm>
          <a:off x="305350" y="925913"/>
          <a:ext cx="3000000" cy="3000000"/>
        </p:xfrm>
        <a:graphic>
          <a:graphicData uri="http://schemas.openxmlformats.org/drawingml/2006/table">
            <a:tbl>
              <a:tblPr>
                <a:noFill/>
                <a:tableStyleId>{4B7BCF0C-A375-452B-9E6C-FE977FFECA84}</a:tableStyleId>
              </a:tblPr>
              <a:tblGrid>
                <a:gridCol w="4054075"/>
                <a:gridCol w="4054075"/>
              </a:tblGrid>
              <a:tr h="381000">
                <a:tc>
                  <a:txBody>
                    <a:bodyPr/>
                    <a:lstStyle/>
                    <a:p>
                      <a:pPr indent="0" lvl="0" marL="0" rtl="0" algn="l">
                        <a:spcBef>
                          <a:spcPts val="0"/>
                        </a:spcBef>
                        <a:spcAft>
                          <a:spcPts val="0"/>
                        </a:spcAft>
                        <a:buNone/>
                      </a:pPr>
                      <a:r>
                        <a:rPr lang="en-GB" sz="1200">
                          <a:solidFill>
                            <a:srgbClr val="434343"/>
                          </a:solidFill>
                          <a:latin typeface="Lato"/>
                          <a:ea typeface="Lato"/>
                          <a:cs typeface="Lato"/>
                          <a:sym typeface="Lato"/>
                        </a:rPr>
                        <a:t>Low calorie diets</a:t>
                      </a:r>
                      <a:endParaRPr sz="1200">
                        <a:solidFill>
                          <a:srgbClr val="434343"/>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434343"/>
                          </a:solidFill>
                          <a:latin typeface="Lato"/>
                          <a:ea typeface="Lato"/>
                          <a:cs typeface="Lato"/>
                          <a:sym typeface="Lato"/>
                        </a:rPr>
                        <a:t>Weight loss harder, weight gain faster</a:t>
                      </a:r>
                      <a:br>
                        <a:rPr lang="en-GB" sz="1200">
                          <a:solidFill>
                            <a:srgbClr val="434343"/>
                          </a:solidFill>
                          <a:latin typeface="Lato"/>
                          <a:ea typeface="Lato"/>
                          <a:cs typeface="Lato"/>
                          <a:sym typeface="Lato"/>
                        </a:rPr>
                      </a:br>
                      <a:r>
                        <a:rPr lang="en-GB" sz="1200">
                          <a:solidFill>
                            <a:srgbClr val="434343"/>
                          </a:solidFill>
                          <a:latin typeface="Lato"/>
                          <a:ea typeface="Lato"/>
                          <a:cs typeface="Lato"/>
                          <a:sym typeface="Lato"/>
                        </a:rPr>
                        <a:t>BMR adjusts to low calories</a:t>
                      </a:r>
                      <a:endParaRPr sz="1200">
                        <a:solidFill>
                          <a:srgbClr val="434343"/>
                        </a:solidFill>
                        <a:latin typeface="Lato"/>
                        <a:ea typeface="Lato"/>
                        <a:cs typeface="Lato"/>
                        <a:sym typeface="Lato"/>
                      </a:endParaRPr>
                    </a:p>
                    <a:p>
                      <a:pPr indent="0" lvl="0" marL="0" rtl="0" algn="l">
                        <a:spcBef>
                          <a:spcPts val="0"/>
                        </a:spcBef>
                        <a:spcAft>
                          <a:spcPts val="0"/>
                        </a:spcAft>
                        <a:buNone/>
                      </a:pPr>
                      <a:r>
                        <a:rPr lang="en-GB" sz="1200">
                          <a:solidFill>
                            <a:srgbClr val="434343"/>
                          </a:solidFill>
                          <a:latin typeface="Lato"/>
                          <a:ea typeface="Lato"/>
                          <a:cs typeface="Lato"/>
                          <a:sym typeface="Lato"/>
                        </a:rPr>
                        <a:t>Eat “normally” weight increases </a:t>
                      </a:r>
                      <a:endParaRPr sz="1200">
                        <a:solidFill>
                          <a:srgbClr val="434343"/>
                        </a:solidFill>
                        <a:latin typeface="Lato"/>
                        <a:ea typeface="Lato"/>
                        <a:cs typeface="Lato"/>
                        <a:sym typeface="Lato"/>
                      </a:endParaRPr>
                    </a:p>
                    <a:p>
                      <a:pPr indent="0" lvl="0" marL="0" rtl="0" algn="l">
                        <a:spcBef>
                          <a:spcPts val="0"/>
                        </a:spcBef>
                        <a:spcAft>
                          <a:spcPts val="0"/>
                        </a:spcAft>
                        <a:buNone/>
                      </a:pPr>
                      <a:r>
                        <a:rPr lang="en-GB" sz="1200">
                          <a:solidFill>
                            <a:srgbClr val="434343"/>
                          </a:solidFill>
                          <a:latin typeface="Lato"/>
                          <a:ea typeface="Lato"/>
                          <a:cs typeface="Lato"/>
                          <a:sym typeface="Lato"/>
                        </a:rPr>
                        <a:t>Weight loss becomes harder next time </a:t>
                      </a:r>
                      <a:endParaRPr sz="1200">
                        <a:solidFill>
                          <a:srgbClr val="434343"/>
                        </a:solidFill>
                        <a:latin typeface="Lato"/>
                        <a:ea typeface="Lato"/>
                        <a:cs typeface="Lato"/>
                        <a:sym typeface="Lato"/>
                      </a:endParaRPr>
                    </a:p>
                    <a:p>
                      <a:pPr indent="0" lvl="0" marL="0" rtl="0" algn="l">
                        <a:spcBef>
                          <a:spcPts val="0"/>
                        </a:spcBef>
                        <a:spcAft>
                          <a:spcPts val="0"/>
                        </a:spcAft>
                        <a:buNone/>
                      </a:pPr>
                      <a:r>
                        <a:rPr lang="en-GB" sz="1200">
                          <a:solidFill>
                            <a:srgbClr val="434343"/>
                          </a:solidFill>
                          <a:latin typeface="Lato"/>
                          <a:ea typeface="Lato"/>
                          <a:cs typeface="Lato"/>
                          <a:sym typeface="Lato"/>
                        </a:rPr>
                        <a:t>Metabolism adaptation (takes time to change)</a:t>
                      </a:r>
                      <a:endParaRPr sz="1200">
                        <a:solidFill>
                          <a:srgbClr val="434343"/>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200">
                          <a:solidFill>
                            <a:srgbClr val="434343"/>
                          </a:solidFill>
                          <a:latin typeface="Lato"/>
                          <a:ea typeface="Lato"/>
                          <a:cs typeface="Lato"/>
                          <a:sym typeface="Lato"/>
                        </a:rPr>
                        <a:t>Cut all foods you love</a:t>
                      </a:r>
                      <a:endParaRPr sz="1200">
                        <a:solidFill>
                          <a:srgbClr val="434343"/>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434343"/>
                          </a:solidFill>
                          <a:latin typeface="Lato"/>
                          <a:ea typeface="Lato"/>
                          <a:cs typeface="Lato"/>
                          <a:sym typeface="Lato"/>
                        </a:rPr>
                        <a:t>Increase overeating periods </a:t>
                      </a:r>
                      <a:endParaRPr sz="1200">
                        <a:solidFill>
                          <a:srgbClr val="434343"/>
                        </a:solidFill>
                        <a:latin typeface="Lato"/>
                        <a:ea typeface="Lato"/>
                        <a:cs typeface="Lato"/>
                        <a:sym typeface="Lato"/>
                      </a:endParaRPr>
                    </a:p>
                    <a:p>
                      <a:pPr indent="0" lvl="0" marL="0" rtl="0" algn="l">
                        <a:spcBef>
                          <a:spcPts val="0"/>
                        </a:spcBef>
                        <a:spcAft>
                          <a:spcPts val="0"/>
                        </a:spcAft>
                        <a:buNone/>
                      </a:pPr>
                      <a:r>
                        <a:rPr lang="en-GB" sz="1200">
                          <a:solidFill>
                            <a:srgbClr val="434343"/>
                          </a:solidFill>
                          <a:latin typeface="Lato"/>
                          <a:ea typeface="Lato"/>
                          <a:cs typeface="Lato"/>
                          <a:sym typeface="Lato"/>
                        </a:rPr>
                        <a:t>Restricting caused me to overeat foods</a:t>
                      </a:r>
                      <a:endParaRPr sz="1200">
                        <a:solidFill>
                          <a:srgbClr val="434343"/>
                        </a:solidFill>
                        <a:latin typeface="Lato"/>
                        <a:ea typeface="Lato"/>
                        <a:cs typeface="Lato"/>
                        <a:sym typeface="Lato"/>
                      </a:endParaRPr>
                    </a:p>
                    <a:p>
                      <a:pPr indent="0" lvl="0" marL="0" rtl="0" algn="l">
                        <a:spcBef>
                          <a:spcPts val="0"/>
                        </a:spcBef>
                        <a:spcAft>
                          <a:spcPts val="0"/>
                        </a:spcAft>
                        <a:buNone/>
                      </a:pPr>
                      <a:r>
                        <a:rPr lang="en-GB" sz="1200">
                          <a:solidFill>
                            <a:srgbClr val="434343"/>
                          </a:solidFill>
                          <a:latin typeface="Lato"/>
                          <a:ea typeface="Lato"/>
                          <a:cs typeface="Lato"/>
                          <a:sym typeface="Lato"/>
                        </a:rPr>
                        <a:t>Periods of being “good” </a:t>
                      </a:r>
                      <a:endParaRPr sz="1200">
                        <a:solidFill>
                          <a:srgbClr val="434343"/>
                        </a:solidFill>
                        <a:latin typeface="Lato"/>
                        <a:ea typeface="Lato"/>
                        <a:cs typeface="Lato"/>
                        <a:sym typeface="Lato"/>
                      </a:endParaRPr>
                    </a:p>
                    <a:p>
                      <a:pPr indent="0" lvl="0" marL="0" rtl="0" algn="l">
                        <a:spcBef>
                          <a:spcPts val="0"/>
                        </a:spcBef>
                        <a:spcAft>
                          <a:spcPts val="0"/>
                        </a:spcAft>
                        <a:buNone/>
                      </a:pPr>
                      <a:r>
                        <a:rPr lang="en-GB" sz="1200">
                          <a:solidFill>
                            <a:srgbClr val="434343"/>
                          </a:solidFill>
                          <a:latin typeface="Lato"/>
                          <a:ea typeface="Lato"/>
                          <a:cs typeface="Lato"/>
                          <a:sym typeface="Lato"/>
                        </a:rPr>
                        <a:t>Followed by periods of “bad” = weight gain</a:t>
                      </a:r>
                      <a:endParaRPr sz="1200">
                        <a:solidFill>
                          <a:srgbClr val="434343"/>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200">
                          <a:solidFill>
                            <a:srgbClr val="434343"/>
                          </a:solidFill>
                          <a:latin typeface="Lato"/>
                          <a:ea typeface="Lato"/>
                          <a:cs typeface="Lato"/>
                          <a:sym typeface="Lato"/>
                        </a:rPr>
                        <a:t>Low quality food</a:t>
                      </a:r>
                      <a:endParaRPr sz="1200">
                        <a:solidFill>
                          <a:srgbClr val="434343"/>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434343"/>
                          </a:solidFill>
                          <a:latin typeface="Lato"/>
                          <a:ea typeface="Lato"/>
                          <a:cs typeface="Lato"/>
                          <a:sym typeface="Lato"/>
                        </a:rPr>
                        <a:t>Increase hunger and cravings</a:t>
                      </a:r>
                      <a:endParaRPr sz="1200">
                        <a:solidFill>
                          <a:srgbClr val="434343"/>
                        </a:solidFill>
                        <a:latin typeface="Lato"/>
                        <a:ea typeface="Lato"/>
                        <a:cs typeface="Lato"/>
                        <a:sym typeface="Lato"/>
                      </a:endParaRPr>
                    </a:p>
                    <a:p>
                      <a:pPr indent="0" lvl="0" marL="0" rtl="0" algn="l">
                        <a:spcBef>
                          <a:spcPts val="0"/>
                        </a:spcBef>
                        <a:spcAft>
                          <a:spcPts val="0"/>
                        </a:spcAft>
                        <a:buNone/>
                      </a:pPr>
                      <a:r>
                        <a:rPr lang="en-GB" sz="1200">
                          <a:solidFill>
                            <a:srgbClr val="434343"/>
                          </a:solidFill>
                          <a:latin typeface="Lato"/>
                          <a:ea typeface="Lato"/>
                          <a:cs typeface="Lato"/>
                          <a:sym typeface="Lato"/>
                        </a:rPr>
                        <a:t>Less filling = bigger appetite </a:t>
                      </a:r>
                      <a:endParaRPr sz="1200">
                        <a:solidFill>
                          <a:srgbClr val="434343"/>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spcBef>
                          <a:spcPts val="0"/>
                        </a:spcBef>
                        <a:spcAft>
                          <a:spcPts val="0"/>
                        </a:spcAft>
                        <a:buNone/>
                      </a:pPr>
                      <a:r>
                        <a:rPr lang="en-GB" sz="1200">
                          <a:solidFill>
                            <a:srgbClr val="434343"/>
                          </a:solidFill>
                          <a:latin typeface="Lato"/>
                          <a:ea typeface="Lato"/>
                          <a:cs typeface="Lato"/>
                          <a:sym typeface="Lato"/>
                        </a:rPr>
                        <a:t>Starve yourself </a:t>
                      </a:r>
                      <a:endParaRPr sz="1200">
                        <a:solidFill>
                          <a:srgbClr val="434343"/>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GB" sz="1200">
                          <a:solidFill>
                            <a:srgbClr val="434343"/>
                          </a:solidFill>
                          <a:latin typeface="Lato"/>
                          <a:ea typeface="Lato"/>
                          <a:cs typeface="Lato"/>
                          <a:sym typeface="Lato"/>
                        </a:rPr>
                        <a:t>Increase overeating periods </a:t>
                      </a:r>
                      <a:endParaRPr sz="1200">
                        <a:solidFill>
                          <a:srgbClr val="434343"/>
                        </a:solidFill>
                        <a:latin typeface="Lato"/>
                        <a:ea typeface="Lato"/>
                        <a:cs typeface="Lato"/>
                        <a:sym typeface="Lato"/>
                      </a:endParaRPr>
                    </a:p>
                    <a:p>
                      <a:pPr indent="0" lvl="0" marL="0" rtl="0" algn="l">
                        <a:spcBef>
                          <a:spcPts val="0"/>
                        </a:spcBef>
                        <a:spcAft>
                          <a:spcPts val="0"/>
                        </a:spcAft>
                        <a:buNone/>
                      </a:pPr>
                      <a:r>
                        <a:rPr lang="en-GB" sz="1200">
                          <a:solidFill>
                            <a:srgbClr val="434343"/>
                          </a:solidFill>
                          <a:latin typeface="Lato"/>
                          <a:ea typeface="Lato"/>
                          <a:cs typeface="Lato"/>
                          <a:sym typeface="Lato"/>
                        </a:rPr>
                        <a:t>Starve all day </a:t>
                      </a:r>
                      <a:endParaRPr sz="1200">
                        <a:solidFill>
                          <a:srgbClr val="434343"/>
                        </a:solidFill>
                        <a:latin typeface="Lato"/>
                        <a:ea typeface="Lato"/>
                        <a:cs typeface="Lato"/>
                        <a:sym typeface="Lato"/>
                      </a:endParaRPr>
                    </a:p>
                    <a:p>
                      <a:pPr indent="0" lvl="0" marL="0" rtl="0" algn="l">
                        <a:spcBef>
                          <a:spcPts val="0"/>
                        </a:spcBef>
                        <a:spcAft>
                          <a:spcPts val="0"/>
                        </a:spcAft>
                        <a:buNone/>
                      </a:pPr>
                      <a:r>
                        <a:rPr lang="en-GB" sz="1200">
                          <a:solidFill>
                            <a:srgbClr val="434343"/>
                          </a:solidFill>
                          <a:latin typeface="Lato"/>
                          <a:ea typeface="Lato"/>
                          <a:cs typeface="Lato"/>
                          <a:sym typeface="Lato"/>
                        </a:rPr>
                        <a:t>Binge all evening </a:t>
                      </a:r>
                      <a:endParaRPr sz="1200">
                        <a:solidFill>
                          <a:srgbClr val="434343"/>
                        </a:solidFill>
                        <a:latin typeface="Lato"/>
                        <a:ea typeface="Lato"/>
                        <a:cs typeface="Lato"/>
                        <a:sym typeface="Lat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3"/>
        </a:solidFill>
      </p:bgPr>
    </p:bg>
    <p:spTree>
      <p:nvGrpSpPr>
        <p:cNvPr id="168" name="Shape 168"/>
        <p:cNvGrpSpPr/>
        <p:nvPr/>
      </p:nvGrpSpPr>
      <p:grpSpPr>
        <a:xfrm>
          <a:off x="0" y="0"/>
          <a:ext cx="0" cy="0"/>
          <a:chOff x="0" y="0"/>
          <a:chExt cx="0" cy="0"/>
        </a:xfrm>
      </p:grpSpPr>
      <p:sp>
        <p:nvSpPr>
          <p:cNvPr id="169" name="Google Shape;169;p34"/>
          <p:cNvSpPr txBox="1"/>
          <p:nvPr>
            <p:ph type="title"/>
          </p:nvPr>
        </p:nvSpPr>
        <p:spPr>
          <a:xfrm>
            <a:off x="407625" y="135525"/>
            <a:ext cx="78219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b="1" lang="en-GB" sz="3160">
                <a:solidFill>
                  <a:srgbClr val="434343"/>
                </a:solidFill>
                <a:latin typeface="Lato"/>
                <a:ea typeface="Lato"/>
                <a:cs typeface="Lato"/>
                <a:sym typeface="Lato"/>
              </a:rPr>
              <a:t>Traditional Diets Never Worked For Me </a:t>
            </a:r>
            <a:endParaRPr b="1" sz="3160">
              <a:solidFill>
                <a:srgbClr val="434343"/>
              </a:solidFill>
              <a:latin typeface="Lato"/>
              <a:ea typeface="Lato"/>
              <a:cs typeface="Lato"/>
              <a:sym typeface="Lato"/>
            </a:endParaRPr>
          </a:p>
        </p:txBody>
      </p:sp>
      <p:sp>
        <p:nvSpPr>
          <p:cNvPr id="170" name="Google Shape;170;p34"/>
          <p:cNvSpPr txBox="1"/>
          <p:nvPr>
            <p:ph idx="1" type="body"/>
          </p:nvPr>
        </p:nvSpPr>
        <p:spPr>
          <a:xfrm>
            <a:off x="311700" y="779575"/>
            <a:ext cx="8520600" cy="4042200"/>
          </a:xfrm>
          <a:prstGeom prst="rect">
            <a:avLst/>
          </a:prstGeom>
        </p:spPr>
        <p:txBody>
          <a:bodyPr anchorCtr="0" anchor="t" bIns="45700" lIns="91425" spcFirstLastPara="1" rIns="91425" wrap="square" tIns="45700">
            <a:noAutofit/>
          </a:bodyPr>
          <a:lstStyle/>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They cut out all the foods I loved</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I couldn’t be social </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I couldn’t eat with people </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I couldn’t actually be consistent with it, start and stop </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With what I learned at university I could start to understand nutrition and how the body functioned </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Started to lose weight </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Fuel for fat loss</a:t>
            </a:r>
            <a:endParaRPr sz="1500">
              <a:solidFill>
                <a:srgbClr val="434343"/>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174" name="Shape 174"/>
        <p:cNvGrpSpPr/>
        <p:nvPr/>
      </p:nvGrpSpPr>
      <p:grpSpPr>
        <a:xfrm>
          <a:off x="0" y="0"/>
          <a:ext cx="0" cy="0"/>
          <a:chOff x="0" y="0"/>
          <a:chExt cx="0" cy="0"/>
        </a:xfrm>
      </p:grpSpPr>
      <p:sp>
        <p:nvSpPr>
          <p:cNvPr id="175" name="Google Shape;175;p35"/>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lang="en-GB" sz="1800">
                <a:solidFill>
                  <a:srgbClr val="003060"/>
                </a:solidFill>
                <a:latin typeface="Alegreya Sans"/>
                <a:ea typeface="Alegreya Sans"/>
                <a:cs typeface="Alegreya Sans"/>
                <a:sym typeface="Alegreya Sans"/>
              </a:rPr>
              <a:t>After my own weight loss journey, </a:t>
            </a:r>
            <a:r>
              <a:rPr b="0" i="0" lang="en-GB" sz="1800" u="none" cap="none" strike="noStrike">
                <a:solidFill>
                  <a:srgbClr val="003060"/>
                </a:solidFill>
                <a:latin typeface="Alegreya Sans"/>
                <a:ea typeface="Alegreya Sans"/>
                <a:cs typeface="Alegreya Sans"/>
                <a:sym typeface="Alegreya Sans"/>
              </a:rPr>
              <a:t>I have worked with over 50,000 clients</a:t>
            </a:r>
            <a:r>
              <a:rPr lang="en-GB" sz="1800">
                <a:solidFill>
                  <a:srgbClr val="003060"/>
                </a:solidFill>
                <a:latin typeface="Alegreya Sans"/>
                <a:ea typeface="Alegreya Sans"/>
                <a:cs typeface="Alegreya Sans"/>
                <a:sym typeface="Alegreya Sans"/>
              </a:rPr>
              <a:t>,</a:t>
            </a:r>
            <a:r>
              <a:rPr lang="en-GB"/>
              <a:t> </a:t>
            </a:r>
            <a:r>
              <a:rPr b="0" i="0" lang="en-GB" sz="1800" u="none" cap="none" strike="noStrike">
                <a:solidFill>
                  <a:srgbClr val="003060"/>
                </a:solidFill>
                <a:latin typeface="Alegreya Sans"/>
                <a:ea typeface="Alegreya Sans"/>
                <a:cs typeface="Alegreya Sans"/>
                <a:sym typeface="Alegreya Sans"/>
              </a:rPr>
              <a:t>1-2-1 clients, small groups, big groups</a:t>
            </a:r>
            <a:r>
              <a:rPr lang="en-GB" sz="1800">
                <a:solidFill>
                  <a:srgbClr val="003060"/>
                </a:solidFill>
                <a:latin typeface="Alegreya Sans"/>
                <a:ea typeface="Alegreya Sans"/>
                <a:cs typeface="Alegreya Sans"/>
                <a:sym typeface="Alegreya Sans"/>
              </a:rPr>
              <a:t>,</a:t>
            </a:r>
            <a:r>
              <a:rPr b="0" i="0" lang="en-GB" sz="1800" u="none" cap="none" strike="noStrike">
                <a:solidFill>
                  <a:srgbClr val="003060"/>
                </a:solidFill>
                <a:latin typeface="Alegreya Sans"/>
                <a:ea typeface="Alegreya Sans"/>
                <a:cs typeface="Alegreya Sans"/>
                <a:sym typeface="Alegreya Sans"/>
              </a:rPr>
              <a:t> you name it.</a:t>
            </a:r>
            <a:endParaRPr/>
          </a:p>
          <a:p>
            <a:pPr indent="0" lvl="0" marL="0" marR="0" rtl="0" algn="ctr">
              <a:spcBef>
                <a:spcPts val="1800"/>
              </a:spcBef>
              <a:spcAft>
                <a:spcPts val="0"/>
              </a:spcAft>
              <a:buNone/>
            </a:pPr>
            <a:r>
              <a:rPr b="0" i="0" lang="en-GB" sz="1800" u="none" cap="none" strike="noStrike">
                <a:solidFill>
                  <a:srgbClr val="003060"/>
                </a:solidFill>
                <a:latin typeface="Alegreya Sans"/>
                <a:ea typeface="Alegreya Sans"/>
                <a:cs typeface="Alegreya Sans"/>
                <a:sym typeface="Alegreya Sans"/>
              </a:rPr>
              <a:t>Based on that experience, knowledge I have acquired over the years</a:t>
            </a:r>
            <a:endParaRPr/>
          </a:p>
          <a:p>
            <a:pPr indent="0" lvl="0" marL="0" marR="0" rtl="0" algn="ctr">
              <a:spcBef>
                <a:spcPts val="400"/>
              </a:spcBef>
              <a:spcAft>
                <a:spcPts val="0"/>
              </a:spcAft>
              <a:buNone/>
            </a:pPr>
            <a:r>
              <a:rPr b="0" i="1" lang="en-GB" sz="1800" u="none" cap="none" strike="noStrike">
                <a:solidFill>
                  <a:srgbClr val="003060"/>
                </a:solidFill>
                <a:latin typeface="Alegreya Sans"/>
                <a:ea typeface="Alegreya Sans"/>
                <a:cs typeface="Alegreya Sans"/>
                <a:sym typeface="Alegreya Sans"/>
              </a:rPr>
              <a:t>and overcoming my own struggles…</a:t>
            </a:r>
            <a:endParaRPr/>
          </a:p>
          <a:p>
            <a:pPr indent="0" lvl="0" marL="0" marR="0" rtl="0" algn="ctr">
              <a:spcBef>
                <a:spcPts val="1800"/>
              </a:spcBef>
              <a:spcAft>
                <a:spcPts val="0"/>
              </a:spcAft>
              <a:buNone/>
            </a:pPr>
            <a:r>
              <a:rPr b="1" i="1" lang="en-GB" sz="2200" u="none" cap="none" strike="noStrike">
                <a:solidFill>
                  <a:srgbClr val="F79F83"/>
                </a:solidFill>
                <a:latin typeface="Libre Baskerville"/>
                <a:ea typeface="Libre Baskerville"/>
                <a:cs typeface="Libre Baskerville"/>
                <a:sym typeface="Libre Baskerville"/>
              </a:rPr>
              <a:t>here's what actually gets </a:t>
            </a:r>
            <a:r>
              <a:rPr b="1" i="1" lang="en-GB" sz="2200">
                <a:solidFill>
                  <a:srgbClr val="F79F83"/>
                </a:solidFill>
                <a:latin typeface="Libre Baskerville"/>
                <a:ea typeface="Libre Baskerville"/>
                <a:cs typeface="Libre Baskerville"/>
                <a:sym typeface="Libre Baskerville"/>
              </a:rPr>
              <a:t>women 45+</a:t>
            </a:r>
            <a:r>
              <a:rPr b="1" i="1" lang="en-GB" sz="2200" u="none" cap="none" strike="noStrike">
                <a:solidFill>
                  <a:srgbClr val="F79F83"/>
                </a:solidFill>
                <a:latin typeface="Libre Baskerville"/>
                <a:ea typeface="Libre Baskerville"/>
                <a:cs typeface="Libre Baskerville"/>
                <a:sym typeface="Libre Baskerville"/>
              </a:rPr>
              <a:t> the BEST results.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sp>
        <p:nvSpPr>
          <p:cNvPr id="180" name="Google Shape;180;p36"/>
          <p:cNvSpPr txBox="1"/>
          <p:nvPr>
            <p:ph type="title"/>
          </p:nvPr>
        </p:nvSpPr>
        <p:spPr>
          <a:xfrm>
            <a:off x="311700" y="988675"/>
            <a:ext cx="8520600" cy="2854800"/>
          </a:xfrm>
          <a:prstGeom prst="rect">
            <a:avLst/>
          </a:prstGeom>
        </p:spPr>
        <p:txBody>
          <a:bodyPr anchorCtr="0" anchor="ctr" bIns="45700" lIns="91425" spcFirstLastPara="1" rIns="91425" wrap="square" tIns="45700">
            <a:noAutofit/>
          </a:bodyPr>
          <a:lstStyle/>
          <a:p>
            <a:pPr indent="0" lvl="0" marL="0" rtl="0" algn="ctr">
              <a:lnSpc>
                <a:spcPct val="115000"/>
              </a:lnSpc>
              <a:spcBef>
                <a:spcPts val="0"/>
              </a:spcBef>
              <a:spcAft>
                <a:spcPts val="0"/>
              </a:spcAft>
              <a:buNone/>
            </a:pPr>
            <a:r>
              <a:rPr lang="en-GB" sz="3000">
                <a:solidFill>
                  <a:srgbClr val="434343"/>
                </a:solidFill>
                <a:latin typeface="Lato"/>
                <a:ea typeface="Lato"/>
                <a:cs typeface="Lato"/>
                <a:sym typeface="Lato"/>
              </a:rPr>
              <a:t>The Simple Fat Loss Formula </a:t>
            </a:r>
            <a:endParaRPr sz="30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3000">
                <a:solidFill>
                  <a:srgbClr val="434343"/>
                </a:solidFill>
                <a:latin typeface="Lato"/>
                <a:ea typeface="Lato"/>
                <a:cs typeface="Lato"/>
                <a:sym typeface="Lato"/>
              </a:rPr>
              <a:t>Helping Women 45+ Lose Weight</a:t>
            </a:r>
            <a:endParaRPr sz="3000">
              <a:solidFill>
                <a:srgbClr val="434343"/>
              </a:solidFill>
              <a:latin typeface="Lato"/>
              <a:ea typeface="Lato"/>
              <a:cs typeface="Lato"/>
              <a:sym typeface="Lato"/>
            </a:endParaRPr>
          </a:p>
        </p:txBody>
      </p:sp>
      <p:pic>
        <p:nvPicPr>
          <p:cNvPr id="181" name="Google Shape;181;p36"/>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37"/>
          <p:cNvSpPr txBox="1"/>
          <p:nvPr>
            <p:ph type="title"/>
          </p:nvPr>
        </p:nvSpPr>
        <p:spPr>
          <a:xfrm>
            <a:off x="311700" y="923825"/>
            <a:ext cx="8520600" cy="2854800"/>
          </a:xfrm>
          <a:prstGeom prst="rect">
            <a:avLst/>
          </a:prstGeom>
        </p:spPr>
        <p:txBody>
          <a:bodyPr anchorCtr="0" anchor="ctr" bIns="45700" lIns="91425" spcFirstLastPara="1" rIns="91425" wrap="square" tIns="45700">
            <a:normAutofit/>
          </a:bodyPr>
          <a:lstStyle/>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I did a 4 year degree at university, I did a one year internship at The Institute For Public Health and the Environment in The Netherlands. Rather than staying in the corporate world, I I decided I wanted to start helping clients achieve what I have been able to do but without doing unrealistic diets that don’t work anyway! </a:t>
            </a:r>
            <a:endParaRPr sz="2500">
              <a:solidFill>
                <a:srgbClr val="434343"/>
              </a:solidFill>
              <a:latin typeface="Lato"/>
              <a:ea typeface="Lato"/>
              <a:cs typeface="Lato"/>
              <a:sym typeface="Lato"/>
            </a:endParaRPr>
          </a:p>
        </p:txBody>
      </p:sp>
      <p:pic>
        <p:nvPicPr>
          <p:cNvPr id="187" name="Google Shape;187;p37"/>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sp>
        <p:nvSpPr>
          <p:cNvPr id="192" name="Google Shape;192;p38"/>
          <p:cNvSpPr txBox="1"/>
          <p:nvPr>
            <p:ph type="title"/>
          </p:nvPr>
        </p:nvSpPr>
        <p:spPr>
          <a:xfrm>
            <a:off x="311700" y="1021125"/>
            <a:ext cx="8520600" cy="2854800"/>
          </a:xfrm>
          <a:prstGeom prst="rect">
            <a:avLst/>
          </a:prstGeom>
        </p:spPr>
        <p:txBody>
          <a:bodyPr anchorCtr="0" anchor="ctr" bIns="45700" lIns="91425" spcFirstLastPara="1" rIns="91425" wrap="square" tIns="45700">
            <a:normAutofit fontScale="90000"/>
          </a:bodyPr>
          <a:lstStyle/>
          <a:p>
            <a:pPr indent="0" lvl="0" marL="0" rtl="0" algn="ctr">
              <a:lnSpc>
                <a:spcPct val="115000"/>
              </a:lnSpc>
              <a:spcBef>
                <a:spcPts val="0"/>
              </a:spcBef>
              <a:spcAft>
                <a:spcPts val="0"/>
              </a:spcAft>
              <a:buNone/>
            </a:pPr>
            <a:r>
              <a:rPr lang="en-GB" sz="2750">
                <a:solidFill>
                  <a:srgbClr val="434343"/>
                </a:solidFill>
                <a:latin typeface="Lato"/>
                <a:ea typeface="Lato"/>
                <a:cs typeface="Lato"/>
                <a:sym typeface="Lato"/>
              </a:rPr>
              <a:t>But I needed a way to explain to my clients what I had learned myself, how could I teach my clients about the nutrition that got me to my goal, so they can reach their goals? </a:t>
            </a:r>
            <a:endParaRPr sz="2750">
              <a:solidFill>
                <a:srgbClr val="434343"/>
              </a:solidFill>
              <a:latin typeface="Lato"/>
              <a:ea typeface="Lato"/>
              <a:cs typeface="Lato"/>
              <a:sym typeface="Lato"/>
            </a:endParaRPr>
          </a:p>
          <a:p>
            <a:pPr indent="0" lvl="0" marL="0" rtl="0" algn="ctr">
              <a:lnSpc>
                <a:spcPct val="115000"/>
              </a:lnSpc>
              <a:spcBef>
                <a:spcPts val="0"/>
              </a:spcBef>
              <a:spcAft>
                <a:spcPts val="0"/>
              </a:spcAft>
              <a:buNone/>
            </a:pPr>
            <a:r>
              <a:t/>
            </a:r>
            <a:endParaRPr sz="275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2750">
                <a:solidFill>
                  <a:srgbClr val="434343"/>
                </a:solidFill>
                <a:latin typeface="Lato"/>
                <a:ea typeface="Lato"/>
                <a:cs typeface="Lato"/>
                <a:sym typeface="Lato"/>
              </a:rPr>
              <a:t>Enter </a:t>
            </a:r>
            <a:r>
              <a:rPr b="1" lang="en-GB" sz="2750">
                <a:solidFill>
                  <a:srgbClr val="434343"/>
                </a:solidFill>
                <a:latin typeface="Lato"/>
                <a:ea typeface="Lato"/>
                <a:cs typeface="Lato"/>
                <a:sym typeface="Lato"/>
              </a:rPr>
              <a:t>The WLA Nutrition Formula</a:t>
            </a:r>
            <a:r>
              <a:rPr b="1" lang="en-GB" sz="3000">
                <a:solidFill>
                  <a:srgbClr val="434343"/>
                </a:solidFill>
                <a:latin typeface="Helvetica Neue"/>
                <a:ea typeface="Helvetica Neue"/>
                <a:cs typeface="Helvetica Neue"/>
                <a:sym typeface="Helvetica Neue"/>
              </a:rPr>
              <a:t> </a:t>
            </a:r>
            <a:endParaRPr b="1" sz="3000">
              <a:solidFill>
                <a:srgbClr val="434343"/>
              </a:solidFill>
              <a:latin typeface="Helvetica Neue"/>
              <a:ea typeface="Helvetica Neue"/>
              <a:cs typeface="Helvetica Neue"/>
              <a:sym typeface="Helvetica Neue"/>
            </a:endParaRPr>
          </a:p>
        </p:txBody>
      </p:sp>
      <p:pic>
        <p:nvPicPr>
          <p:cNvPr id="193" name="Google Shape;193;p38"/>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7" name="Shape 197"/>
        <p:cNvGrpSpPr/>
        <p:nvPr/>
      </p:nvGrpSpPr>
      <p:grpSpPr>
        <a:xfrm>
          <a:off x="0" y="0"/>
          <a:ext cx="0" cy="0"/>
          <a:chOff x="0" y="0"/>
          <a:chExt cx="0" cy="0"/>
        </a:xfrm>
      </p:grpSpPr>
      <p:sp>
        <p:nvSpPr>
          <p:cNvPr id="198" name="Google Shape;198;p39"/>
          <p:cNvSpPr txBox="1"/>
          <p:nvPr>
            <p:ph type="title"/>
          </p:nvPr>
        </p:nvSpPr>
        <p:spPr>
          <a:xfrm>
            <a:off x="407625" y="245800"/>
            <a:ext cx="8573400" cy="5727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GB">
                <a:solidFill>
                  <a:srgbClr val="434343"/>
                </a:solidFill>
                <a:latin typeface="Lato"/>
                <a:ea typeface="Lato"/>
                <a:cs typeface="Lato"/>
                <a:sym typeface="Lato"/>
              </a:rPr>
              <a:t>What Is The WLA Nutrition Formula </a:t>
            </a:r>
            <a:endParaRPr b="1">
              <a:solidFill>
                <a:srgbClr val="434343"/>
              </a:solidFill>
              <a:latin typeface="Lato"/>
              <a:ea typeface="Lato"/>
              <a:cs typeface="Lato"/>
              <a:sym typeface="Lato"/>
            </a:endParaRPr>
          </a:p>
        </p:txBody>
      </p:sp>
      <p:sp>
        <p:nvSpPr>
          <p:cNvPr id="199" name="Google Shape;199;p39"/>
          <p:cNvSpPr txBox="1"/>
          <p:nvPr>
            <p:ph idx="1" type="body"/>
          </p:nvPr>
        </p:nvSpPr>
        <p:spPr>
          <a:xfrm>
            <a:off x="311700" y="896350"/>
            <a:ext cx="8074200" cy="4075800"/>
          </a:xfrm>
          <a:prstGeom prst="rect">
            <a:avLst/>
          </a:prstGeom>
        </p:spPr>
        <p:txBody>
          <a:bodyPr anchorCtr="0" anchor="t" bIns="45700" lIns="91425" spcFirstLastPara="1" rIns="91425" wrap="square" tIns="45700">
            <a:noAutofit/>
          </a:bodyPr>
          <a:lstStyle/>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At university I learned how to create meal guides using recommended portion sizes </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Most people are eating too much food (obvious) and their portions are a problem</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Portion food properly </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Balance meals effectively (don’t have a sandwich for lunch and pasta for dinner, balance your carbs)</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Ensure each meal has a protein element </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Bulk up meals with high fibre foods</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Aim for 80%  consistency across the week, allow a weekly indulgence for consistency </a:t>
            </a:r>
            <a:endParaRPr sz="1500">
              <a:solidFill>
                <a:srgbClr val="434343"/>
              </a:solidFill>
              <a:latin typeface="Lato"/>
              <a:ea typeface="Lato"/>
              <a:cs typeface="Lato"/>
              <a:sym typeface="Lato"/>
            </a:endParaRPr>
          </a:p>
          <a:p>
            <a:pPr indent="0" lvl="0" marL="457200" rtl="0" algn="l">
              <a:spcBef>
                <a:spcPts val="640"/>
              </a:spcBef>
              <a:spcAft>
                <a:spcPts val="0"/>
              </a:spcAft>
              <a:buNone/>
            </a:pPr>
            <a:r>
              <a:t/>
            </a:r>
            <a:endParaRPr sz="1500">
              <a:solidFill>
                <a:srgbClr val="434343"/>
              </a:solidFill>
              <a:latin typeface="Lato"/>
              <a:ea typeface="Lato"/>
              <a:cs typeface="Lato"/>
              <a:sym typeface="Lato"/>
            </a:endParaRPr>
          </a:p>
        </p:txBody>
      </p:sp>
      <p:pic>
        <p:nvPicPr>
          <p:cNvPr id="200" name="Google Shape;200;p39"/>
          <p:cNvPicPr preferRelativeResize="0"/>
          <p:nvPr/>
        </p:nvPicPr>
        <p:blipFill>
          <a:blip r:embed="rId4">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sp>
        <p:nvSpPr>
          <p:cNvPr id="205" name="Google Shape;205;p40"/>
          <p:cNvSpPr txBox="1"/>
          <p:nvPr>
            <p:ph type="title"/>
          </p:nvPr>
        </p:nvSpPr>
        <p:spPr>
          <a:xfrm>
            <a:off x="311700" y="328175"/>
            <a:ext cx="8520600" cy="6291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b="1" lang="en-GB" sz="2500">
                <a:solidFill>
                  <a:srgbClr val="434343"/>
                </a:solidFill>
                <a:latin typeface="Lato"/>
                <a:ea typeface="Lato"/>
                <a:cs typeface="Lato"/>
                <a:sym typeface="Lato"/>
              </a:rPr>
              <a:t>The WLA Nutrition Formula </a:t>
            </a:r>
            <a:endParaRPr b="1" sz="2500">
              <a:solidFill>
                <a:srgbClr val="434343"/>
              </a:solidFill>
              <a:latin typeface="Lato"/>
              <a:ea typeface="Lato"/>
              <a:cs typeface="Lato"/>
              <a:sym typeface="Lato"/>
            </a:endParaRPr>
          </a:p>
        </p:txBody>
      </p:sp>
      <p:graphicFrame>
        <p:nvGraphicFramePr>
          <p:cNvPr id="206" name="Google Shape;206;p40"/>
          <p:cNvGraphicFramePr/>
          <p:nvPr/>
        </p:nvGraphicFramePr>
        <p:xfrm>
          <a:off x="379075" y="1259150"/>
          <a:ext cx="3000000" cy="3000000"/>
        </p:xfrm>
        <a:graphic>
          <a:graphicData uri="http://schemas.openxmlformats.org/drawingml/2006/table">
            <a:tbl>
              <a:tblPr>
                <a:noFill/>
                <a:tableStyleId>{4B7BCF0C-A375-452B-9E6C-FE977FFECA84}</a:tableStyleId>
              </a:tblPr>
              <a:tblGrid>
                <a:gridCol w="1207600"/>
                <a:gridCol w="1207600"/>
                <a:gridCol w="1207600"/>
                <a:gridCol w="1207600"/>
                <a:gridCol w="1207600"/>
                <a:gridCol w="1207600"/>
                <a:gridCol w="1207600"/>
              </a:tblGrid>
              <a:tr h="358775">
                <a:tc>
                  <a:txBody>
                    <a:bodyPr/>
                    <a:lstStyle/>
                    <a:p>
                      <a:pPr indent="0" lvl="0" marL="0" rtl="0" algn="ctr">
                        <a:spcBef>
                          <a:spcPts val="0"/>
                        </a:spcBef>
                        <a:spcAft>
                          <a:spcPts val="0"/>
                        </a:spcAft>
                        <a:buNone/>
                      </a:pPr>
                      <a:r>
                        <a:rPr lang="en-GB" sz="1500">
                          <a:solidFill>
                            <a:srgbClr val="FBF8F3"/>
                          </a:solidFill>
                        </a:rPr>
                        <a:t>Monday</a:t>
                      </a:r>
                      <a:endParaRPr sz="1500">
                        <a:solidFill>
                          <a:srgbClr val="FBF8F3"/>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9F83"/>
                    </a:solidFill>
                  </a:tcPr>
                </a:tc>
                <a:tc>
                  <a:txBody>
                    <a:bodyPr/>
                    <a:lstStyle/>
                    <a:p>
                      <a:pPr indent="0" lvl="0" marL="0" rtl="0" algn="ctr">
                        <a:spcBef>
                          <a:spcPts val="0"/>
                        </a:spcBef>
                        <a:spcAft>
                          <a:spcPts val="0"/>
                        </a:spcAft>
                        <a:buNone/>
                      </a:pPr>
                      <a:r>
                        <a:rPr lang="en-GB" sz="1500">
                          <a:solidFill>
                            <a:srgbClr val="FBF8F3"/>
                          </a:solidFill>
                        </a:rPr>
                        <a:t>Tuesday</a:t>
                      </a:r>
                      <a:endParaRPr sz="1500">
                        <a:solidFill>
                          <a:srgbClr val="FBF8F3"/>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9F83"/>
                    </a:solidFill>
                  </a:tcPr>
                </a:tc>
                <a:tc>
                  <a:txBody>
                    <a:bodyPr/>
                    <a:lstStyle/>
                    <a:p>
                      <a:pPr indent="0" lvl="0" marL="0" rtl="0" algn="ctr">
                        <a:spcBef>
                          <a:spcPts val="0"/>
                        </a:spcBef>
                        <a:spcAft>
                          <a:spcPts val="0"/>
                        </a:spcAft>
                        <a:buNone/>
                      </a:pPr>
                      <a:r>
                        <a:rPr lang="en-GB" sz="1500">
                          <a:solidFill>
                            <a:srgbClr val="FBF8F3"/>
                          </a:solidFill>
                        </a:rPr>
                        <a:t>Wednesday</a:t>
                      </a:r>
                      <a:endParaRPr sz="1500">
                        <a:solidFill>
                          <a:srgbClr val="FBF8F3"/>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9F83"/>
                    </a:solidFill>
                  </a:tcPr>
                </a:tc>
                <a:tc>
                  <a:txBody>
                    <a:bodyPr/>
                    <a:lstStyle/>
                    <a:p>
                      <a:pPr indent="0" lvl="0" marL="0" rtl="0" algn="ctr">
                        <a:spcBef>
                          <a:spcPts val="0"/>
                        </a:spcBef>
                        <a:spcAft>
                          <a:spcPts val="0"/>
                        </a:spcAft>
                        <a:buNone/>
                      </a:pPr>
                      <a:r>
                        <a:rPr lang="en-GB" sz="1500">
                          <a:solidFill>
                            <a:srgbClr val="FBF8F3"/>
                          </a:solidFill>
                        </a:rPr>
                        <a:t>Thursday</a:t>
                      </a:r>
                      <a:endParaRPr sz="1500">
                        <a:solidFill>
                          <a:srgbClr val="FBF8F3"/>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9F83"/>
                    </a:solidFill>
                  </a:tcPr>
                </a:tc>
                <a:tc>
                  <a:txBody>
                    <a:bodyPr/>
                    <a:lstStyle/>
                    <a:p>
                      <a:pPr indent="0" lvl="0" marL="0" rtl="0" algn="ctr">
                        <a:spcBef>
                          <a:spcPts val="0"/>
                        </a:spcBef>
                        <a:spcAft>
                          <a:spcPts val="0"/>
                        </a:spcAft>
                        <a:buNone/>
                      </a:pPr>
                      <a:r>
                        <a:rPr lang="en-GB" sz="1500">
                          <a:solidFill>
                            <a:srgbClr val="FBF8F3"/>
                          </a:solidFill>
                        </a:rPr>
                        <a:t>Friday</a:t>
                      </a:r>
                      <a:endParaRPr sz="1500">
                        <a:solidFill>
                          <a:srgbClr val="FBF8F3"/>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9F83"/>
                    </a:solidFill>
                  </a:tcPr>
                </a:tc>
                <a:tc>
                  <a:txBody>
                    <a:bodyPr/>
                    <a:lstStyle/>
                    <a:p>
                      <a:pPr indent="0" lvl="0" marL="0" rtl="0" algn="ctr">
                        <a:spcBef>
                          <a:spcPts val="0"/>
                        </a:spcBef>
                        <a:spcAft>
                          <a:spcPts val="0"/>
                        </a:spcAft>
                        <a:buNone/>
                      </a:pPr>
                      <a:r>
                        <a:rPr lang="en-GB" sz="1500">
                          <a:solidFill>
                            <a:srgbClr val="FBF8F3"/>
                          </a:solidFill>
                        </a:rPr>
                        <a:t>Saturday</a:t>
                      </a:r>
                      <a:endParaRPr sz="1500">
                        <a:solidFill>
                          <a:srgbClr val="FBF8F3"/>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9F83"/>
                    </a:solidFill>
                  </a:tcPr>
                </a:tc>
                <a:tc>
                  <a:txBody>
                    <a:bodyPr/>
                    <a:lstStyle/>
                    <a:p>
                      <a:pPr indent="0" lvl="0" marL="0" rtl="0" algn="ctr">
                        <a:spcBef>
                          <a:spcPts val="0"/>
                        </a:spcBef>
                        <a:spcAft>
                          <a:spcPts val="0"/>
                        </a:spcAft>
                        <a:buNone/>
                      </a:pPr>
                      <a:r>
                        <a:rPr lang="en-GB" sz="1500">
                          <a:solidFill>
                            <a:srgbClr val="FBF8F3"/>
                          </a:solidFill>
                        </a:rPr>
                        <a:t>Sunday</a:t>
                      </a:r>
                      <a:endParaRPr sz="1500">
                        <a:solidFill>
                          <a:srgbClr val="FBF8F3"/>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79F83"/>
                    </a:solidFill>
                  </a:tcPr>
                </a:tc>
              </a:tr>
              <a:tr h="358775">
                <a:tc>
                  <a:txBody>
                    <a:bodyPr/>
                    <a:lstStyle/>
                    <a:p>
                      <a:pPr indent="0" lvl="0" marL="0" rtl="0" algn="ctr">
                        <a:spcBef>
                          <a:spcPts val="0"/>
                        </a:spcBef>
                        <a:spcAft>
                          <a:spcPts val="0"/>
                        </a:spcAft>
                        <a:buNone/>
                      </a:pPr>
                      <a:r>
                        <a:rPr lang="en-GB" sz="1500"/>
                        <a:t>LC or HC</a:t>
                      </a:r>
                      <a:endParaRPr sz="15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LC or HC</a:t>
                      </a:r>
                      <a:endParaRPr sz="15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LC or HC</a:t>
                      </a:r>
                      <a:endParaRPr sz="15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LC or HC</a:t>
                      </a:r>
                      <a:endParaRPr sz="15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LC or HC</a:t>
                      </a:r>
                      <a:endParaRPr sz="15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LC or HC</a:t>
                      </a:r>
                      <a:endParaRPr sz="15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LC or HC</a:t>
                      </a:r>
                      <a:endParaRPr sz="1500"/>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75">
                <a:tc>
                  <a:txBody>
                    <a:bodyPr/>
                    <a:lstStyle/>
                    <a:p>
                      <a:pPr indent="0" lvl="0" marL="0" rtl="0" algn="ctr">
                        <a:spcBef>
                          <a:spcPts val="0"/>
                        </a:spcBef>
                        <a:spcAft>
                          <a:spcPts val="0"/>
                        </a:spcAft>
                        <a:buNone/>
                      </a:pPr>
                      <a:r>
                        <a:rPr lang="en-GB" sz="1500"/>
                        <a:t>Low Carb</a:t>
                      </a:r>
                      <a:endParaRPr sz="15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Low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Low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Low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Low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Low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Low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58775">
                <a:tc>
                  <a:txBody>
                    <a:bodyPr/>
                    <a:lstStyle/>
                    <a:p>
                      <a:pPr indent="0" lvl="0" marL="0" rtl="0" algn="ctr">
                        <a:spcBef>
                          <a:spcPts val="0"/>
                        </a:spcBef>
                        <a:spcAft>
                          <a:spcPts val="0"/>
                        </a:spcAft>
                        <a:buNone/>
                      </a:pPr>
                      <a:r>
                        <a:rPr lang="en-GB" sz="1500"/>
                        <a:t>High Carb</a:t>
                      </a:r>
                      <a:endParaRPr sz="15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High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High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High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High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High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500">
                          <a:solidFill>
                            <a:schemeClr val="dk1"/>
                          </a:solidFill>
                        </a:rPr>
                        <a:t>High Carb</a:t>
                      </a:r>
                      <a:endParaRPr sz="1500">
                        <a:solidFill>
                          <a:schemeClr val="dk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07" name="Google Shape;207;p40"/>
          <p:cNvSpPr txBox="1"/>
          <p:nvPr/>
        </p:nvSpPr>
        <p:spPr>
          <a:xfrm>
            <a:off x="379075" y="3279400"/>
            <a:ext cx="5376900" cy="83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GB" sz="1500">
                <a:solidFill>
                  <a:srgbClr val="434343"/>
                </a:solidFill>
                <a:latin typeface="Lato"/>
                <a:ea typeface="Lato"/>
                <a:cs typeface="Lato"/>
                <a:sym typeface="Lato"/>
              </a:rPr>
              <a:t>** LC or HC - Breakfast - Smoothie or Porridge </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0" lvl="0" marL="0" rtl="0" algn="l">
              <a:lnSpc>
                <a:spcPct val="115000"/>
              </a:lnSpc>
              <a:spcBef>
                <a:spcPts val="0"/>
              </a:spcBef>
              <a:spcAft>
                <a:spcPts val="0"/>
              </a:spcAft>
              <a:buNone/>
            </a:pPr>
            <a:r>
              <a:rPr lang="en-GB" sz="1500">
                <a:solidFill>
                  <a:srgbClr val="434343"/>
                </a:solidFill>
                <a:latin typeface="Lato"/>
                <a:ea typeface="Lato"/>
                <a:cs typeface="Lato"/>
                <a:sym typeface="Lato"/>
              </a:rPr>
              <a:t>** Low Carb/High Protein - Omelette / Pasta </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0" lvl="0" marL="0" rtl="0" algn="l">
              <a:lnSpc>
                <a:spcPct val="115000"/>
              </a:lnSpc>
              <a:spcBef>
                <a:spcPts val="0"/>
              </a:spcBef>
              <a:spcAft>
                <a:spcPts val="0"/>
              </a:spcAft>
              <a:buNone/>
            </a:pPr>
            <a:r>
              <a:rPr lang="en-GB" sz="1500">
                <a:solidFill>
                  <a:srgbClr val="434343"/>
                </a:solidFill>
                <a:latin typeface="Lato"/>
                <a:ea typeface="Lato"/>
                <a:cs typeface="Lato"/>
                <a:sym typeface="Lato"/>
              </a:rPr>
              <a:t>** Medium / Medium Carb </a:t>
            </a:r>
            <a:endParaRPr sz="1500">
              <a:solidFill>
                <a:srgbClr val="434343"/>
              </a:solidFill>
              <a:latin typeface="Lato"/>
              <a:ea typeface="Lato"/>
              <a:cs typeface="Lato"/>
              <a:sym typeface="Lato"/>
            </a:endParaRPr>
          </a:p>
        </p:txBody>
      </p:sp>
      <p:pic>
        <p:nvPicPr>
          <p:cNvPr id="208" name="Google Shape;208;p40"/>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1"/>
          <p:cNvSpPr txBox="1"/>
          <p:nvPr/>
        </p:nvSpPr>
        <p:spPr>
          <a:xfrm>
            <a:off x="360000" y="351375"/>
            <a:ext cx="7871100" cy="5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200"/>
              </a:spcAft>
              <a:buNone/>
            </a:pPr>
            <a:r>
              <a:rPr lang="en-GB" sz="2500">
                <a:solidFill>
                  <a:srgbClr val="003060"/>
                </a:solidFill>
                <a:latin typeface="Libre Baskerville"/>
                <a:ea typeface="Libre Baskerville"/>
                <a:cs typeface="Libre Baskerville"/>
                <a:sym typeface="Libre Baskerville"/>
              </a:rPr>
              <a:t> Overall Nutrition + Weekend Solution </a:t>
            </a:r>
            <a:endParaRPr sz="2500">
              <a:solidFill>
                <a:srgbClr val="003060"/>
              </a:solidFill>
              <a:latin typeface="Libre Baskerville"/>
              <a:ea typeface="Libre Baskerville"/>
              <a:cs typeface="Libre Baskerville"/>
              <a:sym typeface="Libre Baskerville"/>
            </a:endParaRPr>
          </a:p>
        </p:txBody>
      </p:sp>
      <p:graphicFrame>
        <p:nvGraphicFramePr>
          <p:cNvPr id="214" name="Google Shape;214;p41"/>
          <p:cNvGraphicFramePr/>
          <p:nvPr/>
        </p:nvGraphicFramePr>
        <p:xfrm>
          <a:off x="360000" y="1080000"/>
          <a:ext cx="3000000" cy="3000000"/>
        </p:xfrm>
        <a:graphic>
          <a:graphicData uri="http://schemas.openxmlformats.org/drawingml/2006/table">
            <a:tbl>
              <a:tblPr>
                <a:noFill/>
                <a:tableStyleId>{745EEC0E-3737-49C0-8D55-B03DF21A2109}</a:tableStyleId>
              </a:tblPr>
              <a:tblGrid>
                <a:gridCol w="1208575"/>
                <a:gridCol w="1208575"/>
                <a:gridCol w="1208575"/>
                <a:gridCol w="1208575"/>
                <a:gridCol w="1208575"/>
                <a:gridCol w="1208575"/>
                <a:gridCol w="1208575"/>
              </a:tblGrid>
              <a:tr h="471850">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Mon</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Tues</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Wed</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Thurs</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Fri</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Sat</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Sun</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861175">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Porridge </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Yoghurt</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Cereal</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Smoothie</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Porridge </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Yoghurt</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Cereal</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Smoothie</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Porridge </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Yoghurt</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Cereal</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Smoothie</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Porridge </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Yoghurt</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Cereal</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Smoothie</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Porridge </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Yoghurt</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Cereal</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Smoothie</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Smoothie</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Smoothie</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861175">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Salad + Protein</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Omelette Wraps</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Bento Box</a:t>
                      </a:r>
                      <a:br>
                        <a:rPr lang="en-GB" sz="1100">
                          <a:solidFill>
                            <a:srgbClr val="333333"/>
                          </a:solidFill>
                          <a:latin typeface="Alegreya Sans"/>
                          <a:ea typeface="Alegreya Sans"/>
                          <a:cs typeface="Alegreya Sans"/>
                          <a:sym typeface="Alegreya Sans"/>
                        </a:rPr>
                      </a:br>
                      <a:br>
                        <a:rPr lang="en-GB" sz="1100">
                          <a:solidFill>
                            <a:srgbClr val="333333"/>
                          </a:solidFill>
                          <a:latin typeface="Alegreya Sans"/>
                          <a:ea typeface="Alegreya Sans"/>
                          <a:cs typeface="Alegreya Sans"/>
                          <a:sym typeface="Alegreya Sans"/>
                        </a:rPr>
                      </a:b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Salad + Protein</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Omelette Wraps</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Bento Box</a:t>
                      </a:r>
                      <a:br>
                        <a:rPr lang="en-GB" sz="1100">
                          <a:solidFill>
                            <a:srgbClr val="333333"/>
                          </a:solidFill>
                          <a:latin typeface="Alegreya Sans"/>
                          <a:ea typeface="Alegreya Sans"/>
                          <a:cs typeface="Alegreya Sans"/>
                          <a:sym typeface="Alegreya Sans"/>
                        </a:rPr>
                      </a:br>
                      <a:br>
                        <a:rPr lang="en-GB" sz="1100">
                          <a:solidFill>
                            <a:srgbClr val="333333"/>
                          </a:solidFill>
                          <a:latin typeface="Alegreya Sans"/>
                          <a:ea typeface="Alegreya Sans"/>
                          <a:cs typeface="Alegreya Sans"/>
                          <a:sym typeface="Alegreya Sans"/>
                        </a:rPr>
                      </a:b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Salad + Protein</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Omelette Wraps</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Bento Box</a:t>
                      </a:r>
                      <a:br>
                        <a:rPr lang="en-GB" sz="1100">
                          <a:solidFill>
                            <a:srgbClr val="333333"/>
                          </a:solidFill>
                          <a:latin typeface="Alegreya Sans"/>
                          <a:ea typeface="Alegreya Sans"/>
                          <a:cs typeface="Alegreya Sans"/>
                          <a:sym typeface="Alegreya Sans"/>
                        </a:rPr>
                      </a:br>
                      <a:br>
                        <a:rPr lang="en-GB" sz="1100">
                          <a:solidFill>
                            <a:srgbClr val="333333"/>
                          </a:solidFill>
                          <a:latin typeface="Alegreya Sans"/>
                          <a:ea typeface="Alegreya Sans"/>
                          <a:cs typeface="Alegreya Sans"/>
                          <a:sym typeface="Alegreya Sans"/>
                        </a:rPr>
                      </a:b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Salad + Protein</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Omelette Wraps</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Bento Box</a:t>
                      </a:r>
                      <a:br>
                        <a:rPr lang="en-GB" sz="1100">
                          <a:solidFill>
                            <a:srgbClr val="333333"/>
                          </a:solidFill>
                          <a:latin typeface="Alegreya Sans"/>
                          <a:ea typeface="Alegreya Sans"/>
                          <a:cs typeface="Alegreya Sans"/>
                          <a:sym typeface="Alegreya Sans"/>
                        </a:rPr>
                      </a:br>
                      <a:br>
                        <a:rPr lang="en-GB" sz="1100">
                          <a:solidFill>
                            <a:srgbClr val="333333"/>
                          </a:solidFill>
                          <a:latin typeface="Alegreya Sans"/>
                          <a:ea typeface="Alegreya Sans"/>
                          <a:cs typeface="Alegreya Sans"/>
                          <a:sym typeface="Alegreya Sans"/>
                        </a:rPr>
                      </a:b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Salad + Protein</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Omelette Wraps</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Bento Box</a:t>
                      </a:r>
                      <a:br>
                        <a:rPr lang="en-GB" sz="1100">
                          <a:solidFill>
                            <a:srgbClr val="333333"/>
                          </a:solidFill>
                          <a:latin typeface="Alegreya Sans"/>
                          <a:ea typeface="Alegreya Sans"/>
                          <a:cs typeface="Alegreya Sans"/>
                          <a:sym typeface="Alegreya Sans"/>
                        </a:rPr>
                      </a:br>
                      <a:br>
                        <a:rPr lang="en-GB" sz="1100">
                          <a:solidFill>
                            <a:srgbClr val="333333"/>
                          </a:solidFill>
                          <a:latin typeface="Alegreya Sans"/>
                          <a:ea typeface="Alegreya Sans"/>
                          <a:cs typeface="Alegreya Sans"/>
                          <a:sym typeface="Alegreya Sans"/>
                        </a:rPr>
                      </a:b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Sausages, Eggs, Avo, Mushrooms</a:t>
                      </a:r>
                      <a:br>
                        <a:rPr lang="en-GB" sz="1100">
                          <a:solidFill>
                            <a:srgbClr val="333333"/>
                          </a:solidFill>
                          <a:latin typeface="Alegreya Sans"/>
                          <a:ea typeface="Alegreya Sans"/>
                          <a:cs typeface="Alegreya Sans"/>
                          <a:sym typeface="Alegreya Sans"/>
                        </a:rPr>
                      </a:br>
                      <a:br>
                        <a:rPr lang="en-GB" sz="1100">
                          <a:solidFill>
                            <a:srgbClr val="333333"/>
                          </a:solidFill>
                          <a:latin typeface="Alegreya Sans"/>
                          <a:ea typeface="Alegreya Sans"/>
                          <a:cs typeface="Alegreya Sans"/>
                          <a:sym typeface="Alegreya Sans"/>
                        </a:rPr>
                      </a:b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Sausages, Eggs, Avo, Mushrooms</a:t>
                      </a:r>
                      <a:br>
                        <a:rPr lang="en-GB" sz="1100">
                          <a:solidFill>
                            <a:srgbClr val="333333"/>
                          </a:solidFill>
                          <a:latin typeface="Alegreya Sans"/>
                          <a:ea typeface="Alegreya Sans"/>
                          <a:cs typeface="Alegreya Sans"/>
                          <a:sym typeface="Alegreya Sans"/>
                        </a:rPr>
                      </a:br>
                      <a:br>
                        <a:rPr lang="en-GB" sz="1100">
                          <a:solidFill>
                            <a:srgbClr val="333333"/>
                          </a:solidFill>
                          <a:latin typeface="Alegreya Sans"/>
                          <a:ea typeface="Alegreya Sans"/>
                          <a:cs typeface="Alegreya Sans"/>
                          <a:sym typeface="Alegreya Sans"/>
                        </a:rPr>
                      </a:b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r h="861175">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Chicken Curry </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 Rice </a:t>
                      </a:r>
                      <a:br>
                        <a:rPr lang="en-GB" sz="1100">
                          <a:solidFill>
                            <a:srgbClr val="333333"/>
                          </a:solidFill>
                          <a:latin typeface="Alegreya Sans"/>
                          <a:ea typeface="Alegreya Sans"/>
                          <a:cs typeface="Alegreya Sans"/>
                          <a:sym typeface="Alegreya Sans"/>
                        </a:rPr>
                      </a:b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Chicken Curry + Naan</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Pesto Pasta</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b="1"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Freezer Dinner</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Wrap Pizza</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Take Away</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INDULGENCE</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Sunday Roast</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tcPr>
                </a:tc>
              </a:tr>
            </a:tbl>
          </a:graphicData>
        </a:graphic>
      </p:graphicFrame>
      <p:pic>
        <p:nvPicPr>
          <p:cNvPr id="215" name="Google Shape;215;p41" title="Transparent BG Square Blue (2).png"/>
          <p:cNvPicPr preferRelativeResize="0"/>
          <p:nvPr/>
        </p:nvPicPr>
        <p:blipFill>
          <a:blip r:embed="rId3">
            <a:alphaModFix/>
          </a:blip>
          <a:stretch>
            <a:fillRect/>
          </a:stretch>
        </p:blipFill>
        <p:spPr>
          <a:xfrm>
            <a:off x="8305575" y="4216475"/>
            <a:ext cx="669951" cy="6699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2"/>
          <p:cNvSpPr txBox="1"/>
          <p:nvPr/>
        </p:nvSpPr>
        <p:spPr>
          <a:xfrm>
            <a:off x="360000" y="351375"/>
            <a:ext cx="7871100" cy="5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200"/>
              </a:spcAft>
              <a:buNone/>
            </a:pPr>
            <a:r>
              <a:rPr lang="en-GB" sz="2500">
                <a:solidFill>
                  <a:srgbClr val="003060"/>
                </a:solidFill>
                <a:latin typeface="Libre Baskerville"/>
                <a:ea typeface="Libre Baskerville"/>
                <a:cs typeface="Libre Baskerville"/>
                <a:sym typeface="Libre Baskerville"/>
              </a:rPr>
              <a:t> Same Formula + Busy Week Solution </a:t>
            </a:r>
            <a:endParaRPr sz="2500">
              <a:solidFill>
                <a:srgbClr val="003060"/>
              </a:solidFill>
              <a:latin typeface="Libre Baskerville"/>
              <a:ea typeface="Libre Baskerville"/>
              <a:cs typeface="Libre Baskerville"/>
              <a:sym typeface="Libre Baskerville"/>
            </a:endParaRPr>
          </a:p>
        </p:txBody>
      </p:sp>
      <p:graphicFrame>
        <p:nvGraphicFramePr>
          <p:cNvPr id="221" name="Google Shape;221;p42"/>
          <p:cNvGraphicFramePr/>
          <p:nvPr/>
        </p:nvGraphicFramePr>
        <p:xfrm>
          <a:off x="540050" y="1080000"/>
          <a:ext cx="3000000" cy="3000000"/>
        </p:xfrm>
        <a:graphic>
          <a:graphicData uri="http://schemas.openxmlformats.org/drawingml/2006/table">
            <a:tbl>
              <a:tblPr>
                <a:noFill/>
                <a:tableStyleId>{745EEC0E-3737-49C0-8D55-B03DF21A2109}</a:tableStyleId>
              </a:tblPr>
              <a:tblGrid>
                <a:gridCol w="1165850"/>
                <a:gridCol w="1165850"/>
                <a:gridCol w="1165850"/>
                <a:gridCol w="1165850"/>
                <a:gridCol w="1165850"/>
                <a:gridCol w="1165850"/>
                <a:gridCol w="1278000"/>
              </a:tblGrid>
              <a:tr h="476375">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Mon</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Tues</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Wed</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Thurs</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Fri</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Sat</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Sun</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r>
              <a:tr h="812800">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Cereal</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GB" sz="1100">
                          <a:solidFill>
                            <a:srgbClr val="333333"/>
                          </a:solidFill>
                          <a:latin typeface="Alegreya Sans"/>
                          <a:ea typeface="Alegreya Sans"/>
                          <a:cs typeface="Alegreya Sans"/>
                          <a:sym typeface="Alegreya Sans"/>
                        </a:rPr>
                        <a:t>Cereal</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GB" sz="1100">
                          <a:solidFill>
                            <a:srgbClr val="333333"/>
                          </a:solidFill>
                          <a:latin typeface="Alegreya Sans"/>
                          <a:ea typeface="Alegreya Sans"/>
                          <a:cs typeface="Alegreya Sans"/>
                          <a:sym typeface="Alegreya Sans"/>
                        </a:rPr>
                        <a:t>Cereal</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GB" sz="1100">
                          <a:solidFill>
                            <a:srgbClr val="333333"/>
                          </a:solidFill>
                          <a:latin typeface="Alegreya Sans"/>
                          <a:ea typeface="Alegreya Sans"/>
                          <a:cs typeface="Alegreya Sans"/>
                          <a:sym typeface="Alegreya Sans"/>
                        </a:rPr>
                        <a:t>Cereal</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GB" sz="1100">
                          <a:solidFill>
                            <a:srgbClr val="333333"/>
                          </a:solidFill>
                          <a:latin typeface="Alegreya Sans"/>
                          <a:ea typeface="Alegreya Sans"/>
                          <a:cs typeface="Alegreya Sans"/>
                          <a:sym typeface="Alegreya Sans"/>
                        </a:rPr>
                        <a:t>Cereal</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Smoothie</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Smoothie</a:t>
                      </a:r>
                      <a:endParaRPr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r>
              <a:tr h="812800">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Shop bought salad</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Shop bought soup</a:t>
                      </a:r>
                      <a:br>
                        <a:rPr lang="en-GB" sz="1100">
                          <a:solidFill>
                            <a:srgbClr val="333333"/>
                          </a:solidFill>
                          <a:latin typeface="Alegreya Sans"/>
                          <a:ea typeface="Alegreya Sans"/>
                          <a:cs typeface="Alegreya Sans"/>
                          <a:sym typeface="Alegreya Sans"/>
                        </a:rPr>
                      </a:br>
                      <a:br>
                        <a:rPr lang="en-GB" sz="1100">
                          <a:solidFill>
                            <a:srgbClr val="333333"/>
                          </a:solidFill>
                          <a:latin typeface="Alegreya Sans"/>
                          <a:ea typeface="Alegreya Sans"/>
                          <a:cs typeface="Alegreya Sans"/>
                          <a:sym typeface="Alegreya Sans"/>
                        </a:rPr>
                      </a:b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Shop bought salad</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Shop bought soup</a:t>
                      </a:r>
                      <a:br>
                        <a:rPr lang="en-GB" sz="1100">
                          <a:solidFill>
                            <a:srgbClr val="333333"/>
                          </a:solidFill>
                          <a:latin typeface="Alegreya Sans"/>
                          <a:ea typeface="Alegreya Sans"/>
                          <a:cs typeface="Alegreya Sans"/>
                          <a:sym typeface="Alegreya Sans"/>
                        </a:rPr>
                      </a:b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Shop bought salad</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Shop bought soup</a:t>
                      </a:r>
                      <a:br>
                        <a:rPr lang="en-GB" sz="1100">
                          <a:solidFill>
                            <a:srgbClr val="333333"/>
                          </a:solidFill>
                          <a:latin typeface="Alegreya Sans"/>
                          <a:ea typeface="Alegreya Sans"/>
                          <a:cs typeface="Alegreya Sans"/>
                          <a:sym typeface="Alegreya Sans"/>
                        </a:rPr>
                      </a:b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Shop bought salad</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Shop bought soup</a:t>
                      </a:r>
                      <a:br>
                        <a:rPr lang="en-GB" sz="1100">
                          <a:solidFill>
                            <a:srgbClr val="333333"/>
                          </a:solidFill>
                          <a:latin typeface="Alegreya Sans"/>
                          <a:ea typeface="Alegreya Sans"/>
                          <a:cs typeface="Alegreya Sans"/>
                          <a:sym typeface="Alegreya Sans"/>
                        </a:rPr>
                      </a:b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Shop bought salad</a:t>
                      </a:r>
                      <a:br>
                        <a:rPr lang="en-GB" sz="1100">
                          <a:solidFill>
                            <a:srgbClr val="333333"/>
                          </a:solidFill>
                          <a:latin typeface="Alegreya Sans"/>
                          <a:ea typeface="Alegreya Sans"/>
                          <a:cs typeface="Alegreya Sans"/>
                          <a:sym typeface="Alegreya Sans"/>
                        </a:rPr>
                      </a:br>
                      <a:r>
                        <a:rPr lang="en-GB" sz="1100">
                          <a:solidFill>
                            <a:srgbClr val="333333"/>
                          </a:solidFill>
                          <a:latin typeface="Alegreya Sans"/>
                          <a:ea typeface="Alegreya Sans"/>
                          <a:cs typeface="Alegreya Sans"/>
                          <a:sym typeface="Alegreya Sans"/>
                        </a:rPr>
                        <a:t>Shop bought soup</a:t>
                      </a:r>
                      <a:br>
                        <a:rPr lang="en-GB" sz="1100">
                          <a:solidFill>
                            <a:srgbClr val="333333"/>
                          </a:solidFill>
                          <a:latin typeface="Alegreya Sans"/>
                          <a:ea typeface="Alegreya Sans"/>
                          <a:cs typeface="Alegreya Sans"/>
                          <a:sym typeface="Alegreya Sans"/>
                        </a:rPr>
                      </a:br>
                      <a:br>
                        <a:rPr lang="en-GB" sz="1100">
                          <a:solidFill>
                            <a:srgbClr val="333333"/>
                          </a:solidFill>
                          <a:latin typeface="Alegreya Sans"/>
                          <a:ea typeface="Alegreya Sans"/>
                          <a:cs typeface="Alegreya Sans"/>
                          <a:sym typeface="Alegreya Sans"/>
                        </a:rPr>
                      </a:b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Sausages, Eggs, Avo, Mushrooms</a:t>
                      </a:r>
                      <a:br>
                        <a:rPr lang="en-GB" sz="1100">
                          <a:solidFill>
                            <a:srgbClr val="333333"/>
                          </a:solidFill>
                          <a:latin typeface="Alegreya Sans"/>
                          <a:ea typeface="Alegreya Sans"/>
                          <a:cs typeface="Alegreya Sans"/>
                          <a:sym typeface="Alegreya Sans"/>
                        </a:rPr>
                      </a:br>
                      <a:br>
                        <a:rPr lang="en-GB" sz="1100">
                          <a:solidFill>
                            <a:srgbClr val="333333"/>
                          </a:solidFill>
                          <a:latin typeface="Alegreya Sans"/>
                          <a:ea typeface="Alegreya Sans"/>
                          <a:cs typeface="Alegreya Sans"/>
                          <a:sym typeface="Alegreya Sans"/>
                        </a:rPr>
                      </a:b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Sausages, Eggs, Avo, Mushrooms</a:t>
                      </a:r>
                      <a:br>
                        <a:rPr lang="en-GB" sz="1100">
                          <a:solidFill>
                            <a:srgbClr val="333333"/>
                          </a:solidFill>
                          <a:latin typeface="Alegreya Sans"/>
                          <a:ea typeface="Alegreya Sans"/>
                          <a:cs typeface="Alegreya Sans"/>
                          <a:sym typeface="Alegreya Sans"/>
                        </a:rPr>
                      </a:br>
                      <a:br>
                        <a:rPr lang="en-GB" sz="1100">
                          <a:solidFill>
                            <a:srgbClr val="333333"/>
                          </a:solidFill>
                          <a:latin typeface="Alegreya Sans"/>
                          <a:ea typeface="Alegreya Sans"/>
                          <a:cs typeface="Alegreya Sans"/>
                          <a:sym typeface="Alegreya Sans"/>
                        </a:rPr>
                      </a:br>
                      <a:r>
                        <a:rPr b="1" lang="en-GB" sz="1100">
                          <a:solidFill>
                            <a:srgbClr val="333333"/>
                          </a:solidFill>
                          <a:latin typeface="Alegreya Sans"/>
                          <a:ea typeface="Alegreya Sans"/>
                          <a:cs typeface="Alegreya Sans"/>
                          <a:sym typeface="Alegreya Sans"/>
                        </a:rPr>
                        <a:t>LOW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r>
              <a:tr h="812800">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Pesto Pasta</a:t>
                      </a:r>
                      <a:br>
                        <a:rPr lang="en-GB" sz="1100">
                          <a:solidFill>
                            <a:srgbClr val="333333"/>
                          </a:solidFill>
                          <a:latin typeface="Alegreya Sans"/>
                          <a:ea typeface="Alegreya Sans"/>
                          <a:cs typeface="Alegreya Sans"/>
                          <a:sym typeface="Alegreya Sans"/>
                        </a:rPr>
                      </a:b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en-GB" sz="1100">
                          <a:solidFill>
                            <a:srgbClr val="333333"/>
                          </a:solidFill>
                          <a:latin typeface="Alegreya Sans"/>
                          <a:ea typeface="Alegreya Sans"/>
                          <a:cs typeface="Alegreya Sans"/>
                          <a:sym typeface="Alegreya Sans"/>
                        </a:rPr>
                        <a:t>Pesto Pasta</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Freezer</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Freezer Dinner</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Chicken Goujons Wrap</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Take Away</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INDULGENCE</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GB" sz="1100">
                          <a:solidFill>
                            <a:srgbClr val="333333"/>
                          </a:solidFill>
                          <a:latin typeface="Alegreya Sans"/>
                          <a:ea typeface="Alegreya Sans"/>
                          <a:cs typeface="Alegreya Sans"/>
                          <a:sym typeface="Alegreya Sans"/>
                        </a:rPr>
                        <a:t>Sunday Roast</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t/>
                      </a:r>
                      <a:endParaRPr sz="1100">
                        <a:solidFill>
                          <a:srgbClr val="333333"/>
                        </a:solidFill>
                        <a:latin typeface="Alegreya Sans"/>
                        <a:ea typeface="Alegreya Sans"/>
                        <a:cs typeface="Alegreya Sans"/>
                        <a:sym typeface="Alegreya Sans"/>
                      </a:endParaRPr>
                    </a:p>
                    <a:p>
                      <a:pPr indent="0" lvl="0" marL="0" rtl="0" algn="l">
                        <a:spcBef>
                          <a:spcPts val="0"/>
                        </a:spcBef>
                        <a:spcAft>
                          <a:spcPts val="0"/>
                        </a:spcAft>
                        <a:buNone/>
                      </a:pPr>
                      <a:r>
                        <a:rPr b="1" lang="en-GB" sz="1100">
                          <a:solidFill>
                            <a:srgbClr val="333333"/>
                          </a:solidFill>
                          <a:latin typeface="Alegreya Sans"/>
                          <a:ea typeface="Alegreya Sans"/>
                          <a:cs typeface="Alegreya Sans"/>
                          <a:sym typeface="Alegreya Sans"/>
                        </a:rPr>
                        <a:t>HIGH CARB</a:t>
                      </a:r>
                      <a:endParaRPr b="1" sz="1100">
                        <a:solidFill>
                          <a:srgbClr val="333333"/>
                        </a:solidFill>
                        <a:latin typeface="Alegreya Sans"/>
                        <a:ea typeface="Alegreya Sans"/>
                        <a:cs typeface="Alegreya Sans"/>
                        <a:sym typeface="Alegreya Sans"/>
                      </a:endParaRPr>
                    </a:p>
                  </a:txBody>
                  <a:tcPr marT="63500" marB="63500" marR="63500" marL="63500" anchor="ctr">
                    <a:lnL cap="flat" cmpd="sng" w="9525">
                      <a:solidFill>
                        <a:srgbClr val="333333"/>
                      </a:solidFill>
                      <a:prstDash val="solid"/>
                      <a:round/>
                      <a:headEnd len="sm" w="sm" type="none"/>
                      <a:tailEnd len="sm" w="sm" type="none"/>
                    </a:lnL>
                    <a:lnR cap="flat" cmpd="sng" w="9525">
                      <a:solidFill>
                        <a:srgbClr val="333333"/>
                      </a:solidFill>
                      <a:prstDash val="solid"/>
                      <a:round/>
                      <a:headEnd len="sm" w="sm" type="none"/>
                      <a:tailEnd len="sm" w="sm" type="none"/>
                    </a:lnR>
                    <a:lnT cap="flat" cmpd="sng" w="9525">
                      <a:solidFill>
                        <a:srgbClr val="333333"/>
                      </a:solidFill>
                      <a:prstDash val="solid"/>
                      <a:round/>
                      <a:headEnd len="sm" w="sm" type="none"/>
                      <a:tailEnd len="sm" w="sm" type="none"/>
                    </a:lnT>
                    <a:lnB cap="flat" cmpd="sng" w="9525">
                      <a:solidFill>
                        <a:srgbClr val="333333"/>
                      </a:solidFill>
                      <a:prstDash val="solid"/>
                      <a:round/>
                      <a:headEnd len="sm" w="sm" type="none"/>
                      <a:tailEnd len="sm" w="sm" type="none"/>
                    </a:lnB>
                    <a:solidFill>
                      <a:schemeClr val="lt1"/>
                    </a:solidFill>
                  </a:tcPr>
                </a:tc>
              </a:tr>
            </a:tbl>
          </a:graphicData>
        </a:graphic>
      </p:graphicFrame>
      <p:pic>
        <p:nvPicPr>
          <p:cNvPr id="222" name="Google Shape;222;p42" title="Transparent BG Square Blue (2).png"/>
          <p:cNvPicPr preferRelativeResize="0"/>
          <p:nvPr/>
        </p:nvPicPr>
        <p:blipFill>
          <a:blip r:embed="rId3">
            <a:alphaModFix/>
          </a:blip>
          <a:stretch>
            <a:fillRect/>
          </a:stretch>
        </p:blipFill>
        <p:spPr>
          <a:xfrm>
            <a:off x="8305575" y="4216475"/>
            <a:ext cx="669951" cy="6699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3"/>
          <p:cNvSpPr txBox="1"/>
          <p:nvPr/>
        </p:nvSpPr>
        <p:spPr>
          <a:xfrm>
            <a:off x="360000" y="351375"/>
            <a:ext cx="7796400" cy="5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200"/>
              </a:spcAft>
              <a:buNone/>
            </a:pPr>
            <a:r>
              <a:rPr i="1" lang="en-GB" sz="2500">
                <a:solidFill>
                  <a:srgbClr val="003060"/>
                </a:solidFill>
                <a:latin typeface="Libre Baskerville"/>
                <a:ea typeface="Libre Baskerville"/>
                <a:cs typeface="Libre Baskerville"/>
                <a:sym typeface="Libre Baskerville"/>
              </a:rPr>
              <a:t>Busy Day</a:t>
            </a:r>
            <a:r>
              <a:rPr lang="en-GB" sz="2500">
                <a:solidFill>
                  <a:srgbClr val="003060"/>
                </a:solidFill>
                <a:latin typeface="Libre Baskerville"/>
                <a:ea typeface="Libre Baskerville"/>
                <a:cs typeface="Libre Baskerville"/>
                <a:sym typeface="Libre Baskerville"/>
              </a:rPr>
              <a:t> Nutrition Solution</a:t>
            </a:r>
            <a:endParaRPr sz="2500">
              <a:solidFill>
                <a:srgbClr val="003060"/>
              </a:solidFill>
              <a:latin typeface="Libre Baskerville"/>
              <a:ea typeface="Libre Baskerville"/>
              <a:cs typeface="Libre Baskerville"/>
              <a:sym typeface="Libre Baskerville"/>
            </a:endParaRPr>
          </a:p>
        </p:txBody>
      </p:sp>
      <p:sp>
        <p:nvSpPr>
          <p:cNvPr id="228" name="Google Shape;228;p43"/>
          <p:cNvSpPr txBox="1"/>
          <p:nvPr/>
        </p:nvSpPr>
        <p:spPr>
          <a:xfrm>
            <a:off x="360000" y="1080000"/>
            <a:ext cx="8135400" cy="2008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rgbClr val="333333"/>
              </a:buClr>
              <a:buSzPts val="1500"/>
              <a:buFont typeface="Alegreya Sans"/>
              <a:buChar char="●"/>
            </a:pPr>
            <a:r>
              <a:rPr lang="en-GB" sz="1500">
                <a:solidFill>
                  <a:srgbClr val="333333"/>
                </a:solidFill>
                <a:latin typeface="Alegreya Sans"/>
                <a:ea typeface="Alegreya Sans"/>
                <a:cs typeface="Alegreya Sans"/>
                <a:sym typeface="Alegreya Sans"/>
              </a:rPr>
              <a:t>Does your nutrition have freezer foods options for days that are so busy? If not, you need that. You won’t cook fresh everyday</a:t>
            </a:r>
            <a:br>
              <a:rPr lang="en-GB" sz="1500">
                <a:solidFill>
                  <a:srgbClr val="333333"/>
                </a:solidFill>
                <a:latin typeface="Alegreya Sans"/>
                <a:ea typeface="Alegreya Sans"/>
                <a:cs typeface="Alegreya Sans"/>
                <a:sym typeface="Alegreya Sans"/>
              </a:rPr>
            </a:br>
            <a:endParaRPr sz="1500">
              <a:solidFill>
                <a:srgbClr val="333333"/>
              </a:solidFill>
              <a:latin typeface="Alegreya Sans"/>
              <a:ea typeface="Alegreya Sans"/>
              <a:cs typeface="Alegreya Sans"/>
              <a:sym typeface="Alegreya Sans"/>
            </a:endParaRPr>
          </a:p>
          <a:p>
            <a:pPr indent="-323850" lvl="0" marL="457200" rtl="0" algn="l">
              <a:lnSpc>
                <a:spcPct val="115000"/>
              </a:lnSpc>
              <a:spcBef>
                <a:spcPts val="0"/>
              </a:spcBef>
              <a:spcAft>
                <a:spcPts val="0"/>
              </a:spcAft>
              <a:buClr>
                <a:srgbClr val="333333"/>
              </a:buClr>
              <a:buSzPts val="1500"/>
              <a:buFont typeface="Alegreya Sans"/>
              <a:buChar char="●"/>
            </a:pPr>
            <a:r>
              <a:rPr lang="en-GB" sz="1500">
                <a:solidFill>
                  <a:srgbClr val="333333"/>
                </a:solidFill>
                <a:latin typeface="Alegreya Sans"/>
                <a:ea typeface="Alegreya Sans"/>
                <a:cs typeface="Alegreya Sans"/>
                <a:sym typeface="Alegreya Sans"/>
              </a:rPr>
              <a:t>Do you know what pre-made foods that can be grabbed from the supermarket, requiring no cooking but still will support fat loss?</a:t>
            </a:r>
            <a:br>
              <a:rPr lang="en-GB" sz="1500">
                <a:solidFill>
                  <a:srgbClr val="333333"/>
                </a:solidFill>
                <a:latin typeface="Alegreya Sans"/>
                <a:ea typeface="Alegreya Sans"/>
                <a:cs typeface="Alegreya Sans"/>
                <a:sym typeface="Alegreya Sans"/>
              </a:rPr>
            </a:br>
            <a:endParaRPr sz="1500">
              <a:solidFill>
                <a:srgbClr val="333333"/>
              </a:solidFill>
              <a:latin typeface="Alegreya Sans"/>
              <a:ea typeface="Alegreya Sans"/>
              <a:cs typeface="Alegreya Sans"/>
              <a:sym typeface="Alegreya Sans"/>
            </a:endParaRPr>
          </a:p>
          <a:p>
            <a:pPr indent="-323850" lvl="0" marL="457200" rtl="0" algn="l">
              <a:lnSpc>
                <a:spcPct val="115000"/>
              </a:lnSpc>
              <a:spcBef>
                <a:spcPts val="0"/>
              </a:spcBef>
              <a:spcAft>
                <a:spcPts val="0"/>
              </a:spcAft>
              <a:buClr>
                <a:srgbClr val="333333"/>
              </a:buClr>
              <a:buSzPts val="1500"/>
              <a:buFont typeface="Alegreya Sans"/>
              <a:buChar char="●"/>
            </a:pPr>
            <a:r>
              <a:rPr lang="en-GB" sz="1500">
                <a:solidFill>
                  <a:srgbClr val="333333"/>
                </a:solidFill>
                <a:latin typeface="Alegreya Sans"/>
                <a:ea typeface="Alegreya Sans"/>
                <a:cs typeface="Alegreya Sans"/>
                <a:sym typeface="Alegreya Sans"/>
              </a:rPr>
              <a:t>Grab and go foods, do you know which items can be picked up in the shop? </a:t>
            </a:r>
            <a:endParaRPr sz="1500">
              <a:solidFill>
                <a:srgbClr val="333333"/>
              </a:solidFill>
              <a:latin typeface="Alegreya Sans"/>
              <a:ea typeface="Alegreya Sans"/>
              <a:cs typeface="Alegreya Sans"/>
              <a:sym typeface="Alegreya Sans"/>
            </a:endParaRPr>
          </a:p>
        </p:txBody>
      </p:sp>
      <p:sp>
        <p:nvSpPr>
          <p:cNvPr id="229" name="Google Shape;229;p43"/>
          <p:cNvSpPr txBox="1"/>
          <p:nvPr/>
        </p:nvSpPr>
        <p:spPr>
          <a:xfrm>
            <a:off x="360000" y="3733850"/>
            <a:ext cx="8372100" cy="68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500">
                <a:solidFill>
                  <a:srgbClr val="333333"/>
                </a:solidFill>
              </a:rPr>
              <a:t>* </a:t>
            </a:r>
            <a:r>
              <a:rPr lang="en-GB" sz="1500">
                <a:solidFill>
                  <a:srgbClr val="333333"/>
                </a:solidFill>
                <a:latin typeface="Alegreya Sans"/>
                <a:ea typeface="Alegreya Sans"/>
                <a:cs typeface="Alegreya Sans"/>
                <a:sym typeface="Alegreya Sans"/>
              </a:rPr>
              <a:t>You must have solutions for when you can’t cook or maybe you don’t want to cook as much, you need to be able to make nutrition decisions that will still support your goals. Life is busy, you need an easy solution. </a:t>
            </a:r>
            <a:endParaRPr sz="1500">
              <a:solidFill>
                <a:srgbClr val="333333"/>
              </a:solidFill>
              <a:latin typeface="Alegreya Sans"/>
              <a:ea typeface="Alegreya Sans"/>
              <a:cs typeface="Alegreya Sans"/>
              <a:sym typeface="Alegreya Sans"/>
            </a:endParaRPr>
          </a:p>
        </p:txBody>
      </p:sp>
      <p:pic>
        <p:nvPicPr>
          <p:cNvPr id="230" name="Google Shape;230;p43" title="Transparent BG Square Blue (2).png"/>
          <p:cNvPicPr preferRelativeResize="0"/>
          <p:nvPr/>
        </p:nvPicPr>
        <p:blipFill>
          <a:blip r:embed="rId3">
            <a:alphaModFix/>
          </a:blip>
          <a:stretch>
            <a:fillRect/>
          </a:stretch>
        </p:blipFill>
        <p:spPr>
          <a:xfrm>
            <a:off x="8305575" y="4216475"/>
            <a:ext cx="669951" cy="6699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4"/>
          <p:cNvSpPr txBox="1"/>
          <p:nvPr/>
        </p:nvSpPr>
        <p:spPr>
          <a:xfrm>
            <a:off x="360000" y="351375"/>
            <a:ext cx="7796400" cy="5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200"/>
              </a:spcAft>
              <a:buNone/>
            </a:pPr>
            <a:r>
              <a:rPr i="1" lang="en-GB" sz="2500">
                <a:solidFill>
                  <a:srgbClr val="003060"/>
                </a:solidFill>
                <a:latin typeface="Libre Baskerville"/>
                <a:ea typeface="Libre Baskerville"/>
                <a:cs typeface="Libre Baskerville"/>
                <a:sym typeface="Libre Baskerville"/>
              </a:rPr>
              <a:t>Weekend</a:t>
            </a:r>
            <a:r>
              <a:rPr lang="en-GB" sz="2500">
                <a:solidFill>
                  <a:srgbClr val="003060"/>
                </a:solidFill>
                <a:latin typeface="Libre Baskerville"/>
                <a:ea typeface="Libre Baskerville"/>
                <a:cs typeface="Libre Baskerville"/>
                <a:sym typeface="Libre Baskerville"/>
              </a:rPr>
              <a:t> Nutrition Solution</a:t>
            </a:r>
            <a:endParaRPr sz="2500">
              <a:solidFill>
                <a:srgbClr val="003060"/>
              </a:solidFill>
              <a:latin typeface="Libre Baskerville"/>
              <a:ea typeface="Libre Baskerville"/>
              <a:cs typeface="Libre Baskerville"/>
              <a:sym typeface="Libre Baskerville"/>
            </a:endParaRPr>
          </a:p>
        </p:txBody>
      </p:sp>
      <p:sp>
        <p:nvSpPr>
          <p:cNvPr id="236" name="Google Shape;236;p44"/>
          <p:cNvSpPr txBox="1"/>
          <p:nvPr/>
        </p:nvSpPr>
        <p:spPr>
          <a:xfrm>
            <a:off x="360000" y="1080000"/>
            <a:ext cx="8135400" cy="28053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1200"/>
              </a:spcBef>
              <a:spcAft>
                <a:spcPts val="0"/>
              </a:spcAft>
              <a:buClr>
                <a:srgbClr val="333333"/>
              </a:buClr>
              <a:buSzPts val="1500"/>
              <a:buFont typeface="Alegreya Sans"/>
              <a:buChar char="●"/>
            </a:pPr>
            <a:r>
              <a:rPr lang="en-GB" sz="1500">
                <a:solidFill>
                  <a:srgbClr val="333333"/>
                </a:solidFill>
                <a:latin typeface="Alegreya Sans"/>
                <a:ea typeface="Alegreya Sans"/>
                <a:cs typeface="Alegreya Sans"/>
                <a:sym typeface="Alegreya Sans"/>
              </a:rPr>
              <a:t>Do you try to limit social events while trying to lose weight? If so this is why you can stick with your diet</a:t>
            </a:r>
            <a:br>
              <a:rPr lang="en-GB" sz="1500">
                <a:solidFill>
                  <a:srgbClr val="333333"/>
                </a:solidFill>
                <a:latin typeface="Alegreya Sans"/>
                <a:ea typeface="Alegreya Sans"/>
                <a:cs typeface="Alegreya Sans"/>
                <a:sym typeface="Alegreya Sans"/>
              </a:rPr>
            </a:br>
            <a:endParaRPr sz="1500">
              <a:solidFill>
                <a:srgbClr val="333333"/>
              </a:solidFill>
              <a:latin typeface="Alegreya Sans"/>
              <a:ea typeface="Alegreya Sans"/>
              <a:cs typeface="Alegreya Sans"/>
              <a:sym typeface="Alegreya Sans"/>
            </a:endParaRPr>
          </a:p>
          <a:p>
            <a:pPr indent="-323850" lvl="0" marL="457200" rtl="0" algn="l">
              <a:lnSpc>
                <a:spcPct val="115000"/>
              </a:lnSpc>
              <a:spcBef>
                <a:spcPts val="0"/>
              </a:spcBef>
              <a:spcAft>
                <a:spcPts val="0"/>
              </a:spcAft>
              <a:buClr>
                <a:srgbClr val="333333"/>
              </a:buClr>
              <a:buSzPts val="1500"/>
              <a:buFont typeface="Alegreya Sans"/>
              <a:buChar char="●"/>
            </a:pPr>
            <a:r>
              <a:rPr lang="en-GB" sz="1500">
                <a:solidFill>
                  <a:srgbClr val="333333"/>
                </a:solidFill>
                <a:latin typeface="Alegreya Sans"/>
                <a:ea typeface="Alegreya Sans"/>
                <a:cs typeface="Alegreya Sans"/>
                <a:sym typeface="Alegreya Sans"/>
              </a:rPr>
              <a:t>Do you know how to balance your meals at the weekend for fat loss? </a:t>
            </a:r>
            <a:br>
              <a:rPr lang="en-GB" sz="1500">
                <a:solidFill>
                  <a:srgbClr val="333333"/>
                </a:solidFill>
                <a:latin typeface="Alegreya Sans"/>
                <a:ea typeface="Alegreya Sans"/>
                <a:cs typeface="Alegreya Sans"/>
                <a:sym typeface="Alegreya Sans"/>
              </a:rPr>
            </a:br>
            <a:endParaRPr sz="1500">
              <a:solidFill>
                <a:srgbClr val="333333"/>
              </a:solidFill>
              <a:latin typeface="Alegreya Sans"/>
              <a:ea typeface="Alegreya Sans"/>
              <a:cs typeface="Alegreya Sans"/>
              <a:sym typeface="Alegreya Sans"/>
            </a:endParaRPr>
          </a:p>
          <a:p>
            <a:pPr indent="-323850" lvl="0" marL="457200" rtl="0" algn="l">
              <a:lnSpc>
                <a:spcPct val="115000"/>
              </a:lnSpc>
              <a:spcBef>
                <a:spcPts val="0"/>
              </a:spcBef>
              <a:spcAft>
                <a:spcPts val="0"/>
              </a:spcAft>
              <a:buClr>
                <a:srgbClr val="333333"/>
              </a:buClr>
              <a:buSzPts val="1500"/>
              <a:buFont typeface="Alegreya Sans"/>
              <a:buChar char="●"/>
            </a:pPr>
            <a:r>
              <a:rPr lang="en-GB" sz="1500">
                <a:solidFill>
                  <a:srgbClr val="333333"/>
                </a:solidFill>
                <a:latin typeface="Alegreya Sans"/>
                <a:ea typeface="Alegreya Sans"/>
                <a:cs typeface="Alegreya Sans"/>
                <a:sym typeface="Alegreya Sans"/>
              </a:rPr>
              <a:t>The weekend needs a strategy, if you “do well” between Monday and Friday lunch time but then go off track because you don’t know how to manage the weekend, you won’t get to your goal before summer</a:t>
            </a:r>
            <a:br>
              <a:rPr lang="en-GB" sz="1500">
                <a:solidFill>
                  <a:srgbClr val="333333"/>
                </a:solidFill>
                <a:latin typeface="Alegreya Sans"/>
                <a:ea typeface="Alegreya Sans"/>
                <a:cs typeface="Alegreya Sans"/>
                <a:sym typeface="Alegreya Sans"/>
              </a:rPr>
            </a:br>
            <a:endParaRPr sz="1500">
              <a:solidFill>
                <a:srgbClr val="333333"/>
              </a:solidFill>
              <a:latin typeface="Alegreya Sans"/>
              <a:ea typeface="Alegreya Sans"/>
              <a:cs typeface="Alegreya Sans"/>
              <a:sym typeface="Alegreya Sans"/>
            </a:endParaRPr>
          </a:p>
          <a:p>
            <a:pPr indent="-323850" lvl="0" marL="457200" rtl="0" algn="l">
              <a:lnSpc>
                <a:spcPct val="115000"/>
              </a:lnSpc>
              <a:spcBef>
                <a:spcPts val="0"/>
              </a:spcBef>
              <a:spcAft>
                <a:spcPts val="0"/>
              </a:spcAft>
              <a:buClr>
                <a:srgbClr val="333333"/>
              </a:buClr>
              <a:buSzPts val="1500"/>
              <a:buFont typeface="Alegreya Sans"/>
              <a:buChar char="●"/>
            </a:pPr>
            <a:r>
              <a:rPr lang="en-GB" sz="1500">
                <a:solidFill>
                  <a:srgbClr val="333333"/>
                </a:solidFill>
                <a:latin typeface="Alegreya Sans"/>
                <a:ea typeface="Alegreya Sans"/>
                <a:cs typeface="Alegreya Sans"/>
                <a:sym typeface="Alegreya Sans"/>
              </a:rPr>
              <a:t>The weekend is a large part of the week</a:t>
            </a:r>
            <a:br>
              <a:rPr lang="en-GB" sz="1500">
                <a:solidFill>
                  <a:srgbClr val="333333"/>
                </a:solidFill>
                <a:latin typeface="Alegreya Sans"/>
                <a:ea typeface="Alegreya Sans"/>
                <a:cs typeface="Alegreya Sans"/>
                <a:sym typeface="Alegreya Sans"/>
              </a:rPr>
            </a:br>
            <a:endParaRPr sz="1500">
              <a:solidFill>
                <a:srgbClr val="333333"/>
              </a:solidFill>
              <a:latin typeface="Alegreya Sans"/>
              <a:ea typeface="Alegreya Sans"/>
              <a:cs typeface="Alegreya Sans"/>
              <a:sym typeface="Alegreya Sans"/>
            </a:endParaRPr>
          </a:p>
          <a:p>
            <a:pPr indent="-323850" lvl="0" marL="457200" rtl="0" algn="l">
              <a:lnSpc>
                <a:spcPct val="115000"/>
              </a:lnSpc>
              <a:spcBef>
                <a:spcPts val="0"/>
              </a:spcBef>
              <a:spcAft>
                <a:spcPts val="0"/>
              </a:spcAft>
              <a:buClr>
                <a:srgbClr val="333333"/>
              </a:buClr>
              <a:buSzPts val="1500"/>
              <a:buFont typeface="Alegreya Sans"/>
              <a:buChar char="●"/>
            </a:pPr>
            <a:r>
              <a:rPr lang="en-GB" sz="1500">
                <a:solidFill>
                  <a:srgbClr val="333333"/>
                </a:solidFill>
                <a:latin typeface="Alegreya Sans"/>
                <a:ea typeface="Alegreya Sans"/>
                <a:cs typeface="Alegreya Sans"/>
                <a:sym typeface="Alegreya Sans"/>
              </a:rPr>
              <a:t>You need a strategy that allows you to live your life and get results at the same time </a:t>
            </a:r>
            <a:endParaRPr sz="1500">
              <a:solidFill>
                <a:srgbClr val="333333"/>
              </a:solidFill>
              <a:latin typeface="Alegreya Sans"/>
              <a:ea typeface="Alegreya Sans"/>
              <a:cs typeface="Alegreya Sans"/>
              <a:sym typeface="Alegreya Sans"/>
            </a:endParaRPr>
          </a:p>
        </p:txBody>
      </p:sp>
      <p:pic>
        <p:nvPicPr>
          <p:cNvPr id="237" name="Google Shape;237;p44" title="Transparent BG Square Blue (2).png"/>
          <p:cNvPicPr preferRelativeResize="0"/>
          <p:nvPr/>
        </p:nvPicPr>
        <p:blipFill>
          <a:blip r:embed="rId3">
            <a:alphaModFix/>
          </a:blip>
          <a:stretch>
            <a:fillRect/>
          </a:stretch>
        </p:blipFill>
        <p:spPr>
          <a:xfrm>
            <a:off x="8305575" y="4216475"/>
            <a:ext cx="669951" cy="6699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sp>
        <p:nvSpPr>
          <p:cNvPr id="242" name="Google Shape;242;p45"/>
          <p:cNvSpPr txBox="1"/>
          <p:nvPr>
            <p:ph type="title"/>
          </p:nvPr>
        </p:nvSpPr>
        <p:spPr>
          <a:xfrm>
            <a:off x="407625" y="245800"/>
            <a:ext cx="85734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b="1" lang="en-GB" sz="3660">
                <a:solidFill>
                  <a:srgbClr val="434343"/>
                </a:solidFill>
                <a:latin typeface="Lato"/>
                <a:ea typeface="Lato"/>
                <a:cs typeface="Lato"/>
                <a:sym typeface="Lato"/>
              </a:rPr>
              <a:t>Why The Formula is a Game Changer!</a:t>
            </a:r>
            <a:endParaRPr b="1" sz="3660">
              <a:solidFill>
                <a:srgbClr val="434343"/>
              </a:solidFill>
              <a:latin typeface="Lato"/>
              <a:ea typeface="Lato"/>
              <a:cs typeface="Lato"/>
              <a:sym typeface="Lato"/>
            </a:endParaRPr>
          </a:p>
        </p:txBody>
      </p:sp>
      <p:sp>
        <p:nvSpPr>
          <p:cNvPr id="243" name="Google Shape;243;p45"/>
          <p:cNvSpPr txBox="1"/>
          <p:nvPr>
            <p:ph idx="1" type="body"/>
          </p:nvPr>
        </p:nvSpPr>
        <p:spPr>
          <a:xfrm>
            <a:off x="311700" y="896350"/>
            <a:ext cx="8074200" cy="4075800"/>
          </a:xfrm>
          <a:prstGeom prst="rect">
            <a:avLst/>
          </a:prstGeom>
        </p:spPr>
        <p:txBody>
          <a:bodyPr anchorCtr="0" anchor="t" bIns="45700" lIns="91425" spcFirstLastPara="1" rIns="91425" wrap="square" tIns="45700">
            <a:noAutofit/>
          </a:bodyPr>
          <a:lstStyle/>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Freedom over foods </a:t>
            </a: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No foods are excluded </a:t>
            </a: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Eat out and socialise but still get results</a:t>
            </a: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Eat same foods as family </a:t>
            </a: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Fuels for fat loss </a:t>
            </a: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Works for maintenance</a:t>
            </a: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Works on holiday</a:t>
            </a: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Portion control </a:t>
            </a: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Balance of meals </a:t>
            </a: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No calorie counting</a:t>
            </a:r>
            <a:endParaRPr sz="1500">
              <a:solidFill>
                <a:srgbClr val="434343"/>
              </a:solidFill>
              <a:latin typeface="Lato"/>
              <a:ea typeface="Lato"/>
              <a:cs typeface="Lato"/>
              <a:sym typeface="Lato"/>
            </a:endParaRPr>
          </a:p>
          <a:p>
            <a:pPr indent="0" lvl="0" marL="457200" rtl="0" algn="l">
              <a:spcBef>
                <a:spcPts val="640"/>
              </a:spcBef>
              <a:spcAft>
                <a:spcPts val="0"/>
              </a:spcAft>
              <a:buNone/>
            </a:pPr>
            <a:r>
              <a:t/>
            </a:r>
            <a:endParaRPr sz="1500">
              <a:solidFill>
                <a:srgbClr val="434343"/>
              </a:solidFill>
              <a:latin typeface="Lato"/>
              <a:ea typeface="Lato"/>
              <a:cs typeface="Lato"/>
              <a:sym typeface="Lato"/>
            </a:endParaRPr>
          </a:p>
        </p:txBody>
      </p:sp>
      <p:sp>
        <p:nvSpPr>
          <p:cNvPr id="244" name="Google Shape;244;p45"/>
          <p:cNvSpPr txBox="1"/>
          <p:nvPr/>
        </p:nvSpPr>
        <p:spPr>
          <a:xfrm>
            <a:off x="407625" y="4175200"/>
            <a:ext cx="8328000" cy="83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sz="1500">
                <a:solidFill>
                  <a:srgbClr val="434343"/>
                </a:solidFill>
                <a:latin typeface="Lato"/>
                <a:ea typeface="Lato"/>
                <a:cs typeface="Lato"/>
                <a:sym typeface="Lato"/>
              </a:rPr>
              <a:t>Biggest problems I see - (over-consuming carbs / low quality foods that increase appetite) </a:t>
            </a:r>
            <a:endParaRPr sz="1500">
              <a:solidFill>
                <a:srgbClr val="434343"/>
              </a:solidFill>
              <a:latin typeface="Lato"/>
              <a:ea typeface="Lato"/>
              <a:cs typeface="Lato"/>
              <a:sym typeface="Lato"/>
            </a:endParaRPr>
          </a:p>
          <a:p>
            <a:pPr indent="0" lvl="0" marL="0" rtl="0" algn="l">
              <a:lnSpc>
                <a:spcPct val="115000"/>
              </a:lnSpc>
              <a:spcBef>
                <a:spcPts val="1200"/>
              </a:spcBef>
              <a:spcAft>
                <a:spcPts val="1200"/>
              </a:spcAft>
              <a:buNone/>
            </a:pPr>
            <a:r>
              <a:rPr lang="en-GB" sz="1500">
                <a:solidFill>
                  <a:srgbClr val="434343"/>
                </a:solidFill>
                <a:latin typeface="Lato"/>
                <a:ea typeface="Lato"/>
                <a:cs typeface="Lato"/>
                <a:sym typeface="Lato"/>
              </a:rPr>
              <a:t>The formula addresses these problems head on!</a:t>
            </a:r>
            <a:endParaRPr sz="1500">
              <a:solidFill>
                <a:srgbClr val="434343"/>
              </a:solidFill>
              <a:latin typeface="Lato"/>
              <a:ea typeface="Lato"/>
              <a:cs typeface="Lato"/>
              <a:sym typeface="Lato"/>
            </a:endParaRPr>
          </a:p>
        </p:txBody>
      </p:sp>
      <p:pic>
        <p:nvPicPr>
          <p:cNvPr id="245" name="Google Shape;245;p45"/>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9" name="Shape 249"/>
        <p:cNvGrpSpPr/>
        <p:nvPr/>
      </p:nvGrpSpPr>
      <p:grpSpPr>
        <a:xfrm>
          <a:off x="0" y="0"/>
          <a:ext cx="0" cy="0"/>
          <a:chOff x="0" y="0"/>
          <a:chExt cx="0" cy="0"/>
        </a:xfrm>
      </p:grpSpPr>
      <p:sp>
        <p:nvSpPr>
          <p:cNvPr id="250" name="Google Shape;250;p46"/>
          <p:cNvSpPr txBox="1"/>
          <p:nvPr>
            <p:ph type="title"/>
          </p:nvPr>
        </p:nvSpPr>
        <p:spPr>
          <a:xfrm>
            <a:off x="407625" y="135525"/>
            <a:ext cx="86196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b="1" lang="en-GB" sz="2760">
                <a:solidFill>
                  <a:srgbClr val="434343"/>
                </a:solidFill>
                <a:latin typeface="Lato"/>
                <a:ea typeface="Lato"/>
                <a:cs typeface="Lato"/>
                <a:sym typeface="Lato"/>
              </a:rPr>
              <a:t>Here’s What Will Support 2 Stone Loss in 12 Weeks </a:t>
            </a:r>
            <a:endParaRPr b="1" sz="2760">
              <a:solidFill>
                <a:srgbClr val="434343"/>
              </a:solidFill>
              <a:latin typeface="Lato"/>
              <a:ea typeface="Lato"/>
              <a:cs typeface="Lato"/>
              <a:sym typeface="Lato"/>
            </a:endParaRPr>
          </a:p>
        </p:txBody>
      </p:sp>
      <p:sp>
        <p:nvSpPr>
          <p:cNvPr id="251" name="Google Shape;251;p46"/>
          <p:cNvSpPr txBox="1"/>
          <p:nvPr>
            <p:ph idx="1" type="body"/>
          </p:nvPr>
        </p:nvSpPr>
        <p:spPr>
          <a:xfrm>
            <a:off x="316800" y="883600"/>
            <a:ext cx="7725300" cy="3725400"/>
          </a:xfrm>
          <a:prstGeom prst="rect">
            <a:avLst/>
          </a:prstGeom>
        </p:spPr>
        <p:txBody>
          <a:bodyPr anchorCtr="0" anchor="t" bIns="45700" lIns="91425" spcFirstLastPara="1" rIns="91425" wrap="square" tIns="45700">
            <a:noAutofit/>
          </a:bodyPr>
          <a:lstStyle/>
          <a:p>
            <a:pPr indent="-323850" lvl="0" marL="457200" rtl="0" algn="l">
              <a:lnSpc>
                <a:spcPct val="150000"/>
              </a:lnSpc>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Glass of water upon waking </a:t>
            </a:r>
            <a:endParaRPr sz="1500">
              <a:solidFill>
                <a:srgbClr val="434343"/>
              </a:solidFill>
              <a:latin typeface="Lato"/>
              <a:ea typeface="Lato"/>
              <a:cs typeface="Lato"/>
              <a:sym typeface="Lato"/>
            </a:endParaRPr>
          </a:p>
          <a:p>
            <a:pPr indent="-323850" lvl="0" marL="457200" rtl="0" algn="l">
              <a:lnSpc>
                <a:spcPct val="150000"/>
              </a:lnSpc>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3 meals per day (using The WLA Formula)</a:t>
            </a:r>
            <a:endParaRPr sz="1500">
              <a:solidFill>
                <a:srgbClr val="434343"/>
              </a:solidFill>
              <a:latin typeface="Lato"/>
              <a:ea typeface="Lato"/>
              <a:cs typeface="Lato"/>
              <a:sym typeface="Lato"/>
            </a:endParaRPr>
          </a:p>
          <a:p>
            <a:pPr indent="-323850" lvl="0" marL="457200" rtl="0" algn="l">
              <a:lnSpc>
                <a:spcPct val="150000"/>
              </a:lnSpc>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Healthy snacking in between based on hunger</a:t>
            </a:r>
            <a:endParaRPr sz="1500">
              <a:solidFill>
                <a:srgbClr val="434343"/>
              </a:solidFill>
              <a:latin typeface="Lato"/>
              <a:ea typeface="Lato"/>
              <a:cs typeface="Lato"/>
              <a:sym typeface="Lato"/>
            </a:endParaRPr>
          </a:p>
          <a:p>
            <a:pPr indent="-323850" lvl="0" marL="457200" rtl="0" algn="l">
              <a:lnSpc>
                <a:spcPct val="150000"/>
              </a:lnSpc>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Balance between meals (carb balancing) </a:t>
            </a:r>
            <a:endParaRPr sz="1500">
              <a:solidFill>
                <a:srgbClr val="434343"/>
              </a:solidFill>
              <a:latin typeface="Lato"/>
              <a:ea typeface="Lato"/>
              <a:cs typeface="Lato"/>
              <a:sym typeface="Lato"/>
            </a:endParaRPr>
          </a:p>
          <a:p>
            <a:pPr indent="-323850" lvl="0" marL="457200" rtl="0" algn="l">
              <a:lnSpc>
                <a:spcPct val="150000"/>
              </a:lnSpc>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Protein included in each meal</a:t>
            </a:r>
            <a:endParaRPr sz="1500">
              <a:solidFill>
                <a:srgbClr val="434343"/>
              </a:solidFill>
              <a:latin typeface="Lato"/>
              <a:ea typeface="Lato"/>
              <a:cs typeface="Lato"/>
              <a:sym typeface="Lato"/>
            </a:endParaRPr>
          </a:p>
          <a:p>
            <a:pPr indent="-323850" lvl="0" marL="457200" rtl="0" algn="l">
              <a:lnSpc>
                <a:spcPct val="150000"/>
              </a:lnSpc>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High fibre meals</a:t>
            </a:r>
            <a:endParaRPr sz="1500">
              <a:solidFill>
                <a:srgbClr val="434343"/>
              </a:solidFill>
              <a:latin typeface="Lato"/>
              <a:ea typeface="Lato"/>
              <a:cs typeface="Lato"/>
              <a:sym typeface="Lato"/>
            </a:endParaRPr>
          </a:p>
          <a:p>
            <a:pPr indent="-323850" lvl="0" marL="457200" rtl="0" algn="l">
              <a:lnSpc>
                <a:spcPct val="150000"/>
              </a:lnSpc>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Approx 8 glasses of water per day</a:t>
            </a:r>
            <a:endParaRPr sz="1500">
              <a:solidFill>
                <a:srgbClr val="434343"/>
              </a:solidFill>
              <a:latin typeface="Lato"/>
              <a:ea typeface="Lato"/>
              <a:cs typeface="Lato"/>
              <a:sym typeface="Lato"/>
            </a:endParaRPr>
          </a:p>
          <a:p>
            <a:pPr indent="-323850" lvl="0" marL="457200" rtl="0" algn="l">
              <a:lnSpc>
                <a:spcPct val="150000"/>
              </a:lnSpc>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1 milky coffee per day (in fat loss phase)</a:t>
            </a:r>
            <a:endParaRPr sz="1500">
              <a:solidFill>
                <a:srgbClr val="434343"/>
              </a:solidFill>
              <a:latin typeface="Lato"/>
              <a:ea typeface="Lato"/>
              <a:cs typeface="Lato"/>
              <a:sym typeface="Lato"/>
            </a:endParaRPr>
          </a:p>
          <a:p>
            <a:pPr indent="-323850" lvl="0" marL="457200" rtl="0" algn="l">
              <a:lnSpc>
                <a:spcPct val="150000"/>
              </a:lnSpc>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Alcohol consideration, indulgences, steps, evening snacking</a:t>
            </a:r>
            <a:endParaRPr sz="1500">
              <a:solidFill>
                <a:srgbClr val="434343"/>
              </a:solidFill>
              <a:latin typeface="Lato"/>
              <a:ea typeface="Lato"/>
              <a:cs typeface="Lato"/>
              <a:sym typeface="Lato"/>
            </a:endParaRPr>
          </a:p>
          <a:p>
            <a:pPr indent="0" lvl="0" marL="0" rtl="0" algn="l">
              <a:spcBef>
                <a:spcPts val="640"/>
              </a:spcBef>
              <a:spcAft>
                <a:spcPts val="0"/>
              </a:spcAft>
              <a:buNone/>
            </a:pPr>
            <a:r>
              <a:rPr lang="en-GB" sz="1500">
                <a:solidFill>
                  <a:srgbClr val="434343"/>
                </a:solidFill>
                <a:latin typeface="Lato"/>
                <a:ea typeface="Lato"/>
                <a:cs typeface="Lato"/>
                <a:sym typeface="Lato"/>
              </a:rPr>
              <a:t>These are the my 12 week summer challenge foundations - </a:t>
            </a:r>
            <a:r>
              <a:rPr b="1" lang="en-GB" sz="1500">
                <a:solidFill>
                  <a:srgbClr val="434343"/>
                </a:solidFill>
                <a:latin typeface="Lato"/>
                <a:ea typeface="Lato"/>
                <a:cs typeface="Lato"/>
                <a:sym typeface="Lato"/>
              </a:rPr>
              <a:t>AIM IS SIMPLICITY </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p:txBody>
      </p:sp>
      <p:pic>
        <p:nvPicPr>
          <p:cNvPr id="252" name="Google Shape;252;p46"/>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7"/>
          <p:cNvSpPr txBox="1"/>
          <p:nvPr/>
        </p:nvSpPr>
        <p:spPr>
          <a:xfrm>
            <a:off x="341100" y="1080000"/>
            <a:ext cx="8461800" cy="954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GB" sz="5000">
                <a:solidFill>
                  <a:srgbClr val="003060"/>
                </a:solidFill>
                <a:latin typeface="Libre Baskerville"/>
                <a:ea typeface="Libre Baskerville"/>
                <a:cs typeface="Libre Baskerville"/>
                <a:sym typeface="Libre Baskerville"/>
              </a:rPr>
              <a:t>The </a:t>
            </a:r>
            <a:r>
              <a:rPr i="1" lang="en-GB" sz="5000">
                <a:solidFill>
                  <a:srgbClr val="003060"/>
                </a:solidFill>
                <a:latin typeface="Libre Baskerville"/>
                <a:ea typeface="Libre Baskerville"/>
                <a:cs typeface="Libre Baskerville"/>
                <a:sym typeface="Libre Baskerville"/>
              </a:rPr>
              <a:t>Key </a:t>
            </a:r>
            <a:r>
              <a:rPr lang="en-GB" sz="5000">
                <a:solidFill>
                  <a:srgbClr val="003060"/>
                </a:solidFill>
                <a:latin typeface="Libre Baskerville"/>
                <a:ea typeface="Libre Baskerville"/>
                <a:cs typeface="Libre Baskerville"/>
                <a:sym typeface="Libre Baskerville"/>
              </a:rPr>
              <a:t>To Best Results</a:t>
            </a:r>
            <a:endParaRPr sz="5000">
              <a:solidFill>
                <a:srgbClr val="003060"/>
              </a:solidFill>
              <a:latin typeface="Libre Baskerville"/>
              <a:ea typeface="Libre Baskerville"/>
              <a:cs typeface="Libre Baskerville"/>
              <a:sym typeface="Libre Baskerville"/>
            </a:endParaRPr>
          </a:p>
        </p:txBody>
      </p:sp>
      <p:sp>
        <p:nvSpPr>
          <p:cNvPr id="258" name="Google Shape;258;p47"/>
          <p:cNvSpPr txBox="1"/>
          <p:nvPr/>
        </p:nvSpPr>
        <p:spPr>
          <a:xfrm>
            <a:off x="341100" y="2919300"/>
            <a:ext cx="8461800" cy="1302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en-GB" sz="2200">
                <a:solidFill>
                  <a:srgbClr val="333333"/>
                </a:solidFill>
                <a:latin typeface="Alegreya Sans"/>
                <a:ea typeface="Alegreya Sans"/>
                <a:cs typeface="Alegreya Sans"/>
                <a:sym typeface="Alegreya Sans"/>
              </a:rPr>
              <a:t>Nutrition strategy that works anywhere. At home, on the road, busy days, no time to cook. You need a strategy that’s easy to be consistent. Guess what? Most diets feel impossible to stick with long term, that’s why you give up.</a:t>
            </a:r>
            <a:endParaRPr sz="2200">
              <a:solidFill>
                <a:srgbClr val="333333"/>
              </a:solidFill>
              <a:latin typeface="Alegreya Sans"/>
              <a:ea typeface="Alegreya Sans"/>
              <a:cs typeface="Alegreya Sans"/>
              <a:sym typeface="Alegreya Sans"/>
            </a:endParaRPr>
          </a:p>
        </p:txBody>
      </p:sp>
      <p:pic>
        <p:nvPicPr>
          <p:cNvPr id="259" name="Google Shape;259;p47" title="Transparent BG Square Blue (2).png"/>
          <p:cNvPicPr preferRelativeResize="0"/>
          <p:nvPr/>
        </p:nvPicPr>
        <p:blipFill>
          <a:blip r:embed="rId3">
            <a:alphaModFix/>
          </a:blip>
          <a:stretch>
            <a:fillRect/>
          </a:stretch>
        </p:blipFill>
        <p:spPr>
          <a:xfrm>
            <a:off x="8305575" y="4216475"/>
            <a:ext cx="669951" cy="6699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8"/>
          <p:cNvSpPr/>
          <p:nvPr/>
        </p:nvSpPr>
        <p:spPr>
          <a:xfrm>
            <a:off x="426125" y="818550"/>
            <a:ext cx="8380500" cy="350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4100"/>
              <a:buFont typeface="Helvetica Neue"/>
              <a:buNone/>
            </a:pPr>
            <a:r>
              <a:rPr lang="en-GB" sz="2700">
                <a:solidFill>
                  <a:srgbClr val="003060"/>
                </a:solidFill>
                <a:latin typeface="Libre Baskerville"/>
                <a:ea typeface="Libre Baskerville"/>
                <a:cs typeface="Libre Baskerville"/>
                <a:sym typeface="Libre Baskerville"/>
              </a:rPr>
              <a:t>The dieting industry tells us that we can all follow the same nutrition strategy but a 45 year old women with 3 kids needs a different strategy to a woman that’s retired. And someone that doesn't like cooking, needs a different strategy to someone that enjoys cooking. </a:t>
            </a:r>
            <a:endParaRPr sz="2700">
              <a:solidFill>
                <a:srgbClr val="003060"/>
              </a:solidFill>
              <a:latin typeface="Libre Baskerville"/>
              <a:ea typeface="Libre Baskerville"/>
              <a:cs typeface="Libre Baskerville"/>
              <a:sym typeface="Libre Baskerville"/>
            </a:endParaRPr>
          </a:p>
          <a:p>
            <a:pPr indent="0" lvl="0" marL="0" marR="0" rtl="0" algn="ctr">
              <a:lnSpc>
                <a:spcPct val="100000"/>
              </a:lnSpc>
              <a:spcBef>
                <a:spcPts val="0"/>
              </a:spcBef>
              <a:spcAft>
                <a:spcPts val="0"/>
              </a:spcAft>
              <a:buClr>
                <a:srgbClr val="FFFFFF"/>
              </a:buClr>
              <a:buSzPts val="4100"/>
              <a:buFont typeface="Helvetica Neue"/>
              <a:buNone/>
            </a:pPr>
            <a:r>
              <a:t/>
            </a:r>
            <a:endParaRPr sz="2700">
              <a:solidFill>
                <a:srgbClr val="003060"/>
              </a:solidFill>
              <a:latin typeface="Libre Baskerville"/>
              <a:ea typeface="Libre Baskerville"/>
              <a:cs typeface="Libre Baskerville"/>
              <a:sym typeface="Libre Baskerville"/>
            </a:endParaRPr>
          </a:p>
          <a:p>
            <a:pPr indent="0" lvl="0" marL="0" marR="0" rtl="0" algn="ctr">
              <a:lnSpc>
                <a:spcPct val="100000"/>
              </a:lnSpc>
              <a:spcBef>
                <a:spcPts val="0"/>
              </a:spcBef>
              <a:spcAft>
                <a:spcPts val="0"/>
              </a:spcAft>
              <a:buClr>
                <a:srgbClr val="FFFFFF"/>
              </a:buClr>
              <a:buSzPts val="4100"/>
              <a:buFont typeface="Helvetica Neue"/>
              <a:buNone/>
            </a:pPr>
            <a:r>
              <a:rPr lang="en-GB" sz="2700">
                <a:solidFill>
                  <a:srgbClr val="003060"/>
                </a:solidFill>
                <a:latin typeface="Libre Baskerville"/>
                <a:ea typeface="Libre Baskerville"/>
                <a:cs typeface="Libre Baskerville"/>
                <a:sym typeface="Libre Baskerville"/>
              </a:rPr>
              <a:t>You need a formula you can personalise. Only then can you be consistent!</a:t>
            </a:r>
            <a:endParaRPr b="1" sz="2600">
              <a:solidFill>
                <a:srgbClr val="003060"/>
              </a:solidFill>
              <a:latin typeface="Libre Baskerville"/>
              <a:ea typeface="Libre Baskerville"/>
              <a:cs typeface="Libre Baskerville"/>
              <a:sym typeface="Libre Baskerville"/>
            </a:endParaRPr>
          </a:p>
        </p:txBody>
      </p:sp>
      <p:pic>
        <p:nvPicPr>
          <p:cNvPr id="265" name="Google Shape;265;p48" title="Transparent BG Square Blue (2).png"/>
          <p:cNvPicPr preferRelativeResize="0"/>
          <p:nvPr/>
        </p:nvPicPr>
        <p:blipFill>
          <a:blip r:embed="rId3">
            <a:alphaModFix/>
          </a:blip>
          <a:stretch>
            <a:fillRect/>
          </a:stretch>
        </p:blipFill>
        <p:spPr>
          <a:xfrm>
            <a:off x="8305575" y="4216475"/>
            <a:ext cx="669951" cy="6699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269" name="Shape 269"/>
        <p:cNvGrpSpPr/>
        <p:nvPr/>
      </p:nvGrpSpPr>
      <p:grpSpPr>
        <a:xfrm>
          <a:off x="0" y="0"/>
          <a:ext cx="0" cy="0"/>
          <a:chOff x="0" y="0"/>
          <a:chExt cx="0" cy="0"/>
        </a:xfrm>
      </p:grpSpPr>
      <p:sp>
        <p:nvSpPr>
          <p:cNvPr id="270" name="Google Shape;270;p49"/>
          <p:cNvSpPr txBox="1"/>
          <p:nvPr/>
        </p:nvSpPr>
        <p:spPr>
          <a:xfrm>
            <a:off x="457200" y="304800"/>
            <a:ext cx="8229600" cy="70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400" u="none" cap="none" strike="noStrike">
                <a:solidFill>
                  <a:srgbClr val="003060"/>
                </a:solidFill>
                <a:latin typeface="Libre Baskerville"/>
                <a:ea typeface="Libre Baskerville"/>
                <a:cs typeface="Libre Baskerville"/>
                <a:sym typeface="Libre Baskerville"/>
              </a:rPr>
              <a:t>Still Using The Formula Today For Maintenance,</a:t>
            </a:r>
            <a:endParaRPr/>
          </a:p>
          <a:p>
            <a:pPr indent="0" lvl="0" marL="0" marR="0" rtl="0" algn="ctr">
              <a:spcBef>
                <a:spcPts val="400"/>
              </a:spcBef>
              <a:spcAft>
                <a:spcPts val="0"/>
              </a:spcAft>
              <a:buNone/>
            </a:pPr>
            <a:r>
              <a:rPr b="1" i="1" lang="en-GB" sz="2200" u="none" cap="none" strike="noStrike">
                <a:solidFill>
                  <a:srgbClr val="F79F83"/>
                </a:solidFill>
                <a:latin typeface="Libre Baskerville"/>
                <a:ea typeface="Libre Baskerville"/>
                <a:cs typeface="Libre Baskerville"/>
                <a:sym typeface="Libre Baskerville"/>
              </a:rPr>
              <a:t>Used Before Pregnancy And After</a:t>
            </a:r>
            <a:endParaRPr/>
          </a:p>
        </p:txBody>
      </p:sp>
      <p:pic>
        <p:nvPicPr>
          <p:cNvPr id="271" name="Google Shape;271;p49" title="1. Anna Before and After.png"/>
          <p:cNvPicPr preferRelativeResize="0"/>
          <p:nvPr/>
        </p:nvPicPr>
        <p:blipFill>
          <a:blip r:embed="rId3">
            <a:alphaModFix/>
          </a:blip>
          <a:stretch>
            <a:fillRect/>
          </a:stretch>
        </p:blipFill>
        <p:spPr>
          <a:xfrm>
            <a:off x="2735475" y="1294400"/>
            <a:ext cx="3673050" cy="3673050"/>
          </a:xfrm>
          <a:prstGeom prst="rect">
            <a:avLst/>
          </a:prstGeom>
          <a:solidFill>
            <a:srgbClr val="ECE7DE"/>
          </a:solidFill>
          <a:ln cap="flat" cmpd="sng" w="19050">
            <a:solidFill>
              <a:srgbClr val="D9CDB6"/>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275" name="Shape 275"/>
        <p:cNvGrpSpPr/>
        <p:nvPr/>
      </p:nvGrpSpPr>
      <p:grpSpPr>
        <a:xfrm>
          <a:off x="0" y="0"/>
          <a:ext cx="0" cy="0"/>
          <a:chOff x="0" y="0"/>
          <a:chExt cx="0" cy="0"/>
        </a:xfrm>
      </p:grpSpPr>
      <p:sp>
        <p:nvSpPr>
          <p:cNvPr id="276" name="Google Shape;276;p50"/>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400" u="none" cap="none" strike="noStrike">
                <a:solidFill>
                  <a:srgbClr val="003060"/>
                </a:solidFill>
                <a:latin typeface="Libre Baskerville"/>
                <a:ea typeface="Libre Baskerville"/>
                <a:cs typeface="Libre Baskerville"/>
                <a:sym typeface="Libre Baskerville"/>
              </a:rPr>
              <a:t>And My WLA Clients Are Using The Formula, Getting Incredible Results</a:t>
            </a:r>
            <a:endParaRPr/>
          </a:p>
        </p:txBody>
      </p:sp>
      <p:pic>
        <p:nvPicPr>
          <p:cNvPr id="277" name="Google Shape;277;p50" title="lucy before and after.jpg"/>
          <p:cNvPicPr preferRelativeResize="0"/>
          <p:nvPr/>
        </p:nvPicPr>
        <p:blipFill>
          <a:blip r:embed="rId3">
            <a:alphaModFix/>
          </a:blip>
          <a:stretch>
            <a:fillRect/>
          </a:stretch>
        </p:blipFill>
        <p:spPr>
          <a:xfrm>
            <a:off x="254350" y="1276350"/>
            <a:ext cx="3637550" cy="3637550"/>
          </a:xfrm>
          <a:prstGeom prst="rect">
            <a:avLst/>
          </a:prstGeom>
          <a:noFill/>
          <a:ln>
            <a:noFill/>
          </a:ln>
        </p:spPr>
      </p:pic>
      <p:pic>
        <p:nvPicPr>
          <p:cNvPr id="278" name="Google Shape;278;p50" title="VIP Maddy Evans.SBS - From size 18 to 14. png.png"/>
          <p:cNvPicPr preferRelativeResize="0"/>
          <p:nvPr/>
        </p:nvPicPr>
        <p:blipFill>
          <a:blip r:embed="rId4">
            <a:alphaModFix/>
          </a:blip>
          <a:stretch>
            <a:fillRect/>
          </a:stretch>
        </p:blipFill>
        <p:spPr>
          <a:xfrm>
            <a:off x="4918900" y="1237750"/>
            <a:ext cx="3725139" cy="3714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2" name="Shape 282"/>
        <p:cNvGrpSpPr/>
        <p:nvPr/>
      </p:nvGrpSpPr>
      <p:grpSpPr>
        <a:xfrm>
          <a:off x="0" y="0"/>
          <a:ext cx="0" cy="0"/>
          <a:chOff x="0" y="0"/>
          <a:chExt cx="0" cy="0"/>
        </a:xfrm>
      </p:grpSpPr>
      <p:sp>
        <p:nvSpPr>
          <p:cNvPr id="283" name="Google Shape;283;p51"/>
          <p:cNvSpPr txBox="1"/>
          <p:nvPr>
            <p:ph type="title"/>
          </p:nvPr>
        </p:nvSpPr>
        <p:spPr>
          <a:xfrm>
            <a:off x="311700" y="988675"/>
            <a:ext cx="8520600" cy="2854800"/>
          </a:xfrm>
          <a:prstGeom prst="rect">
            <a:avLst/>
          </a:prstGeom>
        </p:spPr>
        <p:txBody>
          <a:bodyPr anchorCtr="0" anchor="ctr" bIns="45700" lIns="91425" spcFirstLastPara="1" rIns="91425" wrap="square" tIns="45700">
            <a:noAutofit/>
          </a:bodyPr>
          <a:lstStyle/>
          <a:p>
            <a:pPr indent="0" lvl="0" marL="0" rtl="0" algn="ctr">
              <a:lnSpc>
                <a:spcPct val="115000"/>
              </a:lnSpc>
              <a:spcBef>
                <a:spcPts val="0"/>
              </a:spcBef>
              <a:spcAft>
                <a:spcPts val="0"/>
              </a:spcAft>
              <a:buNone/>
            </a:pPr>
            <a:r>
              <a:rPr lang="en-GB" sz="3000">
                <a:solidFill>
                  <a:srgbClr val="434343"/>
                </a:solidFill>
                <a:latin typeface="Lato"/>
                <a:ea typeface="Lato"/>
                <a:cs typeface="Lato"/>
                <a:sym typeface="Lato"/>
              </a:rPr>
              <a:t>The Power Of A Clear Roadmap </a:t>
            </a:r>
            <a:endParaRPr sz="30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3000">
                <a:solidFill>
                  <a:srgbClr val="434343"/>
                </a:solidFill>
                <a:latin typeface="Lato"/>
                <a:ea typeface="Lato"/>
                <a:cs typeface="Lato"/>
                <a:sym typeface="Lato"/>
              </a:rPr>
              <a:t>&amp; Monthly Focus</a:t>
            </a:r>
            <a:endParaRPr sz="3000">
              <a:solidFill>
                <a:srgbClr val="434343"/>
              </a:solidFill>
              <a:latin typeface="Lato"/>
              <a:ea typeface="Lato"/>
              <a:cs typeface="Lato"/>
              <a:sym typeface="Lato"/>
            </a:endParaRPr>
          </a:p>
        </p:txBody>
      </p:sp>
      <p:pic>
        <p:nvPicPr>
          <p:cNvPr id="284" name="Google Shape;284;p51"/>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8" name="Shape 288"/>
        <p:cNvGrpSpPr/>
        <p:nvPr/>
      </p:nvGrpSpPr>
      <p:grpSpPr>
        <a:xfrm>
          <a:off x="0" y="0"/>
          <a:ext cx="0" cy="0"/>
          <a:chOff x="0" y="0"/>
          <a:chExt cx="0" cy="0"/>
        </a:xfrm>
      </p:grpSpPr>
      <p:sp>
        <p:nvSpPr>
          <p:cNvPr id="289" name="Google Shape;289;p52"/>
          <p:cNvSpPr txBox="1"/>
          <p:nvPr>
            <p:ph type="title"/>
          </p:nvPr>
        </p:nvSpPr>
        <p:spPr>
          <a:xfrm>
            <a:off x="635975" y="917350"/>
            <a:ext cx="8015700" cy="2854800"/>
          </a:xfrm>
          <a:prstGeom prst="rect">
            <a:avLst/>
          </a:prstGeom>
        </p:spPr>
        <p:txBody>
          <a:bodyPr anchorCtr="0" anchor="ctr" bIns="45700" lIns="91425" spcFirstLastPara="1" rIns="91425" wrap="square" tIns="45700">
            <a:normAutofit fontScale="90000"/>
          </a:bodyPr>
          <a:lstStyle/>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The women who get the BEST results usually don’t just “try to eat healthy”.</a:t>
            </a:r>
            <a:endParaRPr sz="2500">
              <a:solidFill>
                <a:srgbClr val="434343"/>
              </a:solidFill>
              <a:latin typeface="Lato"/>
              <a:ea typeface="Lato"/>
              <a:cs typeface="Lato"/>
              <a:sym typeface="Lato"/>
            </a:endParaRPr>
          </a:p>
          <a:p>
            <a:pPr indent="0" lvl="0" marL="0" rtl="0" algn="l">
              <a:lnSpc>
                <a:spcPct val="115000"/>
              </a:lnSpc>
              <a:spcBef>
                <a:spcPts val="0"/>
              </a:spcBef>
              <a:spcAft>
                <a:spcPts val="0"/>
              </a:spcAft>
              <a:buNone/>
            </a:pPr>
            <a:r>
              <a:rPr lang="en-GB" sz="2500">
                <a:solidFill>
                  <a:srgbClr val="434343"/>
                </a:solidFill>
                <a:latin typeface="Lato"/>
                <a:ea typeface="Lato"/>
                <a:cs typeface="Lato"/>
                <a:sym typeface="Lato"/>
              </a:rPr>
              <a:t>They have:</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 A clear goal</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 A clear timeline</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 A clear focus</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 A plan they can actually follow</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Because without that…</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You lose direction.</a:t>
            </a:r>
            <a:endParaRPr sz="2500">
              <a:solidFill>
                <a:srgbClr val="434343"/>
              </a:solidFill>
              <a:latin typeface="Lato"/>
              <a:ea typeface="Lato"/>
              <a:cs typeface="Lato"/>
              <a:sym typeface="Lato"/>
            </a:endParaRPr>
          </a:p>
        </p:txBody>
      </p:sp>
      <p:pic>
        <p:nvPicPr>
          <p:cNvPr id="290" name="Google Shape;290;p52"/>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4" name="Shape 294"/>
        <p:cNvGrpSpPr/>
        <p:nvPr/>
      </p:nvGrpSpPr>
      <p:grpSpPr>
        <a:xfrm>
          <a:off x="0" y="0"/>
          <a:ext cx="0" cy="0"/>
          <a:chOff x="0" y="0"/>
          <a:chExt cx="0" cy="0"/>
        </a:xfrm>
      </p:grpSpPr>
      <p:sp>
        <p:nvSpPr>
          <p:cNvPr id="295" name="Google Shape;295;p53"/>
          <p:cNvSpPr txBox="1"/>
          <p:nvPr>
            <p:ph type="title"/>
          </p:nvPr>
        </p:nvSpPr>
        <p:spPr>
          <a:xfrm>
            <a:off x="635975" y="917350"/>
            <a:ext cx="8015700" cy="2854800"/>
          </a:xfrm>
          <a:prstGeom prst="rect">
            <a:avLst/>
          </a:prstGeom>
        </p:spPr>
        <p:txBody>
          <a:bodyPr anchorCtr="0" anchor="ctr" bIns="45700" lIns="91425" spcFirstLastPara="1" rIns="91425" wrap="square" tIns="45700">
            <a:normAutofit/>
          </a:bodyPr>
          <a:lstStyle/>
          <a:p>
            <a:pPr indent="0" lvl="0" marL="0" rtl="0" algn="ctr">
              <a:lnSpc>
                <a:spcPct val="115000"/>
              </a:lnSpc>
              <a:spcBef>
                <a:spcPts val="0"/>
              </a:spcBef>
              <a:spcAft>
                <a:spcPts val="0"/>
              </a:spcAft>
              <a:buClr>
                <a:schemeClr val="dk1"/>
              </a:buClr>
              <a:buSzPts val="1100"/>
              <a:buFont typeface="Arial"/>
              <a:buNone/>
            </a:pPr>
            <a:r>
              <a:rPr lang="en-GB" sz="2500">
                <a:solidFill>
                  <a:srgbClr val="434343"/>
                </a:solidFill>
                <a:latin typeface="Lato"/>
                <a:ea typeface="Lato"/>
                <a:cs typeface="Lato"/>
                <a:sym typeface="Lato"/>
              </a:rPr>
              <a:t>You don’t know what you’re aiming for.</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Clr>
                <a:schemeClr val="dk1"/>
              </a:buClr>
              <a:buSzPts val="1100"/>
              <a:buFont typeface="Arial"/>
              <a:buNone/>
            </a:pPr>
            <a:r>
              <a:rPr lang="en-GB" sz="2500">
                <a:solidFill>
                  <a:srgbClr val="434343"/>
                </a:solidFill>
                <a:latin typeface="Lato"/>
                <a:ea typeface="Lato"/>
                <a:cs typeface="Lato"/>
                <a:sym typeface="Lato"/>
              </a:rPr>
              <a:t>You try to change everything at once.</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Clr>
                <a:schemeClr val="dk1"/>
              </a:buClr>
              <a:buSzPts val="1100"/>
              <a:buFont typeface="Arial"/>
              <a:buNone/>
            </a:pPr>
            <a:r>
              <a:rPr lang="en-GB" sz="2500">
                <a:solidFill>
                  <a:srgbClr val="434343"/>
                </a:solidFill>
                <a:latin typeface="Lato"/>
                <a:ea typeface="Lato"/>
                <a:cs typeface="Lato"/>
                <a:sym typeface="Lato"/>
              </a:rPr>
              <a:t>You lose focus when life gets busy.</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Clr>
                <a:schemeClr val="dk1"/>
              </a:buClr>
              <a:buSzPts val="1100"/>
              <a:buFont typeface="Arial"/>
              <a:buNone/>
            </a:pPr>
            <a:r>
              <a:rPr lang="en-GB" sz="2500">
                <a:solidFill>
                  <a:srgbClr val="434343"/>
                </a:solidFill>
                <a:latin typeface="Lato"/>
                <a:ea typeface="Lato"/>
                <a:cs typeface="Lato"/>
                <a:sym typeface="Lato"/>
              </a:rPr>
              <a:t>You stop tracking progress.</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And eventually… you give up.</a:t>
            </a:r>
            <a:endParaRPr sz="2500">
              <a:solidFill>
                <a:srgbClr val="434343"/>
              </a:solidFill>
              <a:latin typeface="Lato"/>
              <a:ea typeface="Lato"/>
              <a:cs typeface="Lato"/>
              <a:sym typeface="Lato"/>
            </a:endParaRPr>
          </a:p>
        </p:txBody>
      </p:sp>
      <p:pic>
        <p:nvPicPr>
          <p:cNvPr id="296" name="Google Shape;296;p53"/>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0" name="Shape 300"/>
        <p:cNvGrpSpPr/>
        <p:nvPr/>
      </p:nvGrpSpPr>
      <p:grpSpPr>
        <a:xfrm>
          <a:off x="0" y="0"/>
          <a:ext cx="0" cy="0"/>
          <a:chOff x="0" y="0"/>
          <a:chExt cx="0" cy="0"/>
        </a:xfrm>
      </p:grpSpPr>
      <p:sp>
        <p:nvSpPr>
          <p:cNvPr id="301" name="Google Shape;301;p54"/>
          <p:cNvSpPr txBox="1"/>
          <p:nvPr>
            <p:ph type="title"/>
          </p:nvPr>
        </p:nvSpPr>
        <p:spPr>
          <a:xfrm>
            <a:off x="635975" y="917350"/>
            <a:ext cx="8015700" cy="28548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1200"/>
              </a:spcBef>
              <a:spcAft>
                <a:spcPts val="0"/>
              </a:spcAft>
              <a:buClr>
                <a:schemeClr val="dk1"/>
              </a:buClr>
              <a:buSzPct val="44000"/>
              <a:buFont typeface="Arial"/>
              <a:buNone/>
            </a:pPr>
            <a:r>
              <a:rPr lang="en-GB" sz="2500">
                <a:solidFill>
                  <a:srgbClr val="434343"/>
                </a:solidFill>
                <a:latin typeface="Lato"/>
                <a:ea typeface="Lato"/>
                <a:cs typeface="Lato"/>
                <a:sym typeface="Lato"/>
              </a:rPr>
              <a:t>But when you have:</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Clr>
                <a:schemeClr val="dk1"/>
              </a:buClr>
              <a:buSzPct val="44000"/>
              <a:buFont typeface="Arial"/>
              <a:buNone/>
            </a:pPr>
            <a:r>
              <a:rPr lang="en-GB" sz="2500">
                <a:solidFill>
                  <a:srgbClr val="434343"/>
                </a:solidFill>
                <a:latin typeface="Lato"/>
                <a:ea typeface="Lato"/>
                <a:cs typeface="Lato"/>
                <a:sym typeface="Lato"/>
              </a:rPr>
              <a:t>✔ A start date</a:t>
            </a:r>
            <a:br>
              <a:rPr lang="en-GB" sz="2500">
                <a:solidFill>
                  <a:srgbClr val="434343"/>
                </a:solidFill>
                <a:latin typeface="Lato"/>
                <a:ea typeface="Lato"/>
                <a:cs typeface="Lato"/>
                <a:sym typeface="Lato"/>
              </a:rPr>
            </a:br>
            <a:r>
              <a:rPr lang="en-GB" sz="2500">
                <a:solidFill>
                  <a:srgbClr val="434343"/>
                </a:solidFill>
                <a:latin typeface="Lato"/>
                <a:ea typeface="Lato"/>
                <a:cs typeface="Lato"/>
                <a:sym typeface="Lato"/>
              </a:rPr>
              <a:t>✔ An end goal</a:t>
            </a:r>
            <a:br>
              <a:rPr lang="en-GB" sz="2500">
                <a:solidFill>
                  <a:srgbClr val="434343"/>
                </a:solidFill>
                <a:latin typeface="Lato"/>
                <a:ea typeface="Lato"/>
                <a:cs typeface="Lato"/>
                <a:sym typeface="Lato"/>
              </a:rPr>
            </a:br>
            <a:r>
              <a:rPr lang="en-GB" sz="2500">
                <a:solidFill>
                  <a:srgbClr val="434343"/>
                </a:solidFill>
                <a:latin typeface="Lato"/>
                <a:ea typeface="Lato"/>
                <a:cs typeface="Lato"/>
                <a:sym typeface="Lato"/>
              </a:rPr>
              <a:t>✔ Monthly focus points</a:t>
            </a:r>
            <a:br>
              <a:rPr lang="en-GB" sz="2500">
                <a:solidFill>
                  <a:srgbClr val="434343"/>
                </a:solidFill>
                <a:latin typeface="Lato"/>
                <a:ea typeface="Lato"/>
                <a:cs typeface="Lato"/>
                <a:sym typeface="Lato"/>
              </a:rPr>
            </a:br>
            <a:r>
              <a:rPr lang="en-GB" sz="2500">
                <a:solidFill>
                  <a:srgbClr val="434343"/>
                </a:solidFill>
                <a:latin typeface="Lato"/>
                <a:ea typeface="Lato"/>
                <a:cs typeface="Lato"/>
                <a:sym typeface="Lato"/>
              </a:rPr>
              <a:t>✔ Action steps to work on</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Clr>
                <a:schemeClr val="dk1"/>
              </a:buClr>
              <a:buSzPct val="44000"/>
              <a:buFont typeface="Arial"/>
              <a:buNone/>
            </a:pPr>
            <a:r>
              <a:rPr lang="en-GB" sz="2500">
                <a:solidFill>
                  <a:srgbClr val="434343"/>
                </a:solidFill>
                <a:latin typeface="Lato"/>
                <a:ea typeface="Lato"/>
                <a:cs typeface="Lato"/>
                <a:sym typeface="Lato"/>
              </a:rPr>
              <a:t>Everything changes.</a:t>
            </a:r>
            <a:endParaRPr sz="2500">
              <a:solidFill>
                <a:srgbClr val="434343"/>
              </a:solidFill>
              <a:latin typeface="Lato"/>
              <a:ea typeface="Lato"/>
              <a:cs typeface="Lato"/>
              <a:sym typeface="Lato"/>
            </a:endParaRPr>
          </a:p>
          <a:p>
            <a:pPr indent="0" lvl="0" marL="0" rtl="0" algn="ctr">
              <a:lnSpc>
                <a:spcPct val="115000"/>
              </a:lnSpc>
              <a:spcBef>
                <a:spcPts val="1200"/>
              </a:spcBef>
              <a:spcAft>
                <a:spcPts val="0"/>
              </a:spcAft>
              <a:buNone/>
            </a:pPr>
            <a:r>
              <a:t/>
            </a:r>
            <a:endParaRPr sz="2500">
              <a:solidFill>
                <a:srgbClr val="434343"/>
              </a:solidFill>
              <a:latin typeface="Lato"/>
              <a:ea typeface="Lato"/>
              <a:cs typeface="Lato"/>
              <a:sym typeface="Lato"/>
            </a:endParaRPr>
          </a:p>
        </p:txBody>
      </p:sp>
      <p:pic>
        <p:nvPicPr>
          <p:cNvPr id="302" name="Google Shape;302;p54"/>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6" name="Shape 306"/>
        <p:cNvGrpSpPr/>
        <p:nvPr/>
      </p:nvGrpSpPr>
      <p:grpSpPr>
        <a:xfrm>
          <a:off x="0" y="0"/>
          <a:ext cx="0" cy="0"/>
          <a:chOff x="0" y="0"/>
          <a:chExt cx="0" cy="0"/>
        </a:xfrm>
      </p:grpSpPr>
      <p:sp>
        <p:nvSpPr>
          <p:cNvPr id="307" name="Google Shape;307;p55"/>
          <p:cNvSpPr txBox="1"/>
          <p:nvPr>
            <p:ph type="title"/>
          </p:nvPr>
        </p:nvSpPr>
        <p:spPr>
          <a:xfrm>
            <a:off x="635975" y="917350"/>
            <a:ext cx="8015700" cy="28548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1200"/>
              </a:spcBef>
              <a:spcAft>
                <a:spcPts val="0"/>
              </a:spcAft>
              <a:buNone/>
            </a:pPr>
            <a:r>
              <a:rPr lang="en-GB" sz="2500">
                <a:solidFill>
                  <a:srgbClr val="434343"/>
                </a:solidFill>
                <a:latin typeface="Lato"/>
                <a:ea typeface="Lato"/>
                <a:cs typeface="Lato"/>
                <a:sym typeface="Lato"/>
              </a:rPr>
              <a:t>Because instead of relying on motivation…</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None/>
            </a:pPr>
            <a:r>
              <a:rPr lang="en-GB" sz="2500">
                <a:solidFill>
                  <a:srgbClr val="434343"/>
                </a:solidFill>
                <a:latin typeface="Lato"/>
                <a:ea typeface="Lato"/>
                <a:cs typeface="Lato"/>
                <a:sym typeface="Lato"/>
              </a:rPr>
              <a:t>You have structure.</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None/>
            </a:pPr>
            <a:r>
              <a:rPr lang="en-GB" sz="2500">
                <a:solidFill>
                  <a:srgbClr val="434343"/>
                </a:solidFill>
                <a:latin typeface="Lato"/>
                <a:ea typeface="Lato"/>
                <a:cs typeface="Lato"/>
                <a:sym typeface="Lato"/>
              </a:rPr>
              <a:t>Instead of feeling overwhelmed trying to “be perfect”…</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None/>
            </a:pPr>
            <a:r>
              <a:rPr lang="en-GB" sz="2500">
                <a:solidFill>
                  <a:srgbClr val="434343"/>
                </a:solidFill>
                <a:latin typeface="Lato"/>
                <a:ea typeface="Lato"/>
                <a:cs typeface="Lato"/>
                <a:sym typeface="Lato"/>
              </a:rPr>
              <a:t>You focus on improving ONE thing at a time.</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None/>
            </a:pPr>
            <a:r>
              <a:t/>
            </a:r>
            <a:endParaRPr sz="2500">
              <a:solidFill>
                <a:srgbClr val="434343"/>
              </a:solidFill>
              <a:latin typeface="Lato"/>
              <a:ea typeface="Lato"/>
              <a:cs typeface="Lato"/>
              <a:sym typeface="Lato"/>
            </a:endParaRPr>
          </a:p>
          <a:p>
            <a:pPr indent="0" lvl="0" marL="0" rtl="0" algn="ctr">
              <a:lnSpc>
                <a:spcPct val="115000"/>
              </a:lnSpc>
              <a:spcBef>
                <a:spcPts val="1200"/>
              </a:spcBef>
              <a:spcAft>
                <a:spcPts val="0"/>
              </a:spcAft>
              <a:buNone/>
            </a:pPr>
            <a:r>
              <a:t/>
            </a:r>
            <a:endParaRPr sz="2500">
              <a:solidFill>
                <a:srgbClr val="434343"/>
              </a:solidFill>
              <a:latin typeface="Lato"/>
              <a:ea typeface="Lato"/>
              <a:cs typeface="Lato"/>
              <a:sym typeface="Lato"/>
            </a:endParaRPr>
          </a:p>
        </p:txBody>
      </p:sp>
      <p:pic>
        <p:nvPicPr>
          <p:cNvPr id="308" name="Google Shape;308;p55"/>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2" name="Shape 312"/>
        <p:cNvGrpSpPr/>
        <p:nvPr/>
      </p:nvGrpSpPr>
      <p:grpSpPr>
        <a:xfrm>
          <a:off x="0" y="0"/>
          <a:ext cx="0" cy="0"/>
          <a:chOff x="0" y="0"/>
          <a:chExt cx="0" cy="0"/>
        </a:xfrm>
      </p:grpSpPr>
      <p:sp>
        <p:nvSpPr>
          <p:cNvPr id="313" name="Google Shape;313;p56"/>
          <p:cNvSpPr txBox="1"/>
          <p:nvPr>
            <p:ph type="title"/>
          </p:nvPr>
        </p:nvSpPr>
        <p:spPr>
          <a:xfrm>
            <a:off x="564150" y="2068150"/>
            <a:ext cx="8015700" cy="28548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1200"/>
              </a:spcBef>
              <a:spcAft>
                <a:spcPts val="0"/>
              </a:spcAft>
              <a:buNone/>
            </a:pPr>
            <a:r>
              <a:rPr lang="en-GB" sz="2500">
                <a:solidFill>
                  <a:srgbClr val="434343"/>
                </a:solidFill>
                <a:latin typeface="Lato"/>
                <a:ea typeface="Lato"/>
                <a:cs typeface="Lato"/>
                <a:sym typeface="Lato"/>
              </a:rPr>
              <a:t>Most women have a weight loss WISH. Very few have a weight loss PLAN. There’s a big difference between:</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None/>
            </a:pPr>
            <a:r>
              <a:rPr lang="en-GB" sz="2500">
                <a:solidFill>
                  <a:srgbClr val="434343"/>
                </a:solidFill>
                <a:latin typeface="Lato"/>
                <a:ea typeface="Lato"/>
                <a:cs typeface="Lato"/>
                <a:sym typeface="Lato"/>
              </a:rPr>
              <a:t>“I want to lose weight this summer…”</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None/>
            </a:pPr>
            <a:r>
              <a:rPr lang="en-GB" sz="2500">
                <a:solidFill>
                  <a:srgbClr val="434343"/>
                </a:solidFill>
                <a:latin typeface="Lato"/>
                <a:ea typeface="Lato"/>
                <a:cs typeface="Lato"/>
                <a:sym typeface="Lato"/>
              </a:rPr>
              <a:t>vs</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None/>
            </a:pPr>
            <a:r>
              <a:rPr lang="en-GB" sz="2500">
                <a:solidFill>
                  <a:srgbClr val="434343"/>
                </a:solidFill>
                <a:latin typeface="Lato"/>
                <a:ea typeface="Lato"/>
                <a:cs typeface="Lato"/>
                <a:sym typeface="Lato"/>
              </a:rPr>
              <a:t>“I’m going to lose 2 stone over the next 12 weeks and this month I’m focusing on consistency, reducing snacking and increasing my steps.”</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None/>
            </a:pPr>
            <a:r>
              <a:rPr lang="en-GB" sz="2500">
                <a:solidFill>
                  <a:srgbClr val="434343"/>
                </a:solidFill>
                <a:latin typeface="Lato"/>
                <a:ea typeface="Lato"/>
                <a:cs typeface="Lato"/>
                <a:sym typeface="Lato"/>
              </a:rPr>
              <a:t>One is a vague hope. The other creates direction, focus and action.</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None/>
            </a:pPr>
            <a:r>
              <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None/>
            </a:pPr>
            <a:r>
              <a:t/>
            </a:r>
            <a:endParaRPr sz="2500">
              <a:solidFill>
                <a:srgbClr val="434343"/>
              </a:solidFill>
              <a:latin typeface="Lato"/>
              <a:ea typeface="Lato"/>
              <a:cs typeface="Lato"/>
              <a:sym typeface="Lato"/>
            </a:endParaRPr>
          </a:p>
          <a:p>
            <a:pPr indent="0" lvl="0" marL="0" rtl="0" algn="l">
              <a:lnSpc>
                <a:spcPct val="115000"/>
              </a:lnSpc>
              <a:spcBef>
                <a:spcPts val="1200"/>
              </a:spcBef>
              <a:spcAft>
                <a:spcPts val="0"/>
              </a:spcAft>
              <a:buNone/>
            </a:pPr>
            <a:r>
              <a:t/>
            </a:r>
            <a:endParaRPr sz="2500">
              <a:solidFill>
                <a:srgbClr val="434343"/>
              </a:solidFill>
              <a:latin typeface="Lato"/>
              <a:ea typeface="Lato"/>
              <a:cs typeface="Lato"/>
              <a:sym typeface="Lato"/>
            </a:endParaRPr>
          </a:p>
          <a:p>
            <a:pPr indent="0" lvl="0" marL="0" rtl="0" algn="ctr">
              <a:lnSpc>
                <a:spcPct val="115000"/>
              </a:lnSpc>
              <a:spcBef>
                <a:spcPts val="1200"/>
              </a:spcBef>
              <a:spcAft>
                <a:spcPts val="0"/>
              </a:spcAft>
              <a:buNone/>
            </a:pPr>
            <a:r>
              <a:t/>
            </a:r>
            <a:endParaRPr sz="2500">
              <a:solidFill>
                <a:srgbClr val="434343"/>
              </a:solidFill>
              <a:latin typeface="Lato"/>
              <a:ea typeface="Lato"/>
              <a:cs typeface="Lato"/>
              <a:sym typeface="Lato"/>
            </a:endParaRPr>
          </a:p>
        </p:txBody>
      </p:sp>
      <p:pic>
        <p:nvPicPr>
          <p:cNvPr id="314" name="Google Shape;314;p56"/>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8" name="Shape 318"/>
        <p:cNvGrpSpPr/>
        <p:nvPr/>
      </p:nvGrpSpPr>
      <p:grpSpPr>
        <a:xfrm>
          <a:off x="0" y="0"/>
          <a:ext cx="0" cy="0"/>
          <a:chOff x="0" y="0"/>
          <a:chExt cx="0" cy="0"/>
        </a:xfrm>
      </p:grpSpPr>
      <p:sp>
        <p:nvSpPr>
          <p:cNvPr id="319" name="Google Shape;319;p57"/>
          <p:cNvSpPr txBox="1"/>
          <p:nvPr>
            <p:ph type="title"/>
          </p:nvPr>
        </p:nvSpPr>
        <p:spPr>
          <a:xfrm>
            <a:off x="311700" y="988675"/>
            <a:ext cx="8520600" cy="2854800"/>
          </a:xfrm>
          <a:prstGeom prst="rect">
            <a:avLst/>
          </a:prstGeom>
        </p:spPr>
        <p:txBody>
          <a:bodyPr anchorCtr="0" anchor="ctr" bIns="45700" lIns="91425" spcFirstLastPara="1" rIns="91425" wrap="square" tIns="45700">
            <a:noAutofit/>
          </a:bodyPr>
          <a:lstStyle/>
          <a:p>
            <a:pPr indent="0" lvl="0" marL="0" rtl="0" algn="ctr">
              <a:lnSpc>
                <a:spcPct val="115000"/>
              </a:lnSpc>
              <a:spcBef>
                <a:spcPts val="0"/>
              </a:spcBef>
              <a:spcAft>
                <a:spcPts val="0"/>
              </a:spcAft>
              <a:buNone/>
            </a:pPr>
            <a:r>
              <a:rPr lang="en-GB" sz="3000">
                <a:solidFill>
                  <a:srgbClr val="434343"/>
                </a:solidFill>
                <a:latin typeface="Lato"/>
                <a:ea typeface="Lato"/>
                <a:cs typeface="Lato"/>
                <a:sym typeface="Lato"/>
              </a:rPr>
              <a:t>Accountability &amp; Support</a:t>
            </a:r>
            <a:endParaRPr sz="30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3000">
                <a:solidFill>
                  <a:srgbClr val="434343"/>
                </a:solidFill>
                <a:latin typeface="Lato"/>
                <a:ea typeface="Lato"/>
                <a:cs typeface="Lato"/>
                <a:sym typeface="Lato"/>
              </a:rPr>
              <a:t> That Keeps You Consistent</a:t>
            </a:r>
            <a:endParaRPr sz="3000">
              <a:solidFill>
                <a:srgbClr val="434343"/>
              </a:solidFill>
              <a:latin typeface="Lato"/>
              <a:ea typeface="Lato"/>
              <a:cs typeface="Lato"/>
              <a:sym typeface="Lato"/>
            </a:endParaRPr>
          </a:p>
        </p:txBody>
      </p:sp>
      <p:pic>
        <p:nvPicPr>
          <p:cNvPr id="320" name="Google Shape;320;p57"/>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4" name="Shape 324"/>
        <p:cNvGrpSpPr/>
        <p:nvPr/>
      </p:nvGrpSpPr>
      <p:grpSpPr>
        <a:xfrm>
          <a:off x="0" y="0"/>
          <a:ext cx="0" cy="0"/>
          <a:chOff x="0" y="0"/>
          <a:chExt cx="0" cy="0"/>
        </a:xfrm>
      </p:grpSpPr>
      <p:sp>
        <p:nvSpPr>
          <p:cNvPr id="325" name="Google Shape;325;p58"/>
          <p:cNvSpPr txBox="1"/>
          <p:nvPr>
            <p:ph type="title"/>
          </p:nvPr>
        </p:nvSpPr>
        <p:spPr>
          <a:xfrm>
            <a:off x="635975" y="917350"/>
            <a:ext cx="8015700" cy="2854800"/>
          </a:xfrm>
          <a:prstGeom prst="rect">
            <a:avLst/>
          </a:prstGeom>
        </p:spPr>
        <p:txBody>
          <a:bodyPr anchorCtr="0" anchor="ctr" bIns="45700" lIns="91425" spcFirstLastPara="1" rIns="91425" wrap="square" tIns="45700">
            <a:normAutofit/>
          </a:bodyPr>
          <a:lstStyle/>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After working with clients for over 11 years I realised that MOST struggle with consistency, they give up shortly after starting! They fall off the wagon. They are not self accountable. This is a recurring pattern! People need help with cementing new habits and routines. </a:t>
            </a:r>
            <a:endParaRPr sz="2500">
              <a:solidFill>
                <a:srgbClr val="434343"/>
              </a:solidFill>
              <a:latin typeface="Lato"/>
              <a:ea typeface="Lato"/>
              <a:cs typeface="Lato"/>
              <a:sym typeface="Lato"/>
            </a:endParaRPr>
          </a:p>
        </p:txBody>
      </p:sp>
      <p:pic>
        <p:nvPicPr>
          <p:cNvPr id="326" name="Google Shape;326;p58"/>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0" name="Shape 330"/>
        <p:cNvGrpSpPr/>
        <p:nvPr/>
      </p:nvGrpSpPr>
      <p:grpSpPr>
        <a:xfrm>
          <a:off x="0" y="0"/>
          <a:ext cx="0" cy="0"/>
          <a:chOff x="0" y="0"/>
          <a:chExt cx="0" cy="0"/>
        </a:xfrm>
      </p:grpSpPr>
      <p:sp>
        <p:nvSpPr>
          <p:cNvPr id="331" name="Google Shape;331;p59"/>
          <p:cNvSpPr txBox="1"/>
          <p:nvPr>
            <p:ph type="title"/>
          </p:nvPr>
        </p:nvSpPr>
        <p:spPr>
          <a:xfrm>
            <a:off x="635975" y="917350"/>
            <a:ext cx="8015700" cy="2854800"/>
          </a:xfrm>
          <a:prstGeom prst="rect">
            <a:avLst/>
          </a:prstGeom>
        </p:spPr>
        <p:txBody>
          <a:bodyPr anchorCtr="0" anchor="ctr" bIns="45700" lIns="91425" spcFirstLastPara="1" rIns="91425" wrap="square" tIns="45700">
            <a:normAutofit/>
          </a:bodyPr>
          <a:lstStyle/>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People underestimate the power of coaching and accountability. This is what really keeps people focused, motivated and consistent. This is because people can let themselves off the hook, give up quickly and give into negative mindsets. </a:t>
            </a:r>
            <a:endParaRPr sz="2500">
              <a:solidFill>
                <a:srgbClr val="434343"/>
              </a:solidFill>
              <a:latin typeface="Lato"/>
              <a:ea typeface="Lato"/>
              <a:cs typeface="Lato"/>
              <a:sym typeface="Lato"/>
            </a:endParaRPr>
          </a:p>
        </p:txBody>
      </p:sp>
      <p:pic>
        <p:nvPicPr>
          <p:cNvPr id="332" name="Google Shape;332;p59"/>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6" name="Shape 336"/>
        <p:cNvGrpSpPr/>
        <p:nvPr/>
      </p:nvGrpSpPr>
      <p:grpSpPr>
        <a:xfrm>
          <a:off x="0" y="0"/>
          <a:ext cx="0" cy="0"/>
          <a:chOff x="0" y="0"/>
          <a:chExt cx="0" cy="0"/>
        </a:xfrm>
      </p:grpSpPr>
      <p:sp>
        <p:nvSpPr>
          <p:cNvPr id="337" name="Google Shape;337;p60"/>
          <p:cNvSpPr txBox="1"/>
          <p:nvPr>
            <p:ph type="title"/>
          </p:nvPr>
        </p:nvSpPr>
        <p:spPr>
          <a:xfrm>
            <a:off x="407625" y="245800"/>
            <a:ext cx="8573400" cy="5727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GB">
                <a:solidFill>
                  <a:srgbClr val="434343"/>
                </a:solidFill>
                <a:latin typeface="Lato"/>
                <a:ea typeface="Lato"/>
                <a:cs typeface="Lato"/>
                <a:sym typeface="Lato"/>
              </a:rPr>
              <a:t>Do You Do This?</a:t>
            </a:r>
            <a:endParaRPr b="1">
              <a:solidFill>
                <a:srgbClr val="434343"/>
              </a:solidFill>
              <a:latin typeface="Lato"/>
              <a:ea typeface="Lato"/>
              <a:cs typeface="Lato"/>
              <a:sym typeface="Lato"/>
            </a:endParaRPr>
          </a:p>
        </p:txBody>
      </p:sp>
      <p:sp>
        <p:nvSpPr>
          <p:cNvPr id="338" name="Google Shape;338;p60"/>
          <p:cNvSpPr txBox="1"/>
          <p:nvPr>
            <p:ph idx="1" type="body"/>
          </p:nvPr>
        </p:nvSpPr>
        <p:spPr>
          <a:xfrm>
            <a:off x="311700" y="919725"/>
            <a:ext cx="8520600" cy="3754200"/>
          </a:xfrm>
          <a:prstGeom prst="rect">
            <a:avLst/>
          </a:prstGeom>
        </p:spPr>
        <p:txBody>
          <a:bodyPr anchorCtr="0" anchor="t" bIns="45700" lIns="91425" spcFirstLastPara="1" rIns="91425" wrap="square" tIns="45700">
            <a:noAutofit/>
          </a:bodyPr>
          <a:lstStyle/>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Start your weight loss journey but then stop within days or maybe sometimes weeks?</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Give up too quickly?</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Can’t get yourself to take action consistently?</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Lose and gain the same weight over and over?</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lang="en-GB" sz="1500">
                <a:solidFill>
                  <a:srgbClr val="434343"/>
                </a:solidFill>
                <a:latin typeface="Lato"/>
                <a:ea typeface="Lato"/>
                <a:cs typeface="Lato"/>
                <a:sym typeface="Lato"/>
              </a:rPr>
              <a:t>Have all the cookbooks in the world but are not at your goal?</a:t>
            </a:r>
            <a:endParaRPr sz="1500">
              <a:solidFill>
                <a:srgbClr val="434343"/>
              </a:solidFill>
              <a:latin typeface="Lato"/>
              <a:ea typeface="Lato"/>
              <a:cs typeface="Lato"/>
              <a:sym typeface="Lato"/>
            </a:endParaRPr>
          </a:p>
          <a:p>
            <a:pPr indent="0" lvl="0" marL="0" rtl="0" algn="l">
              <a:spcBef>
                <a:spcPts val="640"/>
              </a:spcBef>
              <a:spcAft>
                <a:spcPts val="0"/>
              </a:spcAft>
              <a:buNone/>
            </a:pPr>
            <a:r>
              <a:t/>
            </a:r>
            <a:endParaRPr sz="1500">
              <a:solidFill>
                <a:srgbClr val="434343"/>
              </a:solidFill>
              <a:latin typeface="Lato"/>
              <a:ea typeface="Lato"/>
              <a:cs typeface="Lato"/>
              <a:sym typeface="Lato"/>
            </a:endParaRPr>
          </a:p>
          <a:p>
            <a:pPr indent="0" lvl="0" marL="0" rtl="0" algn="l">
              <a:spcBef>
                <a:spcPts val="640"/>
              </a:spcBef>
              <a:spcAft>
                <a:spcPts val="0"/>
              </a:spcAft>
              <a:buNone/>
            </a:pPr>
            <a:r>
              <a:rPr lang="en-GB" sz="1500">
                <a:solidFill>
                  <a:srgbClr val="434343"/>
                </a:solidFill>
                <a:latin typeface="Lato"/>
                <a:ea typeface="Lato"/>
                <a:cs typeface="Lato"/>
                <a:sym typeface="Lato"/>
              </a:rPr>
              <a:t>If this is you…. you have an action, accountability, application and implementation problem and this is why high accountability would make you take action!!</a:t>
            </a:r>
            <a:endParaRPr sz="1500">
              <a:solidFill>
                <a:srgbClr val="434343"/>
              </a:solidFill>
              <a:latin typeface="Lato"/>
              <a:ea typeface="Lato"/>
              <a:cs typeface="Lato"/>
              <a:sym typeface="Lato"/>
            </a:endParaRPr>
          </a:p>
          <a:p>
            <a:pPr indent="0" lvl="0" marL="457200" rtl="0" algn="l">
              <a:spcBef>
                <a:spcPts val="640"/>
              </a:spcBef>
              <a:spcAft>
                <a:spcPts val="0"/>
              </a:spcAft>
              <a:buNone/>
            </a:pPr>
            <a:r>
              <a:t/>
            </a:r>
            <a:endParaRPr sz="1500">
              <a:solidFill>
                <a:srgbClr val="434343"/>
              </a:solidFill>
              <a:latin typeface="Lato"/>
              <a:ea typeface="Lato"/>
              <a:cs typeface="Lato"/>
              <a:sym typeface="Lato"/>
            </a:endParaRPr>
          </a:p>
          <a:p>
            <a:pPr indent="0" lvl="0" marL="457200" rtl="0" algn="l">
              <a:spcBef>
                <a:spcPts val="640"/>
              </a:spcBef>
              <a:spcAft>
                <a:spcPts val="0"/>
              </a:spcAft>
              <a:buNone/>
            </a:pPr>
            <a:r>
              <a:t/>
            </a:r>
            <a:endParaRPr sz="1500">
              <a:solidFill>
                <a:srgbClr val="434343"/>
              </a:solidFill>
              <a:latin typeface="Lato"/>
              <a:ea typeface="Lato"/>
              <a:cs typeface="Lato"/>
              <a:sym typeface="Lato"/>
            </a:endParaRPr>
          </a:p>
        </p:txBody>
      </p:sp>
      <p:pic>
        <p:nvPicPr>
          <p:cNvPr id="339" name="Google Shape;339;p60"/>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3" name="Shape 343"/>
        <p:cNvGrpSpPr/>
        <p:nvPr/>
      </p:nvGrpSpPr>
      <p:grpSpPr>
        <a:xfrm>
          <a:off x="0" y="0"/>
          <a:ext cx="0" cy="0"/>
          <a:chOff x="0" y="0"/>
          <a:chExt cx="0" cy="0"/>
        </a:xfrm>
      </p:grpSpPr>
      <p:sp>
        <p:nvSpPr>
          <p:cNvPr id="344" name="Google Shape;344;p61"/>
          <p:cNvSpPr txBox="1"/>
          <p:nvPr>
            <p:ph type="title"/>
          </p:nvPr>
        </p:nvSpPr>
        <p:spPr>
          <a:xfrm>
            <a:off x="407625" y="245800"/>
            <a:ext cx="8573400" cy="572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SzPts val="990"/>
              <a:buNone/>
            </a:pPr>
            <a:r>
              <a:rPr b="1" lang="en-GB" sz="3260">
                <a:solidFill>
                  <a:srgbClr val="434343"/>
                </a:solidFill>
                <a:latin typeface="Lato"/>
                <a:ea typeface="Lato"/>
                <a:cs typeface="Lato"/>
                <a:sym typeface="Lato"/>
              </a:rPr>
              <a:t>Accountability Is The Secret To Great Results</a:t>
            </a:r>
            <a:endParaRPr b="1" sz="3260">
              <a:solidFill>
                <a:srgbClr val="434343"/>
              </a:solidFill>
              <a:latin typeface="Lato"/>
              <a:ea typeface="Lato"/>
              <a:cs typeface="Lato"/>
              <a:sym typeface="Lato"/>
            </a:endParaRPr>
          </a:p>
        </p:txBody>
      </p:sp>
      <p:sp>
        <p:nvSpPr>
          <p:cNvPr id="345" name="Google Shape;345;p61"/>
          <p:cNvSpPr txBox="1"/>
          <p:nvPr>
            <p:ph idx="1" type="body"/>
          </p:nvPr>
        </p:nvSpPr>
        <p:spPr>
          <a:xfrm>
            <a:off x="311700" y="1042950"/>
            <a:ext cx="8520600" cy="3066600"/>
          </a:xfrm>
          <a:prstGeom prst="rect">
            <a:avLst/>
          </a:prstGeom>
        </p:spPr>
        <p:txBody>
          <a:bodyPr anchorCtr="0" anchor="t" bIns="45700" lIns="91425" spcFirstLastPara="1" rIns="91425" wrap="square" tIns="45700">
            <a:noAutofit/>
          </a:bodyPr>
          <a:lstStyle/>
          <a:p>
            <a:pPr indent="-323850" lvl="0" marL="457200" rtl="0" algn="l">
              <a:spcBef>
                <a:spcPts val="640"/>
              </a:spcBef>
              <a:spcAft>
                <a:spcPts val="0"/>
              </a:spcAft>
              <a:buClr>
                <a:srgbClr val="434343"/>
              </a:buClr>
              <a:buSzPts val="1500"/>
              <a:buFont typeface="Lato"/>
              <a:buChar char="•"/>
            </a:pPr>
            <a:r>
              <a:rPr b="1" lang="en-GB" sz="1500">
                <a:solidFill>
                  <a:srgbClr val="434343"/>
                </a:solidFill>
                <a:latin typeface="Lato"/>
                <a:ea typeface="Lato"/>
                <a:cs typeface="Lato"/>
                <a:sym typeface="Lato"/>
              </a:rPr>
              <a:t>Consistent Support:</a:t>
            </a:r>
            <a:r>
              <a:rPr lang="en-GB" sz="1500">
                <a:solidFill>
                  <a:srgbClr val="434343"/>
                </a:solidFill>
                <a:latin typeface="Lato"/>
                <a:ea typeface="Lato"/>
                <a:cs typeface="Lato"/>
                <a:sym typeface="Lato"/>
              </a:rPr>
              <a:t> Regular check-ins keep individuals motivated and on track. When setbacks occur, we can navigate challenges and prevents a spiral back into old habits.</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b="1" lang="en-GB" sz="1500">
                <a:solidFill>
                  <a:srgbClr val="434343"/>
                </a:solidFill>
                <a:latin typeface="Lato"/>
                <a:ea typeface="Lato"/>
                <a:cs typeface="Lato"/>
                <a:sym typeface="Lato"/>
              </a:rPr>
              <a:t>Accountability Increases Commitment: </a:t>
            </a:r>
            <a:r>
              <a:rPr lang="en-GB" sz="1500">
                <a:solidFill>
                  <a:srgbClr val="434343"/>
                </a:solidFill>
                <a:latin typeface="Lato"/>
                <a:ea typeface="Lato"/>
                <a:cs typeface="Lato"/>
                <a:sym typeface="Lato"/>
              </a:rPr>
              <a:t>Knowing that someone else is monitoring progress motivates individuals to stay committed to their goals. This accountability reduces the likelihood of quitting when motivation wanes or when temptations arise.</a:t>
            </a:r>
            <a:br>
              <a:rPr lang="en-GB" sz="1500">
                <a:solidFill>
                  <a:srgbClr val="434343"/>
                </a:solidFill>
                <a:latin typeface="Lato"/>
                <a:ea typeface="Lato"/>
                <a:cs typeface="Lato"/>
                <a:sym typeface="Lato"/>
              </a:rPr>
            </a:br>
            <a:endParaRPr sz="1500">
              <a:solidFill>
                <a:srgbClr val="434343"/>
              </a:solidFill>
              <a:latin typeface="Lato"/>
              <a:ea typeface="Lato"/>
              <a:cs typeface="Lato"/>
              <a:sym typeface="Lato"/>
            </a:endParaRPr>
          </a:p>
          <a:p>
            <a:pPr indent="-323850" lvl="0" marL="457200" rtl="0" algn="l">
              <a:spcBef>
                <a:spcPts val="640"/>
              </a:spcBef>
              <a:spcAft>
                <a:spcPts val="0"/>
              </a:spcAft>
              <a:buClr>
                <a:srgbClr val="434343"/>
              </a:buClr>
              <a:buSzPts val="1500"/>
              <a:buFont typeface="Lato"/>
              <a:buChar char="•"/>
            </a:pPr>
            <a:r>
              <a:rPr b="1" lang="en-GB" sz="1500">
                <a:solidFill>
                  <a:srgbClr val="434343"/>
                </a:solidFill>
                <a:latin typeface="Lato"/>
                <a:ea typeface="Lato"/>
                <a:cs typeface="Lato"/>
                <a:sym typeface="Lato"/>
              </a:rPr>
              <a:t>Encourages Action: </a:t>
            </a:r>
            <a:r>
              <a:rPr lang="en-GB" sz="1500">
                <a:solidFill>
                  <a:srgbClr val="434343"/>
                </a:solidFill>
                <a:latin typeface="Lato"/>
                <a:ea typeface="Lato"/>
                <a:cs typeface="Lato"/>
                <a:sym typeface="Lato"/>
              </a:rPr>
              <a:t>Accountability creates a sense of responsibility to take consistent action, turning intentions into concrete results. This constant action over time leads to sustainable weight loss rather than temporary success.</a:t>
            </a:r>
            <a:endParaRPr sz="1500">
              <a:solidFill>
                <a:srgbClr val="434343"/>
              </a:solidFill>
              <a:latin typeface="Lato"/>
              <a:ea typeface="Lato"/>
              <a:cs typeface="Lato"/>
              <a:sym typeface="Lato"/>
            </a:endParaRPr>
          </a:p>
          <a:p>
            <a:pPr indent="0" lvl="0" marL="457200" rtl="0" algn="l">
              <a:spcBef>
                <a:spcPts val="640"/>
              </a:spcBef>
              <a:spcAft>
                <a:spcPts val="0"/>
              </a:spcAft>
              <a:buNone/>
            </a:pPr>
            <a:r>
              <a:t/>
            </a:r>
            <a:endParaRPr sz="1500">
              <a:solidFill>
                <a:srgbClr val="434343"/>
              </a:solidFill>
              <a:latin typeface="Lato"/>
              <a:ea typeface="Lato"/>
              <a:cs typeface="Lato"/>
              <a:sym typeface="Lato"/>
            </a:endParaRPr>
          </a:p>
          <a:p>
            <a:pPr indent="0" lvl="0" marL="457200" rtl="0" algn="l">
              <a:spcBef>
                <a:spcPts val="640"/>
              </a:spcBef>
              <a:spcAft>
                <a:spcPts val="0"/>
              </a:spcAft>
              <a:buNone/>
            </a:pPr>
            <a:r>
              <a:t/>
            </a:r>
            <a:endParaRPr sz="1500">
              <a:solidFill>
                <a:srgbClr val="434343"/>
              </a:solidFill>
              <a:latin typeface="Lato"/>
              <a:ea typeface="Lato"/>
              <a:cs typeface="Lato"/>
              <a:sym typeface="Lato"/>
            </a:endParaRPr>
          </a:p>
        </p:txBody>
      </p:sp>
      <p:pic>
        <p:nvPicPr>
          <p:cNvPr id="346" name="Google Shape;346;p61"/>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0" name="Shape 350"/>
        <p:cNvGrpSpPr/>
        <p:nvPr/>
      </p:nvGrpSpPr>
      <p:grpSpPr>
        <a:xfrm>
          <a:off x="0" y="0"/>
          <a:ext cx="0" cy="0"/>
          <a:chOff x="0" y="0"/>
          <a:chExt cx="0" cy="0"/>
        </a:xfrm>
      </p:grpSpPr>
      <p:sp>
        <p:nvSpPr>
          <p:cNvPr id="351" name="Google Shape;351;p62"/>
          <p:cNvSpPr txBox="1"/>
          <p:nvPr>
            <p:ph type="title"/>
          </p:nvPr>
        </p:nvSpPr>
        <p:spPr>
          <a:xfrm>
            <a:off x="285750" y="858950"/>
            <a:ext cx="8520600" cy="2854800"/>
          </a:xfrm>
          <a:prstGeom prst="rect">
            <a:avLst/>
          </a:prstGeom>
        </p:spPr>
        <p:txBody>
          <a:bodyPr anchorCtr="0" anchor="ctr" bIns="45700" lIns="91425" spcFirstLastPara="1" rIns="91425" wrap="square" tIns="45700">
            <a:normAutofit/>
          </a:bodyPr>
          <a:lstStyle/>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How do you be consistent?</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t/>
            </a:r>
            <a:endParaRPr b="1"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Well if you can’t be consistent yourself, get accountability and support so you stay consistent!</a:t>
            </a:r>
            <a:endParaRPr sz="2500">
              <a:solidFill>
                <a:srgbClr val="434343"/>
              </a:solidFill>
              <a:latin typeface="Lato"/>
              <a:ea typeface="Lato"/>
              <a:cs typeface="Lato"/>
              <a:sym typeface="Lato"/>
            </a:endParaRPr>
          </a:p>
        </p:txBody>
      </p:sp>
      <p:pic>
        <p:nvPicPr>
          <p:cNvPr id="352" name="Google Shape;352;p62"/>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6" name="Shape 356"/>
        <p:cNvGrpSpPr/>
        <p:nvPr/>
      </p:nvGrpSpPr>
      <p:grpSpPr>
        <a:xfrm>
          <a:off x="0" y="0"/>
          <a:ext cx="0" cy="0"/>
          <a:chOff x="0" y="0"/>
          <a:chExt cx="0" cy="0"/>
        </a:xfrm>
      </p:grpSpPr>
      <p:sp>
        <p:nvSpPr>
          <p:cNvPr id="357" name="Google Shape;357;p63"/>
          <p:cNvSpPr txBox="1"/>
          <p:nvPr>
            <p:ph type="title"/>
          </p:nvPr>
        </p:nvSpPr>
        <p:spPr>
          <a:xfrm>
            <a:off x="311700" y="930300"/>
            <a:ext cx="8520600" cy="2854800"/>
          </a:xfrm>
          <a:prstGeom prst="rect">
            <a:avLst/>
          </a:prstGeom>
        </p:spPr>
        <p:txBody>
          <a:bodyPr anchorCtr="0" anchor="ctr" bIns="45700" lIns="91425" spcFirstLastPara="1" rIns="91425" wrap="square" tIns="45700">
            <a:normAutofit/>
          </a:bodyPr>
          <a:lstStyle/>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If an athlete performs better with a coach and accountability in a skill that they are already a professional in, </a:t>
            </a:r>
            <a:r>
              <a:rPr b="1" lang="en-GB" sz="2500">
                <a:solidFill>
                  <a:srgbClr val="434343"/>
                </a:solidFill>
                <a:latin typeface="Lato"/>
                <a:ea typeface="Lato"/>
                <a:cs typeface="Lato"/>
                <a:sym typeface="Lato"/>
              </a:rPr>
              <a:t>imagine what the right accountability could do for you</a:t>
            </a:r>
            <a:r>
              <a:rPr lang="en-GB" sz="2500">
                <a:solidFill>
                  <a:srgbClr val="434343"/>
                </a:solidFill>
                <a:latin typeface="Lato"/>
                <a:ea typeface="Lato"/>
                <a:cs typeface="Lato"/>
                <a:sym typeface="Lato"/>
              </a:rPr>
              <a:t> with something you struggle with?</a:t>
            </a:r>
            <a:endParaRPr sz="2500">
              <a:solidFill>
                <a:srgbClr val="434343"/>
              </a:solidFill>
              <a:latin typeface="Lato"/>
              <a:ea typeface="Lato"/>
              <a:cs typeface="Lato"/>
              <a:sym typeface="Lato"/>
            </a:endParaRPr>
          </a:p>
        </p:txBody>
      </p:sp>
      <p:pic>
        <p:nvPicPr>
          <p:cNvPr id="358" name="Google Shape;358;p63"/>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2" name="Shape 362"/>
        <p:cNvGrpSpPr/>
        <p:nvPr/>
      </p:nvGrpSpPr>
      <p:grpSpPr>
        <a:xfrm>
          <a:off x="0" y="0"/>
          <a:ext cx="0" cy="0"/>
          <a:chOff x="0" y="0"/>
          <a:chExt cx="0" cy="0"/>
        </a:xfrm>
      </p:grpSpPr>
      <p:sp>
        <p:nvSpPr>
          <p:cNvPr id="363" name="Google Shape;363;p64"/>
          <p:cNvSpPr txBox="1"/>
          <p:nvPr>
            <p:ph type="title"/>
          </p:nvPr>
        </p:nvSpPr>
        <p:spPr>
          <a:xfrm>
            <a:off x="311700" y="904375"/>
            <a:ext cx="8520600" cy="2854800"/>
          </a:xfrm>
          <a:prstGeom prst="rect">
            <a:avLst/>
          </a:prstGeom>
        </p:spPr>
        <p:txBody>
          <a:bodyPr anchorCtr="0" anchor="ctr" bIns="45700" lIns="91425" spcFirstLastPara="1" rIns="91425" wrap="square" tIns="45700">
            <a:normAutofit/>
          </a:bodyPr>
          <a:lstStyle/>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Lapse (I feel guilty)</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Relapse (fall off the wagon)</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lang="en-GB" sz="2500">
                <a:solidFill>
                  <a:srgbClr val="434343"/>
                </a:solidFill>
                <a:latin typeface="Lato"/>
                <a:ea typeface="Lato"/>
                <a:cs typeface="Lato"/>
                <a:sym typeface="Lato"/>
              </a:rPr>
              <a:t>Collapse (gain all weight back)</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t/>
            </a:r>
            <a:endParaRPr sz="2500">
              <a:solidFill>
                <a:srgbClr val="434343"/>
              </a:solidFill>
              <a:latin typeface="Lato"/>
              <a:ea typeface="Lato"/>
              <a:cs typeface="Lato"/>
              <a:sym typeface="Lato"/>
            </a:endParaRPr>
          </a:p>
          <a:p>
            <a:pPr indent="0" lvl="0" marL="0" rtl="0" algn="ctr">
              <a:lnSpc>
                <a:spcPct val="115000"/>
              </a:lnSpc>
              <a:spcBef>
                <a:spcPts val="0"/>
              </a:spcBef>
              <a:spcAft>
                <a:spcPts val="0"/>
              </a:spcAft>
              <a:buNone/>
            </a:pPr>
            <a:r>
              <a:rPr i="1" lang="en-GB" sz="2500">
                <a:solidFill>
                  <a:srgbClr val="434343"/>
                </a:solidFill>
                <a:latin typeface="Lato"/>
                <a:ea typeface="Lato"/>
                <a:cs typeface="Lato"/>
                <a:sym typeface="Lato"/>
              </a:rPr>
              <a:t>(This is why coaching is fundamental)</a:t>
            </a:r>
            <a:endParaRPr i="1" sz="2500">
              <a:solidFill>
                <a:srgbClr val="434343"/>
              </a:solidFill>
              <a:latin typeface="Lato"/>
              <a:ea typeface="Lato"/>
              <a:cs typeface="Lato"/>
              <a:sym typeface="Lato"/>
            </a:endParaRPr>
          </a:p>
        </p:txBody>
      </p:sp>
      <p:pic>
        <p:nvPicPr>
          <p:cNvPr id="364" name="Google Shape;364;p64"/>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8" name="Shape 368"/>
        <p:cNvGrpSpPr/>
        <p:nvPr/>
      </p:nvGrpSpPr>
      <p:grpSpPr>
        <a:xfrm>
          <a:off x="0" y="0"/>
          <a:ext cx="0" cy="0"/>
          <a:chOff x="0" y="0"/>
          <a:chExt cx="0" cy="0"/>
        </a:xfrm>
      </p:grpSpPr>
      <p:sp>
        <p:nvSpPr>
          <p:cNvPr id="369" name="Google Shape;369;p65"/>
          <p:cNvSpPr txBox="1"/>
          <p:nvPr>
            <p:ph type="title"/>
          </p:nvPr>
        </p:nvSpPr>
        <p:spPr>
          <a:xfrm>
            <a:off x="311700" y="904375"/>
            <a:ext cx="8520600" cy="28548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2400"/>
              </a:spcBef>
              <a:spcAft>
                <a:spcPts val="0"/>
              </a:spcAft>
              <a:buClr>
                <a:schemeClr val="dk1"/>
              </a:buClr>
              <a:buSzPct val="47826"/>
              <a:buFont typeface="Arial"/>
              <a:buNone/>
            </a:pPr>
            <a:r>
              <a:rPr b="1" lang="en-GB" sz="2300">
                <a:latin typeface="Arial"/>
                <a:ea typeface="Arial"/>
                <a:cs typeface="Arial"/>
                <a:sym typeface="Arial"/>
              </a:rPr>
              <a:t>Want to lose up to 2 stone over the summer?</a:t>
            </a:r>
            <a:br>
              <a:rPr b="1" lang="en-GB" sz="2300">
                <a:latin typeface="Arial"/>
                <a:ea typeface="Arial"/>
                <a:cs typeface="Arial"/>
                <a:sym typeface="Arial"/>
              </a:rPr>
            </a:br>
            <a:br>
              <a:rPr b="1" lang="en-GB" sz="2300">
                <a:latin typeface="Arial"/>
                <a:ea typeface="Arial"/>
                <a:cs typeface="Arial"/>
                <a:sym typeface="Arial"/>
              </a:rPr>
            </a:br>
            <a:r>
              <a:rPr b="1" lang="en-GB" sz="2300">
                <a:latin typeface="Arial"/>
                <a:ea typeface="Arial"/>
                <a:cs typeface="Arial"/>
                <a:sym typeface="Arial"/>
              </a:rPr>
              <a:t>The Simple Fat Loss Formula Helping Women 45+ Lose Weight</a:t>
            </a:r>
            <a:endParaRPr b="1" sz="2300">
              <a:latin typeface="Arial"/>
              <a:ea typeface="Arial"/>
              <a:cs typeface="Arial"/>
              <a:sym typeface="Arial"/>
            </a:endParaRPr>
          </a:p>
          <a:p>
            <a:pPr indent="0" lvl="0" marL="0" rtl="0" algn="l">
              <a:lnSpc>
                <a:spcPct val="115000"/>
              </a:lnSpc>
              <a:spcBef>
                <a:spcPts val="2400"/>
              </a:spcBef>
              <a:spcAft>
                <a:spcPts val="0"/>
              </a:spcAft>
              <a:buClr>
                <a:schemeClr val="dk1"/>
              </a:buClr>
              <a:buSzPct val="47826"/>
              <a:buFont typeface="Arial"/>
              <a:buNone/>
            </a:pPr>
            <a:r>
              <a:rPr b="1" lang="en-GB" sz="2300">
                <a:latin typeface="Arial"/>
                <a:ea typeface="Arial"/>
                <a:cs typeface="Arial"/>
                <a:sym typeface="Arial"/>
              </a:rPr>
              <a:t>The Power Of A Clear Roadmap &amp; Monthly Focus</a:t>
            </a:r>
            <a:endParaRPr b="1" sz="2300">
              <a:latin typeface="Arial"/>
              <a:ea typeface="Arial"/>
              <a:cs typeface="Arial"/>
              <a:sym typeface="Arial"/>
            </a:endParaRPr>
          </a:p>
          <a:p>
            <a:pPr indent="0" lvl="0" marL="0" rtl="0" algn="l">
              <a:lnSpc>
                <a:spcPct val="115000"/>
              </a:lnSpc>
              <a:spcBef>
                <a:spcPts val="2400"/>
              </a:spcBef>
              <a:spcAft>
                <a:spcPts val="0"/>
              </a:spcAft>
              <a:buClr>
                <a:schemeClr val="dk1"/>
              </a:buClr>
              <a:buSzPct val="47826"/>
              <a:buFont typeface="Arial"/>
              <a:buNone/>
            </a:pPr>
            <a:r>
              <a:rPr b="1" lang="en-GB" sz="2300">
                <a:latin typeface="Arial"/>
                <a:ea typeface="Arial"/>
                <a:cs typeface="Arial"/>
                <a:sym typeface="Arial"/>
              </a:rPr>
              <a:t>Accountability &amp; Support That Keeps You Consistent</a:t>
            </a:r>
            <a:endParaRPr b="1" sz="2300">
              <a:latin typeface="Arial"/>
              <a:ea typeface="Arial"/>
              <a:cs typeface="Arial"/>
              <a:sym typeface="Arial"/>
            </a:endParaRPr>
          </a:p>
          <a:p>
            <a:pPr indent="0" lvl="0" marL="0" rtl="0" algn="ctr">
              <a:lnSpc>
                <a:spcPct val="115000"/>
              </a:lnSpc>
              <a:spcBef>
                <a:spcPts val="600"/>
              </a:spcBef>
              <a:spcAft>
                <a:spcPts val="0"/>
              </a:spcAft>
              <a:buNone/>
            </a:pPr>
            <a:r>
              <a:t/>
            </a:r>
            <a:endParaRPr sz="2500">
              <a:solidFill>
                <a:srgbClr val="434343"/>
              </a:solidFill>
              <a:latin typeface="Lato"/>
              <a:ea typeface="Lato"/>
              <a:cs typeface="Lato"/>
              <a:sym typeface="Lato"/>
            </a:endParaRPr>
          </a:p>
        </p:txBody>
      </p:sp>
      <p:pic>
        <p:nvPicPr>
          <p:cNvPr id="370" name="Google Shape;370;p65"/>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4" name="Shape 374"/>
        <p:cNvGrpSpPr/>
        <p:nvPr/>
      </p:nvGrpSpPr>
      <p:grpSpPr>
        <a:xfrm>
          <a:off x="0" y="0"/>
          <a:ext cx="0" cy="0"/>
          <a:chOff x="0" y="0"/>
          <a:chExt cx="0" cy="0"/>
        </a:xfrm>
      </p:grpSpPr>
      <p:sp>
        <p:nvSpPr>
          <p:cNvPr id="375" name="Google Shape;375;p66"/>
          <p:cNvSpPr txBox="1"/>
          <p:nvPr>
            <p:ph type="title"/>
          </p:nvPr>
        </p:nvSpPr>
        <p:spPr>
          <a:xfrm>
            <a:off x="311700" y="640050"/>
            <a:ext cx="8520600" cy="33852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GB" sz="4000">
                <a:solidFill>
                  <a:srgbClr val="434343"/>
                </a:solidFill>
                <a:latin typeface="Lato"/>
                <a:ea typeface="Lato"/>
                <a:cs typeface="Lato"/>
                <a:sym typeface="Lato"/>
              </a:rPr>
              <a:t>In reality you have 3 options moving forward</a:t>
            </a:r>
            <a:br>
              <a:rPr b="1" lang="en-GB" sz="4000">
                <a:solidFill>
                  <a:srgbClr val="434343"/>
                </a:solidFill>
                <a:latin typeface="Lato"/>
                <a:ea typeface="Lato"/>
                <a:cs typeface="Lato"/>
                <a:sym typeface="Lato"/>
              </a:rPr>
            </a:br>
            <a:endParaRPr sz="4000">
              <a:solidFill>
                <a:srgbClr val="434343"/>
              </a:solidFill>
              <a:latin typeface="Lato"/>
              <a:ea typeface="Lato"/>
              <a:cs typeface="Lato"/>
              <a:sym typeface="Lato"/>
            </a:endParaRPr>
          </a:p>
        </p:txBody>
      </p:sp>
      <p:pic>
        <p:nvPicPr>
          <p:cNvPr id="376" name="Google Shape;376;p66"/>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0" name="Shape 380"/>
        <p:cNvGrpSpPr/>
        <p:nvPr/>
      </p:nvGrpSpPr>
      <p:grpSpPr>
        <a:xfrm>
          <a:off x="0" y="0"/>
          <a:ext cx="0" cy="0"/>
          <a:chOff x="0" y="0"/>
          <a:chExt cx="0" cy="0"/>
        </a:xfrm>
      </p:grpSpPr>
      <p:sp>
        <p:nvSpPr>
          <p:cNvPr id="381" name="Google Shape;381;p67"/>
          <p:cNvSpPr txBox="1"/>
          <p:nvPr>
            <p:ph type="title"/>
          </p:nvPr>
        </p:nvSpPr>
        <p:spPr>
          <a:xfrm>
            <a:off x="311700" y="640050"/>
            <a:ext cx="8520600" cy="33852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GB" sz="4000">
                <a:solidFill>
                  <a:srgbClr val="434343"/>
                </a:solidFill>
                <a:latin typeface="Lato"/>
                <a:ea typeface="Lato"/>
                <a:cs typeface="Lato"/>
                <a:sym typeface="Lato"/>
              </a:rPr>
              <a:t>Option # 1</a:t>
            </a:r>
            <a:br>
              <a:rPr b="1" lang="en-GB" sz="4000">
                <a:solidFill>
                  <a:srgbClr val="434343"/>
                </a:solidFill>
                <a:latin typeface="Lato"/>
                <a:ea typeface="Lato"/>
                <a:cs typeface="Lato"/>
                <a:sym typeface="Lato"/>
              </a:rPr>
            </a:br>
            <a:br>
              <a:rPr b="1" lang="en-GB" sz="4000">
                <a:solidFill>
                  <a:srgbClr val="434343"/>
                </a:solidFill>
                <a:latin typeface="Lato"/>
                <a:ea typeface="Lato"/>
                <a:cs typeface="Lato"/>
                <a:sym typeface="Lato"/>
              </a:rPr>
            </a:br>
            <a:r>
              <a:rPr b="1" lang="en-GB" sz="4000">
                <a:solidFill>
                  <a:srgbClr val="434343"/>
                </a:solidFill>
                <a:latin typeface="Lato"/>
                <a:ea typeface="Lato"/>
                <a:cs typeface="Lato"/>
                <a:sym typeface="Lato"/>
              </a:rPr>
              <a:t>Continue on after the reset on your own</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a:p>
            <a:pPr indent="0" lvl="0" marL="0" rtl="0" algn="ctr">
              <a:spcBef>
                <a:spcPts val="0"/>
              </a:spcBef>
              <a:spcAft>
                <a:spcPts val="0"/>
              </a:spcAft>
              <a:buNone/>
            </a:pPr>
            <a:r>
              <a:rPr b="1" lang="en-GB" sz="4000">
                <a:solidFill>
                  <a:srgbClr val="434343"/>
                </a:solidFill>
                <a:latin typeface="Lato"/>
                <a:ea typeface="Lato"/>
                <a:cs typeface="Lato"/>
                <a:sym typeface="Lato"/>
              </a:rPr>
              <a:t>But will you stay consistent? </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p:txBody>
      </p:sp>
      <p:pic>
        <p:nvPicPr>
          <p:cNvPr id="382" name="Google Shape;382;p67"/>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6" name="Shape 386"/>
        <p:cNvGrpSpPr/>
        <p:nvPr/>
      </p:nvGrpSpPr>
      <p:grpSpPr>
        <a:xfrm>
          <a:off x="0" y="0"/>
          <a:ext cx="0" cy="0"/>
          <a:chOff x="0" y="0"/>
          <a:chExt cx="0" cy="0"/>
        </a:xfrm>
      </p:grpSpPr>
      <p:sp>
        <p:nvSpPr>
          <p:cNvPr id="387" name="Google Shape;387;p68"/>
          <p:cNvSpPr txBox="1"/>
          <p:nvPr>
            <p:ph type="title"/>
          </p:nvPr>
        </p:nvSpPr>
        <p:spPr>
          <a:xfrm>
            <a:off x="242350" y="1206425"/>
            <a:ext cx="8520600" cy="33852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GB" sz="4000">
                <a:solidFill>
                  <a:srgbClr val="434343"/>
                </a:solidFill>
                <a:latin typeface="Lato"/>
                <a:ea typeface="Lato"/>
                <a:cs typeface="Lato"/>
                <a:sym typeface="Lato"/>
              </a:rPr>
              <a:t>Option # 2</a:t>
            </a:r>
            <a:br>
              <a:rPr b="1" lang="en-GB" sz="4000">
                <a:solidFill>
                  <a:srgbClr val="434343"/>
                </a:solidFill>
                <a:latin typeface="Lato"/>
                <a:ea typeface="Lato"/>
                <a:cs typeface="Lato"/>
                <a:sym typeface="Lato"/>
              </a:rPr>
            </a:br>
            <a:br>
              <a:rPr b="1" lang="en-GB" sz="4000">
                <a:solidFill>
                  <a:srgbClr val="434343"/>
                </a:solidFill>
                <a:latin typeface="Lato"/>
                <a:ea typeface="Lato"/>
                <a:cs typeface="Lato"/>
                <a:sym typeface="Lato"/>
              </a:rPr>
            </a:br>
            <a:r>
              <a:rPr b="1" lang="en-GB" sz="4000">
                <a:solidFill>
                  <a:srgbClr val="434343"/>
                </a:solidFill>
                <a:latin typeface="Lato"/>
                <a:ea typeface="Lato"/>
                <a:cs typeface="Lato"/>
                <a:sym typeface="Lato"/>
              </a:rPr>
              <a:t>Do an expensive detox</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a:p>
            <a:pPr indent="0" lvl="0" marL="0" rtl="0" algn="ctr">
              <a:spcBef>
                <a:spcPts val="0"/>
              </a:spcBef>
              <a:spcAft>
                <a:spcPts val="0"/>
              </a:spcAft>
              <a:buNone/>
            </a:pPr>
            <a:r>
              <a:rPr b="1" lang="en-GB" sz="4000">
                <a:solidFill>
                  <a:srgbClr val="434343"/>
                </a:solidFill>
                <a:latin typeface="Lato"/>
                <a:ea typeface="Lato"/>
                <a:cs typeface="Lato"/>
                <a:sym typeface="Lato"/>
              </a:rPr>
              <a:t>Lose weight and gain it back once you start eating normally again </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p:txBody>
      </p:sp>
      <p:pic>
        <p:nvPicPr>
          <p:cNvPr id="388" name="Google Shape;388;p68"/>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2" name="Shape 392"/>
        <p:cNvGrpSpPr/>
        <p:nvPr/>
      </p:nvGrpSpPr>
      <p:grpSpPr>
        <a:xfrm>
          <a:off x="0" y="0"/>
          <a:ext cx="0" cy="0"/>
          <a:chOff x="0" y="0"/>
          <a:chExt cx="0" cy="0"/>
        </a:xfrm>
      </p:grpSpPr>
      <p:sp>
        <p:nvSpPr>
          <p:cNvPr id="393" name="Google Shape;393;p69"/>
          <p:cNvSpPr txBox="1"/>
          <p:nvPr>
            <p:ph type="title"/>
          </p:nvPr>
        </p:nvSpPr>
        <p:spPr>
          <a:xfrm>
            <a:off x="219225" y="1758300"/>
            <a:ext cx="8520600" cy="33852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GB" sz="4000">
                <a:solidFill>
                  <a:srgbClr val="434343"/>
                </a:solidFill>
                <a:latin typeface="Lato"/>
                <a:ea typeface="Lato"/>
                <a:cs typeface="Lato"/>
                <a:sym typeface="Lato"/>
              </a:rPr>
              <a:t>Option # 3</a:t>
            </a:r>
            <a:br>
              <a:rPr b="1" lang="en-GB" sz="4000">
                <a:solidFill>
                  <a:srgbClr val="434343"/>
                </a:solidFill>
                <a:latin typeface="Lato"/>
                <a:ea typeface="Lato"/>
                <a:cs typeface="Lato"/>
                <a:sym typeface="Lato"/>
              </a:rPr>
            </a:br>
            <a:br>
              <a:rPr b="1" lang="en-GB" sz="4000">
                <a:solidFill>
                  <a:srgbClr val="434343"/>
                </a:solidFill>
                <a:latin typeface="Lato"/>
                <a:ea typeface="Lato"/>
                <a:cs typeface="Lato"/>
                <a:sym typeface="Lato"/>
              </a:rPr>
            </a:br>
            <a:r>
              <a:rPr b="1" lang="en-GB" sz="4000">
                <a:solidFill>
                  <a:srgbClr val="434343"/>
                </a:solidFill>
                <a:latin typeface="Lato"/>
                <a:ea typeface="Lato"/>
                <a:cs typeface="Lato"/>
                <a:sym typeface="Lato"/>
              </a:rPr>
              <a:t>Invest and join our brand new WLA summer challenge. </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a:p>
            <a:pPr indent="0" lvl="0" marL="0" rtl="0" algn="ctr">
              <a:spcBef>
                <a:spcPts val="0"/>
              </a:spcBef>
              <a:spcAft>
                <a:spcPts val="0"/>
              </a:spcAft>
              <a:buNone/>
            </a:pPr>
            <a:r>
              <a:rPr b="1" lang="en-GB" sz="4000">
                <a:solidFill>
                  <a:srgbClr val="434343"/>
                </a:solidFill>
                <a:latin typeface="Lato"/>
                <a:ea typeface="Lato"/>
                <a:cs typeface="Lato"/>
                <a:sym typeface="Lato"/>
              </a:rPr>
              <a:t>Get every single tool needed to lose up to 2 stone in 12 weeks </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a:p>
            <a:pPr indent="0" lvl="0" marL="0" rtl="0" algn="l">
              <a:spcBef>
                <a:spcPts val="0"/>
              </a:spcBef>
              <a:spcAft>
                <a:spcPts val="0"/>
              </a:spcAft>
              <a:buNone/>
            </a:pPr>
            <a:r>
              <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a:p>
            <a:pPr indent="0" lvl="0" marL="0" rtl="0" algn="ctr">
              <a:spcBef>
                <a:spcPts val="0"/>
              </a:spcBef>
              <a:spcAft>
                <a:spcPts val="0"/>
              </a:spcAft>
              <a:buNone/>
            </a:pPr>
            <a:r>
              <a:t/>
            </a:r>
            <a:endParaRPr b="1" sz="4000">
              <a:solidFill>
                <a:srgbClr val="434343"/>
              </a:solidFill>
              <a:latin typeface="Lato"/>
              <a:ea typeface="Lato"/>
              <a:cs typeface="Lato"/>
              <a:sym typeface="Lato"/>
            </a:endParaRPr>
          </a:p>
        </p:txBody>
      </p:sp>
      <p:pic>
        <p:nvPicPr>
          <p:cNvPr id="394" name="Google Shape;394;p69"/>
          <p:cNvPicPr preferRelativeResize="0"/>
          <p:nvPr/>
        </p:nvPicPr>
        <p:blipFill>
          <a:blip r:embed="rId3">
            <a:alphaModFix/>
          </a:blip>
          <a:stretch>
            <a:fillRect/>
          </a:stretch>
        </p:blipFill>
        <p:spPr>
          <a:xfrm>
            <a:off x="8187575" y="4278225"/>
            <a:ext cx="644725" cy="6447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398" name="Shape 398"/>
        <p:cNvGrpSpPr/>
        <p:nvPr/>
      </p:nvGrpSpPr>
      <p:grpSpPr>
        <a:xfrm>
          <a:off x="0" y="0"/>
          <a:ext cx="0" cy="0"/>
          <a:chOff x="0" y="0"/>
          <a:chExt cx="0" cy="0"/>
        </a:xfrm>
      </p:grpSpPr>
      <p:sp>
        <p:nvSpPr>
          <p:cNvPr id="399" name="Google Shape;399;p70"/>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n-GB" sz="1700" u="none" cap="none" strike="noStrike">
                <a:solidFill>
                  <a:srgbClr val="003060"/>
                </a:solidFill>
                <a:latin typeface="Alegreya Sans"/>
                <a:ea typeface="Alegreya Sans"/>
                <a:cs typeface="Alegreya Sans"/>
                <a:sym typeface="Alegreya Sans"/>
              </a:rPr>
              <a:t>Today I want to </a:t>
            </a:r>
            <a:r>
              <a:rPr lang="en-GB" sz="1700">
                <a:solidFill>
                  <a:srgbClr val="003060"/>
                </a:solidFill>
                <a:latin typeface="Alegreya Sans"/>
                <a:ea typeface="Alegreya Sans"/>
                <a:cs typeface="Alegreya Sans"/>
                <a:sym typeface="Alegreya Sans"/>
              </a:rPr>
              <a:t>invite</a:t>
            </a:r>
            <a:r>
              <a:rPr lang="en-GB" sz="1700">
                <a:solidFill>
                  <a:srgbClr val="003060"/>
                </a:solidFill>
                <a:latin typeface="Alegreya Sans"/>
                <a:ea typeface="Alegreya Sans"/>
                <a:cs typeface="Alegreya Sans"/>
                <a:sym typeface="Alegreya Sans"/>
              </a:rPr>
              <a:t> to our brand new</a:t>
            </a:r>
            <a:endParaRPr/>
          </a:p>
          <a:p>
            <a:pPr indent="0" lvl="0" marL="0" marR="0" rtl="0" algn="ctr">
              <a:spcBef>
                <a:spcPts val="1400"/>
              </a:spcBef>
              <a:spcAft>
                <a:spcPts val="0"/>
              </a:spcAft>
              <a:buNone/>
            </a:pPr>
            <a:r>
              <a:rPr b="1" i="1" lang="en-GB" sz="2600">
                <a:solidFill>
                  <a:srgbClr val="F79F83"/>
                </a:solidFill>
                <a:latin typeface="Libre Baskerville"/>
                <a:ea typeface="Libre Baskerville"/>
                <a:cs typeface="Libre Baskerville"/>
                <a:sym typeface="Libre Baskerville"/>
              </a:rPr>
              <a:t>The WLA 12 Week Summer Challenge</a:t>
            </a:r>
            <a:endParaRPr/>
          </a:p>
          <a:p>
            <a:pPr indent="0" lvl="0" marL="0" marR="0" rtl="0" algn="ctr">
              <a:spcBef>
                <a:spcPts val="400"/>
              </a:spcBef>
              <a:spcAft>
                <a:spcPts val="0"/>
              </a:spcAft>
              <a:buNone/>
            </a:pPr>
            <a:r>
              <a:rPr b="0" i="1" lang="en-GB" sz="1600" u="none" cap="none" strike="noStrike">
                <a:solidFill>
                  <a:srgbClr val="F79F83"/>
                </a:solidFill>
                <a:latin typeface="Libre Baskerville"/>
                <a:ea typeface="Libre Baskerville"/>
                <a:cs typeface="Libre Baskerville"/>
                <a:sym typeface="Libre Baskerville"/>
              </a:rPr>
              <a:t>(The WLA's new game-changing 12-week weight loss program)</a:t>
            </a:r>
            <a:br>
              <a:rPr b="0" i="1" lang="en-GB" sz="1600" u="none" cap="none" strike="noStrike">
                <a:solidFill>
                  <a:srgbClr val="F79F83"/>
                </a:solidFill>
                <a:latin typeface="Libre Baskerville"/>
                <a:ea typeface="Libre Baskerville"/>
                <a:cs typeface="Libre Baskerville"/>
                <a:sym typeface="Libre Baskerville"/>
              </a:rPr>
            </a:br>
            <a:endParaRPr b="0" i="1" sz="1600" u="none" cap="none" strike="noStrike">
              <a:solidFill>
                <a:srgbClr val="F79F83"/>
              </a:solidFill>
              <a:latin typeface="Libre Baskerville"/>
              <a:ea typeface="Libre Baskerville"/>
              <a:cs typeface="Libre Baskerville"/>
              <a:sym typeface="Libre Baskerville"/>
            </a:endParaRPr>
          </a:p>
          <a:p>
            <a:pPr indent="0" lvl="0" marL="0" marR="0" rtl="0" algn="ctr">
              <a:spcBef>
                <a:spcPts val="400"/>
              </a:spcBef>
              <a:spcAft>
                <a:spcPts val="0"/>
              </a:spcAft>
              <a:buNone/>
            </a:pPr>
            <a:r>
              <a:rPr i="1" lang="en-GB" sz="1600">
                <a:solidFill>
                  <a:srgbClr val="F79F83"/>
                </a:solidFill>
                <a:latin typeface="Libre Baskerville"/>
                <a:ea typeface="Libre Baskerville"/>
                <a:cs typeface="Libre Baskerville"/>
                <a:sym typeface="Libre Baskerville"/>
              </a:rPr>
              <a:t>Kick off Monday 8th June</a:t>
            </a:r>
            <a:endParaRPr i="1" sz="1600">
              <a:solidFill>
                <a:srgbClr val="F79F83"/>
              </a:solidFill>
              <a:latin typeface="Libre Baskerville"/>
              <a:ea typeface="Libre Baskerville"/>
              <a:cs typeface="Libre Baskerville"/>
              <a:sym typeface="Libre Baskerville"/>
            </a:endParaRPr>
          </a:p>
          <a:p>
            <a:pPr indent="0" lvl="0" marL="0" marR="0" rtl="0" algn="ctr">
              <a:spcBef>
                <a:spcPts val="400"/>
              </a:spcBef>
              <a:spcAft>
                <a:spcPts val="0"/>
              </a:spcAft>
              <a:buNone/>
            </a:pPr>
            <a:r>
              <a:t/>
            </a:r>
            <a:endParaRPr sz="1800">
              <a:solidFill>
                <a:srgbClr val="003060"/>
              </a:solidFill>
              <a:latin typeface="Alegreya Sans"/>
              <a:ea typeface="Alegreya Sans"/>
              <a:cs typeface="Alegreya Sans"/>
              <a:sym typeface="Alegreya Sans"/>
            </a:endParaRPr>
          </a:p>
          <a:p>
            <a:pPr indent="0" lvl="0" marL="0" marR="0" rtl="0" algn="ctr">
              <a:spcBef>
                <a:spcPts val="400"/>
              </a:spcBef>
              <a:spcAft>
                <a:spcPts val="0"/>
              </a:spcAft>
              <a:buNone/>
            </a:pPr>
            <a:r>
              <a:rPr lang="en-GB" sz="1800">
                <a:solidFill>
                  <a:srgbClr val="003060"/>
                </a:solidFill>
                <a:latin typeface="Alegreya Sans"/>
                <a:ea typeface="Alegreya Sans"/>
                <a:cs typeface="Alegreya Sans"/>
                <a:sym typeface="Alegreya Sans"/>
              </a:rPr>
              <a:t>Lose up to 2 stone this summer</a:t>
            </a:r>
            <a:endParaRPr sz="1800">
              <a:solidFill>
                <a:srgbClr val="003060"/>
              </a:solidFill>
              <a:latin typeface="Alegreya Sans"/>
              <a:ea typeface="Alegreya Sans"/>
              <a:cs typeface="Alegreya Sans"/>
              <a:sym typeface="Alegreya Sans"/>
            </a:endParaRPr>
          </a:p>
          <a:p>
            <a:pPr indent="0" lvl="0" marL="0" marR="0" rtl="0" algn="ctr">
              <a:spcBef>
                <a:spcPts val="400"/>
              </a:spcBef>
              <a:spcAft>
                <a:spcPts val="0"/>
              </a:spcAft>
              <a:buNone/>
            </a:pPr>
            <a:r>
              <a:t/>
            </a:r>
            <a:endParaRPr sz="1800">
              <a:solidFill>
                <a:srgbClr val="003060"/>
              </a:solidFill>
              <a:latin typeface="Alegreya Sans"/>
              <a:ea typeface="Alegreya Sans"/>
              <a:cs typeface="Alegreya Sans"/>
              <a:sym typeface="Alegreya Sans"/>
            </a:endParaRPr>
          </a:p>
          <a:p>
            <a:pPr indent="0" lvl="0" marL="0" marR="0" rtl="0" algn="ctr">
              <a:spcBef>
                <a:spcPts val="400"/>
              </a:spcBef>
              <a:spcAft>
                <a:spcPts val="0"/>
              </a:spcAft>
              <a:buNone/>
            </a:pPr>
            <a:r>
              <a:rPr lang="en-GB" sz="1800">
                <a:solidFill>
                  <a:srgbClr val="003060"/>
                </a:solidFill>
                <a:latin typeface="Alegreya Sans"/>
                <a:ea typeface="Alegreya Sans"/>
                <a:cs typeface="Alegreya Sans"/>
                <a:sym typeface="Alegreya Sans"/>
              </a:rPr>
              <a:t>Feel confident in your clothes again</a:t>
            </a:r>
            <a:endParaRPr sz="1800">
              <a:solidFill>
                <a:srgbClr val="003060"/>
              </a:solidFill>
              <a:latin typeface="Alegreya Sans"/>
              <a:ea typeface="Alegreya Sans"/>
              <a:cs typeface="Alegreya Sans"/>
              <a:sym typeface="Alegreya Sans"/>
            </a:endParaRPr>
          </a:p>
          <a:p>
            <a:pPr indent="0" lvl="0" marL="0" marR="0" rtl="0" algn="ctr">
              <a:spcBef>
                <a:spcPts val="400"/>
              </a:spcBef>
              <a:spcAft>
                <a:spcPts val="0"/>
              </a:spcAft>
              <a:buNone/>
            </a:pPr>
            <a:br>
              <a:rPr lang="en-GB" sz="1800">
                <a:solidFill>
                  <a:srgbClr val="003060"/>
                </a:solidFill>
                <a:latin typeface="Alegreya Sans"/>
                <a:ea typeface="Alegreya Sans"/>
                <a:cs typeface="Alegreya Sans"/>
                <a:sym typeface="Alegreya Sans"/>
              </a:rPr>
            </a:br>
            <a:r>
              <a:rPr lang="en-GB" sz="1800">
                <a:solidFill>
                  <a:srgbClr val="003060"/>
                </a:solidFill>
                <a:latin typeface="Alegreya Sans"/>
                <a:ea typeface="Alegreya Sans"/>
                <a:cs typeface="Alegreya Sans"/>
                <a:sym typeface="Alegreya Sans"/>
              </a:rPr>
              <a:t>Take back control around food without miserable diets</a:t>
            </a:r>
            <a:endParaRPr sz="1800">
              <a:solidFill>
                <a:srgbClr val="003060"/>
              </a:solidFill>
              <a:latin typeface="Alegreya Sans"/>
              <a:ea typeface="Alegreya Sans"/>
              <a:cs typeface="Alegreya Sans"/>
              <a:sym typeface="Alegreya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03" name="Shape 403"/>
        <p:cNvGrpSpPr/>
        <p:nvPr/>
      </p:nvGrpSpPr>
      <p:grpSpPr>
        <a:xfrm>
          <a:off x="0" y="0"/>
          <a:ext cx="0" cy="0"/>
          <a:chOff x="0" y="0"/>
          <a:chExt cx="0" cy="0"/>
        </a:xfrm>
      </p:grpSpPr>
      <p:sp>
        <p:nvSpPr>
          <p:cNvPr id="404" name="Google Shape;404;p71"/>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1400"/>
              </a:spcBef>
              <a:spcAft>
                <a:spcPts val="0"/>
              </a:spcAft>
              <a:buNone/>
            </a:pPr>
            <a:r>
              <a:rPr b="1" i="1" lang="en-GB" sz="2600">
                <a:solidFill>
                  <a:srgbClr val="F79F83"/>
                </a:solidFill>
                <a:latin typeface="Libre Baskerville"/>
                <a:ea typeface="Libre Baskerville"/>
                <a:cs typeface="Libre Baskerville"/>
                <a:sym typeface="Libre Baskerville"/>
              </a:rPr>
              <a:t>BIGGEST BONUS OF THE YEAR</a:t>
            </a:r>
            <a:br>
              <a:rPr b="1" i="1" lang="en-GB" sz="2600">
                <a:solidFill>
                  <a:srgbClr val="F79F83"/>
                </a:solidFill>
                <a:latin typeface="Libre Baskerville"/>
                <a:ea typeface="Libre Baskerville"/>
                <a:cs typeface="Libre Baskerville"/>
                <a:sym typeface="Libre Baskerville"/>
              </a:rPr>
            </a:br>
            <a:endParaRPr/>
          </a:p>
          <a:p>
            <a:pPr indent="0" lvl="0" marL="0" marR="0" rtl="0" algn="ctr">
              <a:spcBef>
                <a:spcPts val="400"/>
              </a:spcBef>
              <a:spcAft>
                <a:spcPts val="0"/>
              </a:spcAft>
              <a:buNone/>
            </a:pPr>
            <a:r>
              <a:rPr b="1" lang="en-GB" sz="1600">
                <a:solidFill>
                  <a:schemeClr val="dk2"/>
                </a:solidFill>
                <a:latin typeface="Libre Baskerville"/>
                <a:ea typeface="Libre Baskerville"/>
                <a:cs typeface="Libre Baskerville"/>
                <a:sym typeface="Libre Baskerville"/>
              </a:rPr>
              <a:t>Join our brand new WLA 12 Week Summer Challenge </a:t>
            </a:r>
            <a:endParaRPr b="1" sz="1600">
              <a:solidFill>
                <a:schemeClr val="dk2"/>
              </a:solidFill>
              <a:latin typeface="Libre Baskerville"/>
              <a:ea typeface="Libre Baskerville"/>
              <a:cs typeface="Libre Baskerville"/>
              <a:sym typeface="Libre Baskerville"/>
            </a:endParaRPr>
          </a:p>
          <a:p>
            <a:pPr indent="0" lvl="0" marL="0" marR="0" rtl="0" algn="ctr">
              <a:spcBef>
                <a:spcPts val="400"/>
              </a:spcBef>
              <a:spcAft>
                <a:spcPts val="0"/>
              </a:spcAft>
              <a:buNone/>
            </a:pPr>
            <a:r>
              <a:rPr b="1" lang="en-GB" sz="1600">
                <a:solidFill>
                  <a:schemeClr val="dk2"/>
                </a:solidFill>
                <a:latin typeface="Libre Baskerville"/>
                <a:ea typeface="Libre Baskerville"/>
                <a:cs typeface="Libre Baskerville"/>
                <a:sym typeface="Libre Baskerville"/>
              </a:rPr>
              <a:t>+ get a whole year of coaching INCLUDED for FREE</a:t>
            </a:r>
            <a:endParaRPr b="1" sz="1800">
              <a:solidFill>
                <a:schemeClr val="dk2"/>
              </a:solidFill>
              <a:latin typeface="Alegreya Sans"/>
              <a:ea typeface="Alegreya Sans"/>
              <a:cs typeface="Alegreya Sans"/>
              <a:sym typeface="Alegreya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08" name="Shape 408"/>
        <p:cNvGrpSpPr/>
        <p:nvPr/>
      </p:nvGrpSpPr>
      <p:grpSpPr>
        <a:xfrm>
          <a:off x="0" y="0"/>
          <a:ext cx="0" cy="0"/>
          <a:chOff x="0" y="0"/>
          <a:chExt cx="0" cy="0"/>
        </a:xfrm>
      </p:grpSpPr>
      <p:sp>
        <p:nvSpPr>
          <p:cNvPr id="409" name="Google Shape;409;p72"/>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400"/>
              </a:spcBef>
              <a:spcAft>
                <a:spcPts val="0"/>
              </a:spcAft>
              <a:buNone/>
            </a:pPr>
            <a:r>
              <a:t/>
            </a:r>
            <a:endParaRPr sz="1800">
              <a:solidFill>
                <a:srgbClr val="003060"/>
              </a:solidFill>
              <a:latin typeface="Alegreya Sans"/>
              <a:ea typeface="Alegreya Sans"/>
              <a:cs typeface="Alegreya Sans"/>
              <a:sym typeface="Alegreya Sans"/>
            </a:endParaRPr>
          </a:p>
        </p:txBody>
      </p:sp>
      <p:pic>
        <p:nvPicPr>
          <p:cNvPr id="410" name="Google Shape;410;p72" title="Screenshot 2026-06-04 at 15.48.55.png"/>
          <p:cNvPicPr preferRelativeResize="0"/>
          <p:nvPr/>
        </p:nvPicPr>
        <p:blipFill>
          <a:blip r:embed="rId3">
            <a:alphaModFix/>
          </a:blip>
          <a:stretch>
            <a:fillRect/>
          </a:stretch>
        </p:blipFill>
        <p:spPr>
          <a:xfrm>
            <a:off x="0" y="677439"/>
            <a:ext cx="9144000" cy="378862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14" name="Shape 414"/>
        <p:cNvGrpSpPr/>
        <p:nvPr/>
      </p:nvGrpSpPr>
      <p:grpSpPr>
        <a:xfrm>
          <a:off x="0" y="0"/>
          <a:ext cx="0" cy="0"/>
          <a:chOff x="0" y="0"/>
          <a:chExt cx="0" cy="0"/>
        </a:xfrm>
      </p:grpSpPr>
      <p:sp>
        <p:nvSpPr>
          <p:cNvPr id="415" name="Google Shape;415;p73"/>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2800">
                <a:solidFill>
                  <a:srgbClr val="003060"/>
                </a:solidFill>
                <a:latin typeface="Libre Baskerville"/>
                <a:ea typeface="Libre Baskerville"/>
                <a:cs typeface="Libre Baskerville"/>
                <a:sym typeface="Libre Baskerville"/>
              </a:rPr>
              <a:t>The WLA Summer Challenge </a:t>
            </a:r>
            <a:endParaRPr/>
          </a:p>
          <a:p>
            <a:pPr indent="0" lvl="0" marL="0" marR="0" rtl="0" algn="ctr">
              <a:spcBef>
                <a:spcPts val="400"/>
              </a:spcBef>
              <a:spcAft>
                <a:spcPts val="0"/>
              </a:spcAft>
              <a:buNone/>
            </a:pPr>
            <a:r>
              <a:rPr b="1" i="1" lang="en-GB" sz="1800">
                <a:solidFill>
                  <a:srgbClr val="F79F83"/>
                </a:solidFill>
                <a:latin typeface="Libre Baskerville"/>
                <a:ea typeface="Libre Baskerville"/>
                <a:cs typeface="Libre Baskerville"/>
                <a:sym typeface="Libre Baskerville"/>
              </a:rPr>
              <a:t>To help you lose up to 2 stone</a:t>
            </a:r>
            <a:endParaRPr/>
          </a:p>
        </p:txBody>
      </p:sp>
      <p:sp>
        <p:nvSpPr>
          <p:cNvPr id="416" name="Google Shape;416;p73"/>
          <p:cNvSpPr/>
          <p:nvPr/>
        </p:nvSpPr>
        <p:spPr>
          <a:xfrm>
            <a:off x="652000" y="1300000"/>
            <a:ext cx="2499900" cy="3264900"/>
          </a:xfrm>
          <a:prstGeom prst="roundRect">
            <a:avLst>
              <a:gd fmla="val 16667" name="adj"/>
            </a:avLst>
          </a:prstGeom>
          <a:solidFill>
            <a:srgbClr val="EFE6DE"/>
          </a:solidFill>
          <a:ln cap="flat" cmpd="sng" w="19050">
            <a:solidFill>
              <a:srgbClr val="F79F83"/>
            </a:solidFill>
            <a:prstDash val="solid"/>
            <a:round/>
            <a:headEnd len="sm" w="sm" type="none"/>
            <a:tailEnd len="sm" w="sm" type="none"/>
          </a:ln>
        </p:spPr>
        <p:txBody>
          <a:bodyPr anchorCtr="0" anchor="t" bIns="203200" lIns="203200" spcFirstLastPara="1" rIns="203200" wrap="square" tIns="203200">
            <a:noAutofit/>
          </a:bodyPr>
          <a:lstStyle/>
          <a:p>
            <a:pPr indent="0" lvl="0" marL="0" marR="0" rtl="0" algn="ctr">
              <a:spcBef>
                <a:spcPts val="0"/>
              </a:spcBef>
              <a:spcAft>
                <a:spcPts val="0"/>
              </a:spcAft>
              <a:buNone/>
            </a:pPr>
            <a:r>
              <a:rPr b="1" i="0" lang="en-GB" sz="1100" u="none" cap="none" strike="noStrike">
                <a:solidFill>
                  <a:srgbClr val="F79F83"/>
                </a:solidFill>
                <a:latin typeface="Alegreya Sans"/>
                <a:ea typeface="Alegreya Sans"/>
                <a:cs typeface="Alegreya Sans"/>
                <a:sym typeface="Alegreya Sans"/>
              </a:rPr>
              <a:t>Step 1</a:t>
            </a:r>
            <a:endParaRPr/>
          </a:p>
          <a:p>
            <a:pPr indent="0" lvl="0" marL="0" marR="0" rtl="0" algn="ctr">
              <a:spcBef>
                <a:spcPts val="600"/>
              </a:spcBef>
              <a:spcAft>
                <a:spcPts val="0"/>
              </a:spcAft>
              <a:buNone/>
            </a:pPr>
            <a:r>
              <a:rPr b="1" i="0" lang="en-GB" sz="1700" u="none" cap="none" strike="noStrike">
                <a:solidFill>
                  <a:srgbClr val="003060"/>
                </a:solidFill>
                <a:latin typeface="Libre Baskerville"/>
                <a:ea typeface="Libre Baskerville"/>
                <a:cs typeface="Libre Baskerville"/>
                <a:sym typeface="Libre Baskerville"/>
              </a:rPr>
              <a:t>The WLA Nutrition Formula</a:t>
            </a:r>
            <a:endParaRPr/>
          </a:p>
          <a:p>
            <a:pPr indent="0" lvl="0" marL="0" marR="0" rtl="0" algn="ctr">
              <a:spcBef>
                <a:spcPts val="1200"/>
              </a:spcBef>
              <a:spcAft>
                <a:spcPts val="0"/>
              </a:spcAft>
              <a:buNone/>
            </a:pPr>
            <a:r>
              <a:rPr b="0" i="0" lang="en-GB" sz="1300" u="none" cap="none" strike="noStrike">
                <a:solidFill>
                  <a:srgbClr val="003060"/>
                </a:solidFill>
                <a:latin typeface="Alegreya Sans"/>
                <a:ea typeface="Alegreya Sans"/>
                <a:cs typeface="Alegreya Sans"/>
                <a:sym typeface="Alegreya Sans"/>
              </a:rPr>
              <a:t>Flexible approach to nutrition with everyday foods. No foods excluded</a:t>
            </a:r>
            <a:r>
              <a:rPr lang="en-GB" sz="1300">
                <a:solidFill>
                  <a:srgbClr val="003060"/>
                </a:solidFill>
                <a:latin typeface="Alegreya Sans"/>
                <a:ea typeface="Alegreya Sans"/>
                <a:cs typeface="Alegreya Sans"/>
                <a:sym typeface="Alegreya Sans"/>
              </a:rPr>
              <a:t>. W</a:t>
            </a:r>
            <a:r>
              <a:rPr b="0" i="0" lang="en-GB" sz="1300" u="none" cap="none" strike="noStrike">
                <a:solidFill>
                  <a:srgbClr val="003060"/>
                </a:solidFill>
                <a:latin typeface="Alegreya Sans"/>
                <a:ea typeface="Alegreya Sans"/>
                <a:cs typeface="Alegreya Sans"/>
                <a:sym typeface="Alegreya Sans"/>
              </a:rPr>
              <a:t>e balance for results and enjoyment. Feel lighter within days, lose weight consistently, increase energy and say goodbye to fad diets.</a:t>
            </a:r>
            <a:endParaRPr/>
          </a:p>
        </p:txBody>
      </p:sp>
      <p:sp>
        <p:nvSpPr>
          <p:cNvPr id="417" name="Google Shape;417;p73"/>
          <p:cNvSpPr/>
          <p:nvPr/>
        </p:nvSpPr>
        <p:spPr>
          <a:xfrm>
            <a:off x="3322000" y="1300000"/>
            <a:ext cx="2499900" cy="3264900"/>
          </a:xfrm>
          <a:prstGeom prst="roundRect">
            <a:avLst>
              <a:gd fmla="val 16667" name="adj"/>
            </a:avLst>
          </a:prstGeom>
          <a:solidFill>
            <a:srgbClr val="EFE6DE"/>
          </a:solidFill>
          <a:ln cap="flat" cmpd="sng" w="19050">
            <a:solidFill>
              <a:srgbClr val="F79F83"/>
            </a:solidFill>
            <a:prstDash val="solid"/>
            <a:round/>
            <a:headEnd len="sm" w="sm" type="none"/>
            <a:tailEnd len="sm" w="sm" type="none"/>
          </a:ln>
        </p:spPr>
        <p:txBody>
          <a:bodyPr anchorCtr="0" anchor="t" bIns="203200" lIns="203200" spcFirstLastPara="1" rIns="203200" wrap="square" tIns="203200">
            <a:noAutofit/>
          </a:bodyPr>
          <a:lstStyle/>
          <a:p>
            <a:pPr indent="0" lvl="0" marL="0" marR="0" rtl="0" algn="ctr">
              <a:spcBef>
                <a:spcPts val="0"/>
              </a:spcBef>
              <a:spcAft>
                <a:spcPts val="0"/>
              </a:spcAft>
              <a:buNone/>
            </a:pPr>
            <a:r>
              <a:rPr b="1" i="0" lang="en-GB" sz="1100" u="none" cap="none" strike="noStrike">
                <a:solidFill>
                  <a:srgbClr val="F79F83"/>
                </a:solidFill>
                <a:latin typeface="Alegreya Sans"/>
                <a:ea typeface="Alegreya Sans"/>
                <a:cs typeface="Alegreya Sans"/>
                <a:sym typeface="Alegreya Sans"/>
              </a:rPr>
              <a:t>Step 2</a:t>
            </a:r>
            <a:endParaRPr/>
          </a:p>
          <a:p>
            <a:pPr indent="0" lvl="0" marL="0" marR="0" rtl="0" algn="ctr">
              <a:spcBef>
                <a:spcPts val="600"/>
              </a:spcBef>
              <a:spcAft>
                <a:spcPts val="0"/>
              </a:spcAft>
              <a:buNone/>
            </a:pPr>
            <a:r>
              <a:rPr b="1" lang="en-GB" sz="1700">
                <a:solidFill>
                  <a:srgbClr val="003060"/>
                </a:solidFill>
                <a:latin typeface="Libre Baskerville"/>
                <a:ea typeface="Libre Baskerville"/>
                <a:cs typeface="Libre Baskerville"/>
                <a:sym typeface="Libre Baskerville"/>
              </a:rPr>
              <a:t>12 Week Weight Loss Roadmap + </a:t>
            </a:r>
            <a:r>
              <a:rPr b="1" lang="en-GB" sz="1700">
                <a:solidFill>
                  <a:srgbClr val="003060"/>
                </a:solidFill>
                <a:latin typeface="Libre Baskerville"/>
                <a:ea typeface="Libre Baskerville"/>
                <a:cs typeface="Libre Baskerville"/>
                <a:sym typeface="Libre Baskerville"/>
              </a:rPr>
              <a:t>Monthly Focus</a:t>
            </a:r>
            <a:endParaRPr/>
          </a:p>
          <a:p>
            <a:pPr indent="0" lvl="0" marL="0" marR="0" rtl="0" algn="ctr">
              <a:spcBef>
                <a:spcPts val="1200"/>
              </a:spcBef>
              <a:spcAft>
                <a:spcPts val="0"/>
              </a:spcAft>
              <a:buNone/>
            </a:pPr>
            <a:r>
              <a:rPr lang="en-GB" sz="1300">
                <a:solidFill>
                  <a:srgbClr val="003060"/>
                </a:solidFill>
                <a:latin typeface="Alegreya Sans"/>
                <a:ea typeface="Alegreya Sans"/>
                <a:cs typeface="Alegreya Sans"/>
                <a:sym typeface="Alegreya Sans"/>
              </a:rPr>
              <a:t>Have a clear start date, a goal to work towards and a roadmap that keeps you focused instead of constantly “starting again”. Track your monthly progress and stay accountable to your goals.</a:t>
            </a:r>
            <a:endParaRPr sz="1300">
              <a:solidFill>
                <a:srgbClr val="003060"/>
              </a:solidFill>
              <a:latin typeface="Alegreya Sans"/>
              <a:ea typeface="Alegreya Sans"/>
              <a:cs typeface="Alegreya Sans"/>
              <a:sym typeface="Alegreya Sans"/>
            </a:endParaRPr>
          </a:p>
        </p:txBody>
      </p:sp>
      <p:sp>
        <p:nvSpPr>
          <p:cNvPr id="418" name="Google Shape;418;p73"/>
          <p:cNvSpPr/>
          <p:nvPr/>
        </p:nvSpPr>
        <p:spPr>
          <a:xfrm>
            <a:off x="5992000" y="1300000"/>
            <a:ext cx="2499900" cy="3264900"/>
          </a:xfrm>
          <a:prstGeom prst="roundRect">
            <a:avLst>
              <a:gd fmla="val 16667" name="adj"/>
            </a:avLst>
          </a:prstGeom>
          <a:solidFill>
            <a:srgbClr val="EFE6DE"/>
          </a:solidFill>
          <a:ln cap="flat" cmpd="sng" w="19050">
            <a:solidFill>
              <a:srgbClr val="F79F83"/>
            </a:solidFill>
            <a:prstDash val="solid"/>
            <a:round/>
            <a:headEnd len="sm" w="sm" type="none"/>
            <a:tailEnd len="sm" w="sm" type="none"/>
          </a:ln>
        </p:spPr>
        <p:txBody>
          <a:bodyPr anchorCtr="0" anchor="t" bIns="203200" lIns="203200" spcFirstLastPara="1" rIns="203200" wrap="square" tIns="203200">
            <a:noAutofit/>
          </a:bodyPr>
          <a:lstStyle/>
          <a:p>
            <a:pPr indent="0" lvl="0" marL="0" marR="0" rtl="0" algn="ctr">
              <a:spcBef>
                <a:spcPts val="0"/>
              </a:spcBef>
              <a:spcAft>
                <a:spcPts val="0"/>
              </a:spcAft>
              <a:buNone/>
            </a:pPr>
            <a:r>
              <a:rPr b="1" i="0" lang="en-GB" sz="1100" u="none" cap="none" strike="noStrike">
                <a:solidFill>
                  <a:srgbClr val="F79F83"/>
                </a:solidFill>
                <a:latin typeface="Alegreya Sans"/>
                <a:ea typeface="Alegreya Sans"/>
                <a:cs typeface="Alegreya Sans"/>
                <a:sym typeface="Alegreya Sans"/>
              </a:rPr>
              <a:t>Step 3</a:t>
            </a:r>
            <a:endParaRPr/>
          </a:p>
          <a:p>
            <a:pPr indent="0" lvl="0" marL="0" marR="0" rtl="0" algn="ctr">
              <a:spcBef>
                <a:spcPts val="600"/>
              </a:spcBef>
              <a:spcAft>
                <a:spcPts val="0"/>
              </a:spcAft>
              <a:buNone/>
            </a:pPr>
            <a:r>
              <a:rPr b="1" i="0" lang="en-GB" sz="1700" u="none" cap="none" strike="noStrike">
                <a:solidFill>
                  <a:srgbClr val="003060"/>
                </a:solidFill>
                <a:latin typeface="Libre Baskerville"/>
                <a:ea typeface="Libre Baskerville"/>
                <a:cs typeface="Libre Baskerville"/>
                <a:sym typeface="Libre Baskerville"/>
              </a:rPr>
              <a:t>Expert Coaching &amp; High A</a:t>
            </a:r>
            <a:r>
              <a:rPr b="1" lang="en-GB" sz="1700">
                <a:solidFill>
                  <a:srgbClr val="003060"/>
                </a:solidFill>
                <a:latin typeface="Libre Baskerville"/>
                <a:ea typeface="Libre Baskerville"/>
                <a:cs typeface="Libre Baskerville"/>
                <a:sym typeface="Libre Baskerville"/>
              </a:rPr>
              <a:t>ccountability</a:t>
            </a:r>
            <a:endParaRPr/>
          </a:p>
          <a:p>
            <a:pPr indent="0" lvl="0" marL="0" marR="0" rtl="0" algn="ctr">
              <a:spcBef>
                <a:spcPts val="1200"/>
              </a:spcBef>
              <a:spcAft>
                <a:spcPts val="0"/>
              </a:spcAft>
              <a:buNone/>
            </a:pPr>
            <a:r>
              <a:rPr b="0" i="0" lang="en-GB" sz="1300" u="none" cap="none" strike="noStrike">
                <a:solidFill>
                  <a:srgbClr val="003060"/>
                </a:solidFill>
                <a:latin typeface="Alegreya Sans"/>
                <a:ea typeface="Alegreya Sans"/>
                <a:cs typeface="Alegreya Sans"/>
                <a:sym typeface="Alegreya Sans"/>
              </a:rPr>
              <a:t>High-level coaching and accountability so you keep showing up</a:t>
            </a:r>
            <a:r>
              <a:rPr lang="en-GB" sz="1300">
                <a:solidFill>
                  <a:srgbClr val="003060"/>
                </a:solidFill>
                <a:latin typeface="Alegreya Sans"/>
                <a:ea typeface="Alegreya Sans"/>
                <a:cs typeface="Alegreya Sans"/>
                <a:sym typeface="Alegreya Sans"/>
              </a:rPr>
              <a:t>, </a:t>
            </a:r>
            <a:r>
              <a:rPr b="0" i="0" lang="en-GB" sz="1300" u="none" cap="none" strike="noStrike">
                <a:solidFill>
                  <a:srgbClr val="003060"/>
                </a:solidFill>
                <a:latin typeface="Alegreya Sans"/>
                <a:ea typeface="Alegreya Sans"/>
                <a:cs typeface="Alegreya Sans"/>
                <a:sym typeface="Alegreya Sans"/>
              </a:rPr>
              <a:t>even on the harder days. Expert coaching to help you stay consistent, make better decisions and achieve better results.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22" name="Shape 422"/>
        <p:cNvGrpSpPr/>
        <p:nvPr/>
      </p:nvGrpSpPr>
      <p:grpSpPr>
        <a:xfrm>
          <a:off x="0" y="0"/>
          <a:ext cx="0" cy="0"/>
          <a:chOff x="0" y="0"/>
          <a:chExt cx="0" cy="0"/>
        </a:xfrm>
      </p:grpSpPr>
      <p:sp>
        <p:nvSpPr>
          <p:cNvPr id="423" name="Google Shape;423;p74"/>
          <p:cNvSpPr txBox="1"/>
          <p:nvPr/>
        </p:nvSpPr>
        <p:spPr>
          <a:xfrm>
            <a:off x="457200" y="300000"/>
            <a:ext cx="8229600" cy="70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3200" u="none" cap="none" strike="noStrike">
                <a:solidFill>
                  <a:srgbClr val="003060"/>
                </a:solidFill>
                <a:latin typeface="Libre Baskerville"/>
                <a:ea typeface="Libre Baskerville"/>
                <a:cs typeface="Libre Baskerville"/>
                <a:sym typeface="Libre Baskerville"/>
              </a:rPr>
              <a:t>What's Included</a:t>
            </a:r>
            <a:endParaRPr/>
          </a:p>
        </p:txBody>
      </p:sp>
      <p:sp>
        <p:nvSpPr>
          <p:cNvPr id="424" name="Google Shape;424;p74"/>
          <p:cNvSpPr txBox="1"/>
          <p:nvPr/>
        </p:nvSpPr>
        <p:spPr>
          <a:xfrm>
            <a:off x="600000" y="1180000"/>
            <a:ext cx="3792000" cy="37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The 12 Week WLA Summer Challenge</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Monthly Accountability + Results Tracker</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Weekly LIVE Zoom Coaching Sessions With Anna</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New recipes added every week</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New fat loss meal guide dropped every Friday</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Daily Coaching &amp; Accountability Support</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Female-Only Coaching Community</a:t>
            </a:r>
            <a:endParaRPr/>
          </a:p>
        </p:txBody>
      </p:sp>
      <p:sp>
        <p:nvSpPr>
          <p:cNvPr id="425" name="Google Shape;425;p74"/>
          <p:cNvSpPr txBox="1"/>
          <p:nvPr/>
        </p:nvSpPr>
        <p:spPr>
          <a:xfrm>
            <a:off x="4752000" y="1180000"/>
            <a:ext cx="4051200" cy="369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Access To ALL WLA Challenges + Resets For 12 Months</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The WLA Nutrition Formula Masterclass</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Access To The WLA Recipe Collection with 500+ recipes</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WLA Movement Classes With Linda</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WLA Nutrition &amp; Lifestyle Guides</a:t>
            </a:r>
            <a:endParaRPr/>
          </a:p>
          <a:p>
            <a:pPr indent="0" lvl="0" marL="0" marR="0" rtl="0" algn="l">
              <a:spcBef>
                <a:spcPts val="1000"/>
              </a:spcBef>
              <a:spcAft>
                <a:spcPts val="0"/>
              </a:spcAft>
              <a:buNone/>
            </a:pP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Access To The Brand New Tools (including new app once released)</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29" name="Shape 429"/>
        <p:cNvGrpSpPr/>
        <p:nvPr/>
      </p:nvGrpSpPr>
      <p:grpSpPr>
        <a:xfrm>
          <a:off x="0" y="0"/>
          <a:ext cx="0" cy="0"/>
          <a:chOff x="0" y="0"/>
          <a:chExt cx="0" cy="0"/>
        </a:xfrm>
      </p:grpSpPr>
      <p:sp>
        <p:nvSpPr>
          <p:cNvPr id="430" name="Google Shape;430;p75"/>
          <p:cNvSpPr txBox="1"/>
          <p:nvPr/>
        </p:nvSpPr>
        <p:spPr>
          <a:xfrm>
            <a:off x="457200" y="280000"/>
            <a:ext cx="8229600" cy="45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1300" u="none" cap="none" strike="noStrike">
                <a:solidFill>
                  <a:srgbClr val="F79F83"/>
                </a:solidFill>
                <a:latin typeface="Alegreya Sans"/>
                <a:ea typeface="Alegreya Sans"/>
                <a:cs typeface="Alegreya Sans"/>
                <a:sym typeface="Alegreya Sans"/>
              </a:rPr>
              <a:t>SPECIAL ONE-OFF BONUS</a:t>
            </a:r>
            <a:endParaRPr/>
          </a:p>
        </p:txBody>
      </p:sp>
      <p:sp>
        <p:nvSpPr>
          <p:cNvPr id="431" name="Google Shape;431;p75"/>
          <p:cNvSpPr txBox="1"/>
          <p:nvPr/>
        </p:nvSpPr>
        <p:spPr>
          <a:xfrm>
            <a:off x="457200" y="750000"/>
            <a:ext cx="8229600" cy="140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Join the 12 Week Summer Challenge</a:t>
            </a:r>
            <a:endParaRPr/>
          </a:p>
          <a:p>
            <a:pPr indent="0" lvl="0" marL="0" marR="0" rtl="0" algn="ctr">
              <a:spcBef>
                <a:spcPts val="600"/>
              </a:spcBef>
              <a:spcAft>
                <a:spcPts val="0"/>
              </a:spcAft>
              <a:buNone/>
            </a:pPr>
            <a:r>
              <a:rPr b="1" i="1" lang="en-GB" sz="2400" u="none" cap="none" strike="noStrike">
                <a:solidFill>
                  <a:srgbClr val="F79F83"/>
                </a:solidFill>
                <a:latin typeface="Libre Baskerville"/>
                <a:ea typeface="Libre Baskerville"/>
                <a:cs typeface="Libre Baskerville"/>
                <a:sym typeface="Libre Baskerville"/>
              </a:rPr>
              <a:t>+ get the whole year of coaching for FREE</a:t>
            </a:r>
            <a:endParaRPr/>
          </a:p>
        </p:txBody>
      </p:sp>
      <p:sp>
        <p:nvSpPr>
          <p:cNvPr id="432" name="Google Shape;432;p75"/>
          <p:cNvSpPr/>
          <p:nvPr/>
        </p:nvSpPr>
        <p:spPr>
          <a:xfrm>
            <a:off x="1500000" y="2200000"/>
            <a:ext cx="6144000" cy="2600000"/>
          </a:xfrm>
          <a:prstGeom prst="roundRect">
            <a:avLst>
              <a:gd fmla="val 16667" name="adj"/>
            </a:avLst>
          </a:prstGeom>
          <a:solidFill>
            <a:srgbClr val="FDEEE7"/>
          </a:solidFill>
          <a:ln cap="flat" cmpd="sng" w="19050">
            <a:solidFill>
              <a:srgbClr val="F79F8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3" name="Google Shape;433;p75"/>
          <p:cNvSpPr txBox="1"/>
          <p:nvPr/>
        </p:nvSpPr>
        <p:spPr>
          <a:xfrm>
            <a:off x="1900000" y="2420000"/>
            <a:ext cx="5344000" cy="21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GB" sz="1700" u="none" cap="none" strike="noStrike">
                <a:solidFill>
                  <a:srgbClr val="F79F83"/>
                </a:solidFill>
                <a:latin typeface="Alegreya Sans"/>
                <a:ea typeface="Alegreya Sans"/>
                <a:cs typeface="Alegreya Sans"/>
                <a:sym typeface="Alegreya Sans"/>
              </a:rPr>
              <a:t>✦  </a:t>
            </a:r>
            <a:r>
              <a:rPr b="0" i="0" lang="en-GB" sz="1700" u="none" cap="none" strike="noStrike">
                <a:solidFill>
                  <a:srgbClr val="003060"/>
                </a:solidFill>
                <a:latin typeface="Alegreya Sans"/>
                <a:ea typeface="Alegreya Sans"/>
                <a:cs typeface="Alegreya Sans"/>
                <a:sym typeface="Alegreya Sans"/>
              </a:rPr>
              <a:t>52 Weekly Fat Loss Meal Guides</a:t>
            </a:r>
            <a:endParaRPr/>
          </a:p>
          <a:p>
            <a:pPr indent="0" lvl="0" marL="0" marR="0" rtl="0" algn="l">
              <a:spcBef>
                <a:spcPts val="1200"/>
              </a:spcBef>
              <a:spcAft>
                <a:spcPts val="0"/>
              </a:spcAft>
              <a:buNone/>
            </a:pPr>
            <a:r>
              <a:rPr b="1" i="0" lang="en-GB" sz="1700" u="none" cap="none" strike="noStrike">
                <a:solidFill>
                  <a:srgbClr val="F79F83"/>
                </a:solidFill>
                <a:latin typeface="Alegreya Sans"/>
                <a:ea typeface="Alegreya Sans"/>
                <a:cs typeface="Alegreya Sans"/>
                <a:sym typeface="Alegreya Sans"/>
              </a:rPr>
              <a:t>✦  </a:t>
            </a:r>
            <a:r>
              <a:rPr b="0" i="0" lang="en-GB" sz="1700" u="none" cap="none" strike="noStrike">
                <a:solidFill>
                  <a:srgbClr val="003060"/>
                </a:solidFill>
                <a:latin typeface="Alegreya Sans"/>
                <a:ea typeface="Alegreya Sans"/>
                <a:cs typeface="Alegreya Sans"/>
                <a:sym typeface="Alegreya Sans"/>
              </a:rPr>
              <a:t>200+ Fresh Weekly Recipes</a:t>
            </a:r>
            <a:endParaRPr/>
          </a:p>
          <a:p>
            <a:pPr indent="0" lvl="0" marL="0" marR="0" rtl="0" algn="l">
              <a:spcBef>
                <a:spcPts val="1200"/>
              </a:spcBef>
              <a:spcAft>
                <a:spcPts val="0"/>
              </a:spcAft>
              <a:buNone/>
            </a:pPr>
            <a:r>
              <a:rPr b="1" i="0" lang="en-GB" sz="1700" u="none" cap="none" strike="noStrike">
                <a:solidFill>
                  <a:srgbClr val="F79F83"/>
                </a:solidFill>
                <a:latin typeface="Alegreya Sans"/>
                <a:ea typeface="Alegreya Sans"/>
                <a:cs typeface="Alegreya Sans"/>
                <a:sym typeface="Alegreya Sans"/>
              </a:rPr>
              <a:t>✦  </a:t>
            </a:r>
            <a:r>
              <a:rPr b="0" i="0" lang="en-GB" sz="1700" u="none" cap="none" strike="noStrike">
                <a:solidFill>
                  <a:srgbClr val="003060"/>
                </a:solidFill>
                <a:latin typeface="Alegreya Sans"/>
                <a:ea typeface="Alegreya Sans"/>
                <a:cs typeface="Alegreya Sans"/>
                <a:sym typeface="Alegreya Sans"/>
              </a:rPr>
              <a:t>12 Monthly Sprint Challenges</a:t>
            </a:r>
            <a:endParaRPr/>
          </a:p>
          <a:p>
            <a:pPr indent="0" lvl="0" marL="0" marR="0" rtl="0" algn="l">
              <a:spcBef>
                <a:spcPts val="1200"/>
              </a:spcBef>
              <a:spcAft>
                <a:spcPts val="0"/>
              </a:spcAft>
              <a:buNone/>
            </a:pPr>
            <a:r>
              <a:rPr b="1" i="0" lang="en-GB" sz="1700" u="none" cap="none" strike="noStrike">
                <a:solidFill>
                  <a:srgbClr val="F79F83"/>
                </a:solidFill>
                <a:latin typeface="Alegreya Sans"/>
                <a:ea typeface="Alegreya Sans"/>
                <a:cs typeface="Alegreya Sans"/>
                <a:sym typeface="Alegreya Sans"/>
              </a:rPr>
              <a:t>✦  </a:t>
            </a:r>
            <a:r>
              <a:rPr b="0" i="0" lang="en-GB" sz="1700" u="none" cap="none" strike="noStrike">
                <a:solidFill>
                  <a:srgbClr val="003060"/>
                </a:solidFill>
                <a:latin typeface="Alegreya Sans"/>
                <a:ea typeface="Alegreya Sans"/>
                <a:cs typeface="Alegreya Sans"/>
                <a:sym typeface="Alegreya Sans"/>
              </a:rPr>
              <a:t>52 Weekly LIVE Coaching Zooms with Anna</a:t>
            </a:r>
            <a:endParaRPr/>
          </a:p>
          <a:p>
            <a:pPr indent="0" lvl="0" marL="0" marR="0" rtl="0" algn="l">
              <a:spcBef>
                <a:spcPts val="1200"/>
              </a:spcBef>
              <a:spcAft>
                <a:spcPts val="0"/>
              </a:spcAft>
              <a:buNone/>
            </a:pPr>
            <a:r>
              <a:rPr b="1" i="0" lang="en-GB" sz="1700" u="none" cap="none" strike="noStrike">
                <a:solidFill>
                  <a:srgbClr val="F79F83"/>
                </a:solidFill>
                <a:latin typeface="Alegreya Sans"/>
                <a:ea typeface="Alegreya Sans"/>
                <a:cs typeface="Alegreya Sans"/>
                <a:sym typeface="Alegreya Sans"/>
              </a:rPr>
              <a:t>✦  </a:t>
            </a:r>
            <a:r>
              <a:rPr b="0" i="0" lang="en-GB" sz="1700" u="none" cap="none" strike="noStrike">
                <a:solidFill>
                  <a:srgbClr val="003060"/>
                </a:solidFill>
                <a:latin typeface="Alegreya Sans"/>
                <a:ea typeface="Alegreya Sans"/>
                <a:cs typeface="Alegreya Sans"/>
                <a:sym typeface="Alegreya Sans"/>
              </a:rPr>
              <a:t>365 Days of Daily Coaching &amp; Support</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37" name="Shape 437"/>
        <p:cNvGrpSpPr/>
        <p:nvPr/>
      </p:nvGrpSpPr>
      <p:grpSpPr>
        <a:xfrm>
          <a:off x="0" y="0"/>
          <a:ext cx="0" cy="0"/>
          <a:chOff x="0" y="0"/>
          <a:chExt cx="0" cy="0"/>
        </a:xfrm>
      </p:grpSpPr>
      <p:sp>
        <p:nvSpPr>
          <p:cNvPr id="438" name="Google Shape;438;p76"/>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2800">
                <a:solidFill>
                  <a:srgbClr val="003060"/>
                </a:solidFill>
                <a:latin typeface="Libre Baskerville"/>
                <a:ea typeface="Libre Baskerville"/>
                <a:cs typeface="Libre Baskerville"/>
                <a:sym typeface="Libre Baskerville"/>
              </a:rPr>
              <a:t>Get Access To Our Members Area </a:t>
            </a:r>
            <a:endParaRPr/>
          </a:p>
        </p:txBody>
      </p:sp>
      <p:pic>
        <p:nvPicPr>
          <p:cNvPr id="439" name="Google Shape;439;p76" title="Screenshot 2026-06-04 at 16.08.00.png"/>
          <p:cNvPicPr preferRelativeResize="0"/>
          <p:nvPr/>
        </p:nvPicPr>
        <p:blipFill>
          <a:blip r:embed="rId3">
            <a:alphaModFix/>
          </a:blip>
          <a:stretch>
            <a:fillRect/>
          </a:stretch>
        </p:blipFill>
        <p:spPr>
          <a:xfrm>
            <a:off x="413769" y="914800"/>
            <a:ext cx="8388480" cy="3923901"/>
          </a:xfrm>
          <a:prstGeom prst="rect">
            <a:avLst/>
          </a:prstGeom>
          <a:noFill/>
          <a:ln>
            <a:noFill/>
          </a:ln>
        </p:spPr>
      </p:pic>
      <p:pic>
        <p:nvPicPr>
          <p:cNvPr id="440" name="Google Shape;440;p76" title="Screenshot 2026-06-04 at 16.08.00.png"/>
          <p:cNvPicPr preferRelativeResize="0"/>
          <p:nvPr/>
        </p:nvPicPr>
        <p:blipFill>
          <a:blip r:embed="rId3">
            <a:alphaModFix/>
          </a:blip>
          <a:stretch>
            <a:fillRect/>
          </a:stretch>
        </p:blipFill>
        <p:spPr>
          <a:xfrm>
            <a:off x="135350" y="914800"/>
            <a:ext cx="8388526" cy="3923901"/>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44" name="Shape 444"/>
        <p:cNvGrpSpPr/>
        <p:nvPr/>
      </p:nvGrpSpPr>
      <p:grpSpPr>
        <a:xfrm>
          <a:off x="0" y="0"/>
          <a:ext cx="0" cy="0"/>
          <a:chOff x="0" y="0"/>
          <a:chExt cx="0" cy="0"/>
        </a:xfrm>
      </p:grpSpPr>
      <p:sp>
        <p:nvSpPr>
          <p:cNvPr id="445" name="Google Shape;445;p77"/>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2700">
                <a:solidFill>
                  <a:srgbClr val="003060"/>
                </a:solidFill>
                <a:latin typeface="Libre Baskerville"/>
                <a:ea typeface="Libre Baskerville"/>
                <a:cs typeface="Libre Baskerville"/>
                <a:sym typeface="Libre Baskerville"/>
              </a:rPr>
              <a:t>Brand New Fat Loss Meal Guide Every Week</a:t>
            </a:r>
            <a:endParaRPr sz="1300"/>
          </a:p>
        </p:txBody>
      </p:sp>
      <p:pic>
        <p:nvPicPr>
          <p:cNvPr id="446" name="Google Shape;446;p77" title="Screenshot 2026-06-04 at 16.10.05.png"/>
          <p:cNvPicPr preferRelativeResize="0"/>
          <p:nvPr/>
        </p:nvPicPr>
        <p:blipFill rotWithShape="1">
          <a:blip r:embed="rId3">
            <a:alphaModFix/>
          </a:blip>
          <a:srcRect b="0" l="872" r="0" t="0"/>
          <a:stretch/>
        </p:blipFill>
        <p:spPr>
          <a:xfrm>
            <a:off x="457200" y="844675"/>
            <a:ext cx="8391773" cy="3923999"/>
          </a:xfrm>
          <a:prstGeom prst="rect">
            <a:avLst/>
          </a:prstGeom>
          <a:noFill/>
          <a:ln>
            <a:noFill/>
          </a:ln>
        </p:spPr>
      </p:pic>
      <p:pic>
        <p:nvPicPr>
          <p:cNvPr id="447" name="Google Shape;447;p77" title="Screenshot 2026-06-04 at 16.10.05.png"/>
          <p:cNvPicPr preferRelativeResize="0"/>
          <p:nvPr/>
        </p:nvPicPr>
        <p:blipFill>
          <a:blip r:embed="rId3">
            <a:alphaModFix/>
          </a:blip>
          <a:stretch>
            <a:fillRect/>
          </a:stretch>
        </p:blipFill>
        <p:spPr>
          <a:xfrm>
            <a:off x="395650" y="899463"/>
            <a:ext cx="8229602" cy="381442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51" name="Shape 451"/>
        <p:cNvGrpSpPr/>
        <p:nvPr/>
      </p:nvGrpSpPr>
      <p:grpSpPr>
        <a:xfrm>
          <a:off x="0" y="0"/>
          <a:ext cx="0" cy="0"/>
          <a:chOff x="0" y="0"/>
          <a:chExt cx="0" cy="0"/>
        </a:xfrm>
      </p:grpSpPr>
      <p:sp>
        <p:nvSpPr>
          <p:cNvPr id="452" name="Google Shape;452;p78"/>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2800">
                <a:solidFill>
                  <a:srgbClr val="003060"/>
                </a:solidFill>
                <a:latin typeface="Libre Baskerville"/>
                <a:ea typeface="Libre Baskerville"/>
                <a:cs typeface="Libre Baskerville"/>
                <a:sym typeface="Libre Baskerville"/>
              </a:rPr>
              <a:t>Get Hands on Personalised Advice </a:t>
            </a:r>
            <a:endParaRPr/>
          </a:p>
        </p:txBody>
      </p:sp>
      <p:pic>
        <p:nvPicPr>
          <p:cNvPr id="453" name="Google Shape;453;p78" title="Screenshot 2026-06-04 at 16.09.06.png"/>
          <p:cNvPicPr preferRelativeResize="0"/>
          <p:nvPr/>
        </p:nvPicPr>
        <p:blipFill>
          <a:blip r:embed="rId3">
            <a:alphaModFix/>
          </a:blip>
          <a:stretch>
            <a:fillRect/>
          </a:stretch>
        </p:blipFill>
        <p:spPr>
          <a:xfrm>
            <a:off x="152400" y="1067100"/>
            <a:ext cx="8839204" cy="365566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57" name="Shape 457"/>
        <p:cNvGrpSpPr/>
        <p:nvPr/>
      </p:nvGrpSpPr>
      <p:grpSpPr>
        <a:xfrm>
          <a:off x="0" y="0"/>
          <a:ext cx="0" cy="0"/>
          <a:chOff x="0" y="0"/>
          <a:chExt cx="0" cy="0"/>
        </a:xfrm>
      </p:grpSpPr>
      <p:sp>
        <p:nvSpPr>
          <p:cNvPr id="458" name="Google Shape;458;p79"/>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GB" sz="2800">
                <a:solidFill>
                  <a:srgbClr val="003060"/>
                </a:solidFill>
                <a:latin typeface="Libre Baskerville"/>
                <a:ea typeface="Libre Baskerville"/>
                <a:cs typeface="Libre Baskerville"/>
                <a:sym typeface="Libre Baskerville"/>
              </a:rPr>
              <a:t>The WLA Nutrition Formula Tools </a:t>
            </a:r>
            <a:endParaRPr/>
          </a:p>
        </p:txBody>
      </p:sp>
      <p:pic>
        <p:nvPicPr>
          <p:cNvPr id="459" name="Google Shape;459;p79" title="Screenshot 2026-06-04 at 16.11.48.png"/>
          <p:cNvPicPr preferRelativeResize="0"/>
          <p:nvPr/>
        </p:nvPicPr>
        <p:blipFill>
          <a:blip r:embed="rId3">
            <a:alphaModFix/>
          </a:blip>
          <a:stretch>
            <a:fillRect/>
          </a:stretch>
        </p:blipFill>
        <p:spPr>
          <a:xfrm>
            <a:off x="152400" y="1067100"/>
            <a:ext cx="8839204" cy="3418286"/>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8F3"/>
        </a:solidFill>
      </p:bgPr>
    </p:bg>
    <p:spTree>
      <p:nvGrpSpPr>
        <p:cNvPr id="463" name="Shape 463"/>
        <p:cNvGrpSpPr/>
        <p:nvPr/>
      </p:nvGrpSpPr>
      <p:grpSpPr>
        <a:xfrm>
          <a:off x="0" y="0"/>
          <a:ext cx="0" cy="0"/>
          <a:chOff x="0" y="0"/>
          <a:chExt cx="0" cy="0"/>
        </a:xfrm>
      </p:grpSpPr>
      <p:sp>
        <p:nvSpPr>
          <p:cNvPr id="464" name="Google Shape;464;p80"/>
          <p:cNvSpPr txBox="1"/>
          <p:nvPr/>
        </p:nvSpPr>
        <p:spPr>
          <a:xfrm>
            <a:off x="360825" y="503925"/>
            <a:ext cx="5344800" cy="415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GB" sz="2700">
                <a:solidFill>
                  <a:srgbClr val="003060"/>
                </a:solidFill>
                <a:latin typeface="Libre Baskerville"/>
                <a:ea typeface="Libre Baskerville"/>
                <a:cs typeface="Libre Baskerville"/>
                <a:sym typeface="Libre Baskerville"/>
              </a:rPr>
              <a:t>EXTRA FREE BONUS </a:t>
            </a:r>
            <a:endParaRPr sz="1100">
              <a:solidFill>
                <a:srgbClr val="003060"/>
              </a:solidFill>
            </a:endParaRPr>
          </a:p>
        </p:txBody>
      </p:sp>
      <p:sp>
        <p:nvSpPr>
          <p:cNvPr id="465" name="Google Shape;465;p80"/>
          <p:cNvSpPr txBox="1"/>
          <p:nvPr/>
        </p:nvSpPr>
        <p:spPr>
          <a:xfrm>
            <a:off x="360825" y="1311402"/>
            <a:ext cx="5417700" cy="26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i="1" lang="en-GB" sz="1700">
                <a:solidFill>
                  <a:srgbClr val="0E2746"/>
                </a:solidFill>
                <a:latin typeface="Libre Baskerville"/>
                <a:ea typeface="Libre Baskerville"/>
                <a:cs typeface="Libre Baskerville"/>
                <a:sym typeface="Libre Baskerville"/>
              </a:rPr>
              <a:t>Access To The New WLA App (once it launches)</a:t>
            </a:r>
            <a:endParaRPr i="1" sz="1700">
              <a:solidFill>
                <a:srgbClr val="0E2746"/>
              </a:solidFill>
              <a:latin typeface="Libre Baskerville"/>
              <a:ea typeface="Libre Baskerville"/>
              <a:cs typeface="Libre Baskerville"/>
              <a:sym typeface="Libre Baskerville"/>
            </a:endParaRPr>
          </a:p>
        </p:txBody>
      </p:sp>
      <p:sp>
        <p:nvSpPr>
          <p:cNvPr id="466" name="Google Shape;466;p80"/>
          <p:cNvSpPr/>
          <p:nvPr/>
        </p:nvSpPr>
        <p:spPr>
          <a:xfrm>
            <a:off x="411961" y="2047093"/>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7" name="Google Shape;467;p80"/>
          <p:cNvSpPr txBox="1"/>
          <p:nvPr/>
        </p:nvSpPr>
        <p:spPr>
          <a:xfrm>
            <a:off x="645144" y="1987081"/>
            <a:ext cx="33123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Advanced daily tracking</a:t>
            </a:r>
            <a:endParaRPr sz="1100"/>
          </a:p>
        </p:txBody>
      </p:sp>
      <p:sp>
        <p:nvSpPr>
          <p:cNvPr id="468" name="Google Shape;468;p80"/>
          <p:cNvSpPr/>
          <p:nvPr/>
        </p:nvSpPr>
        <p:spPr>
          <a:xfrm>
            <a:off x="411961" y="2389993"/>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69" name="Google Shape;469;p80"/>
          <p:cNvSpPr txBox="1"/>
          <p:nvPr/>
        </p:nvSpPr>
        <p:spPr>
          <a:xfrm>
            <a:off x="645145" y="2312831"/>
            <a:ext cx="39504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Lifestyle tracking</a:t>
            </a:r>
            <a:endParaRPr sz="1100"/>
          </a:p>
        </p:txBody>
      </p:sp>
      <p:sp>
        <p:nvSpPr>
          <p:cNvPr id="470" name="Google Shape;470;p80"/>
          <p:cNvSpPr/>
          <p:nvPr/>
        </p:nvSpPr>
        <p:spPr>
          <a:xfrm>
            <a:off x="411961" y="2732893"/>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1" name="Google Shape;471;p80"/>
          <p:cNvSpPr txBox="1"/>
          <p:nvPr/>
        </p:nvSpPr>
        <p:spPr>
          <a:xfrm>
            <a:off x="645143" y="2655750"/>
            <a:ext cx="25731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Progress dashboards</a:t>
            </a:r>
            <a:endParaRPr sz="1100"/>
          </a:p>
        </p:txBody>
      </p:sp>
      <p:sp>
        <p:nvSpPr>
          <p:cNvPr id="472" name="Google Shape;472;p80"/>
          <p:cNvSpPr/>
          <p:nvPr/>
        </p:nvSpPr>
        <p:spPr>
          <a:xfrm>
            <a:off x="411961" y="3075793"/>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3" name="Google Shape;473;p80"/>
          <p:cNvSpPr txBox="1"/>
          <p:nvPr/>
        </p:nvSpPr>
        <p:spPr>
          <a:xfrm>
            <a:off x="645142" y="2998650"/>
            <a:ext cx="19341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Habit tracking</a:t>
            </a:r>
            <a:endParaRPr sz="1100"/>
          </a:p>
        </p:txBody>
      </p:sp>
      <p:sp>
        <p:nvSpPr>
          <p:cNvPr id="474" name="Google Shape;474;p80"/>
          <p:cNvSpPr/>
          <p:nvPr/>
        </p:nvSpPr>
        <p:spPr>
          <a:xfrm>
            <a:off x="407713" y="3380128"/>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5" name="Google Shape;475;p80"/>
          <p:cNvSpPr txBox="1"/>
          <p:nvPr/>
        </p:nvSpPr>
        <p:spPr>
          <a:xfrm>
            <a:off x="645204" y="3332400"/>
            <a:ext cx="24441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Meal planning</a:t>
            </a:r>
            <a:endParaRPr sz="1100"/>
          </a:p>
        </p:txBody>
      </p:sp>
      <p:sp>
        <p:nvSpPr>
          <p:cNvPr id="476" name="Google Shape;476;p80"/>
          <p:cNvSpPr/>
          <p:nvPr/>
        </p:nvSpPr>
        <p:spPr>
          <a:xfrm>
            <a:off x="407713" y="3723028"/>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7" name="Google Shape;477;p80"/>
          <p:cNvSpPr txBox="1"/>
          <p:nvPr/>
        </p:nvSpPr>
        <p:spPr>
          <a:xfrm>
            <a:off x="645204" y="3675300"/>
            <a:ext cx="26493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Shopping lists</a:t>
            </a:r>
            <a:endParaRPr sz="1100"/>
          </a:p>
        </p:txBody>
      </p:sp>
      <p:sp>
        <p:nvSpPr>
          <p:cNvPr id="478" name="Google Shape;478;p80"/>
          <p:cNvSpPr/>
          <p:nvPr/>
        </p:nvSpPr>
        <p:spPr>
          <a:xfrm>
            <a:off x="407713" y="4065928"/>
            <a:ext cx="89100" cy="89100"/>
          </a:xfrm>
          <a:prstGeom prst="ellipse">
            <a:avLst/>
          </a:prstGeom>
          <a:solidFill>
            <a:srgbClr val="D9775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9" name="Google Shape;479;p80"/>
          <p:cNvSpPr txBox="1"/>
          <p:nvPr/>
        </p:nvSpPr>
        <p:spPr>
          <a:xfrm>
            <a:off x="645204" y="4018200"/>
            <a:ext cx="2491200" cy="215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GB" sz="1400" u="none" cap="none" strike="noStrike">
                <a:solidFill>
                  <a:srgbClr val="0E2746"/>
                </a:solidFill>
                <a:latin typeface="Libre Baskerville"/>
                <a:ea typeface="Libre Baskerville"/>
                <a:cs typeface="Libre Baskerville"/>
                <a:sym typeface="Libre Baskerville"/>
              </a:rPr>
              <a:t>Future feature updates</a:t>
            </a:r>
            <a:endParaRPr sz="1100"/>
          </a:p>
        </p:txBody>
      </p:sp>
      <p:pic>
        <p:nvPicPr>
          <p:cNvPr id="480" name="Google Shape;480;p80" title="FullSizeRender (13).jpg"/>
          <p:cNvPicPr preferRelativeResize="0"/>
          <p:nvPr/>
        </p:nvPicPr>
        <p:blipFill>
          <a:blip r:embed="rId3">
            <a:alphaModFix/>
          </a:blip>
          <a:stretch>
            <a:fillRect/>
          </a:stretch>
        </p:blipFill>
        <p:spPr>
          <a:xfrm>
            <a:off x="6344113" y="266588"/>
            <a:ext cx="2311931" cy="4610324"/>
          </a:xfrm>
          <a:prstGeom prst="rect">
            <a:avLst/>
          </a:prstGeom>
          <a:noFill/>
          <a:ln cap="flat" cmpd="sng" w="28575">
            <a:solidFill>
              <a:schemeClr val="lt1"/>
            </a:solidFill>
            <a:prstDash val="solid"/>
            <a:round/>
            <a:headEnd len="sm" w="sm" type="none"/>
            <a:tailEnd len="sm" w="sm" type="none"/>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84" name="Shape 484"/>
        <p:cNvGrpSpPr/>
        <p:nvPr/>
      </p:nvGrpSpPr>
      <p:grpSpPr>
        <a:xfrm>
          <a:off x="0" y="0"/>
          <a:ext cx="0" cy="0"/>
          <a:chOff x="0" y="0"/>
          <a:chExt cx="0" cy="0"/>
        </a:xfrm>
      </p:grpSpPr>
      <p:sp>
        <p:nvSpPr>
          <p:cNvPr id="485" name="Google Shape;485;p81"/>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GB" sz="3000">
                <a:solidFill>
                  <a:srgbClr val="003060"/>
                </a:solidFill>
                <a:latin typeface="Libre Baskerville"/>
                <a:ea typeface="Libre Baskerville"/>
                <a:cs typeface="Libre Baskerville"/>
                <a:sym typeface="Libre Baskerville"/>
              </a:rPr>
              <a:t>500 places available</a:t>
            </a:r>
            <a:endParaRPr/>
          </a:p>
          <a:p>
            <a:pPr indent="0" lvl="0" marL="0" marR="0" rtl="0" algn="ctr">
              <a:spcBef>
                <a:spcPts val="1400"/>
              </a:spcBef>
              <a:spcAft>
                <a:spcPts val="0"/>
              </a:spcAft>
              <a:buNone/>
            </a:pPr>
            <a:r>
              <a:rPr b="1" i="1" lang="en-GB" sz="2400">
                <a:solidFill>
                  <a:srgbClr val="F79F83"/>
                </a:solidFill>
                <a:latin typeface="Libre Baskerville"/>
                <a:ea typeface="Libre Baskerville"/>
                <a:cs typeface="Libre Baskerville"/>
                <a:sym typeface="Libre Baskerville"/>
              </a:rPr>
              <a:t>100 already gone </a:t>
            </a:r>
            <a:endParaRPr b="1" i="1" sz="2400">
              <a:solidFill>
                <a:srgbClr val="F79F83"/>
              </a:solidFill>
              <a:latin typeface="Libre Baskerville"/>
              <a:ea typeface="Libre Baskerville"/>
              <a:cs typeface="Libre Baskerville"/>
              <a:sym typeface="Libre Baskerville"/>
            </a:endParaRPr>
          </a:p>
          <a:p>
            <a:pPr indent="0" lvl="0" marL="0" marR="0" rtl="0" algn="ctr">
              <a:spcBef>
                <a:spcPts val="1400"/>
              </a:spcBef>
              <a:spcAft>
                <a:spcPts val="0"/>
              </a:spcAft>
              <a:buNone/>
            </a:pPr>
            <a:r>
              <a:rPr b="1" i="1" lang="en-GB" sz="2400">
                <a:solidFill>
                  <a:srgbClr val="F79F83"/>
                </a:solidFill>
                <a:latin typeface="Libre Baskerville"/>
                <a:ea typeface="Libre Baskerville"/>
                <a:cs typeface="Libre Baskerville"/>
                <a:sym typeface="Libre Baskerville"/>
              </a:rPr>
              <a:t>(as 100 of my existing clients signed up)</a:t>
            </a:r>
            <a:endParaRPr/>
          </a:p>
          <a:p>
            <a:pPr indent="0" lvl="0" marL="0" marR="0" rtl="0" algn="ctr">
              <a:spcBef>
                <a:spcPts val="1400"/>
              </a:spcBef>
              <a:spcAft>
                <a:spcPts val="0"/>
              </a:spcAft>
              <a:buNone/>
            </a:pPr>
            <a:r>
              <a:rPr b="1" lang="en-GB" sz="2200">
                <a:solidFill>
                  <a:srgbClr val="003060"/>
                </a:solidFill>
                <a:latin typeface="Libre Baskerville"/>
                <a:ea typeface="Libre Baskerville"/>
                <a:cs typeface="Libre Baskerville"/>
                <a:sym typeface="Libre Baskerville"/>
              </a:rPr>
              <a:t>400 places left, 7500 women in this group</a:t>
            </a:r>
            <a:endParaRPr/>
          </a:p>
          <a:p>
            <a:pPr indent="0" lvl="0" marL="0" marR="0" rtl="0" algn="ctr">
              <a:spcBef>
                <a:spcPts val="1400"/>
              </a:spcBef>
              <a:spcAft>
                <a:spcPts val="0"/>
              </a:spcAft>
              <a:buNone/>
            </a:pPr>
            <a:r>
              <a:rPr b="1" i="1" lang="en-GB" sz="2200">
                <a:solidFill>
                  <a:srgbClr val="F79F83"/>
                </a:solidFill>
                <a:latin typeface="Libre Baskerville"/>
                <a:ea typeface="Libre Baskerville"/>
                <a:cs typeface="Libre Baskerville"/>
                <a:sym typeface="Libre Baskerville"/>
              </a:rPr>
              <a:t>On Sunday, I open to my whole community</a:t>
            </a:r>
            <a:endParaRPr b="1" i="1" sz="2200">
              <a:solidFill>
                <a:srgbClr val="F79F83"/>
              </a:solidFill>
              <a:latin typeface="Libre Baskerville"/>
              <a:ea typeface="Libre Baskerville"/>
              <a:cs typeface="Libre Baskerville"/>
              <a:sym typeface="Libre Baskerville"/>
            </a:endParaRPr>
          </a:p>
          <a:p>
            <a:pPr indent="0" lvl="0" marL="0" marR="0" rtl="0" algn="ctr">
              <a:spcBef>
                <a:spcPts val="1400"/>
              </a:spcBef>
              <a:spcAft>
                <a:spcPts val="0"/>
              </a:spcAft>
              <a:buNone/>
            </a:pPr>
            <a:r>
              <a:rPr b="1" i="1" lang="en-GB" sz="2200">
                <a:solidFill>
                  <a:srgbClr val="F79F83"/>
                </a:solidFill>
                <a:latin typeface="Libre Baskerville"/>
                <a:ea typeface="Libre Baskerville"/>
                <a:cs typeface="Libre Baskerville"/>
                <a:sym typeface="Libre Baskerville"/>
              </a:rPr>
              <a:t>Grab a place while you can </a:t>
            </a:r>
            <a:endParaRPr b="1" i="1" sz="2200">
              <a:solidFill>
                <a:srgbClr val="F79F83"/>
              </a:solidFill>
              <a:latin typeface="Libre Baskerville"/>
              <a:ea typeface="Libre Baskerville"/>
              <a:cs typeface="Libre Baskerville"/>
              <a:sym typeface="Libre Baskerville"/>
            </a:endParaRPr>
          </a:p>
          <a:p>
            <a:pPr indent="0" lvl="0" marL="0" marR="0" rtl="0" algn="ctr">
              <a:spcBef>
                <a:spcPts val="220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89" name="Shape 489"/>
        <p:cNvGrpSpPr/>
        <p:nvPr/>
      </p:nvGrpSpPr>
      <p:grpSpPr>
        <a:xfrm>
          <a:off x="0" y="0"/>
          <a:ext cx="0" cy="0"/>
          <a:chOff x="0" y="0"/>
          <a:chExt cx="0" cy="0"/>
        </a:xfrm>
      </p:grpSpPr>
      <p:sp>
        <p:nvSpPr>
          <p:cNvPr id="490" name="Google Shape;490;p82"/>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400"/>
              </a:spcBef>
              <a:spcAft>
                <a:spcPts val="0"/>
              </a:spcAft>
              <a:buNone/>
            </a:pPr>
            <a:r>
              <a:rPr b="1" lang="en-GB" sz="3000">
                <a:solidFill>
                  <a:srgbClr val="003060"/>
                </a:solidFill>
                <a:latin typeface="Libre Baskerville"/>
                <a:ea typeface="Libre Baskerville"/>
                <a:cs typeface="Libre Baskerville"/>
                <a:sym typeface="Libre Baskerville"/>
              </a:rPr>
              <a:t>Join for only £97 (normally £397)</a:t>
            </a:r>
            <a:endParaRPr b="1" sz="3000">
              <a:solidFill>
                <a:srgbClr val="003060"/>
              </a:solidFill>
              <a:latin typeface="Libre Baskerville"/>
              <a:ea typeface="Libre Baskerville"/>
              <a:cs typeface="Libre Baskerville"/>
              <a:sym typeface="Libre Baskerville"/>
            </a:endParaRPr>
          </a:p>
          <a:p>
            <a:pPr indent="0" lvl="0" marL="0" marR="0" rtl="0" algn="ctr">
              <a:spcBef>
                <a:spcPts val="400"/>
              </a:spcBef>
              <a:spcAft>
                <a:spcPts val="0"/>
              </a:spcAft>
              <a:buNone/>
            </a:pPr>
            <a:r>
              <a:rPr b="1" lang="en-GB" sz="3000">
                <a:solidFill>
                  <a:srgbClr val="003060"/>
                </a:solidFill>
                <a:latin typeface="Libre Baskerville"/>
                <a:ea typeface="Libre Baskerville"/>
                <a:cs typeface="Libre Baskerville"/>
                <a:sym typeface="Libre Baskerville"/>
              </a:rPr>
              <a:t>Get 12 Week Summer Challenge</a:t>
            </a:r>
            <a:endParaRPr b="1" sz="3000">
              <a:solidFill>
                <a:srgbClr val="003060"/>
              </a:solidFill>
              <a:latin typeface="Libre Baskerville"/>
              <a:ea typeface="Libre Baskerville"/>
              <a:cs typeface="Libre Baskerville"/>
              <a:sym typeface="Libre Baskerville"/>
            </a:endParaRPr>
          </a:p>
          <a:p>
            <a:pPr indent="0" lvl="0" marL="0" marR="0" rtl="0" algn="ctr">
              <a:spcBef>
                <a:spcPts val="1800"/>
              </a:spcBef>
              <a:spcAft>
                <a:spcPts val="0"/>
              </a:spcAft>
              <a:buNone/>
            </a:pPr>
            <a:r>
              <a:rPr b="1" i="1" lang="en-GB" sz="2000">
                <a:solidFill>
                  <a:srgbClr val="F79F83"/>
                </a:solidFill>
                <a:latin typeface="Libre Baskerville"/>
                <a:ea typeface="Libre Baskerville"/>
                <a:cs typeface="Libre Baskerville"/>
                <a:sym typeface="Libre Baskerville"/>
              </a:rPr>
              <a:t>Plus FULL year of coaching, members area </a:t>
            </a:r>
            <a:endParaRPr b="1" i="1" sz="2000">
              <a:solidFill>
                <a:srgbClr val="F79F83"/>
              </a:solidFill>
              <a:latin typeface="Libre Baskerville"/>
              <a:ea typeface="Libre Baskerville"/>
              <a:cs typeface="Libre Baskerville"/>
              <a:sym typeface="Libre Baskerville"/>
            </a:endParaRPr>
          </a:p>
          <a:p>
            <a:pPr indent="0" lvl="0" marL="0" marR="0" rtl="0" algn="ctr">
              <a:spcBef>
                <a:spcPts val="1800"/>
              </a:spcBef>
              <a:spcAft>
                <a:spcPts val="0"/>
              </a:spcAft>
              <a:buNone/>
            </a:pPr>
            <a:r>
              <a:rPr b="1" i="1" lang="en-GB" sz="2000">
                <a:solidFill>
                  <a:srgbClr val="F79F83"/>
                </a:solidFill>
                <a:latin typeface="Libre Baskerville"/>
                <a:ea typeface="Libre Baskerville"/>
                <a:cs typeface="Libre Baskerville"/>
                <a:sym typeface="Libre Baskerville"/>
              </a:rPr>
              <a:t>+ accountability for FREE</a:t>
            </a:r>
            <a:br>
              <a:rPr b="1" i="1" lang="en-GB" sz="2000">
                <a:solidFill>
                  <a:srgbClr val="F79F83"/>
                </a:solidFill>
                <a:latin typeface="Libre Baskerville"/>
                <a:ea typeface="Libre Baskerville"/>
                <a:cs typeface="Libre Baskerville"/>
                <a:sym typeface="Libre Baskerville"/>
              </a:rPr>
            </a:br>
            <a:endParaRPr b="1" i="1" sz="2000">
              <a:solidFill>
                <a:srgbClr val="F79F83"/>
              </a:solidFill>
              <a:latin typeface="Libre Baskerville"/>
              <a:ea typeface="Libre Baskerville"/>
              <a:cs typeface="Libre Baskerville"/>
              <a:sym typeface="Libre Baskerville"/>
            </a:endParaRPr>
          </a:p>
          <a:p>
            <a:pPr indent="0" lvl="0" marL="0" rtl="0" algn="ctr">
              <a:spcBef>
                <a:spcPts val="400"/>
              </a:spcBef>
              <a:spcAft>
                <a:spcPts val="0"/>
              </a:spcAft>
              <a:buClr>
                <a:schemeClr val="dk1"/>
              </a:buClr>
              <a:buFont typeface="Arial"/>
              <a:buNone/>
            </a:pPr>
            <a:r>
              <a:rPr b="1" lang="en-GB" sz="1900">
                <a:solidFill>
                  <a:srgbClr val="003060"/>
                </a:solidFill>
                <a:latin typeface="Libre Baskerville"/>
                <a:ea typeface="Libre Baskerville"/>
                <a:cs typeface="Libre Baskerville"/>
                <a:sym typeface="Libre Baskerville"/>
              </a:rPr>
              <a:t>26p per day! Pay £97 in full or get started for as little less than £25 with </a:t>
            </a:r>
            <a:r>
              <a:rPr b="1" lang="en-GB" sz="1900">
                <a:solidFill>
                  <a:srgbClr val="003060"/>
                </a:solidFill>
                <a:latin typeface="Libre Baskerville"/>
                <a:ea typeface="Libre Baskerville"/>
                <a:cs typeface="Libre Baskerville"/>
                <a:sym typeface="Libre Baskerville"/>
              </a:rPr>
              <a:t>payment</a:t>
            </a:r>
            <a:r>
              <a:rPr b="1" lang="en-GB" sz="1900">
                <a:solidFill>
                  <a:srgbClr val="003060"/>
                </a:solidFill>
                <a:latin typeface="Libre Baskerville"/>
                <a:ea typeface="Libre Baskerville"/>
                <a:cs typeface="Libre Baskerville"/>
                <a:sym typeface="Libre Baskerville"/>
              </a:rPr>
              <a:t> plans with paypal, Klarna and Clearpay at checkout</a:t>
            </a:r>
            <a:endParaRPr b="1" i="1" sz="900">
              <a:solidFill>
                <a:srgbClr val="F79F83"/>
              </a:solidFill>
              <a:latin typeface="Libre Baskerville"/>
              <a:ea typeface="Libre Baskerville"/>
              <a:cs typeface="Libre Baskerville"/>
              <a:sym typeface="Libre Baskerville"/>
            </a:endParaRPr>
          </a:p>
          <a:p>
            <a:pPr indent="0" lvl="0" marL="0" marR="0" rtl="0" algn="ctr">
              <a:spcBef>
                <a:spcPts val="140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94" name="Shape 494"/>
        <p:cNvGrpSpPr/>
        <p:nvPr/>
      </p:nvGrpSpPr>
      <p:grpSpPr>
        <a:xfrm>
          <a:off x="0" y="0"/>
          <a:ext cx="0" cy="0"/>
          <a:chOff x="0" y="0"/>
          <a:chExt cx="0" cy="0"/>
        </a:xfrm>
      </p:grpSpPr>
      <p:sp>
        <p:nvSpPr>
          <p:cNvPr id="495" name="Google Shape;495;p83"/>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400"/>
              </a:spcBef>
              <a:spcAft>
                <a:spcPts val="0"/>
              </a:spcAft>
              <a:buNone/>
            </a:pPr>
            <a:r>
              <a:rPr b="1" lang="en-GB" sz="3000">
                <a:solidFill>
                  <a:srgbClr val="003060"/>
                </a:solidFill>
                <a:latin typeface="Libre Baskerville"/>
                <a:ea typeface="Libre Baskerville"/>
                <a:cs typeface="Libre Baskerville"/>
                <a:sym typeface="Libre Baskerville"/>
              </a:rPr>
              <a:t>This is a one off opportunity</a:t>
            </a:r>
            <a:endParaRPr b="1" sz="3000">
              <a:solidFill>
                <a:srgbClr val="003060"/>
              </a:solidFill>
              <a:latin typeface="Libre Baskerville"/>
              <a:ea typeface="Libre Baskerville"/>
              <a:cs typeface="Libre Baskerville"/>
              <a:sym typeface="Libre Baskerville"/>
            </a:endParaRPr>
          </a:p>
          <a:p>
            <a:pPr indent="0" lvl="0" marL="0" marR="0" rtl="0" algn="ctr">
              <a:spcBef>
                <a:spcPts val="1400"/>
              </a:spcBef>
              <a:spcAft>
                <a:spcPts val="0"/>
              </a:spcAft>
              <a:buNone/>
            </a:pPr>
            <a:r>
              <a:rPr lang="en-GB" sz="2000">
                <a:solidFill>
                  <a:srgbClr val="003060"/>
                </a:solidFill>
                <a:latin typeface="Libre Baskerville"/>
                <a:ea typeface="Libre Baskerville"/>
                <a:cs typeface="Libre Baskerville"/>
                <a:sym typeface="Libre Baskerville"/>
              </a:rPr>
              <a:t>We're upgrading the entire WLA </a:t>
            </a:r>
            <a:r>
              <a:rPr lang="en-GB" sz="2000">
                <a:solidFill>
                  <a:srgbClr val="003060"/>
                </a:solidFill>
                <a:latin typeface="Libre Baskerville"/>
                <a:ea typeface="Libre Baskerville"/>
                <a:cs typeface="Libre Baskerville"/>
                <a:sym typeface="Libre Baskerville"/>
              </a:rPr>
              <a:t>experience</a:t>
            </a:r>
            <a:r>
              <a:rPr lang="en-GB" sz="2000">
                <a:solidFill>
                  <a:srgbClr val="003060"/>
                </a:solidFill>
                <a:latin typeface="Libre Baskerville"/>
                <a:ea typeface="Libre Baskerville"/>
                <a:cs typeface="Libre Baskerville"/>
                <a:sym typeface="Libre Baskerville"/>
              </a:rPr>
              <a:t> </a:t>
            </a:r>
            <a:r>
              <a:rPr i="1" lang="en-GB" sz="2000">
                <a:solidFill>
                  <a:srgbClr val="003060"/>
                </a:solidFill>
                <a:latin typeface="Libre Baskerville"/>
                <a:ea typeface="Libre Baskerville"/>
                <a:cs typeface="Libre Baskerville"/>
                <a:sym typeface="Libre Baskerville"/>
              </a:rPr>
              <a:t>(a slight name change from The Weight Loss Academy - </a:t>
            </a:r>
            <a:r>
              <a:rPr i="1" lang="en-GB" sz="2000">
                <a:solidFill>
                  <a:srgbClr val="003060"/>
                </a:solidFill>
                <a:latin typeface="Libre Baskerville"/>
                <a:ea typeface="Libre Baskerville"/>
                <a:cs typeface="Libre Baskerville"/>
                <a:sym typeface="Libre Baskerville"/>
              </a:rPr>
              <a:t>The Weight Loss &amp; Lifestyle Academy)</a:t>
            </a:r>
            <a:r>
              <a:rPr lang="en-GB" sz="2000">
                <a:solidFill>
                  <a:srgbClr val="003060"/>
                </a:solidFill>
                <a:latin typeface="Libre Baskerville"/>
                <a:ea typeface="Libre Baskerville"/>
                <a:cs typeface="Libre Baskerville"/>
                <a:sym typeface="Libre Baskerville"/>
              </a:rPr>
              <a:t> </a:t>
            </a:r>
            <a:r>
              <a:rPr lang="en-GB" sz="2000">
                <a:solidFill>
                  <a:srgbClr val="003060"/>
                </a:solidFill>
                <a:latin typeface="Libre Baskerville"/>
                <a:ea typeface="Libre Baskerville"/>
                <a:cs typeface="Libre Baskerville"/>
                <a:sym typeface="Libre Baskerville"/>
              </a:rPr>
              <a:t>with improved coaching, accountability, tracking and support tools designed to help women achieve even better long-term results. </a:t>
            </a:r>
            <a:endParaRPr sz="2000">
              <a:solidFill>
                <a:srgbClr val="003060"/>
              </a:solidFill>
              <a:latin typeface="Libre Baskerville"/>
              <a:ea typeface="Libre Baskerville"/>
              <a:cs typeface="Libre Baskerville"/>
              <a:sym typeface="Libre Baskerville"/>
            </a:endParaRPr>
          </a:p>
          <a:p>
            <a:pPr indent="0" lvl="0" marL="0" marR="0" rtl="0" algn="ctr">
              <a:spcBef>
                <a:spcPts val="1400"/>
              </a:spcBef>
              <a:spcAft>
                <a:spcPts val="0"/>
              </a:spcAft>
              <a:buNone/>
            </a:pPr>
            <a:r>
              <a:rPr lang="en-GB" sz="2000">
                <a:solidFill>
                  <a:srgbClr val="003060"/>
                </a:solidFill>
                <a:latin typeface="Libre Baskerville"/>
                <a:ea typeface="Libre Baskerville"/>
                <a:cs typeface="Libre Baskerville"/>
                <a:sym typeface="Libre Baskerville"/>
              </a:rPr>
              <a:t>To celebrate this evolution, this is your one-off opportunity to get early access to everything we're building, before prices increase later this year.</a:t>
            </a:r>
            <a:endParaRPr sz="2000">
              <a:solidFill>
                <a:srgbClr val="003060"/>
              </a:solidFill>
              <a:latin typeface="Libre Baskerville"/>
              <a:ea typeface="Libre Baskerville"/>
              <a:cs typeface="Libre Baskerville"/>
              <a:sym typeface="Libre Baskerville"/>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499" name="Shape 499"/>
        <p:cNvGrpSpPr/>
        <p:nvPr/>
      </p:nvGrpSpPr>
      <p:grpSpPr>
        <a:xfrm>
          <a:off x="0" y="0"/>
          <a:ext cx="0" cy="0"/>
          <a:chOff x="0" y="0"/>
          <a:chExt cx="0" cy="0"/>
        </a:xfrm>
      </p:grpSpPr>
      <p:sp>
        <p:nvSpPr>
          <p:cNvPr id="500" name="Google Shape;500;p84"/>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3000" u="none" cap="none" strike="noStrike">
                <a:solidFill>
                  <a:srgbClr val="003060"/>
                </a:solidFill>
                <a:latin typeface="Libre Baskerville"/>
                <a:ea typeface="Libre Baskerville"/>
                <a:cs typeface="Libre Baskerville"/>
                <a:sym typeface="Libre Baskerville"/>
              </a:rPr>
              <a:t>Reserve your space now!</a:t>
            </a:r>
            <a:endParaRPr/>
          </a:p>
          <a:p>
            <a:pPr indent="0" lvl="0" marL="0" marR="0" rtl="0" algn="ctr">
              <a:spcBef>
                <a:spcPts val="1400"/>
              </a:spcBef>
              <a:spcAft>
                <a:spcPts val="0"/>
              </a:spcAft>
              <a:buNone/>
            </a:pPr>
            <a:r>
              <a:rPr b="1" i="1" lang="en-GB" sz="2400" u="none" cap="none" strike="noStrike">
                <a:solidFill>
                  <a:srgbClr val="F79F83"/>
                </a:solidFill>
                <a:latin typeface="Libre Baskerville"/>
                <a:ea typeface="Libre Baskerville"/>
                <a:cs typeface="Libre Baskerville"/>
                <a:sym typeface="Libre Baskerville"/>
              </a:rPr>
              <a:t>Link in comments!</a:t>
            </a:r>
            <a:endParaRPr/>
          </a:p>
          <a:p>
            <a:pPr indent="0" lvl="0" marL="0" marR="0" rtl="0" algn="ctr">
              <a:spcBef>
                <a:spcPts val="1400"/>
              </a:spcBef>
              <a:spcAft>
                <a:spcPts val="0"/>
              </a:spcAft>
              <a:buNone/>
            </a:pPr>
            <a:r>
              <a:rPr b="1" i="0" lang="en-GB" sz="2200" u="none" cap="none" strike="noStrike">
                <a:solidFill>
                  <a:srgbClr val="003060"/>
                </a:solidFill>
                <a:latin typeface="Libre Baskerville"/>
                <a:ea typeface="Libre Baskerville"/>
                <a:cs typeface="Libre Baskerville"/>
                <a:sym typeface="Libre Baskerville"/>
              </a:rPr>
              <a:t>Limited places!</a:t>
            </a:r>
            <a:endParaRPr/>
          </a:p>
          <a:p>
            <a:pPr indent="0" lvl="0" marL="0" marR="0" rtl="0" algn="ctr">
              <a:spcBef>
                <a:spcPts val="1400"/>
              </a:spcBef>
              <a:spcAft>
                <a:spcPts val="0"/>
              </a:spcAft>
              <a:buNone/>
            </a:pPr>
            <a:r>
              <a:rPr b="1" i="1" lang="en-GB" sz="2200" u="none" cap="none" strike="noStrike">
                <a:solidFill>
                  <a:srgbClr val="F79F83"/>
                </a:solidFill>
                <a:latin typeface="Libre Baskerville"/>
                <a:ea typeface="Libre Baskerville"/>
                <a:cs typeface="Libre Baskerville"/>
                <a:sym typeface="Libre Baskerville"/>
              </a:rPr>
              <a:t>One time offer and discount!</a:t>
            </a:r>
            <a:endParaRPr/>
          </a:p>
          <a:p>
            <a:pPr indent="0" lvl="0" marL="0" marR="0" rtl="0" algn="ctr">
              <a:spcBef>
                <a:spcPts val="2200"/>
              </a:spcBef>
              <a:spcAft>
                <a:spcPts val="0"/>
              </a:spcAft>
              <a:buNone/>
            </a:pPr>
            <a:r>
              <a:rPr b="1" i="0" lang="en-GB" sz="2000" u="none" cap="none" strike="noStrike">
                <a:solidFill>
                  <a:srgbClr val="003060"/>
                </a:solidFill>
                <a:latin typeface="Libre Baskerville"/>
                <a:ea typeface="Libre Baskerville"/>
                <a:cs typeface="Libre Baskerville"/>
                <a:sym typeface="Libre Baskerville"/>
              </a:rPr>
              <a:t>Pop LINK into comments if you need </a:t>
            </a:r>
            <a:r>
              <a:rPr b="1" lang="en-GB" sz="2000">
                <a:solidFill>
                  <a:srgbClr val="003060"/>
                </a:solidFill>
                <a:latin typeface="Libre Baskerville"/>
                <a:ea typeface="Libre Baskerville"/>
                <a:cs typeface="Libre Baskerville"/>
                <a:sym typeface="Libre Baskerville"/>
              </a:rPr>
              <a:t>the link to join</a:t>
            </a:r>
            <a:endParaRPr>
              <a:latin typeface="Libre Baskerville"/>
              <a:ea typeface="Libre Baskerville"/>
              <a:cs typeface="Libre Baskerville"/>
              <a:sym typeface="Libre Baskerville"/>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04" name="Shape 504"/>
        <p:cNvGrpSpPr/>
        <p:nvPr/>
      </p:nvGrpSpPr>
      <p:grpSpPr>
        <a:xfrm>
          <a:off x="0" y="0"/>
          <a:ext cx="0" cy="0"/>
          <a:chOff x="0" y="0"/>
          <a:chExt cx="0" cy="0"/>
        </a:xfrm>
      </p:grpSpPr>
      <p:sp>
        <p:nvSpPr>
          <p:cNvPr id="505" name="Google Shape;505;p85"/>
          <p:cNvSpPr txBox="1"/>
          <p:nvPr/>
        </p:nvSpPr>
        <p:spPr>
          <a:xfrm>
            <a:off x="457200" y="280000"/>
            <a:ext cx="8229600" cy="62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3000" u="none" cap="none" strike="noStrike">
                <a:solidFill>
                  <a:srgbClr val="003060"/>
                </a:solidFill>
                <a:latin typeface="Libre Baskerville"/>
                <a:ea typeface="Libre Baskerville"/>
                <a:cs typeface="Libre Baskerville"/>
                <a:sym typeface="Libre Baskerville"/>
              </a:rPr>
              <a:t>This Is For You If…</a:t>
            </a:r>
            <a:endParaRPr/>
          </a:p>
        </p:txBody>
      </p:sp>
      <p:sp>
        <p:nvSpPr>
          <p:cNvPr id="506" name="Google Shape;506;p85"/>
          <p:cNvSpPr txBox="1"/>
          <p:nvPr/>
        </p:nvSpPr>
        <p:spPr>
          <a:xfrm>
            <a:off x="457200" y="980000"/>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Time</a:t>
            </a:r>
            <a:endParaRPr sz="1600"/>
          </a:p>
        </p:txBody>
      </p:sp>
      <p:sp>
        <p:nvSpPr>
          <p:cNvPr id="507" name="Google Shape;507;p85"/>
          <p:cNvSpPr txBox="1"/>
          <p:nvPr/>
        </p:nvSpPr>
        <p:spPr>
          <a:xfrm>
            <a:off x="2817200" y="980000"/>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want a simple, easy nutrition solution that gives you results without taking over your life.</a:t>
            </a:r>
            <a:endParaRPr sz="1600"/>
          </a:p>
        </p:txBody>
      </p:sp>
      <p:sp>
        <p:nvSpPr>
          <p:cNvPr id="508" name="Google Shape;508;p85"/>
          <p:cNvSpPr txBox="1"/>
          <p:nvPr/>
        </p:nvSpPr>
        <p:spPr>
          <a:xfrm>
            <a:off x="457200" y="1549071"/>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Want Results</a:t>
            </a:r>
            <a:endParaRPr sz="1600"/>
          </a:p>
        </p:txBody>
      </p:sp>
      <p:sp>
        <p:nvSpPr>
          <p:cNvPr id="509" name="Google Shape;509;p85"/>
          <p:cNvSpPr txBox="1"/>
          <p:nvPr/>
        </p:nvSpPr>
        <p:spPr>
          <a:xfrm>
            <a:off x="2817200" y="1549071"/>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are tired of not seeing results and you want real support to finally make it happen.</a:t>
            </a:r>
            <a:endParaRPr sz="1600"/>
          </a:p>
        </p:txBody>
      </p:sp>
      <p:sp>
        <p:nvSpPr>
          <p:cNvPr id="510" name="Google Shape;510;p85"/>
          <p:cNvSpPr txBox="1"/>
          <p:nvPr/>
        </p:nvSpPr>
        <p:spPr>
          <a:xfrm>
            <a:off x="457200" y="2118142"/>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Consistency</a:t>
            </a:r>
            <a:endParaRPr sz="1600"/>
          </a:p>
        </p:txBody>
      </p:sp>
      <p:sp>
        <p:nvSpPr>
          <p:cNvPr id="511" name="Google Shape;511;p85"/>
          <p:cNvSpPr txBox="1"/>
          <p:nvPr/>
        </p:nvSpPr>
        <p:spPr>
          <a:xfrm>
            <a:off x="2817200" y="2118142"/>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need high accountability so you stay consistent and stop quitting every few weeks.</a:t>
            </a:r>
            <a:endParaRPr sz="1600"/>
          </a:p>
        </p:txBody>
      </p:sp>
      <p:sp>
        <p:nvSpPr>
          <p:cNvPr id="512" name="Google Shape;512;p85"/>
          <p:cNvSpPr txBox="1"/>
          <p:nvPr/>
        </p:nvSpPr>
        <p:spPr>
          <a:xfrm>
            <a:off x="457200" y="2687213"/>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Energy</a:t>
            </a:r>
            <a:endParaRPr sz="1600"/>
          </a:p>
        </p:txBody>
      </p:sp>
      <p:sp>
        <p:nvSpPr>
          <p:cNvPr id="513" name="Google Shape;513;p85"/>
          <p:cNvSpPr txBox="1"/>
          <p:nvPr/>
        </p:nvSpPr>
        <p:spPr>
          <a:xfrm>
            <a:off x="2817200" y="2687213"/>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want a nutrition setup that gives you real energy without depending on sugar and caffeine.</a:t>
            </a:r>
            <a:endParaRPr sz="1600"/>
          </a:p>
        </p:txBody>
      </p:sp>
      <p:sp>
        <p:nvSpPr>
          <p:cNvPr id="514" name="Google Shape;514;p85"/>
          <p:cNvSpPr txBox="1"/>
          <p:nvPr/>
        </p:nvSpPr>
        <p:spPr>
          <a:xfrm>
            <a:off x="457200" y="3256284"/>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Snacking</a:t>
            </a:r>
            <a:endParaRPr sz="1600"/>
          </a:p>
        </p:txBody>
      </p:sp>
      <p:sp>
        <p:nvSpPr>
          <p:cNvPr id="515" name="Google Shape;515;p85"/>
          <p:cNvSpPr txBox="1"/>
          <p:nvPr/>
        </p:nvSpPr>
        <p:spPr>
          <a:xfrm>
            <a:off x="2817200" y="3256284"/>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want the support and accountability to break the evening snacking that has just become habit.</a:t>
            </a:r>
            <a:endParaRPr sz="1600"/>
          </a:p>
        </p:txBody>
      </p:sp>
      <p:sp>
        <p:nvSpPr>
          <p:cNvPr id="516" name="Google Shape;516;p85"/>
          <p:cNvSpPr txBox="1"/>
          <p:nvPr/>
        </p:nvSpPr>
        <p:spPr>
          <a:xfrm>
            <a:off x="457200" y="3825355"/>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Weekends</a:t>
            </a:r>
            <a:endParaRPr sz="1600"/>
          </a:p>
        </p:txBody>
      </p:sp>
      <p:sp>
        <p:nvSpPr>
          <p:cNvPr id="517" name="Google Shape;517;p85"/>
          <p:cNvSpPr txBox="1"/>
          <p:nvPr/>
        </p:nvSpPr>
        <p:spPr>
          <a:xfrm>
            <a:off x="2817200" y="3825355"/>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want a rock-solid weekend strategy so you don't undo all your weekly hard work.</a:t>
            </a:r>
            <a:endParaRPr sz="1600"/>
          </a:p>
        </p:txBody>
      </p:sp>
      <p:sp>
        <p:nvSpPr>
          <p:cNvPr id="518" name="Google Shape;518;p85"/>
          <p:cNvSpPr txBox="1"/>
          <p:nvPr/>
        </p:nvSpPr>
        <p:spPr>
          <a:xfrm>
            <a:off x="457200" y="4394426"/>
            <a:ext cx="2200000" cy="5690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Ready</a:t>
            </a:r>
            <a:endParaRPr sz="1600"/>
          </a:p>
        </p:txBody>
      </p:sp>
      <p:sp>
        <p:nvSpPr>
          <p:cNvPr id="519" name="Google Shape;519;p85"/>
          <p:cNvSpPr txBox="1"/>
          <p:nvPr/>
        </p:nvSpPr>
        <p:spPr>
          <a:xfrm>
            <a:off x="2817200" y="4394426"/>
            <a:ext cx="5869600" cy="569071"/>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are ready to take action and show up for your goals.</a:t>
            </a:r>
            <a:endParaRPr sz="16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23" name="Shape 523"/>
        <p:cNvGrpSpPr/>
        <p:nvPr/>
      </p:nvGrpSpPr>
      <p:grpSpPr>
        <a:xfrm>
          <a:off x="0" y="0"/>
          <a:ext cx="0" cy="0"/>
          <a:chOff x="0" y="0"/>
          <a:chExt cx="0" cy="0"/>
        </a:xfrm>
      </p:grpSpPr>
      <p:sp>
        <p:nvSpPr>
          <p:cNvPr id="524" name="Google Shape;524;p86"/>
          <p:cNvSpPr txBox="1"/>
          <p:nvPr/>
        </p:nvSpPr>
        <p:spPr>
          <a:xfrm>
            <a:off x="457200" y="280000"/>
            <a:ext cx="8229600" cy="620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3000" u="none" cap="none" strike="noStrike">
                <a:solidFill>
                  <a:srgbClr val="003060"/>
                </a:solidFill>
                <a:latin typeface="Libre Baskerville"/>
                <a:ea typeface="Libre Baskerville"/>
                <a:cs typeface="Libre Baskerville"/>
                <a:sym typeface="Libre Baskerville"/>
              </a:rPr>
              <a:t>This Is NOT For You If…</a:t>
            </a:r>
            <a:endParaRPr/>
          </a:p>
        </p:txBody>
      </p:sp>
      <p:sp>
        <p:nvSpPr>
          <p:cNvPr id="525" name="Google Shape;525;p86"/>
          <p:cNvSpPr txBox="1"/>
          <p:nvPr/>
        </p:nvSpPr>
        <p:spPr>
          <a:xfrm>
            <a:off x="457200" y="980000"/>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Quick Fixes</a:t>
            </a:r>
            <a:endParaRPr sz="1600">
              <a:solidFill>
                <a:srgbClr val="F79F83"/>
              </a:solidFill>
            </a:endParaRPr>
          </a:p>
        </p:txBody>
      </p:sp>
      <p:sp>
        <p:nvSpPr>
          <p:cNvPr id="526" name="Google Shape;526;p86"/>
          <p:cNvSpPr txBox="1"/>
          <p:nvPr/>
        </p:nvSpPr>
        <p:spPr>
          <a:xfrm>
            <a:off x="2817200" y="980000"/>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are looking for a magic pill or detox tea solution.</a:t>
            </a:r>
            <a:endParaRPr sz="1600"/>
          </a:p>
        </p:txBody>
      </p:sp>
      <p:sp>
        <p:nvSpPr>
          <p:cNvPr id="527" name="Google Shape;527;p86"/>
          <p:cNvSpPr txBox="1"/>
          <p:nvPr/>
        </p:nvSpPr>
        <p:spPr>
          <a:xfrm>
            <a:off x="457200" y="1643916"/>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No Commitment</a:t>
            </a:r>
            <a:endParaRPr sz="1600">
              <a:solidFill>
                <a:srgbClr val="F79F83"/>
              </a:solidFill>
            </a:endParaRPr>
          </a:p>
        </p:txBody>
      </p:sp>
      <p:sp>
        <p:nvSpPr>
          <p:cNvPr id="528" name="Google Shape;528;p86"/>
          <p:cNvSpPr txBox="1"/>
          <p:nvPr/>
        </p:nvSpPr>
        <p:spPr>
          <a:xfrm>
            <a:off x="2817200" y="1643916"/>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are not ready to take action, stay consistent or show up for yourself.</a:t>
            </a:r>
            <a:endParaRPr sz="1600"/>
          </a:p>
        </p:txBody>
      </p:sp>
      <p:sp>
        <p:nvSpPr>
          <p:cNvPr id="529" name="Google Shape;529;p86"/>
          <p:cNvSpPr txBox="1"/>
          <p:nvPr/>
        </p:nvSpPr>
        <p:spPr>
          <a:xfrm>
            <a:off x="457200" y="2307832"/>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Perfection</a:t>
            </a:r>
            <a:endParaRPr sz="1600">
              <a:solidFill>
                <a:srgbClr val="F79F83"/>
              </a:solidFill>
            </a:endParaRPr>
          </a:p>
        </p:txBody>
      </p:sp>
      <p:sp>
        <p:nvSpPr>
          <p:cNvPr id="530" name="Google Shape;530;p86"/>
          <p:cNvSpPr txBox="1"/>
          <p:nvPr/>
        </p:nvSpPr>
        <p:spPr>
          <a:xfrm>
            <a:off x="2817200" y="2307832"/>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think you need to be "perfect" to get results instead of being consistent.</a:t>
            </a:r>
            <a:endParaRPr sz="1600"/>
          </a:p>
        </p:txBody>
      </p:sp>
      <p:sp>
        <p:nvSpPr>
          <p:cNvPr id="531" name="Google Shape;531;p86"/>
          <p:cNvSpPr txBox="1"/>
          <p:nvPr/>
        </p:nvSpPr>
        <p:spPr>
          <a:xfrm>
            <a:off x="457200" y="2971748"/>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Excuses</a:t>
            </a:r>
            <a:endParaRPr sz="1600">
              <a:solidFill>
                <a:srgbClr val="F79F83"/>
              </a:solidFill>
            </a:endParaRPr>
          </a:p>
        </p:txBody>
      </p:sp>
      <p:sp>
        <p:nvSpPr>
          <p:cNvPr id="532" name="Google Shape;532;p86"/>
          <p:cNvSpPr txBox="1"/>
          <p:nvPr/>
        </p:nvSpPr>
        <p:spPr>
          <a:xfrm>
            <a:off x="2817200" y="2971748"/>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are not willing to make changes or take responsibility for your progress.</a:t>
            </a:r>
            <a:endParaRPr sz="1600"/>
          </a:p>
        </p:txBody>
      </p:sp>
      <p:sp>
        <p:nvSpPr>
          <p:cNvPr id="533" name="Google Shape;533;p86"/>
          <p:cNvSpPr txBox="1"/>
          <p:nvPr/>
        </p:nvSpPr>
        <p:spPr>
          <a:xfrm>
            <a:off x="457200" y="3635664"/>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All Or Nothing</a:t>
            </a:r>
            <a:endParaRPr sz="1600">
              <a:solidFill>
                <a:srgbClr val="F79F83"/>
              </a:solidFill>
            </a:endParaRPr>
          </a:p>
        </p:txBody>
      </p:sp>
      <p:sp>
        <p:nvSpPr>
          <p:cNvPr id="534" name="Google Shape;534;p86"/>
          <p:cNvSpPr txBox="1"/>
          <p:nvPr/>
        </p:nvSpPr>
        <p:spPr>
          <a:xfrm>
            <a:off x="2817200" y="3635664"/>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quit the moment life gets busy instead of learning how to adapt and keep going.</a:t>
            </a:r>
            <a:endParaRPr sz="1600"/>
          </a:p>
        </p:txBody>
      </p:sp>
      <p:sp>
        <p:nvSpPr>
          <p:cNvPr id="535" name="Google Shape;535;p86"/>
          <p:cNvSpPr txBox="1"/>
          <p:nvPr/>
        </p:nvSpPr>
        <p:spPr>
          <a:xfrm>
            <a:off x="457200" y="4299580"/>
            <a:ext cx="2199900" cy="663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No Support</a:t>
            </a:r>
            <a:endParaRPr sz="1600">
              <a:solidFill>
                <a:srgbClr val="F79F83"/>
              </a:solidFill>
            </a:endParaRPr>
          </a:p>
        </p:txBody>
      </p:sp>
      <p:sp>
        <p:nvSpPr>
          <p:cNvPr id="536" name="Google Shape;536;p86"/>
          <p:cNvSpPr txBox="1"/>
          <p:nvPr/>
        </p:nvSpPr>
        <p:spPr>
          <a:xfrm>
            <a:off x="2817200" y="4299580"/>
            <a:ext cx="5869500" cy="6639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None/>
            </a:pPr>
            <a:r>
              <a:rPr b="0" i="0" lang="en-GB" sz="1500" u="none" cap="none" strike="noStrike">
                <a:solidFill>
                  <a:srgbClr val="003060"/>
                </a:solidFill>
                <a:latin typeface="Alegreya Sans"/>
                <a:ea typeface="Alegreya Sans"/>
                <a:cs typeface="Alegreya Sans"/>
                <a:sym typeface="Alegreya Sans"/>
              </a:rPr>
              <a:t>You prefer doing everything alone rather than being coached, supported and held accountable.</a:t>
            </a:r>
            <a:endParaRPr sz="16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40" name="Shape 540"/>
        <p:cNvGrpSpPr/>
        <p:nvPr/>
      </p:nvGrpSpPr>
      <p:grpSpPr>
        <a:xfrm>
          <a:off x="0" y="0"/>
          <a:ext cx="0" cy="0"/>
          <a:chOff x="0" y="0"/>
          <a:chExt cx="0" cy="0"/>
        </a:xfrm>
      </p:grpSpPr>
      <p:sp>
        <p:nvSpPr>
          <p:cNvPr id="541" name="Google Shape;541;p87"/>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What Our Clients Say</a:t>
            </a:r>
            <a:endParaRPr/>
          </a:p>
        </p:txBody>
      </p:sp>
      <p:pic>
        <p:nvPicPr>
          <p:cNvPr id="542" name="Google Shape;542;p87" title="Jennifer McClurg - First sprint.png"/>
          <p:cNvPicPr preferRelativeResize="0"/>
          <p:nvPr/>
        </p:nvPicPr>
        <p:blipFill>
          <a:blip r:embed="rId3">
            <a:alphaModFix/>
          </a:blip>
          <a:stretch>
            <a:fillRect/>
          </a:stretch>
        </p:blipFill>
        <p:spPr>
          <a:xfrm>
            <a:off x="3145695" y="1095011"/>
            <a:ext cx="2883160" cy="3603950"/>
          </a:xfrm>
          <a:prstGeom prst="rect">
            <a:avLst/>
          </a:prstGeom>
          <a:noFill/>
          <a:ln>
            <a:noFill/>
          </a:ln>
        </p:spPr>
      </p:pic>
      <p:pic>
        <p:nvPicPr>
          <p:cNvPr id="543" name="Google Shape;543;p87" title="Fran Playfoot - Over a stone lost in 5 weeks.png"/>
          <p:cNvPicPr preferRelativeResize="0"/>
          <p:nvPr/>
        </p:nvPicPr>
        <p:blipFill>
          <a:blip r:embed="rId4">
            <a:alphaModFix/>
          </a:blip>
          <a:stretch>
            <a:fillRect/>
          </a:stretch>
        </p:blipFill>
        <p:spPr>
          <a:xfrm>
            <a:off x="158299" y="1095000"/>
            <a:ext cx="2883160" cy="3603950"/>
          </a:xfrm>
          <a:prstGeom prst="rect">
            <a:avLst/>
          </a:prstGeom>
          <a:noFill/>
          <a:ln>
            <a:noFill/>
          </a:ln>
        </p:spPr>
      </p:pic>
      <p:pic>
        <p:nvPicPr>
          <p:cNvPr id="544" name="Google Shape;544;p87" title="Emma Prior - 10 lbs Gone + Inches Lost All Over.png"/>
          <p:cNvPicPr preferRelativeResize="0"/>
          <p:nvPr/>
        </p:nvPicPr>
        <p:blipFill>
          <a:blip r:embed="rId5">
            <a:alphaModFix/>
          </a:blip>
          <a:stretch>
            <a:fillRect/>
          </a:stretch>
        </p:blipFill>
        <p:spPr>
          <a:xfrm>
            <a:off x="6107556" y="1095000"/>
            <a:ext cx="2883165" cy="360397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48" name="Shape 548"/>
        <p:cNvGrpSpPr/>
        <p:nvPr/>
      </p:nvGrpSpPr>
      <p:grpSpPr>
        <a:xfrm>
          <a:off x="0" y="0"/>
          <a:ext cx="0" cy="0"/>
          <a:chOff x="0" y="0"/>
          <a:chExt cx="0" cy="0"/>
        </a:xfrm>
      </p:grpSpPr>
      <p:sp>
        <p:nvSpPr>
          <p:cNvPr id="549" name="Google Shape;549;p88"/>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What Our Clients Say</a:t>
            </a:r>
            <a:endParaRPr/>
          </a:p>
        </p:txBody>
      </p:sp>
      <p:pic>
        <p:nvPicPr>
          <p:cNvPr id="550" name="Google Shape;550;p88" title="Mel Broad - 54cm Lost, 1.5 Stone Down.png"/>
          <p:cNvPicPr preferRelativeResize="0"/>
          <p:nvPr/>
        </p:nvPicPr>
        <p:blipFill>
          <a:blip r:embed="rId3">
            <a:alphaModFix/>
          </a:blip>
          <a:stretch>
            <a:fillRect/>
          </a:stretch>
        </p:blipFill>
        <p:spPr>
          <a:xfrm>
            <a:off x="196900" y="982763"/>
            <a:ext cx="2863374" cy="3579211"/>
          </a:xfrm>
          <a:prstGeom prst="rect">
            <a:avLst/>
          </a:prstGeom>
          <a:noFill/>
          <a:ln>
            <a:noFill/>
          </a:ln>
        </p:spPr>
      </p:pic>
      <p:pic>
        <p:nvPicPr>
          <p:cNvPr id="551" name="Google Shape;551;p88" title="Sally Nash -1 stone lost.png"/>
          <p:cNvPicPr preferRelativeResize="0"/>
          <p:nvPr/>
        </p:nvPicPr>
        <p:blipFill>
          <a:blip r:embed="rId4">
            <a:alphaModFix/>
          </a:blip>
          <a:stretch>
            <a:fillRect/>
          </a:stretch>
        </p:blipFill>
        <p:spPr>
          <a:xfrm>
            <a:off x="3142103" y="982776"/>
            <a:ext cx="2863374" cy="3579201"/>
          </a:xfrm>
          <a:prstGeom prst="rect">
            <a:avLst/>
          </a:prstGeom>
          <a:noFill/>
          <a:ln>
            <a:noFill/>
          </a:ln>
        </p:spPr>
      </p:pic>
      <p:pic>
        <p:nvPicPr>
          <p:cNvPr id="552" name="Google Shape;552;p88" title="Dawn Barker - 1 stone 4 lbs lost (1).png"/>
          <p:cNvPicPr preferRelativeResize="0"/>
          <p:nvPr/>
        </p:nvPicPr>
        <p:blipFill>
          <a:blip r:embed="rId5">
            <a:alphaModFix/>
          </a:blip>
          <a:stretch>
            <a:fillRect/>
          </a:stretch>
        </p:blipFill>
        <p:spPr>
          <a:xfrm>
            <a:off x="6085025" y="977387"/>
            <a:ext cx="2863374" cy="3579211"/>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56" name="Shape 556"/>
        <p:cNvGrpSpPr/>
        <p:nvPr/>
      </p:nvGrpSpPr>
      <p:grpSpPr>
        <a:xfrm>
          <a:off x="0" y="0"/>
          <a:ext cx="0" cy="0"/>
          <a:chOff x="0" y="0"/>
          <a:chExt cx="0" cy="0"/>
        </a:xfrm>
      </p:grpSpPr>
      <p:sp>
        <p:nvSpPr>
          <p:cNvPr id="557" name="Google Shape;557;p89"/>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What Our Clients Say</a:t>
            </a:r>
            <a:endParaRPr/>
          </a:p>
        </p:txBody>
      </p:sp>
      <p:pic>
        <p:nvPicPr>
          <p:cNvPr id="558" name="Google Shape;558;p89" title="Mand Fleet- 26 lbs down, 13 inches lost.png"/>
          <p:cNvPicPr preferRelativeResize="0"/>
          <p:nvPr/>
        </p:nvPicPr>
        <p:blipFill>
          <a:blip r:embed="rId3">
            <a:alphaModFix/>
          </a:blip>
          <a:stretch>
            <a:fillRect/>
          </a:stretch>
        </p:blipFill>
        <p:spPr>
          <a:xfrm>
            <a:off x="180195" y="1084725"/>
            <a:ext cx="2867149" cy="3583950"/>
          </a:xfrm>
          <a:prstGeom prst="rect">
            <a:avLst/>
          </a:prstGeom>
          <a:noFill/>
          <a:ln>
            <a:noFill/>
          </a:ln>
        </p:spPr>
      </p:pic>
      <p:pic>
        <p:nvPicPr>
          <p:cNvPr id="559" name="Google Shape;559;p89" title="15 lbs down.png"/>
          <p:cNvPicPr preferRelativeResize="0"/>
          <p:nvPr/>
        </p:nvPicPr>
        <p:blipFill>
          <a:blip r:embed="rId4">
            <a:alphaModFix/>
          </a:blip>
          <a:stretch>
            <a:fillRect/>
          </a:stretch>
        </p:blipFill>
        <p:spPr>
          <a:xfrm>
            <a:off x="6095545" y="1084725"/>
            <a:ext cx="2900399" cy="3625486"/>
          </a:xfrm>
          <a:prstGeom prst="rect">
            <a:avLst/>
          </a:prstGeom>
          <a:noFill/>
          <a:ln>
            <a:noFill/>
          </a:ln>
        </p:spPr>
      </p:pic>
      <p:pic>
        <p:nvPicPr>
          <p:cNvPr id="560" name="Google Shape;560;p89" title="Teresa Gentle - 1 stone lost.png"/>
          <p:cNvPicPr preferRelativeResize="0"/>
          <p:nvPr/>
        </p:nvPicPr>
        <p:blipFill>
          <a:blip r:embed="rId5">
            <a:alphaModFix/>
          </a:blip>
          <a:stretch>
            <a:fillRect/>
          </a:stretch>
        </p:blipFill>
        <p:spPr>
          <a:xfrm>
            <a:off x="3121245" y="1084725"/>
            <a:ext cx="2900399" cy="3625476"/>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64" name="Shape 564"/>
        <p:cNvGrpSpPr/>
        <p:nvPr/>
      </p:nvGrpSpPr>
      <p:grpSpPr>
        <a:xfrm>
          <a:off x="0" y="0"/>
          <a:ext cx="0" cy="0"/>
          <a:chOff x="0" y="0"/>
          <a:chExt cx="0" cy="0"/>
        </a:xfrm>
      </p:grpSpPr>
      <p:sp>
        <p:nvSpPr>
          <p:cNvPr id="565" name="Google Shape;565;p90"/>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800" u="none" cap="none" strike="noStrike">
                <a:solidFill>
                  <a:srgbClr val="003060"/>
                </a:solidFill>
                <a:latin typeface="Libre Baskerville"/>
                <a:ea typeface="Libre Baskerville"/>
                <a:cs typeface="Libre Baskerville"/>
                <a:sym typeface="Libre Baskerville"/>
              </a:rPr>
              <a:t>What Our Clients Say</a:t>
            </a:r>
            <a:endParaRPr/>
          </a:p>
        </p:txBody>
      </p:sp>
      <p:pic>
        <p:nvPicPr>
          <p:cNvPr id="566" name="Google Shape;566;p90" title="_Leah Athol - 23 lbs lost, beat menopause symptoms.png"/>
          <p:cNvPicPr preferRelativeResize="0"/>
          <p:nvPr/>
        </p:nvPicPr>
        <p:blipFill>
          <a:blip r:embed="rId3">
            <a:alphaModFix/>
          </a:blip>
          <a:stretch>
            <a:fillRect/>
          </a:stretch>
        </p:blipFill>
        <p:spPr>
          <a:xfrm>
            <a:off x="206975" y="1062475"/>
            <a:ext cx="2857124" cy="3571418"/>
          </a:xfrm>
          <a:prstGeom prst="rect">
            <a:avLst/>
          </a:prstGeom>
          <a:noFill/>
          <a:ln>
            <a:noFill/>
          </a:ln>
        </p:spPr>
      </p:pic>
      <p:pic>
        <p:nvPicPr>
          <p:cNvPr id="567" name="Google Shape;567;p90" title="Claire King - 1 stone lost .png"/>
          <p:cNvPicPr preferRelativeResize="0"/>
          <p:nvPr/>
        </p:nvPicPr>
        <p:blipFill>
          <a:blip r:embed="rId4">
            <a:alphaModFix/>
          </a:blip>
          <a:stretch>
            <a:fillRect/>
          </a:stretch>
        </p:blipFill>
        <p:spPr>
          <a:xfrm>
            <a:off x="6079894" y="1062487"/>
            <a:ext cx="2857124" cy="3608688"/>
          </a:xfrm>
          <a:prstGeom prst="rect">
            <a:avLst/>
          </a:prstGeom>
          <a:noFill/>
          <a:ln>
            <a:noFill/>
          </a:ln>
        </p:spPr>
      </p:pic>
      <p:pic>
        <p:nvPicPr>
          <p:cNvPr id="568" name="Google Shape;568;p90" title="Leah Athol - 1 stone lost since 21 day Reset.png"/>
          <p:cNvPicPr preferRelativeResize="0"/>
          <p:nvPr/>
        </p:nvPicPr>
        <p:blipFill>
          <a:blip r:embed="rId5">
            <a:alphaModFix/>
          </a:blip>
          <a:stretch>
            <a:fillRect/>
          </a:stretch>
        </p:blipFill>
        <p:spPr>
          <a:xfrm>
            <a:off x="3149165" y="1062487"/>
            <a:ext cx="2857124" cy="3571418"/>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72" name="Shape 572"/>
        <p:cNvGrpSpPr/>
        <p:nvPr/>
      </p:nvGrpSpPr>
      <p:grpSpPr>
        <a:xfrm>
          <a:off x="0" y="0"/>
          <a:ext cx="0" cy="0"/>
          <a:chOff x="0" y="0"/>
          <a:chExt cx="0" cy="0"/>
        </a:xfrm>
      </p:grpSpPr>
      <p:sp>
        <p:nvSpPr>
          <p:cNvPr id="573" name="Google Shape;573;p91"/>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400" u="none" cap="none" strike="noStrike">
                <a:solidFill>
                  <a:srgbClr val="003060"/>
                </a:solidFill>
                <a:latin typeface="Libre Baskerville"/>
                <a:ea typeface="Libre Baskerville"/>
                <a:cs typeface="Libre Baskerville"/>
                <a:sym typeface="Libre Baskerville"/>
              </a:rPr>
              <a:t>Incredible Transformations From </a:t>
            </a:r>
            <a:endParaRPr b="1" i="0" sz="2400" u="none" cap="none" strike="noStrike">
              <a:solidFill>
                <a:srgbClr val="003060"/>
              </a:solidFill>
              <a:latin typeface="Libre Baskerville"/>
              <a:ea typeface="Libre Baskerville"/>
              <a:cs typeface="Libre Baskerville"/>
              <a:sym typeface="Libre Baskerville"/>
            </a:endParaRPr>
          </a:p>
          <a:p>
            <a:pPr indent="0" lvl="0" marL="0" marR="0" rtl="0" algn="ctr">
              <a:spcBef>
                <a:spcPts val="0"/>
              </a:spcBef>
              <a:spcAft>
                <a:spcPts val="0"/>
              </a:spcAft>
              <a:buNone/>
            </a:pPr>
            <a:r>
              <a:rPr b="1" i="0" lang="en-GB" sz="2400" u="none" cap="none" strike="noStrike">
                <a:solidFill>
                  <a:srgbClr val="003060"/>
                </a:solidFill>
                <a:latin typeface="Libre Baskerville"/>
                <a:ea typeface="Libre Baskerville"/>
                <a:cs typeface="Libre Baskerville"/>
                <a:sym typeface="Libre Baskerville"/>
              </a:rPr>
              <a:t>Our WLA Community</a:t>
            </a:r>
            <a:endParaRPr/>
          </a:p>
        </p:txBody>
      </p:sp>
      <p:pic>
        <p:nvPicPr>
          <p:cNvPr id="574" name="Google Shape;574;p91" title="Tara Deakin .png"/>
          <p:cNvPicPr preferRelativeResize="0"/>
          <p:nvPr/>
        </p:nvPicPr>
        <p:blipFill rotWithShape="1">
          <a:blip r:embed="rId3">
            <a:alphaModFix/>
          </a:blip>
          <a:srcRect b="4626" l="0" r="4925" t="0"/>
          <a:stretch/>
        </p:blipFill>
        <p:spPr>
          <a:xfrm>
            <a:off x="2432696" y="1075447"/>
            <a:ext cx="2044775" cy="1987224"/>
          </a:xfrm>
          <a:prstGeom prst="rect">
            <a:avLst/>
          </a:prstGeom>
          <a:noFill/>
          <a:ln>
            <a:noFill/>
          </a:ln>
        </p:spPr>
      </p:pic>
      <p:pic>
        <p:nvPicPr>
          <p:cNvPr id="575" name="Google Shape;575;p91" title="SBS(2).png"/>
          <p:cNvPicPr preferRelativeResize="0"/>
          <p:nvPr/>
        </p:nvPicPr>
        <p:blipFill>
          <a:blip r:embed="rId4">
            <a:alphaModFix/>
          </a:blip>
          <a:stretch>
            <a:fillRect/>
          </a:stretch>
        </p:blipFill>
        <p:spPr>
          <a:xfrm>
            <a:off x="6700846" y="3146975"/>
            <a:ext cx="2168424" cy="1982626"/>
          </a:xfrm>
          <a:prstGeom prst="rect">
            <a:avLst/>
          </a:prstGeom>
          <a:noFill/>
          <a:ln>
            <a:noFill/>
          </a:ln>
        </p:spPr>
      </p:pic>
      <p:pic>
        <p:nvPicPr>
          <p:cNvPr id="576" name="Google Shape;576;p91" title="Copy of Audrey Revie - S&amp;S.png"/>
          <p:cNvPicPr preferRelativeResize="0"/>
          <p:nvPr/>
        </p:nvPicPr>
        <p:blipFill>
          <a:blip r:embed="rId5">
            <a:alphaModFix/>
          </a:blip>
          <a:stretch>
            <a:fillRect/>
          </a:stretch>
        </p:blipFill>
        <p:spPr>
          <a:xfrm>
            <a:off x="329221" y="3146975"/>
            <a:ext cx="1982599" cy="1937326"/>
          </a:xfrm>
          <a:prstGeom prst="rect">
            <a:avLst/>
          </a:prstGeom>
          <a:noFill/>
          <a:ln>
            <a:noFill/>
          </a:ln>
        </p:spPr>
      </p:pic>
      <p:pic>
        <p:nvPicPr>
          <p:cNvPr id="577" name="Google Shape;577;p91" title="Claire King.png"/>
          <p:cNvPicPr preferRelativeResize="0"/>
          <p:nvPr/>
        </p:nvPicPr>
        <p:blipFill>
          <a:blip r:embed="rId6">
            <a:alphaModFix/>
          </a:blip>
          <a:stretch>
            <a:fillRect/>
          </a:stretch>
        </p:blipFill>
        <p:spPr>
          <a:xfrm>
            <a:off x="311671" y="1082375"/>
            <a:ext cx="1982599" cy="1982626"/>
          </a:xfrm>
          <a:prstGeom prst="rect">
            <a:avLst/>
          </a:prstGeom>
          <a:noFill/>
          <a:ln>
            <a:noFill/>
          </a:ln>
        </p:spPr>
      </p:pic>
      <p:pic>
        <p:nvPicPr>
          <p:cNvPr id="578" name="Google Shape;578;p91" title="With Permission - Sarah Jane Moore.png"/>
          <p:cNvPicPr preferRelativeResize="0"/>
          <p:nvPr/>
        </p:nvPicPr>
        <p:blipFill>
          <a:blip r:embed="rId7">
            <a:alphaModFix/>
          </a:blip>
          <a:stretch>
            <a:fillRect/>
          </a:stretch>
        </p:blipFill>
        <p:spPr>
          <a:xfrm>
            <a:off x="2389346" y="3146975"/>
            <a:ext cx="2124425" cy="1937326"/>
          </a:xfrm>
          <a:prstGeom prst="rect">
            <a:avLst/>
          </a:prstGeom>
          <a:noFill/>
          <a:ln>
            <a:noFill/>
          </a:ln>
        </p:spPr>
      </p:pic>
      <p:pic>
        <p:nvPicPr>
          <p:cNvPr id="579" name="Google Shape;579;p91" title="Christine Robe.png"/>
          <p:cNvPicPr preferRelativeResize="0"/>
          <p:nvPr/>
        </p:nvPicPr>
        <p:blipFill>
          <a:blip r:embed="rId8">
            <a:alphaModFix/>
          </a:blip>
          <a:stretch>
            <a:fillRect/>
          </a:stretch>
        </p:blipFill>
        <p:spPr>
          <a:xfrm>
            <a:off x="4591296" y="3146975"/>
            <a:ext cx="1982599" cy="1937326"/>
          </a:xfrm>
          <a:prstGeom prst="rect">
            <a:avLst/>
          </a:prstGeom>
          <a:noFill/>
          <a:ln>
            <a:noFill/>
          </a:ln>
        </p:spPr>
      </p:pic>
      <p:pic>
        <p:nvPicPr>
          <p:cNvPr id="580" name="Google Shape;580;p91" title="Sylvia Anderson SBS (1).png"/>
          <p:cNvPicPr preferRelativeResize="0"/>
          <p:nvPr/>
        </p:nvPicPr>
        <p:blipFill rotWithShape="1">
          <a:blip r:embed="rId9">
            <a:alphaModFix/>
          </a:blip>
          <a:srcRect b="26686" l="0" r="0" t="0"/>
          <a:stretch/>
        </p:blipFill>
        <p:spPr>
          <a:xfrm>
            <a:off x="6700843" y="1067200"/>
            <a:ext cx="2168424" cy="1987224"/>
          </a:xfrm>
          <a:prstGeom prst="rect">
            <a:avLst/>
          </a:prstGeom>
          <a:noFill/>
          <a:ln>
            <a:noFill/>
          </a:ln>
        </p:spPr>
      </p:pic>
      <p:pic>
        <p:nvPicPr>
          <p:cNvPr id="581" name="Google Shape;581;p91" title="Copy of Anette Nordhoff - S&amp;S.png"/>
          <p:cNvPicPr preferRelativeResize="0"/>
          <p:nvPr/>
        </p:nvPicPr>
        <p:blipFill>
          <a:blip r:embed="rId10">
            <a:alphaModFix/>
          </a:blip>
          <a:stretch>
            <a:fillRect/>
          </a:stretch>
        </p:blipFill>
        <p:spPr>
          <a:xfrm>
            <a:off x="4615896" y="1075450"/>
            <a:ext cx="1982599" cy="198259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85" name="Shape 585"/>
        <p:cNvGrpSpPr/>
        <p:nvPr/>
      </p:nvGrpSpPr>
      <p:grpSpPr>
        <a:xfrm>
          <a:off x="0" y="0"/>
          <a:ext cx="0" cy="0"/>
          <a:chOff x="0" y="0"/>
          <a:chExt cx="0" cy="0"/>
        </a:xfrm>
      </p:grpSpPr>
      <p:sp>
        <p:nvSpPr>
          <p:cNvPr id="586" name="Google Shape;586;p92"/>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6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587" name="Google Shape;587;p92" title="SBS.png"/>
          <p:cNvPicPr preferRelativeResize="0"/>
          <p:nvPr/>
        </p:nvPicPr>
        <p:blipFill>
          <a:blip r:embed="rId3">
            <a:alphaModFix/>
          </a:blip>
          <a:stretch>
            <a:fillRect/>
          </a:stretch>
        </p:blipFill>
        <p:spPr>
          <a:xfrm>
            <a:off x="504597" y="1002975"/>
            <a:ext cx="3853475" cy="3853475"/>
          </a:xfrm>
          <a:prstGeom prst="rect">
            <a:avLst/>
          </a:prstGeom>
          <a:solidFill>
            <a:srgbClr val="ECE7DE"/>
          </a:solidFill>
          <a:ln cap="flat" cmpd="sng" w="19050">
            <a:solidFill>
              <a:srgbClr val="D9CDB6"/>
            </a:solidFill>
            <a:prstDash val="solid"/>
            <a:round/>
            <a:headEnd len="sm" w="sm" type="none"/>
            <a:tailEnd len="sm" w="sm" type="none"/>
          </a:ln>
        </p:spPr>
      </p:pic>
      <p:pic>
        <p:nvPicPr>
          <p:cNvPr id="588" name="Google Shape;588;p92" title="037bb43b-1844-4427-a635-66e727e35d98.jpg"/>
          <p:cNvPicPr preferRelativeResize="0"/>
          <p:nvPr/>
        </p:nvPicPr>
        <p:blipFill>
          <a:blip r:embed="rId4">
            <a:alphaModFix/>
          </a:blip>
          <a:stretch>
            <a:fillRect/>
          </a:stretch>
        </p:blipFill>
        <p:spPr>
          <a:xfrm>
            <a:off x="4762097" y="1002975"/>
            <a:ext cx="3896899" cy="3902729"/>
          </a:xfrm>
          <a:prstGeom prst="rect">
            <a:avLst/>
          </a:prstGeom>
          <a:solidFill>
            <a:srgbClr val="ECE7DE"/>
          </a:solidFill>
          <a:ln cap="flat" cmpd="sng" w="19050">
            <a:solidFill>
              <a:srgbClr val="D9CDB6"/>
            </a:solidFill>
            <a:prstDash val="solid"/>
            <a:round/>
            <a:headEnd len="sm" w="sm" type="none"/>
            <a:tailEnd len="sm" w="sm" type="none"/>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92" name="Shape 592"/>
        <p:cNvGrpSpPr/>
        <p:nvPr/>
      </p:nvGrpSpPr>
      <p:grpSpPr>
        <a:xfrm>
          <a:off x="0" y="0"/>
          <a:ext cx="0" cy="0"/>
          <a:chOff x="0" y="0"/>
          <a:chExt cx="0" cy="0"/>
        </a:xfrm>
      </p:grpSpPr>
      <p:sp>
        <p:nvSpPr>
          <p:cNvPr id="593" name="Google Shape;593;p93"/>
          <p:cNvSpPr txBox="1"/>
          <p:nvPr/>
        </p:nvSpPr>
        <p:spPr>
          <a:xfrm>
            <a:off x="457200" y="304800"/>
            <a:ext cx="8229600" cy="61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6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594" name="Google Shape;594;p93" title="Lisa Thorpe.png"/>
          <p:cNvPicPr preferRelativeResize="0"/>
          <p:nvPr/>
        </p:nvPicPr>
        <p:blipFill>
          <a:blip r:embed="rId3">
            <a:alphaModFix/>
          </a:blip>
          <a:stretch>
            <a:fillRect/>
          </a:stretch>
        </p:blipFill>
        <p:spPr>
          <a:xfrm>
            <a:off x="597250" y="955966"/>
            <a:ext cx="3923899" cy="3923899"/>
          </a:xfrm>
          <a:prstGeom prst="rect">
            <a:avLst/>
          </a:prstGeom>
          <a:noFill/>
          <a:ln>
            <a:noFill/>
          </a:ln>
        </p:spPr>
      </p:pic>
      <p:pic>
        <p:nvPicPr>
          <p:cNvPr id="595" name="Google Shape;595;p93" title="3b18e6b2-b99e-4c1a-8cba-902bd8dc4436.png"/>
          <p:cNvPicPr preferRelativeResize="0"/>
          <p:nvPr/>
        </p:nvPicPr>
        <p:blipFill>
          <a:blip r:embed="rId4">
            <a:alphaModFix/>
          </a:blip>
          <a:stretch>
            <a:fillRect/>
          </a:stretch>
        </p:blipFill>
        <p:spPr>
          <a:xfrm>
            <a:off x="4673549" y="955966"/>
            <a:ext cx="3923899" cy="3923899"/>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599" name="Shape 599"/>
        <p:cNvGrpSpPr/>
        <p:nvPr/>
      </p:nvGrpSpPr>
      <p:grpSpPr>
        <a:xfrm>
          <a:off x="0" y="0"/>
          <a:ext cx="0" cy="0"/>
          <a:chOff x="0" y="0"/>
          <a:chExt cx="0" cy="0"/>
        </a:xfrm>
      </p:grpSpPr>
      <p:sp>
        <p:nvSpPr>
          <p:cNvPr id="600" name="Google Shape;600;p94"/>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6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601" name="Google Shape;601;p94" title="SBS - Laura GlassMissy Pane.png"/>
          <p:cNvPicPr preferRelativeResize="0"/>
          <p:nvPr/>
        </p:nvPicPr>
        <p:blipFill>
          <a:blip r:embed="rId3">
            <a:alphaModFix/>
          </a:blip>
          <a:stretch>
            <a:fillRect/>
          </a:stretch>
        </p:blipFill>
        <p:spPr>
          <a:xfrm>
            <a:off x="1064325" y="892450"/>
            <a:ext cx="3139201" cy="3924001"/>
          </a:xfrm>
          <a:prstGeom prst="rect">
            <a:avLst/>
          </a:prstGeom>
          <a:noFill/>
          <a:ln>
            <a:noFill/>
          </a:ln>
        </p:spPr>
      </p:pic>
      <p:pic>
        <p:nvPicPr>
          <p:cNvPr id="602" name="Google Shape;602;p94" title="SBS Photo - Fran Playfoot - S&amp;S.png"/>
          <p:cNvPicPr preferRelativeResize="0"/>
          <p:nvPr/>
        </p:nvPicPr>
        <p:blipFill>
          <a:blip r:embed="rId4">
            <a:alphaModFix/>
          </a:blip>
          <a:stretch>
            <a:fillRect/>
          </a:stretch>
        </p:blipFill>
        <p:spPr>
          <a:xfrm>
            <a:off x="4767401" y="892450"/>
            <a:ext cx="3139201" cy="3924001"/>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06" name="Shape 606"/>
        <p:cNvGrpSpPr/>
        <p:nvPr/>
      </p:nvGrpSpPr>
      <p:grpSpPr>
        <a:xfrm>
          <a:off x="0" y="0"/>
          <a:ext cx="0" cy="0"/>
          <a:chOff x="0" y="0"/>
          <a:chExt cx="0" cy="0"/>
        </a:xfrm>
      </p:grpSpPr>
      <p:sp>
        <p:nvSpPr>
          <p:cNvPr id="607" name="Google Shape;607;p95"/>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6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608" name="Google Shape;608;p95" title="SBS - Elaine Devlin- S&amp;S.png"/>
          <p:cNvPicPr preferRelativeResize="0"/>
          <p:nvPr/>
        </p:nvPicPr>
        <p:blipFill>
          <a:blip r:embed="rId3">
            <a:alphaModFix/>
          </a:blip>
          <a:stretch>
            <a:fillRect/>
          </a:stretch>
        </p:blipFill>
        <p:spPr>
          <a:xfrm>
            <a:off x="1214450" y="878050"/>
            <a:ext cx="3139201" cy="3924001"/>
          </a:xfrm>
          <a:prstGeom prst="rect">
            <a:avLst/>
          </a:prstGeom>
          <a:noFill/>
          <a:ln>
            <a:noFill/>
          </a:ln>
        </p:spPr>
      </p:pic>
      <p:pic>
        <p:nvPicPr>
          <p:cNvPr id="609" name="Google Shape;609;p95" title="Arleen Hulley - SBS (1).png"/>
          <p:cNvPicPr preferRelativeResize="0"/>
          <p:nvPr/>
        </p:nvPicPr>
        <p:blipFill>
          <a:blip r:embed="rId4">
            <a:alphaModFix/>
          </a:blip>
          <a:stretch>
            <a:fillRect/>
          </a:stretch>
        </p:blipFill>
        <p:spPr>
          <a:xfrm>
            <a:off x="4661726" y="878050"/>
            <a:ext cx="3139201" cy="3924001"/>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13" name="Shape 613"/>
        <p:cNvGrpSpPr/>
        <p:nvPr/>
      </p:nvGrpSpPr>
      <p:grpSpPr>
        <a:xfrm>
          <a:off x="0" y="0"/>
          <a:ext cx="0" cy="0"/>
          <a:chOff x="0" y="0"/>
          <a:chExt cx="0" cy="0"/>
        </a:xfrm>
      </p:grpSpPr>
      <p:sp>
        <p:nvSpPr>
          <p:cNvPr id="614" name="Google Shape;614;p96"/>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6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615" name="Google Shape;615;p96" title="SBS 1.png"/>
          <p:cNvPicPr preferRelativeResize="0"/>
          <p:nvPr/>
        </p:nvPicPr>
        <p:blipFill>
          <a:blip r:embed="rId3">
            <a:alphaModFix/>
          </a:blip>
          <a:stretch>
            <a:fillRect/>
          </a:stretch>
        </p:blipFill>
        <p:spPr>
          <a:xfrm>
            <a:off x="1481375" y="914700"/>
            <a:ext cx="3139201" cy="3924001"/>
          </a:xfrm>
          <a:prstGeom prst="rect">
            <a:avLst/>
          </a:prstGeom>
          <a:noFill/>
          <a:ln>
            <a:noFill/>
          </a:ln>
        </p:spPr>
      </p:pic>
      <p:pic>
        <p:nvPicPr>
          <p:cNvPr id="616" name="Google Shape;616;p96" title="SBS.png"/>
          <p:cNvPicPr preferRelativeResize="0"/>
          <p:nvPr/>
        </p:nvPicPr>
        <p:blipFill>
          <a:blip r:embed="rId4">
            <a:alphaModFix/>
          </a:blip>
          <a:stretch>
            <a:fillRect/>
          </a:stretch>
        </p:blipFill>
        <p:spPr>
          <a:xfrm>
            <a:off x="4911976" y="914700"/>
            <a:ext cx="3139201" cy="3924001"/>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20" name="Shape 620"/>
        <p:cNvGrpSpPr/>
        <p:nvPr/>
      </p:nvGrpSpPr>
      <p:grpSpPr>
        <a:xfrm>
          <a:off x="0" y="0"/>
          <a:ext cx="0" cy="0"/>
          <a:chOff x="0" y="0"/>
          <a:chExt cx="0" cy="0"/>
        </a:xfrm>
      </p:grpSpPr>
      <p:sp>
        <p:nvSpPr>
          <p:cNvPr id="621" name="Google Shape;621;p97"/>
          <p:cNvSpPr txBox="1"/>
          <p:nvPr/>
        </p:nvSpPr>
        <p:spPr>
          <a:xfrm>
            <a:off x="457200" y="304800"/>
            <a:ext cx="8229600" cy="609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sz="2600" u="none" cap="none" strike="noStrike">
                <a:solidFill>
                  <a:srgbClr val="003060"/>
                </a:solidFill>
                <a:latin typeface="Libre Baskerville"/>
                <a:ea typeface="Libre Baskerville"/>
                <a:cs typeface="Libre Baskerville"/>
                <a:sym typeface="Libre Baskerville"/>
              </a:rPr>
              <a:t>Real Women, Real Transformations</a:t>
            </a:r>
            <a:endParaRPr/>
          </a:p>
        </p:txBody>
      </p:sp>
      <p:pic>
        <p:nvPicPr>
          <p:cNvPr id="622" name="Google Shape;622;p97" title="Lorraine Courts - SBS .png"/>
          <p:cNvPicPr preferRelativeResize="0"/>
          <p:nvPr/>
        </p:nvPicPr>
        <p:blipFill>
          <a:blip r:embed="rId3">
            <a:alphaModFix/>
          </a:blip>
          <a:stretch>
            <a:fillRect/>
          </a:stretch>
        </p:blipFill>
        <p:spPr>
          <a:xfrm>
            <a:off x="202663" y="1198300"/>
            <a:ext cx="2640408" cy="3300517"/>
          </a:xfrm>
          <a:prstGeom prst="rect">
            <a:avLst/>
          </a:prstGeom>
          <a:noFill/>
          <a:ln>
            <a:noFill/>
          </a:ln>
        </p:spPr>
      </p:pic>
      <p:pic>
        <p:nvPicPr>
          <p:cNvPr id="623" name="Google Shape;623;p97" title="Kay Crane SBS Side.png"/>
          <p:cNvPicPr preferRelativeResize="0"/>
          <p:nvPr/>
        </p:nvPicPr>
        <p:blipFill>
          <a:blip r:embed="rId4">
            <a:alphaModFix/>
          </a:blip>
          <a:stretch>
            <a:fillRect/>
          </a:stretch>
        </p:blipFill>
        <p:spPr>
          <a:xfrm>
            <a:off x="6356528" y="1198300"/>
            <a:ext cx="2640408" cy="3300524"/>
          </a:xfrm>
          <a:prstGeom prst="rect">
            <a:avLst/>
          </a:prstGeom>
          <a:noFill/>
          <a:ln>
            <a:noFill/>
          </a:ln>
        </p:spPr>
      </p:pic>
      <p:pic>
        <p:nvPicPr>
          <p:cNvPr id="624" name="Google Shape;624;p97" title="Before and after photo - Jill .png"/>
          <p:cNvPicPr preferRelativeResize="0"/>
          <p:nvPr/>
        </p:nvPicPr>
        <p:blipFill>
          <a:blip r:embed="rId5">
            <a:alphaModFix/>
          </a:blip>
          <a:stretch>
            <a:fillRect/>
          </a:stretch>
        </p:blipFill>
        <p:spPr>
          <a:xfrm>
            <a:off x="2952537" y="1198300"/>
            <a:ext cx="3300518" cy="3300518"/>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28" name="Shape 628"/>
        <p:cNvGrpSpPr/>
        <p:nvPr/>
      </p:nvGrpSpPr>
      <p:grpSpPr>
        <a:xfrm>
          <a:off x="0" y="0"/>
          <a:ext cx="0" cy="0"/>
          <a:chOff x="0" y="0"/>
          <a:chExt cx="0" cy="0"/>
        </a:xfrm>
      </p:grpSpPr>
      <p:sp>
        <p:nvSpPr>
          <p:cNvPr id="629" name="Google Shape;629;p98"/>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3000" u="none" cap="none" strike="noStrike">
                <a:solidFill>
                  <a:srgbClr val="003060"/>
                </a:solidFill>
                <a:latin typeface="Libre Baskerville"/>
                <a:ea typeface="Libre Baskerville"/>
                <a:cs typeface="Libre Baskerville"/>
                <a:sym typeface="Libre Baskerville"/>
              </a:rPr>
              <a:t>How Is This </a:t>
            </a:r>
            <a:r>
              <a:rPr b="1" lang="en-GB" sz="3000">
                <a:solidFill>
                  <a:srgbClr val="003060"/>
                </a:solidFill>
                <a:latin typeface="Libre Baskerville"/>
                <a:ea typeface="Libre Baskerville"/>
                <a:cs typeface="Libre Baskerville"/>
                <a:sym typeface="Libre Baskerville"/>
              </a:rPr>
              <a:t>Challenge</a:t>
            </a:r>
            <a:r>
              <a:rPr b="1" i="0" lang="en-GB" sz="3000" u="none" cap="none" strike="noStrike">
                <a:solidFill>
                  <a:srgbClr val="003060"/>
                </a:solidFill>
                <a:latin typeface="Libre Baskerville"/>
                <a:ea typeface="Libre Baskerville"/>
                <a:cs typeface="Libre Baskerville"/>
                <a:sym typeface="Libre Baskerville"/>
              </a:rPr>
              <a:t> Different From The Original 12 Week Academy?</a:t>
            </a:r>
            <a:endParaRPr/>
          </a:p>
          <a:p>
            <a:pPr indent="0" lvl="0" marL="0" marR="0" rtl="0" algn="ctr">
              <a:spcBef>
                <a:spcPts val="1400"/>
              </a:spcBef>
              <a:spcAft>
                <a:spcPts val="0"/>
              </a:spcAft>
              <a:buNone/>
            </a:pPr>
            <a:r>
              <a:rPr lang="en-GB" sz="1500">
                <a:solidFill>
                  <a:srgbClr val="003060"/>
                </a:solidFill>
                <a:latin typeface="Alegreya Sans"/>
                <a:ea typeface="Alegreya Sans"/>
                <a:cs typeface="Alegreya Sans"/>
                <a:sym typeface="Alegreya Sans"/>
              </a:rPr>
              <a:t>O</a:t>
            </a:r>
            <a:r>
              <a:rPr b="0" i="0" lang="en-GB" sz="1500" u="none" cap="none" strike="noStrike">
                <a:solidFill>
                  <a:srgbClr val="003060"/>
                </a:solidFill>
                <a:latin typeface="Alegreya Sans"/>
                <a:ea typeface="Alegreya Sans"/>
                <a:cs typeface="Alegreya Sans"/>
                <a:sym typeface="Alegreya Sans"/>
              </a:rPr>
              <a:t>ur Academy program remains unchanged, </a:t>
            </a:r>
            <a:r>
              <a:rPr lang="en-GB" sz="1500">
                <a:solidFill>
                  <a:srgbClr val="003060"/>
                </a:solidFill>
                <a:latin typeface="Alegreya Sans"/>
                <a:ea typeface="Alegreya Sans"/>
                <a:cs typeface="Alegreya Sans"/>
                <a:sym typeface="Alegreya Sans"/>
              </a:rPr>
              <a:t>it's</a:t>
            </a:r>
            <a:r>
              <a:rPr b="0" i="0" lang="en-GB" sz="1500" u="none" cap="none" strike="noStrike">
                <a:solidFill>
                  <a:srgbClr val="003060"/>
                </a:solidFill>
                <a:latin typeface="Alegreya Sans"/>
                <a:ea typeface="Alegreya Sans"/>
                <a:cs typeface="Alegreya Sans"/>
                <a:sym typeface="Alegreya Sans"/>
              </a:rPr>
              <a:t> </a:t>
            </a:r>
            <a:r>
              <a:rPr lang="en-GB" sz="1500">
                <a:solidFill>
                  <a:srgbClr val="003060"/>
                </a:solidFill>
                <a:latin typeface="Alegreya Sans"/>
                <a:ea typeface="Alegreya Sans"/>
                <a:cs typeface="Alegreya Sans"/>
                <a:sym typeface="Alegreya Sans"/>
              </a:rPr>
              <a:t>just</a:t>
            </a:r>
            <a:r>
              <a:rPr b="0" i="0" lang="en-GB" sz="1500" u="none" cap="none" strike="noStrike">
                <a:solidFill>
                  <a:srgbClr val="003060"/>
                </a:solidFill>
                <a:latin typeface="Alegreya Sans"/>
                <a:ea typeface="Alegreya Sans"/>
                <a:cs typeface="Alegreya Sans"/>
                <a:sym typeface="Alegreya Sans"/>
              </a:rPr>
              <a:t> not open to new clien</a:t>
            </a:r>
            <a:r>
              <a:rPr lang="en-GB" sz="1500">
                <a:solidFill>
                  <a:srgbClr val="003060"/>
                </a:solidFill>
                <a:latin typeface="Alegreya Sans"/>
                <a:ea typeface="Alegreya Sans"/>
                <a:cs typeface="Alegreya Sans"/>
                <a:sym typeface="Alegreya Sans"/>
              </a:rPr>
              <a:t>ts anymore.</a:t>
            </a:r>
            <a:endParaRPr/>
          </a:p>
          <a:p>
            <a:pPr indent="0" lvl="0" marL="0" marR="0" rtl="0" algn="ctr">
              <a:spcBef>
                <a:spcPts val="1000"/>
              </a:spcBef>
              <a:spcAft>
                <a:spcPts val="0"/>
              </a:spcAft>
              <a:buNone/>
            </a:pPr>
            <a:r>
              <a:rPr b="1" i="1" lang="en-GB" sz="1500">
                <a:solidFill>
                  <a:srgbClr val="F79F83"/>
                </a:solidFill>
                <a:latin typeface="Libre Baskerville"/>
                <a:ea typeface="Libre Baskerville"/>
                <a:cs typeface="Libre Baskerville"/>
                <a:sym typeface="Libre Baskerville"/>
              </a:rPr>
              <a:t>D</a:t>
            </a:r>
            <a:r>
              <a:rPr b="1" i="1" lang="en-GB" sz="1500" u="none" cap="none" strike="noStrike">
                <a:solidFill>
                  <a:srgbClr val="F79F83"/>
                </a:solidFill>
                <a:latin typeface="Libre Baskerville"/>
                <a:ea typeface="Libre Baskerville"/>
                <a:cs typeface="Libre Baskerville"/>
                <a:sym typeface="Libre Baskerville"/>
              </a:rPr>
              <a:t>ue to overwhelming demand, </a:t>
            </a:r>
            <a:endParaRPr b="1" i="1" sz="1500" u="none" cap="none" strike="noStrike">
              <a:solidFill>
                <a:srgbClr val="F79F83"/>
              </a:solidFill>
              <a:latin typeface="Libre Baskerville"/>
              <a:ea typeface="Libre Baskerville"/>
              <a:cs typeface="Libre Baskerville"/>
              <a:sym typeface="Libre Baskerville"/>
            </a:endParaRPr>
          </a:p>
          <a:p>
            <a:pPr indent="0" lvl="0" marL="0" marR="0" rtl="0" algn="ctr">
              <a:spcBef>
                <a:spcPts val="1000"/>
              </a:spcBef>
              <a:spcAft>
                <a:spcPts val="0"/>
              </a:spcAft>
              <a:buNone/>
            </a:pPr>
            <a:r>
              <a:rPr b="1" i="1" lang="en-GB" sz="1500" u="none" cap="none" strike="noStrike">
                <a:solidFill>
                  <a:srgbClr val="F79F83"/>
                </a:solidFill>
                <a:latin typeface="Libre Baskerville"/>
                <a:ea typeface="Libre Baskerville"/>
                <a:cs typeface="Libre Baskerville"/>
                <a:sym typeface="Libre Baskerville"/>
              </a:rPr>
              <a:t>we've introduced </a:t>
            </a:r>
            <a:r>
              <a:rPr b="1" i="1" lang="en-GB" sz="1500">
                <a:solidFill>
                  <a:srgbClr val="F79F83"/>
                </a:solidFill>
                <a:latin typeface="Libre Baskerville"/>
                <a:ea typeface="Libre Baskerville"/>
                <a:cs typeface="Libre Baskerville"/>
                <a:sym typeface="Libre Baskerville"/>
              </a:rPr>
              <a:t>new options</a:t>
            </a:r>
            <a:r>
              <a:rPr b="1" i="1" lang="en-GB" sz="1500" u="none" cap="none" strike="noStrike">
                <a:solidFill>
                  <a:srgbClr val="F79F83"/>
                </a:solidFill>
                <a:latin typeface="Libre Baskerville"/>
                <a:ea typeface="Libre Baskerville"/>
                <a:cs typeface="Libre Baskerville"/>
                <a:sym typeface="Libre Baskerville"/>
              </a:rPr>
              <a:t> to provide a more personalised experience.</a:t>
            </a:r>
            <a:endParaRPr/>
          </a:p>
          <a:p>
            <a:pPr indent="0" lvl="0" marL="0" marR="0" rtl="0" algn="ctr">
              <a:spcBef>
                <a:spcPts val="1800"/>
              </a:spcBef>
              <a:spcAft>
                <a:spcPts val="0"/>
              </a:spcAft>
              <a:buNone/>
            </a:pPr>
            <a:r>
              <a:rPr b="0" i="0" lang="en-GB" sz="1400" u="none" cap="none" strike="noStrike">
                <a:solidFill>
                  <a:srgbClr val="003060"/>
                </a:solidFill>
                <a:latin typeface="Alegreya Sans"/>
                <a:ea typeface="Alegreya Sans"/>
                <a:cs typeface="Alegreya Sans"/>
                <a:sym typeface="Alegreya Sans"/>
              </a:rPr>
              <a:t>The truth is, delivering high-level accountability and tailored support is challenging in large groups.</a:t>
            </a:r>
            <a:endParaRPr/>
          </a:p>
          <a:p>
            <a:pPr indent="0" lvl="0" marL="0" marR="0" rtl="0" algn="ctr">
              <a:spcBef>
                <a:spcPts val="1400"/>
              </a:spcBef>
              <a:spcAft>
                <a:spcPts val="0"/>
              </a:spcAft>
              <a:buNone/>
            </a:pPr>
            <a:r>
              <a:rPr b="1" i="0" lang="en-GB" sz="1400" u="none" cap="none" strike="noStrike">
                <a:solidFill>
                  <a:srgbClr val="F79F83"/>
                </a:solidFill>
                <a:latin typeface="Alegreya Sans"/>
                <a:ea typeface="Alegreya Sans"/>
                <a:cs typeface="Alegreya Sans"/>
                <a:sym typeface="Alegreya Sans"/>
              </a:rPr>
              <a:t>Regular Academy Program:  </a:t>
            </a:r>
            <a:r>
              <a:rPr b="0" i="0" lang="en-GB" sz="1400" u="none" cap="none" strike="noStrike">
                <a:solidFill>
                  <a:srgbClr val="003060"/>
                </a:solidFill>
                <a:latin typeface="Alegreya Sans"/>
                <a:ea typeface="Alegreya Sans"/>
                <a:cs typeface="Alegreya Sans"/>
                <a:sym typeface="Alegreya Sans"/>
              </a:rPr>
              <a:t>Ideal for those who are self-motivated and need tools to succeed on their own.</a:t>
            </a:r>
            <a:endParaRPr/>
          </a:p>
          <a:p>
            <a:pPr indent="0" lvl="0" marL="0" marR="0" rtl="0" algn="ctr">
              <a:spcBef>
                <a:spcPts val="800"/>
              </a:spcBef>
              <a:spcAft>
                <a:spcPts val="0"/>
              </a:spcAft>
              <a:buNone/>
            </a:pPr>
            <a:r>
              <a:rPr b="1" lang="en-GB">
                <a:solidFill>
                  <a:srgbClr val="F79F83"/>
                </a:solidFill>
                <a:latin typeface="Alegreya Sans"/>
                <a:ea typeface="Alegreya Sans"/>
                <a:cs typeface="Alegreya Sans"/>
                <a:sym typeface="Alegreya Sans"/>
              </a:rPr>
              <a:t>12 Week Challenge</a:t>
            </a:r>
            <a:r>
              <a:rPr b="1" i="0" lang="en-GB" sz="1400" u="none" cap="none" strike="noStrike">
                <a:solidFill>
                  <a:srgbClr val="F79F83"/>
                </a:solidFill>
                <a:latin typeface="Alegreya Sans"/>
                <a:ea typeface="Alegreya Sans"/>
                <a:cs typeface="Alegreya Sans"/>
                <a:sym typeface="Alegreya Sans"/>
              </a:rPr>
              <a:t>:  </a:t>
            </a:r>
            <a:r>
              <a:rPr b="0" i="0" lang="en-GB" sz="1400" u="none" cap="none" strike="noStrike">
                <a:solidFill>
                  <a:srgbClr val="003060"/>
                </a:solidFill>
                <a:latin typeface="Alegreya Sans"/>
                <a:ea typeface="Alegreya Sans"/>
                <a:cs typeface="Alegreya Sans"/>
                <a:sym typeface="Alegreya Sans"/>
              </a:rPr>
              <a:t>Designed for individuals who crave closer support, detailed accountability, and personalised guidance.</a:t>
            </a:r>
            <a:endParaRPr/>
          </a:p>
          <a:p>
            <a:pPr indent="0" lvl="0" marL="0" marR="0" rtl="0" algn="ctr">
              <a:spcBef>
                <a:spcPts val="1400"/>
              </a:spcBef>
              <a:spcAft>
                <a:spcPts val="0"/>
              </a:spcAft>
              <a:buNone/>
            </a:pPr>
            <a:r>
              <a:rPr b="1" i="1" lang="en-GB" sz="1600" u="none" cap="none" strike="noStrike">
                <a:solidFill>
                  <a:srgbClr val="F79F83"/>
                </a:solidFill>
                <a:latin typeface="Libre Baskerville"/>
                <a:ea typeface="Libre Baskerville"/>
                <a:cs typeface="Libre Baskerville"/>
                <a:sym typeface="Libre Baskerville"/>
              </a:rPr>
              <a:t>It's about taking consistent action, not just having the right tools.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33" name="Shape 633"/>
        <p:cNvGrpSpPr/>
        <p:nvPr/>
      </p:nvGrpSpPr>
      <p:grpSpPr>
        <a:xfrm>
          <a:off x="0" y="0"/>
          <a:ext cx="0" cy="0"/>
          <a:chOff x="0" y="0"/>
          <a:chExt cx="0" cy="0"/>
        </a:xfrm>
      </p:grpSpPr>
      <p:sp>
        <p:nvSpPr>
          <p:cNvPr id="634" name="Google Shape;634;p99"/>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3000" u="none" cap="none" strike="noStrike">
                <a:solidFill>
                  <a:srgbClr val="003060"/>
                </a:solidFill>
                <a:latin typeface="Libre Baskerville"/>
                <a:ea typeface="Libre Baskerville"/>
                <a:cs typeface="Libre Baskerville"/>
                <a:sym typeface="Libre Baskerville"/>
              </a:rPr>
              <a:t>Why Is This </a:t>
            </a:r>
            <a:r>
              <a:rPr b="1" lang="en-GB" sz="3000">
                <a:solidFill>
                  <a:srgbClr val="003060"/>
                </a:solidFill>
                <a:latin typeface="Libre Baskerville"/>
                <a:ea typeface="Libre Baskerville"/>
                <a:cs typeface="Libre Baskerville"/>
                <a:sym typeface="Libre Baskerville"/>
              </a:rPr>
              <a:t>Challenge</a:t>
            </a:r>
            <a:r>
              <a:rPr b="1" i="0" lang="en-GB" sz="3000" u="none" cap="none" strike="noStrike">
                <a:solidFill>
                  <a:srgbClr val="003060"/>
                </a:solidFill>
                <a:latin typeface="Libre Baskerville"/>
                <a:ea typeface="Libre Baskerville"/>
                <a:cs typeface="Libre Baskerville"/>
                <a:sym typeface="Libre Baskerville"/>
              </a:rPr>
              <a:t> Different From Other Diets?</a:t>
            </a:r>
            <a:endParaRPr/>
          </a:p>
          <a:p>
            <a:pPr indent="0" lvl="0" marL="0" marR="0" rtl="0" algn="ctr">
              <a:spcBef>
                <a:spcPts val="1400"/>
              </a:spcBef>
              <a:spcAft>
                <a:spcPts val="0"/>
              </a:spcAft>
              <a:buNone/>
            </a:pPr>
            <a:r>
              <a:rPr lang="en-GB" sz="1500">
                <a:solidFill>
                  <a:srgbClr val="003060"/>
                </a:solidFill>
                <a:latin typeface="Alegreya Sans"/>
                <a:ea typeface="Alegreya Sans"/>
                <a:cs typeface="Alegreya Sans"/>
                <a:sym typeface="Alegreya Sans"/>
              </a:rPr>
              <a:t>The WLA summer challenge </a:t>
            </a:r>
            <a:r>
              <a:rPr b="0" i="0" lang="en-GB" sz="1500" u="none" cap="none" strike="noStrike">
                <a:solidFill>
                  <a:srgbClr val="003060"/>
                </a:solidFill>
                <a:latin typeface="Alegreya Sans"/>
                <a:ea typeface="Alegreya Sans"/>
                <a:cs typeface="Alegreya Sans"/>
                <a:sym typeface="Alegreya Sans"/>
              </a:rPr>
              <a:t>goal is to support clients who start their weight loss journey but quit after 5 days, lose weight, gain it back and just cannot be consistent. Our ethos is centere</a:t>
            </a:r>
            <a:r>
              <a:rPr lang="en-GB" sz="1500">
                <a:solidFill>
                  <a:srgbClr val="003060"/>
                </a:solidFill>
                <a:latin typeface="Alegreya Sans"/>
                <a:ea typeface="Alegreya Sans"/>
                <a:cs typeface="Alegreya Sans"/>
                <a:sym typeface="Alegreya Sans"/>
              </a:rPr>
              <a:t>d around our proven flexible nutrition formula, behavioural change </a:t>
            </a:r>
            <a:r>
              <a:rPr lang="en-GB" sz="1500">
                <a:solidFill>
                  <a:srgbClr val="003060"/>
                </a:solidFill>
                <a:latin typeface="Alegreya Sans"/>
                <a:ea typeface="Alegreya Sans"/>
                <a:cs typeface="Alegreya Sans"/>
                <a:sym typeface="Alegreya Sans"/>
              </a:rPr>
              <a:t>strategies</a:t>
            </a:r>
            <a:r>
              <a:rPr lang="en-GB" sz="1500">
                <a:solidFill>
                  <a:srgbClr val="003060"/>
                </a:solidFill>
                <a:latin typeface="Alegreya Sans"/>
                <a:ea typeface="Alegreya Sans"/>
                <a:cs typeface="Alegreya Sans"/>
                <a:sym typeface="Alegreya Sans"/>
              </a:rPr>
              <a:t> and expert coaching. Most program don’t include these tools or support.</a:t>
            </a:r>
            <a:endParaRPr/>
          </a:p>
          <a:p>
            <a:pPr indent="0" lvl="0" marL="0" marR="0" rtl="0" algn="ctr">
              <a:spcBef>
                <a:spcPts val="1400"/>
              </a:spcBef>
              <a:spcAft>
                <a:spcPts val="0"/>
              </a:spcAft>
              <a:buNone/>
            </a:pPr>
            <a:r>
              <a:rPr b="0" i="0" lang="en-GB" sz="1500" u="none" cap="none" strike="noStrike">
                <a:solidFill>
                  <a:srgbClr val="003060"/>
                </a:solidFill>
                <a:latin typeface="Alegreya Sans"/>
                <a:ea typeface="Alegreya Sans"/>
                <a:cs typeface="Alegreya Sans"/>
                <a:sym typeface="Alegreya Sans"/>
              </a:rPr>
              <a:t>For people who struggle with consistency, they need accountability, challenges, incentives and coaching to continuously take action.</a:t>
            </a:r>
            <a:endParaRPr/>
          </a:p>
          <a:p>
            <a:pPr indent="0" lvl="0" marL="0" marR="0" rtl="0" algn="ctr">
              <a:spcBef>
                <a:spcPts val="1400"/>
              </a:spcBef>
              <a:spcAft>
                <a:spcPts val="0"/>
              </a:spcAft>
              <a:buNone/>
            </a:pPr>
            <a:r>
              <a:rPr b="1" i="1" lang="en-GB" sz="1600" u="none" cap="none" strike="noStrike">
                <a:solidFill>
                  <a:srgbClr val="F79F83"/>
                </a:solidFill>
                <a:latin typeface="Libre Baskerville"/>
                <a:ea typeface="Libre Baskerville"/>
                <a:cs typeface="Libre Baskerville"/>
                <a:sym typeface="Libre Baskerville"/>
              </a:rPr>
              <a:t>They cannot hold themselves accountable. They need that external motivation and focus.</a:t>
            </a:r>
            <a:endParaRPr/>
          </a:p>
          <a:p>
            <a:pPr indent="0" lvl="0" marL="0" marR="0" rtl="0" algn="ctr">
              <a:spcBef>
                <a:spcPts val="1800"/>
              </a:spcBef>
              <a:spcAft>
                <a:spcPts val="0"/>
              </a:spcAft>
              <a:buNone/>
            </a:pPr>
            <a:r>
              <a:rPr b="1" i="0" lang="en-GB" sz="1600" u="none" cap="none" strike="noStrike">
                <a:solidFill>
                  <a:srgbClr val="003060"/>
                </a:solidFill>
                <a:latin typeface="Alegreya Sans"/>
                <a:ea typeface="Alegreya Sans"/>
                <a:cs typeface="Alegreya Sans"/>
                <a:sym typeface="Alegreya Sans"/>
              </a:rPr>
              <a:t>That's where I come in with </a:t>
            </a:r>
            <a:r>
              <a:rPr b="1" lang="en-GB" sz="1600">
                <a:solidFill>
                  <a:srgbClr val="003060"/>
                </a:solidFill>
                <a:latin typeface="Alegreya Sans"/>
                <a:ea typeface="Alegreya Sans"/>
                <a:cs typeface="Alegreya Sans"/>
                <a:sym typeface="Alegreya Sans"/>
              </a:rPr>
              <a:t>our 12 week challenge</a:t>
            </a:r>
            <a:r>
              <a:rPr b="1" i="0" lang="en-GB" sz="1600" u="none" cap="none" strike="noStrike">
                <a:solidFill>
                  <a:srgbClr val="003060"/>
                </a:solidFill>
                <a:latin typeface="Alegreya Sans"/>
                <a:ea typeface="Alegreya Sans"/>
                <a:cs typeface="Alegreya Sans"/>
                <a:sym typeface="Alegreya Sans"/>
              </a:rPr>
              <a:t>.</a:t>
            </a:r>
            <a:endParaRPr/>
          </a:p>
          <a:p>
            <a:pPr indent="0" lvl="0" marL="0" marR="0" rtl="0" algn="ctr">
              <a:spcBef>
                <a:spcPts val="1000"/>
              </a:spcBef>
              <a:spcAft>
                <a:spcPts val="0"/>
              </a:spcAft>
              <a:buNone/>
            </a:pPr>
            <a:r>
              <a:rPr b="1" i="1" lang="en-GB" sz="1700" u="none" cap="none" strike="noStrike">
                <a:solidFill>
                  <a:srgbClr val="F79F83"/>
                </a:solidFill>
                <a:latin typeface="Libre Baskerville"/>
                <a:ea typeface="Libre Baskerville"/>
                <a:cs typeface="Libre Baskerville"/>
                <a:sym typeface="Libre Baskerville"/>
              </a:rPr>
              <a:t>This is a high-energy group coaching program where the goal is action.</a:t>
            </a:r>
            <a:endParaRPr/>
          </a:p>
          <a:p>
            <a:pPr indent="0" lvl="0" marL="0" marR="0" rtl="0" algn="ctr">
              <a:spcBef>
                <a:spcPts val="400"/>
              </a:spcBef>
              <a:spcAft>
                <a:spcPts val="0"/>
              </a:spcAft>
              <a:buNone/>
            </a:pPr>
            <a:r>
              <a:rPr b="1" i="1" lang="en-GB" sz="2200" u="none" cap="none" strike="noStrike">
                <a:solidFill>
                  <a:srgbClr val="F79F83"/>
                </a:solidFill>
                <a:latin typeface="Libre Baskerville"/>
                <a:ea typeface="Libre Baskerville"/>
                <a:cs typeface="Libre Baskerville"/>
                <a:sym typeface="Libre Baskerville"/>
              </a:rPr>
              <a:t>Action creates results.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38" name="Shape 638"/>
        <p:cNvGrpSpPr/>
        <p:nvPr/>
      </p:nvGrpSpPr>
      <p:grpSpPr>
        <a:xfrm>
          <a:off x="0" y="0"/>
          <a:ext cx="0" cy="0"/>
          <a:chOff x="0" y="0"/>
          <a:chExt cx="0" cy="0"/>
        </a:xfrm>
      </p:grpSpPr>
      <p:sp>
        <p:nvSpPr>
          <p:cNvPr id="639" name="Google Shape;639;p100"/>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GB" sz="3000">
                <a:solidFill>
                  <a:srgbClr val="003060"/>
                </a:solidFill>
                <a:latin typeface="Libre Baskerville"/>
                <a:ea typeface="Libre Baskerville"/>
                <a:cs typeface="Libre Baskerville"/>
                <a:sym typeface="Libre Baskerville"/>
              </a:rPr>
              <a:t>Why Would I Do This?</a:t>
            </a:r>
            <a:endParaRPr/>
          </a:p>
          <a:p>
            <a:pPr indent="0" lvl="0" marL="0" marR="0" rtl="0" algn="l">
              <a:spcBef>
                <a:spcPts val="1000"/>
              </a:spcBef>
              <a:spcAft>
                <a:spcPts val="0"/>
              </a:spcAft>
              <a:buNone/>
            </a:pPr>
            <a:r>
              <a:t/>
            </a:r>
            <a:endParaRPr/>
          </a:p>
          <a:p>
            <a:pPr indent="0" lvl="0" marL="0" marR="0" rtl="0" algn="ctr">
              <a:spcBef>
                <a:spcPts val="1400"/>
              </a:spcBef>
              <a:spcAft>
                <a:spcPts val="0"/>
              </a:spcAft>
              <a:buNone/>
            </a:pPr>
            <a:r>
              <a:rPr b="1" i="1" lang="en-GB" sz="1500" u="none" cap="none" strike="noStrike">
                <a:solidFill>
                  <a:srgbClr val="F79F83"/>
                </a:solidFill>
                <a:latin typeface="Libre Baskerville"/>
                <a:ea typeface="Libre Baskerville"/>
                <a:cs typeface="Libre Baskerville"/>
                <a:sym typeface="Libre Baskerville"/>
              </a:rPr>
              <a:t>If you are currently not at your goal, it's probably not because you don't have the right tools it's that you are not implementing them.</a:t>
            </a:r>
            <a:endParaRPr/>
          </a:p>
          <a:p>
            <a:pPr indent="0" lvl="0" marL="0" marR="0" rtl="0" algn="ctr">
              <a:spcBef>
                <a:spcPts val="400"/>
              </a:spcBef>
              <a:spcAft>
                <a:spcPts val="0"/>
              </a:spcAft>
              <a:buNone/>
            </a:pPr>
            <a:r>
              <a:rPr b="1" i="0" lang="en-GB" sz="1400" u="none" cap="none" strike="noStrike">
                <a:solidFill>
                  <a:srgbClr val="003060"/>
                </a:solidFill>
                <a:latin typeface="Alegreya Sans"/>
                <a:ea typeface="Alegreya Sans"/>
                <a:cs typeface="Alegreya Sans"/>
                <a:sym typeface="Alegreya Sans"/>
              </a:rPr>
              <a:t>You need to take action more than anything else and that's our primary goal for the program. And gi</a:t>
            </a:r>
            <a:r>
              <a:rPr b="1" lang="en-GB">
                <a:solidFill>
                  <a:srgbClr val="003060"/>
                </a:solidFill>
                <a:latin typeface="Alegreya Sans"/>
                <a:ea typeface="Alegreya Sans"/>
                <a:cs typeface="Alegreya Sans"/>
                <a:sym typeface="Alegreya Sans"/>
              </a:rPr>
              <a:t>ve you all the tools, so implementing becomes easy</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43" name="Shape 643"/>
        <p:cNvGrpSpPr/>
        <p:nvPr/>
      </p:nvGrpSpPr>
      <p:grpSpPr>
        <a:xfrm>
          <a:off x="0" y="0"/>
          <a:ext cx="0" cy="0"/>
          <a:chOff x="0" y="0"/>
          <a:chExt cx="0" cy="0"/>
        </a:xfrm>
      </p:grpSpPr>
      <p:sp>
        <p:nvSpPr>
          <p:cNvPr id="644" name="Google Shape;644;p101"/>
          <p:cNvSpPr txBox="1"/>
          <p:nvPr/>
        </p:nvSpPr>
        <p:spPr>
          <a:xfrm>
            <a:off x="457200" y="180000"/>
            <a:ext cx="8229600" cy="55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u="none" cap="none" strike="noStrike">
                <a:solidFill>
                  <a:srgbClr val="F79F83"/>
                </a:solidFill>
                <a:latin typeface="Alegreya Sans"/>
                <a:ea typeface="Alegreya Sans"/>
                <a:cs typeface="Alegreya Sans"/>
                <a:sym typeface="Alegreya Sans"/>
              </a:rPr>
              <a:t>EVERYTHING YOU NEED TO KNOW</a:t>
            </a:r>
            <a:endParaRPr sz="1600"/>
          </a:p>
          <a:p>
            <a:pPr indent="0" lvl="0" marL="0" marR="0" rtl="0" algn="ctr">
              <a:spcBef>
                <a:spcPts val="400"/>
              </a:spcBef>
              <a:spcAft>
                <a:spcPts val="0"/>
              </a:spcAft>
              <a:buNone/>
            </a:pPr>
            <a:r>
              <a:rPr b="1" i="1" lang="en-GB" sz="2200" u="none" cap="none" strike="noStrike">
                <a:solidFill>
                  <a:srgbClr val="003060"/>
                </a:solidFill>
                <a:latin typeface="Libre Baskerville"/>
                <a:ea typeface="Libre Baskerville"/>
                <a:cs typeface="Libre Baskerville"/>
                <a:sym typeface="Libre Baskerville"/>
              </a:rPr>
              <a:t>Frequently Asked Questions</a:t>
            </a:r>
            <a:endParaRPr sz="1600"/>
          </a:p>
        </p:txBody>
      </p:sp>
      <p:sp>
        <p:nvSpPr>
          <p:cNvPr id="645" name="Google Shape;645;p101"/>
          <p:cNvSpPr/>
          <p:nvPr/>
        </p:nvSpPr>
        <p:spPr>
          <a:xfrm>
            <a:off x="360000" y="820000"/>
            <a:ext cx="8424000" cy="300000"/>
          </a:xfrm>
          <a:prstGeom prst="rect">
            <a:avLst/>
          </a:prstGeom>
          <a:solidFill>
            <a:srgbClr val="003060"/>
          </a:solidFill>
          <a:ln>
            <a:noFill/>
          </a:ln>
        </p:spPr>
        <p:txBody>
          <a:bodyPr anchorCtr="0" anchor="ctr" bIns="25400" lIns="177800" spcFirstLastPara="1" rIns="177800" wrap="square" tIns="25400">
            <a:noAutofit/>
          </a:bodyPr>
          <a:lstStyle/>
          <a:p>
            <a:pPr indent="0" lvl="0" marL="0" marR="0" rtl="0" algn="l">
              <a:spcBef>
                <a:spcPts val="0"/>
              </a:spcBef>
              <a:spcAft>
                <a:spcPts val="0"/>
              </a:spcAft>
              <a:buNone/>
            </a:pPr>
            <a:r>
              <a:rPr b="1" i="0" lang="en-GB" u="none" cap="none" strike="noStrike">
                <a:solidFill>
                  <a:srgbClr val="FFFFFF"/>
                </a:solidFill>
                <a:latin typeface="Libre Baskerville"/>
                <a:ea typeface="Libre Baskerville"/>
                <a:cs typeface="Libre Baskerville"/>
                <a:sym typeface="Libre Baskerville"/>
              </a:rPr>
              <a:t>When does it start?</a:t>
            </a:r>
            <a:endParaRPr sz="1600"/>
          </a:p>
        </p:txBody>
      </p:sp>
      <p:sp>
        <p:nvSpPr>
          <p:cNvPr id="646" name="Google Shape;646;p101"/>
          <p:cNvSpPr txBox="1"/>
          <p:nvPr/>
        </p:nvSpPr>
        <p:spPr>
          <a:xfrm>
            <a:off x="480000" y="1160000"/>
            <a:ext cx="8184000" cy="6233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lang="en-GB">
                <a:solidFill>
                  <a:srgbClr val="003060"/>
                </a:solidFill>
                <a:latin typeface="Alegreya Sans"/>
                <a:ea typeface="Alegreya Sans"/>
                <a:cs typeface="Alegreya Sans"/>
                <a:sym typeface="Alegreya Sans"/>
              </a:rPr>
              <a:t>Monday 8th June, when you register, you will get access to our members area and group straight away</a:t>
            </a:r>
            <a:endParaRPr sz="1800"/>
          </a:p>
        </p:txBody>
      </p:sp>
      <p:sp>
        <p:nvSpPr>
          <p:cNvPr id="647" name="Google Shape;647;p101"/>
          <p:cNvSpPr/>
          <p:nvPr/>
        </p:nvSpPr>
        <p:spPr>
          <a:xfrm>
            <a:off x="360000" y="1893375"/>
            <a:ext cx="8424000" cy="300000"/>
          </a:xfrm>
          <a:prstGeom prst="rect">
            <a:avLst/>
          </a:prstGeom>
          <a:solidFill>
            <a:srgbClr val="003060"/>
          </a:solidFill>
          <a:ln>
            <a:noFill/>
          </a:ln>
        </p:spPr>
        <p:txBody>
          <a:bodyPr anchorCtr="0" anchor="ctr" bIns="25400" lIns="177800" spcFirstLastPara="1" rIns="177800" wrap="square" tIns="25400">
            <a:noAutofit/>
          </a:bodyPr>
          <a:lstStyle/>
          <a:p>
            <a:pPr indent="0" lvl="0" marL="0" marR="0" rtl="0" algn="l">
              <a:spcBef>
                <a:spcPts val="0"/>
              </a:spcBef>
              <a:spcAft>
                <a:spcPts val="0"/>
              </a:spcAft>
              <a:buNone/>
            </a:pPr>
            <a:r>
              <a:rPr b="1" i="0" lang="en-GB" u="none" cap="none" strike="noStrike">
                <a:solidFill>
                  <a:srgbClr val="FFFFFF"/>
                </a:solidFill>
                <a:latin typeface="Libre Baskerville"/>
                <a:ea typeface="Libre Baskerville"/>
                <a:cs typeface="Libre Baskerville"/>
                <a:sym typeface="Libre Baskerville"/>
              </a:rPr>
              <a:t>How long is the program?</a:t>
            </a:r>
            <a:endParaRPr sz="1600"/>
          </a:p>
        </p:txBody>
      </p:sp>
      <p:sp>
        <p:nvSpPr>
          <p:cNvPr id="648" name="Google Shape;648;p101"/>
          <p:cNvSpPr txBox="1"/>
          <p:nvPr/>
        </p:nvSpPr>
        <p:spPr>
          <a:xfrm>
            <a:off x="480000" y="2233375"/>
            <a:ext cx="8184000" cy="6233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u="none" cap="none" strike="noStrike">
                <a:solidFill>
                  <a:srgbClr val="003060"/>
                </a:solidFill>
                <a:latin typeface="Alegreya Sans"/>
                <a:ea typeface="Alegreya Sans"/>
                <a:cs typeface="Alegreya Sans"/>
                <a:sym typeface="Alegreya Sans"/>
              </a:rPr>
              <a:t>It is 12 weeks. But with this special Summer offer you get 1 full year of access in total, for just £97.</a:t>
            </a:r>
            <a:endParaRPr sz="1800"/>
          </a:p>
        </p:txBody>
      </p:sp>
      <p:sp>
        <p:nvSpPr>
          <p:cNvPr id="649" name="Google Shape;649;p101"/>
          <p:cNvSpPr/>
          <p:nvPr/>
        </p:nvSpPr>
        <p:spPr>
          <a:xfrm>
            <a:off x="360000" y="2966750"/>
            <a:ext cx="8424000" cy="300000"/>
          </a:xfrm>
          <a:prstGeom prst="rect">
            <a:avLst/>
          </a:prstGeom>
          <a:solidFill>
            <a:srgbClr val="003060"/>
          </a:solidFill>
          <a:ln>
            <a:noFill/>
          </a:ln>
        </p:spPr>
        <p:txBody>
          <a:bodyPr anchorCtr="0" anchor="ctr" bIns="25400" lIns="177800" spcFirstLastPara="1" rIns="177800" wrap="square" tIns="25400">
            <a:noAutofit/>
          </a:bodyPr>
          <a:lstStyle/>
          <a:p>
            <a:pPr indent="0" lvl="0" marL="0" marR="0" rtl="0" algn="l">
              <a:spcBef>
                <a:spcPts val="0"/>
              </a:spcBef>
              <a:spcAft>
                <a:spcPts val="0"/>
              </a:spcAft>
              <a:buNone/>
            </a:pPr>
            <a:r>
              <a:rPr b="1" i="0" lang="en-GB" u="none" cap="none" strike="noStrike">
                <a:solidFill>
                  <a:srgbClr val="FFFFFF"/>
                </a:solidFill>
                <a:latin typeface="Libre Baskerville"/>
                <a:ea typeface="Libre Baskerville"/>
                <a:cs typeface="Libre Baskerville"/>
                <a:sym typeface="Libre Baskerville"/>
              </a:rPr>
              <a:t>Do you have a refund policy?</a:t>
            </a:r>
            <a:endParaRPr sz="1600"/>
          </a:p>
        </p:txBody>
      </p:sp>
      <p:sp>
        <p:nvSpPr>
          <p:cNvPr id="650" name="Google Shape;650;p101"/>
          <p:cNvSpPr txBox="1"/>
          <p:nvPr/>
        </p:nvSpPr>
        <p:spPr>
          <a:xfrm>
            <a:off x="480000" y="3306750"/>
            <a:ext cx="8184000" cy="6233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u="none" cap="none" strike="noStrike">
                <a:solidFill>
                  <a:srgbClr val="003060"/>
                </a:solidFill>
                <a:latin typeface="Alegreya Sans"/>
                <a:ea typeface="Alegreya Sans"/>
                <a:cs typeface="Alegreya Sans"/>
                <a:sym typeface="Alegreya Sans"/>
              </a:rPr>
              <a:t>I'm so confident this can help you reach your goals that we have a rock-solid 7-day try-it-out option. If you implement (yes, you have to do the work) and decide it's not for you, get your fee back, no questions asked.</a:t>
            </a:r>
            <a:endParaRPr sz="1800"/>
          </a:p>
        </p:txBody>
      </p:sp>
      <p:sp>
        <p:nvSpPr>
          <p:cNvPr id="651" name="Google Shape;651;p101"/>
          <p:cNvSpPr/>
          <p:nvPr/>
        </p:nvSpPr>
        <p:spPr>
          <a:xfrm>
            <a:off x="360000" y="4040125"/>
            <a:ext cx="8424000" cy="300000"/>
          </a:xfrm>
          <a:prstGeom prst="rect">
            <a:avLst/>
          </a:prstGeom>
          <a:solidFill>
            <a:srgbClr val="003060"/>
          </a:solidFill>
          <a:ln>
            <a:noFill/>
          </a:ln>
        </p:spPr>
        <p:txBody>
          <a:bodyPr anchorCtr="0" anchor="ctr" bIns="25400" lIns="177800" spcFirstLastPara="1" rIns="177800" wrap="square" tIns="25400">
            <a:noAutofit/>
          </a:bodyPr>
          <a:lstStyle/>
          <a:p>
            <a:pPr indent="0" lvl="0" marL="0" marR="0" rtl="0" algn="l">
              <a:spcBef>
                <a:spcPts val="0"/>
              </a:spcBef>
              <a:spcAft>
                <a:spcPts val="0"/>
              </a:spcAft>
              <a:buNone/>
            </a:pPr>
            <a:r>
              <a:rPr b="1" i="0" lang="en-GB" u="none" cap="none" strike="noStrike">
                <a:solidFill>
                  <a:srgbClr val="FFFFFF"/>
                </a:solidFill>
                <a:latin typeface="Libre Baskerville"/>
                <a:ea typeface="Libre Baskerville"/>
                <a:cs typeface="Libre Baskerville"/>
                <a:sym typeface="Libre Baskerville"/>
              </a:rPr>
              <a:t>Will I get results?</a:t>
            </a:r>
            <a:endParaRPr sz="1600"/>
          </a:p>
        </p:txBody>
      </p:sp>
      <p:sp>
        <p:nvSpPr>
          <p:cNvPr id="652" name="Google Shape;652;p101"/>
          <p:cNvSpPr txBox="1"/>
          <p:nvPr/>
        </p:nvSpPr>
        <p:spPr>
          <a:xfrm>
            <a:off x="480000" y="4380125"/>
            <a:ext cx="8184000" cy="6233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u="none" cap="none" strike="noStrike">
                <a:solidFill>
                  <a:srgbClr val="003060"/>
                </a:solidFill>
                <a:latin typeface="Alegreya Sans"/>
                <a:ea typeface="Alegreya Sans"/>
                <a:cs typeface="Alegreya Sans"/>
                <a:sym typeface="Alegreya Sans"/>
              </a:rPr>
              <a:t>With high accountability, challenges and incentives for taking action, this is the place to be if you just can't stay consistent on your own. We're going to get to work, but you'll love it</a:t>
            </a:r>
            <a:r>
              <a:rPr lang="en-GB">
                <a:solidFill>
                  <a:srgbClr val="003060"/>
                </a:solidFill>
                <a:latin typeface="Alegreya Sans"/>
                <a:ea typeface="Alegreya Sans"/>
                <a:cs typeface="Alegreya Sans"/>
                <a:sym typeface="Alegreya Sans"/>
              </a:rPr>
              <a:t>, </a:t>
            </a:r>
            <a:r>
              <a:rPr b="0" i="0" lang="en-GB" u="none" cap="none" strike="noStrike">
                <a:solidFill>
                  <a:srgbClr val="003060"/>
                </a:solidFill>
                <a:latin typeface="Alegreya Sans"/>
                <a:ea typeface="Alegreya Sans"/>
                <a:cs typeface="Alegreya Sans"/>
                <a:sym typeface="Alegreya Sans"/>
              </a:rPr>
              <a:t> you'll get incredible results and feel better than you have in a long time.</a:t>
            </a:r>
            <a:endParaRPr sz="18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56" name="Shape 656"/>
        <p:cNvGrpSpPr/>
        <p:nvPr/>
      </p:nvGrpSpPr>
      <p:grpSpPr>
        <a:xfrm>
          <a:off x="0" y="0"/>
          <a:ext cx="0" cy="0"/>
          <a:chOff x="0" y="0"/>
          <a:chExt cx="0" cy="0"/>
        </a:xfrm>
      </p:grpSpPr>
      <p:sp>
        <p:nvSpPr>
          <p:cNvPr id="657" name="Google Shape;657;p102"/>
          <p:cNvSpPr txBox="1"/>
          <p:nvPr/>
        </p:nvSpPr>
        <p:spPr>
          <a:xfrm>
            <a:off x="457200" y="180000"/>
            <a:ext cx="8229600" cy="55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u="none" cap="none" strike="noStrike">
                <a:solidFill>
                  <a:srgbClr val="F79F83"/>
                </a:solidFill>
                <a:latin typeface="Alegreya Sans"/>
                <a:ea typeface="Alegreya Sans"/>
                <a:cs typeface="Alegreya Sans"/>
                <a:sym typeface="Alegreya Sans"/>
              </a:rPr>
              <a:t>EVERYTHING YOU NEED TO KNOW</a:t>
            </a:r>
            <a:endParaRPr sz="1600"/>
          </a:p>
          <a:p>
            <a:pPr indent="0" lvl="0" marL="0" marR="0" rtl="0" algn="ctr">
              <a:spcBef>
                <a:spcPts val="400"/>
              </a:spcBef>
              <a:spcAft>
                <a:spcPts val="0"/>
              </a:spcAft>
              <a:buNone/>
            </a:pPr>
            <a:r>
              <a:rPr b="1" i="1" lang="en-GB" sz="2200" u="none" cap="none" strike="noStrike">
                <a:solidFill>
                  <a:srgbClr val="003060"/>
                </a:solidFill>
                <a:latin typeface="Libre Baskerville"/>
                <a:ea typeface="Libre Baskerville"/>
                <a:cs typeface="Libre Baskerville"/>
                <a:sym typeface="Libre Baskerville"/>
              </a:rPr>
              <a:t>Frequently Asked Questions</a:t>
            </a:r>
            <a:endParaRPr sz="1600"/>
          </a:p>
        </p:txBody>
      </p:sp>
      <p:sp>
        <p:nvSpPr>
          <p:cNvPr id="658" name="Google Shape;658;p102"/>
          <p:cNvSpPr/>
          <p:nvPr/>
        </p:nvSpPr>
        <p:spPr>
          <a:xfrm>
            <a:off x="360000" y="820000"/>
            <a:ext cx="8424000" cy="300000"/>
          </a:xfrm>
          <a:prstGeom prst="rect">
            <a:avLst/>
          </a:prstGeom>
          <a:solidFill>
            <a:srgbClr val="003060"/>
          </a:solidFill>
          <a:ln>
            <a:noFill/>
          </a:ln>
        </p:spPr>
        <p:txBody>
          <a:bodyPr anchorCtr="0" anchor="ctr" bIns="25400" lIns="177800" spcFirstLastPara="1" rIns="177800" wrap="square" tIns="25400">
            <a:noAutofit/>
          </a:bodyPr>
          <a:lstStyle/>
          <a:p>
            <a:pPr indent="0" lvl="0" marL="0" marR="0" rtl="0" algn="l">
              <a:spcBef>
                <a:spcPts val="0"/>
              </a:spcBef>
              <a:spcAft>
                <a:spcPts val="0"/>
              </a:spcAft>
              <a:buNone/>
            </a:pPr>
            <a:r>
              <a:rPr b="1" i="0" lang="en-GB" u="none" cap="none" strike="noStrike">
                <a:solidFill>
                  <a:srgbClr val="FFFFFF"/>
                </a:solidFill>
                <a:latin typeface="Libre Baskerville"/>
                <a:ea typeface="Libre Baskerville"/>
                <a:cs typeface="Libre Baskerville"/>
                <a:sym typeface="Libre Baskerville"/>
              </a:rPr>
              <a:t>Are the meal guides new?</a:t>
            </a:r>
            <a:endParaRPr sz="1600"/>
          </a:p>
        </p:txBody>
      </p:sp>
      <p:sp>
        <p:nvSpPr>
          <p:cNvPr id="659" name="Google Shape;659;p102"/>
          <p:cNvSpPr txBox="1"/>
          <p:nvPr/>
        </p:nvSpPr>
        <p:spPr>
          <a:xfrm>
            <a:off x="480000" y="1160000"/>
            <a:ext cx="8184000" cy="6233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u="none" cap="none" strike="noStrike">
                <a:solidFill>
                  <a:srgbClr val="003060"/>
                </a:solidFill>
                <a:latin typeface="Alegreya Sans"/>
                <a:ea typeface="Alegreya Sans"/>
                <a:cs typeface="Alegreya Sans"/>
                <a:sym typeface="Alegreya Sans"/>
              </a:rPr>
              <a:t>Yes. Every week we share a new fat-loss meal guide into </a:t>
            </a:r>
            <a:r>
              <a:rPr lang="en-GB">
                <a:solidFill>
                  <a:srgbClr val="003060"/>
                </a:solidFill>
                <a:latin typeface="Alegreya Sans"/>
                <a:ea typeface="Alegreya Sans"/>
                <a:cs typeface="Alegreya Sans"/>
                <a:sym typeface="Alegreya Sans"/>
              </a:rPr>
              <a:t>our members area</a:t>
            </a:r>
            <a:r>
              <a:rPr b="0" i="0" lang="en-GB" u="none" cap="none" strike="noStrike">
                <a:solidFill>
                  <a:srgbClr val="003060"/>
                </a:solidFill>
                <a:latin typeface="Alegreya Sans"/>
                <a:ea typeface="Alegreya Sans"/>
                <a:cs typeface="Alegreya Sans"/>
                <a:sym typeface="Alegreya Sans"/>
              </a:rPr>
              <a:t>, plus new resources, videos and tools monthly to help you stay focused and motivated.</a:t>
            </a:r>
            <a:endParaRPr sz="1800"/>
          </a:p>
        </p:txBody>
      </p:sp>
      <p:sp>
        <p:nvSpPr>
          <p:cNvPr id="660" name="Google Shape;660;p102"/>
          <p:cNvSpPr/>
          <p:nvPr/>
        </p:nvSpPr>
        <p:spPr>
          <a:xfrm>
            <a:off x="360000" y="1809777"/>
            <a:ext cx="8424000" cy="300000"/>
          </a:xfrm>
          <a:prstGeom prst="rect">
            <a:avLst/>
          </a:prstGeom>
          <a:solidFill>
            <a:srgbClr val="003060"/>
          </a:solidFill>
          <a:ln>
            <a:noFill/>
          </a:ln>
        </p:spPr>
        <p:txBody>
          <a:bodyPr anchorCtr="0" anchor="ctr" bIns="25400" lIns="177800" spcFirstLastPara="1" rIns="177800" wrap="square" tIns="25400">
            <a:noAutofit/>
          </a:bodyPr>
          <a:lstStyle/>
          <a:p>
            <a:pPr indent="0" lvl="0" marL="0" marR="0" rtl="0" algn="l">
              <a:spcBef>
                <a:spcPts val="0"/>
              </a:spcBef>
              <a:spcAft>
                <a:spcPts val="0"/>
              </a:spcAft>
              <a:buNone/>
            </a:pPr>
            <a:r>
              <a:rPr b="1" i="0" lang="en-GB" u="none" cap="none" strike="noStrike">
                <a:solidFill>
                  <a:srgbClr val="FFFFFF"/>
                </a:solidFill>
                <a:latin typeface="Libre Baskerville"/>
                <a:ea typeface="Libre Baskerville"/>
                <a:cs typeface="Libre Baskerville"/>
                <a:sym typeface="Libre Baskerville"/>
              </a:rPr>
              <a:t>Is it time consuming?</a:t>
            </a:r>
            <a:endParaRPr sz="1600"/>
          </a:p>
        </p:txBody>
      </p:sp>
      <p:sp>
        <p:nvSpPr>
          <p:cNvPr id="661" name="Google Shape;661;p102"/>
          <p:cNvSpPr txBox="1"/>
          <p:nvPr/>
        </p:nvSpPr>
        <p:spPr>
          <a:xfrm>
            <a:off x="480000" y="2149777"/>
            <a:ext cx="8184000" cy="62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u="none" cap="none" strike="noStrike">
                <a:solidFill>
                  <a:srgbClr val="003060"/>
                </a:solidFill>
                <a:latin typeface="Alegreya Sans"/>
                <a:ea typeface="Alegreya Sans"/>
                <a:cs typeface="Alegreya Sans"/>
                <a:sym typeface="Alegreya Sans"/>
              </a:rPr>
              <a:t>Not at all. Double, triple or quadruple the recipes to save time, energy and money. Use the meal guides as they are with plenty of variety, or simplify them by repeating recipes as much as you like.</a:t>
            </a:r>
            <a:endParaRPr sz="1800"/>
          </a:p>
        </p:txBody>
      </p:sp>
      <p:sp>
        <p:nvSpPr>
          <p:cNvPr id="662" name="Google Shape;662;p102"/>
          <p:cNvSpPr/>
          <p:nvPr/>
        </p:nvSpPr>
        <p:spPr>
          <a:xfrm>
            <a:off x="360000" y="2883152"/>
            <a:ext cx="8424000" cy="300000"/>
          </a:xfrm>
          <a:prstGeom prst="rect">
            <a:avLst/>
          </a:prstGeom>
          <a:solidFill>
            <a:srgbClr val="003060"/>
          </a:solidFill>
          <a:ln>
            <a:noFill/>
          </a:ln>
        </p:spPr>
        <p:txBody>
          <a:bodyPr anchorCtr="0" anchor="ctr" bIns="25400" lIns="177800" spcFirstLastPara="1" rIns="177800" wrap="square" tIns="25400">
            <a:noAutofit/>
          </a:bodyPr>
          <a:lstStyle/>
          <a:p>
            <a:pPr indent="0" lvl="0" marL="0" marR="0" rtl="0" algn="l">
              <a:spcBef>
                <a:spcPts val="0"/>
              </a:spcBef>
              <a:spcAft>
                <a:spcPts val="0"/>
              </a:spcAft>
              <a:buNone/>
            </a:pPr>
            <a:r>
              <a:rPr b="1" i="0" lang="en-GB" u="none" cap="none" strike="noStrike">
                <a:solidFill>
                  <a:srgbClr val="FFFFFF"/>
                </a:solidFill>
                <a:latin typeface="Libre Baskerville"/>
                <a:ea typeface="Libre Baskerville"/>
                <a:cs typeface="Libre Baskerville"/>
                <a:sym typeface="Libre Baskerville"/>
              </a:rPr>
              <a:t>Concerned about cost?</a:t>
            </a:r>
            <a:endParaRPr sz="1600"/>
          </a:p>
        </p:txBody>
      </p:sp>
      <p:sp>
        <p:nvSpPr>
          <p:cNvPr id="663" name="Google Shape;663;p102"/>
          <p:cNvSpPr txBox="1"/>
          <p:nvPr/>
        </p:nvSpPr>
        <p:spPr>
          <a:xfrm>
            <a:off x="480000" y="3223152"/>
            <a:ext cx="8184000" cy="623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u="none" cap="none" strike="noStrike">
                <a:solidFill>
                  <a:srgbClr val="003060"/>
                </a:solidFill>
                <a:latin typeface="Alegreya Sans"/>
                <a:ea typeface="Alegreya Sans"/>
                <a:cs typeface="Alegreya Sans"/>
                <a:sym typeface="Alegreya Sans"/>
              </a:rPr>
              <a:t>We've got you covered with our budgeting tips. Planning your meals actually decreases the cost of your groceries</a:t>
            </a:r>
            <a:r>
              <a:rPr lang="en-GB">
                <a:solidFill>
                  <a:srgbClr val="003060"/>
                </a:solidFill>
                <a:latin typeface="Alegreya Sans"/>
                <a:ea typeface="Alegreya Sans"/>
                <a:cs typeface="Alegreya Sans"/>
                <a:sym typeface="Alegreya Sans"/>
              </a:rPr>
              <a:t>, </a:t>
            </a:r>
            <a:r>
              <a:rPr b="0" i="0" lang="en-GB" u="none" cap="none" strike="noStrike">
                <a:solidFill>
                  <a:srgbClr val="003060"/>
                </a:solidFill>
                <a:latin typeface="Alegreya Sans"/>
                <a:ea typeface="Alegreya Sans"/>
                <a:cs typeface="Alegreya Sans"/>
                <a:sym typeface="Alegreya Sans"/>
              </a:rPr>
              <a:t>you'll already have most of the staples in your cupboard; it's just regular food. If any ingredient feels too costly, leave it out or swap it.</a:t>
            </a:r>
            <a:endParaRPr sz="18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67" name="Shape 667"/>
        <p:cNvGrpSpPr/>
        <p:nvPr/>
      </p:nvGrpSpPr>
      <p:grpSpPr>
        <a:xfrm>
          <a:off x="0" y="0"/>
          <a:ext cx="0" cy="0"/>
          <a:chOff x="0" y="0"/>
          <a:chExt cx="0" cy="0"/>
        </a:xfrm>
      </p:grpSpPr>
      <p:sp>
        <p:nvSpPr>
          <p:cNvPr id="668" name="Google Shape;668;p103"/>
          <p:cNvSpPr txBox="1"/>
          <p:nvPr/>
        </p:nvSpPr>
        <p:spPr>
          <a:xfrm>
            <a:off x="457200" y="180000"/>
            <a:ext cx="8229600" cy="55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GB" u="none" cap="none" strike="noStrike">
                <a:solidFill>
                  <a:srgbClr val="F79F83"/>
                </a:solidFill>
                <a:latin typeface="Alegreya Sans"/>
                <a:ea typeface="Alegreya Sans"/>
                <a:cs typeface="Alegreya Sans"/>
                <a:sym typeface="Alegreya Sans"/>
              </a:rPr>
              <a:t>EVERYTHING YOU NEED TO KNOW</a:t>
            </a:r>
            <a:endParaRPr sz="1600"/>
          </a:p>
          <a:p>
            <a:pPr indent="0" lvl="0" marL="0" marR="0" rtl="0" algn="ctr">
              <a:spcBef>
                <a:spcPts val="400"/>
              </a:spcBef>
              <a:spcAft>
                <a:spcPts val="0"/>
              </a:spcAft>
              <a:buNone/>
            </a:pPr>
            <a:r>
              <a:rPr b="1" i="1" lang="en-GB" sz="2200" u="none" cap="none" strike="noStrike">
                <a:solidFill>
                  <a:srgbClr val="003060"/>
                </a:solidFill>
                <a:latin typeface="Libre Baskerville"/>
                <a:ea typeface="Libre Baskerville"/>
                <a:cs typeface="Libre Baskerville"/>
                <a:sym typeface="Libre Baskerville"/>
              </a:rPr>
              <a:t>Frequently Asked Questions</a:t>
            </a:r>
            <a:endParaRPr sz="1600"/>
          </a:p>
        </p:txBody>
      </p:sp>
      <p:sp>
        <p:nvSpPr>
          <p:cNvPr id="669" name="Google Shape;669;p103"/>
          <p:cNvSpPr/>
          <p:nvPr/>
        </p:nvSpPr>
        <p:spPr>
          <a:xfrm>
            <a:off x="360000" y="820000"/>
            <a:ext cx="8424000" cy="300000"/>
          </a:xfrm>
          <a:prstGeom prst="rect">
            <a:avLst/>
          </a:prstGeom>
          <a:solidFill>
            <a:srgbClr val="003060"/>
          </a:solidFill>
          <a:ln>
            <a:noFill/>
          </a:ln>
        </p:spPr>
        <p:txBody>
          <a:bodyPr anchorCtr="0" anchor="ctr" bIns="25400" lIns="177800" spcFirstLastPara="1" rIns="177800" wrap="square" tIns="25400">
            <a:noAutofit/>
          </a:bodyPr>
          <a:lstStyle/>
          <a:p>
            <a:pPr indent="0" lvl="0" marL="0" marR="0" rtl="0" algn="l">
              <a:spcBef>
                <a:spcPts val="0"/>
              </a:spcBef>
              <a:spcAft>
                <a:spcPts val="0"/>
              </a:spcAft>
              <a:buNone/>
            </a:pPr>
            <a:r>
              <a:rPr b="1" i="0" lang="en-GB" u="none" cap="none" strike="noStrike">
                <a:solidFill>
                  <a:srgbClr val="FFFFFF"/>
                </a:solidFill>
                <a:latin typeface="Libre Baskerville"/>
                <a:ea typeface="Libre Baskerville"/>
                <a:cs typeface="Libre Baskerville"/>
                <a:sym typeface="Libre Baskerville"/>
              </a:rPr>
              <a:t>I can't do a lot of exercise…</a:t>
            </a:r>
            <a:endParaRPr sz="1600"/>
          </a:p>
        </p:txBody>
      </p:sp>
      <p:sp>
        <p:nvSpPr>
          <p:cNvPr id="670" name="Google Shape;670;p103"/>
          <p:cNvSpPr txBox="1"/>
          <p:nvPr/>
        </p:nvSpPr>
        <p:spPr>
          <a:xfrm>
            <a:off x="480000" y="1160000"/>
            <a:ext cx="8184000" cy="6233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u="none" cap="none" strike="noStrike">
                <a:solidFill>
                  <a:srgbClr val="003060"/>
                </a:solidFill>
                <a:latin typeface="Alegreya Sans"/>
                <a:ea typeface="Alegreya Sans"/>
                <a:cs typeface="Alegreya Sans"/>
                <a:sym typeface="Alegreya Sans"/>
              </a:rPr>
              <a:t>Not a problem. Your fat-loss results mostly come down to what you're eating</a:t>
            </a:r>
            <a:r>
              <a:rPr lang="en-GB">
                <a:solidFill>
                  <a:srgbClr val="003060"/>
                </a:solidFill>
                <a:latin typeface="Alegreya Sans"/>
                <a:ea typeface="Alegreya Sans"/>
                <a:cs typeface="Alegreya Sans"/>
                <a:sym typeface="Alegreya Sans"/>
              </a:rPr>
              <a:t>, </a:t>
            </a:r>
            <a:r>
              <a:rPr b="0" i="0" lang="en-GB" u="none" cap="none" strike="noStrike">
                <a:solidFill>
                  <a:srgbClr val="003060"/>
                </a:solidFill>
                <a:latin typeface="Alegreya Sans"/>
                <a:ea typeface="Alegreya Sans"/>
                <a:cs typeface="Alegreya Sans"/>
                <a:sym typeface="Alegreya Sans"/>
              </a:rPr>
              <a:t>around 80% nutrition. If you have an existing exercise routine, keep it going alongside the program. If you're not currently exercising, let's just focus on your nutrition for maximum results.</a:t>
            </a:r>
            <a:endParaRPr sz="1800"/>
          </a:p>
        </p:txBody>
      </p:sp>
      <p:sp>
        <p:nvSpPr>
          <p:cNvPr id="671" name="Google Shape;671;p103"/>
          <p:cNvSpPr/>
          <p:nvPr/>
        </p:nvSpPr>
        <p:spPr>
          <a:xfrm>
            <a:off x="360000" y="1893375"/>
            <a:ext cx="8424000" cy="300000"/>
          </a:xfrm>
          <a:prstGeom prst="rect">
            <a:avLst/>
          </a:prstGeom>
          <a:solidFill>
            <a:srgbClr val="003060"/>
          </a:solidFill>
          <a:ln>
            <a:noFill/>
          </a:ln>
        </p:spPr>
        <p:txBody>
          <a:bodyPr anchorCtr="0" anchor="ctr" bIns="25400" lIns="177800" spcFirstLastPara="1" rIns="177800" wrap="square" tIns="25400">
            <a:noAutofit/>
          </a:bodyPr>
          <a:lstStyle/>
          <a:p>
            <a:pPr indent="0" lvl="0" marL="0" marR="0" rtl="0" algn="l">
              <a:spcBef>
                <a:spcPts val="0"/>
              </a:spcBef>
              <a:spcAft>
                <a:spcPts val="0"/>
              </a:spcAft>
              <a:buNone/>
            </a:pPr>
            <a:r>
              <a:rPr b="1" i="0" lang="en-GB" u="none" cap="none" strike="noStrike">
                <a:solidFill>
                  <a:srgbClr val="FFFFFF"/>
                </a:solidFill>
                <a:latin typeface="Libre Baskerville"/>
                <a:ea typeface="Libre Baskerville"/>
                <a:cs typeface="Libre Baskerville"/>
                <a:sym typeface="Libre Baskerville"/>
              </a:rPr>
              <a:t>I'm a fussy eater…</a:t>
            </a:r>
            <a:endParaRPr sz="1600"/>
          </a:p>
        </p:txBody>
      </p:sp>
      <p:sp>
        <p:nvSpPr>
          <p:cNvPr id="672" name="Google Shape;672;p103"/>
          <p:cNvSpPr txBox="1"/>
          <p:nvPr/>
        </p:nvSpPr>
        <p:spPr>
          <a:xfrm>
            <a:off x="480000" y="2233375"/>
            <a:ext cx="8184000" cy="6233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u="none" cap="none" strike="noStrike">
                <a:solidFill>
                  <a:srgbClr val="003060"/>
                </a:solidFill>
                <a:latin typeface="Alegreya Sans"/>
                <a:ea typeface="Alegreya Sans"/>
                <a:cs typeface="Alegreya Sans"/>
                <a:sym typeface="Alegreya Sans"/>
              </a:rPr>
              <a:t>Every single recipe in the can be adjusted. If you love flavour, keep the recipes pimped up. If you prefer food that's more bland, leave out spices, flavours and herbs. Total flexibility.</a:t>
            </a:r>
            <a:endParaRPr sz="1800"/>
          </a:p>
        </p:txBody>
      </p:sp>
      <p:sp>
        <p:nvSpPr>
          <p:cNvPr id="673" name="Google Shape;673;p103"/>
          <p:cNvSpPr/>
          <p:nvPr/>
        </p:nvSpPr>
        <p:spPr>
          <a:xfrm>
            <a:off x="360000" y="2966750"/>
            <a:ext cx="8424000" cy="300000"/>
          </a:xfrm>
          <a:prstGeom prst="rect">
            <a:avLst/>
          </a:prstGeom>
          <a:solidFill>
            <a:srgbClr val="003060"/>
          </a:solidFill>
          <a:ln>
            <a:noFill/>
          </a:ln>
        </p:spPr>
        <p:txBody>
          <a:bodyPr anchorCtr="0" anchor="ctr" bIns="25400" lIns="177800" spcFirstLastPara="1" rIns="177800" wrap="square" tIns="25400">
            <a:noAutofit/>
          </a:bodyPr>
          <a:lstStyle/>
          <a:p>
            <a:pPr indent="0" lvl="0" marL="0" marR="0" rtl="0" algn="l">
              <a:spcBef>
                <a:spcPts val="0"/>
              </a:spcBef>
              <a:spcAft>
                <a:spcPts val="0"/>
              </a:spcAft>
              <a:buNone/>
            </a:pPr>
            <a:r>
              <a:rPr b="1" i="0" lang="en-GB" u="none" cap="none" strike="noStrike">
                <a:solidFill>
                  <a:srgbClr val="FFFFFF"/>
                </a:solidFill>
                <a:latin typeface="Libre Baskerville"/>
                <a:ea typeface="Libre Baskerville"/>
                <a:cs typeface="Libre Baskerville"/>
                <a:sym typeface="Libre Baskerville"/>
              </a:rPr>
              <a:t>I need to feed my family…</a:t>
            </a:r>
            <a:endParaRPr sz="1600"/>
          </a:p>
        </p:txBody>
      </p:sp>
      <p:sp>
        <p:nvSpPr>
          <p:cNvPr id="674" name="Google Shape;674;p103"/>
          <p:cNvSpPr txBox="1"/>
          <p:nvPr/>
        </p:nvSpPr>
        <p:spPr>
          <a:xfrm>
            <a:off x="480000" y="3306750"/>
            <a:ext cx="8184000" cy="6233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u="none" cap="none" strike="noStrike">
                <a:solidFill>
                  <a:srgbClr val="003060"/>
                </a:solidFill>
                <a:latin typeface="Alegreya Sans"/>
                <a:ea typeface="Alegreya Sans"/>
                <a:cs typeface="Alegreya Sans"/>
                <a:sym typeface="Alegreya Sans"/>
              </a:rPr>
              <a:t>Use the meal guides with your family</a:t>
            </a:r>
            <a:r>
              <a:rPr lang="en-GB">
                <a:solidFill>
                  <a:srgbClr val="003060"/>
                </a:solidFill>
                <a:latin typeface="Alegreya Sans"/>
                <a:ea typeface="Alegreya Sans"/>
                <a:cs typeface="Alegreya Sans"/>
                <a:sym typeface="Alegreya Sans"/>
              </a:rPr>
              <a:t>, </a:t>
            </a:r>
            <a:r>
              <a:rPr b="0" i="0" lang="en-GB" u="none" cap="none" strike="noStrike">
                <a:solidFill>
                  <a:srgbClr val="003060"/>
                </a:solidFill>
                <a:latin typeface="Alegreya Sans"/>
                <a:ea typeface="Alegreya Sans"/>
                <a:cs typeface="Alegreya Sans"/>
                <a:sym typeface="Alegreya Sans"/>
              </a:rPr>
              <a:t> just increase portion sizes and we can support you in our coaching group. The recipes are family-friendly. Any recipes you don't like, leave out and swap with others.</a:t>
            </a:r>
            <a:endParaRPr sz="1800"/>
          </a:p>
        </p:txBody>
      </p:sp>
      <p:sp>
        <p:nvSpPr>
          <p:cNvPr id="675" name="Google Shape;675;p103"/>
          <p:cNvSpPr/>
          <p:nvPr/>
        </p:nvSpPr>
        <p:spPr>
          <a:xfrm>
            <a:off x="360000" y="4040125"/>
            <a:ext cx="8424000" cy="300000"/>
          </a:xfrm>
          <a:prstGeom prst="rect">
            <a:avLst/>
          </a:prstGeom>
          <a:solidFill>
            <a:srgbClr val="003060"/>
          </a:solidFill>
          <a:ln>
            <a:noFill/>
          </a:ln>
        </p:spPr>
        <p:txBody>
          <a:bodyPr anchorCtr="0" anchor="ctr" bIns="25400" lIns="177800" spcFirstLastPara="1" rIns="177800" wrap="square" tIns="25400">
            <a:noAutofit/>
          </a:bodyPr>
          <a:lstStyle/>
          <a:p>
            <a:pPr indent="0" lvl="0" marL="0" marR="0" rtl="0" algn="l">
              <a:spcBef>
                <a:spcPts val="0"/>
              </a:spcBef>
              <a:spcAft>
                <a:spcPts val="0"/>
              </a:spcAft>
              <a:buNone/>
            </a:pPr>
            <a:r>
              <a:rPr b="1" i="0" lang="en-GB" u="none" cap="none" strike="noStrike">
                <a:solidFill>
                  <a:srgbClr val="FFFFFF"/>
                </a:solidFill>
                <a:latin typeface="Libre Baskerville"/>
                <a:ea typeface="Libre Baskerville"/>
                <a:cs typeface="Libre Baskerville"/>
                <a:sym typeface="Libre Baskerville"/>
              </a:rPr>
              <a:t>Will I get Anna's hands-on support?</a:t>
            </a:r>
            <a:endParaRPr sz="1600"/>
          </a:p>
        </p:txBody>
      </p:sp>
      <p:sp>
        <p:nvSpPr>
          <p:cNvPr id="676" name="Google Shape;676;p103"/>
          <p:cNvSpPr txBox="1"/>
          <p:nvPr/>
        </p:nvSpPr>
        <p:spPr>
          <a:xfrm>
            <a:off x="480000" y="4380125"/>
            <a:ext cx="8184000" cy="6233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0" i="0" lang="en-GB" u="none" cap="none" strike="noStrike">
                <a:solidFill>
                  <a:srgbClr val="003060"/>
                </a:solidFill>
                <a:latin typeface="Alegreya Sans"/>
                <a:ea typeface="Alegreya Sans"/>
                <a:cs typeface="Alegreya Sans"/>
                <a:sym typeface="Alegreya Sans"/>
              </a:rPr>
              <a:t>Yes. This is the only coaching program where you get direct, live coaching from Anna herself. You'll have the chance to ask questions, get personalised feedback, and stay on track every step. Anna's proven strategies, accountability and encouragement will keep you focused and moving toward your goals.</a:t>
            </a:r>
            <a:endParaRPr sz="18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80" name="Shape 680"/>
        <p:cNvGrpSpPr/>
        <p:nvPr/>
      </p:nvGrpSpPr>
      <p:grpSpPr>
        <a:xfrm>
          <a:off x="0" y="0"/>
          <a:ext cx="0" cy="0"/>
          <a:chOff x="0" y="0"/>
          <a:chExt cx="0" cy="0"/>
        </a:xfrm>
      </p:grpSpPr>
      <p:sp>
        <p:nvSpPr>
          <p:cNvPr id="681" name="Google Shape;681;p104"/>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1" lang="en-GB" sz="2200" u="none" cap="none" strike="noStrike">
                <a:solidFill>
                  <a:srgbClr val="F79F83"/>
                </a:solidFill>
                <a:latin typeface="Libre Baskerville"/>
                <a:ea typeface="Libre Baskerville"/>
                <a:cs typeface="Libre Baskerville"/>
                <a:sym typeface="Libre Baskerville"/>
              </a:rPr>
              <a:t>Whether you believe you can or you can't, you are usually right!</a:t>
            </a:r>
            <a:endParaRPr/>
          </a:p>
          <a:p>
            <a:pPr indent="0" lvl="0" marL="0" marR="0" rtl="0" algn="ctr">
              <a:spcBef>
                <a:spcPts val="2200"/>
              </a:spcBef>
              <a:spcAft>
                <a:spcPts val="0"/>
              </a:spcAft>
              <a:buNone/>
            </a:pPr>
            <a:r>
              <a:rPr b="1" i="0" lang="en-GB" sz="1800" u="none" cap="none" strike="noStrike">
                <a:solidFill>
                  <a:srgbClr val="003060"/>
                </a:solidFill>
                <a:latin typeface="Alegreya Sans"/>
                <a:ea typeface="Alegreya Sans"/>
                <a:cs typeface="Alegreya Sans"/>
                <a:sym typeface="Alegreya Sans"/>
              </a:rPr>
              <a:t>Click link in comments if you are ready to become our next success story!</a:t>
            </a:r>
            <a:endParaRPr/>
          </a:p>
          <a:p>
            <a:pPr indent="0" lvl="0" marL="0" marR="0" rtl="0" algn="ctr">
              <a:spcBef>
                <a:spcPts val="1800"/>
              </a:spcBef>
              <a:spcAft>
                <a:spcPts val="0"/>
              </a:spcAft>
              <a:buNone/>
            </a:pPr>
            <a:r>
              <a:rPr b="0" i="0" lang="en-GB" sz="1700" u="none" cap="none" strike="noStrike">
                <a:solidFill>
                  <a:srgbClr val="003060"/>
                </a:solidFill>
                <a:latin typeface="Alegreya Sans"/>
                <a:ea typeface="Alegreya Sans"/>
                <a:cs typeface="Alegreya Sans"/>
                <a:sym typeface="Alegreya Sans"/>
              </a:rPr>
              <a:t>I want to celebrate you in 12 weeks and I will guide you</a:t>
            </a:r>
            <a:r>
              <a:rPr lang="en-GB"/>
              <a:t> </a:t>
            </a:r>
            <a:r>
              <a:rPr i="0" lang="en-GB" sz="1800" u="none" cap="none" strike="noStrike">
                <a:solidFill>
                  <a:srgbClr val="003060"/>
                </a:solidFill>
                <a:latin typeface="Alegreya Sans"/>
                <a:ea typeface="Alegreya Sans"/>
                <a:cs typeface="Alegreya Sans"/>
                <a:sym typeface="Alegreya Sans"/>
              </a:rPr>
              <a:t>to the best of my ability.</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85" name="Shape 685"/>
        <p:cNvGrpSpPr/>
        <p:nvPr/>
      </p:nvGrpSpPr>
      <p:grpSpPr>
        <a:xfrm>
          <a:off x="0" y="0"/>
          <a:ext cx="0" cy="0"/>
          <a:chOff x="0" y="0"/>
          <a:chExt cx="0" cy="0"/>
        </a:xfrm>
      </p:grpSpPr>
      <p:sp>
        <p:nvSpPr>
          <p:cNvPr id="686" name="Google Shape;686;p105"/>
          <p:cNvSpPr txBox="1"/>
          <p:nvPr/>
        </p:nvSpPr>
        <p:spPr>
          <a:xfrm>
            <a:off x="4400000" y="1900000"/>
            <a:ext cx="4300000" cy="180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GB" sz="3400">
                <a:solidFill>
                  <a:srgbClr val="003060"/>
                </a:solidFill>
                <a:latin typeface="Libre Baskerville"/>
                <a:ea typeface="Libre Baskerville"/>
                <a:cs typeface="Libre Baskerville"/>
                <a:sym typeface="Libre Baskerville"/>
              </a:rPr>
              <a:t>Summer Challenge Winners</a:t>
            </a:r>
            <a:endParaRPr/>
          </a:p>
          <a:p>
            <a:pPr indent="0" lvl="0" marL="0" marR="0" rtl="0" algn="ctr">
              <a:spcBef>
                <a:spcPts val="600"/>
              </a:spcBef>
              <a:spcAft>
                <a:spcPts val="0"/>
              </a:spcAft>
              <a:buNone/>
            </a:pPr>
            <a:r>
              <a:t/>
            </a:r>
            <a:endParaRPr/>
          </a:p>
        </p:txBody>
      </p:sp>
      <p:pic>
        <p:nvPicPr>
          <p:cNvPr id="687" name="Google Shape;687;p105" title="ChatGPT Image Jun 4, 2026, 08_47_16 PM.png"/>
          <p:cNvPicPr preferRelativeResize="0"/>
          <p:nvPr/>
        </p:nvPicPr>
        <p:blipFill>
          <a:blip r:embed="rId3">
            <a:alphaModFix/>
          </a:blip>
          <a:stretch>
            <a:fillRect/>
          </a:stretch>
        </p:blipFill>
        <p:spPr>
          <a:xfrm>
            <a:off x="869700" y="825875"/>
            <a:ext cx="3343876" cy="3343876"/>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7F4"/>
        </a:solidFill>
      </p:bgPr>
    </p:bg>
    <p:spTree>
      <p:nvGrpSpPr>
        <p:cNvPr id="691" name="Shape 691"/>
        <p:cNvGrpSpPr/>
        <p:nvPr/>
      </p:nvGrpSpPr>
      <p:grpSpPr>
        <a:xfrm>
          <a:off x="0" y="0"/>
          <a:ext cx="0" cy="0"/>
          <a:chOff x="0" y="0"/>
          <a:chExt cx="0" cy="0"/>
        </a:xfrm>
      </p:grpSpPr>
      <p:sp>
        <p:nvSpPr>
          <p:cNvPr id="692" name="Google Shape;692;p106"/>
          <p:cNvSpPr txBox="1"/>
          <p:nvPr/>
        </p:nvSpPr>
        <p:spPr>
          <a:xfrm>
            <a:off x="457200" y="361950"/>
            <a:ext cx="8229600" cy="44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GB" sz="3000" u="none" cap="none" strike="noStrike">
                <a:solidFill>
                  <a:srgbClr val="003060"/>
                </a:solidFill>
                <a:latin typeface="Libre Baskerville"/>
                <a:ea typeface="Libre Baskerville"/>
                <a:cs typeface="Libre Baskerville"/>
                <a:sym typeface="Libre Baskerville"/>
              </a:rPr>
              <a:t>Thank you for joining me today a</a:t>
            </a:r>
            <a:r>
              <a:rPr b="1" lang="en-GB" sz="3000">
                <a:solidFill>
                  <a:srgbClr val="003060"/>
                </a:solidFill>
                <a:latin typeface="Libre Baskerville"/>
                <a:ea typeface="Libre Baskerville"/>
                <a:cs typeface="Libre Baskerville"/>
                <a:sym typeface="Libre Baskerville"/>
              </a:rPr>
              <a:t>nd for the 5 day free reset</a:t>
            </a:r>
            <a:r>
              <a:rPr b="1" i="0" lang="en-GB" sz="3000" u="none" cap="none" strike="noStrike">
                <a:solidFill>
                  <a:srgbClr val="003060"/>
                </a:solidFill>
                <a:latin typeface="Libre Baskerville"/>
                <a:ea typeface="Libre Baskerville"/>
                <a:cs typeface="Libre Baskerville"/>
                <a:sym typeface="Libre Baskerville"/>
              </a:rPr>
              <a:t>!</a:t>
            </a:r>
            <a:endParaRPr/>
          </a:p>
          <a:p>
            <a:pPr indent="0" lvl="0" marL="0" marR="0" rtl="0" algn="ctr">
              <a:spcBef>
                <a:spcPts val="2200"/>
              </a:spcBef>
              <a:spcAft>
                <a:spcPts val="0"/>
              </a:spcAft>
              <a:buNone/>
            </a:pPr>
            <a:r>
              <a:rPr b="1" i="1" lang="en-GB" sz="2200" u="none" cap="none" strike="noStrike">
                <a:solidFill>
                  <a:srgbClr val="F79F83"/>
                </a:solidFill>
                <a:latin typeface="Libre Baskerville"/>
                <a:ea typeface="Libre Baskerville"/>
                <a:cs typeface="Libre Baskerville"/>
                <a:sym typeface="Libre Baskerville"/>
              </a:rPr>
              <a:t>Let's take your goals to the next level!</a:t>
            </a:r>
            <a:endParaRPr/>
          </a:p>
          <a:p>
            <a:pPr indent="0" lvl="0" marL="0" marR="0" rtl="0" algn="ctr">
              <a:spcBef>
                <a:spcPts val="1800"/>
              </a:spcBef>
              <a:spcAft>
                <a:spcPts val="0"/>
              </a:spcAft>
              <a:buNone/>
            </a:pPr>
            <a:r>
              <a:rPr b="0" i="0" lang="en-GB" sz="1700" u="none" cap="none" strike="noStrike">
                <a:solidFill>
                  <a:srgbClr val="003060"/>
                </a:solidFill>
                <a:latin typeface="Alegreya Sans"/>
                <a:ea typeface="Alegreya Sans"/>
                <a:cs typeface="Alegreya Sans"/>
                <a:sym typeface="Alegreya Sans"/>
              </a:rPr>
              <a:t>You are capable of your goals and we would be honoured</a:t>
            </a:r>
            <a:endParaRPr/>
          </a:p>
          <a:p>
            <a:pPr indent="0" lvl="0" marL="0" marR="0" rtl="0" algn="ctr">
              <a:spcBef>
                <a:spcPts val="400"/>
              </a:spcBef>
              <a:spcAft>
                <a:spcPts val="0"/>
              </a:spcAft>
              <a:buNone/>
            </a:pPr>
            <a:r>
              <a:rPr b="1" i="0" lang="en-GB" sz="1800" u="none" cap="none" strike="noStrike">
                <a:solidFill>
                  <a:srgbClr val="003060"/>
                </a:solidFill>
                <a:latin typeface="Alegreya Sans"/>
                <a:ea typeface="Alegreya Sans"/>
                <a:cs typeface="Alegreya Sans"/>
                <a:sym typeface="Alegreya Sans"/>
              </a:rPr>
              <a:t>to help you achieve them!</a:t>
            </a:r>
            <a:endParaRPr/>
          </a:p>
          <a:p>
            <a:pPr indent="0" lvl="0" marL="0" marR="0" rtl="0" algn="ctr">
              <a:spcBef>
                <a:spcPts val="1800"/>
              </a:spcBef>
              <a:spcAft>
                <a:spcPts val="0"/>
              </a:spcAft>
              <a:buNone/>
            </a:pPr>
            <a:r>
              <a:rPr lang="en-GB" sz="1500">
                <a:solidFill>
                  <a:srgbClr val="003060"/>
                </a:solidFill>
                <a:latin typeface="Alegreya Sans"/>
                <a:ea typeface="Alegreya Sans"/>
                <a:cs typeface="Alegreya Sans"/>
                <a:sym typeface="Alegreya Sans"/>
              </a:rPr>
              <a:t>P.S Today is our </a:t>
            </a:r>
            <a:r>
              <a:rPr lang="en-GB" sz="1500">
                <a:solidFill>
                  <a:srgbClr val="003060"/>
                </a:solidFill>
                <a:latin typeface="Alegreya Sans"/>
                <a:ea typeface="Alegreya Sans"/>
                <a:cs typeface="Alegreya Sans"/>
                <a:sym typeface="Alegreya Sans"/>
              </a:rPr>
              <a:t>final day of reset coaching. If you join the summer challenge you will get access to the members area and group straight away, the party continues over there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